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8" r:id="rId1"/>
  </p:sldMasterIdLst>
  <p:notesMasterIdLst>
    <p:notesMasterId r:id="rId42"/>
  </p:notesMasterIdLst>
  <p:handoutMasterIdLst>
    <p:handoutMasterId r:id="rId43"/>
  </p:handoutMasterIdLst>
  <p:sldIdLst>
    <p:sldId id="602" r:id="rId2"/>
    <p:sldId id="603" r:id="rId3"/>
    <p:sldId id="546" r:id="rId4"/>
    <p:sldId id="547" r:id="rId5"/>
    <p:sldId id="548" r:id="rId6"/>
    <p:sldId id="549" r:id="rId7"/>
    <p:sldId id="552" r:id="rId8"/>
    <p:sldId id="550" r:id="rId9"/>
    <p:sldId id="553" r:id="rId10"/>
    <p:sldId id="554" r:id="rId11"/>
    <p:sldId id="604" r:id="rId12"/>
    <p:sldId id="605" r:id="rId13"/>
    <p:sldId id="606" r:id="rId14"/>
    <p:sldId id="607" r:id="rId15"/>
    <p:sldId id="608" r:id="rId16"/>
    <p:sldId id="609" r:id="rId17"/>
    <p:sldId id="610" r:id="rId18"/>
    <p:sldId id="611" r:id="rId19"/>
    <p:sldId id="612" r:id="rId20"/>
    <p:sldId id="561" r:id="rId21"/>
    <p:sldId id="563" r:id="rId22"/>
    <p:sldId id="556" r:id="rId23"/>
    <p:sldId id="557" r:id="rId24"/>
    <p:sldId id="555" r:id="rId25"/>
    <p:sldId id="564" r:id="rId26"/>
    <p:sldId id="565" r:id="rId27"/>
    <p:sldId id="566" r:id="rId28"/>
    <p:sldId id="567" r:id="rId29"/>
    <p:sldId id="559" r:id="rId30"/>
    <p:sldId id="581" r:id="rId31"/>
    <p:sldId id="582" r:id="rId32"/>
    <p:sldId id="583" r:id="rId33"/>
    <p:sldId id="590" r:id="rId34"/>
    <p:sldId id="569" r:id="rId35"/>
    <p:sldId id="580" r:id="rId36"/>
    <p:sldId id="570" r:id="rId37"/>
    <p:sldId id="601" r:id="rId38"/>
    <p:sldId id="591" r:id="rId39"/>
    <p:sldId id="592" r:id="rId40"/>
    <p:sldId id="600" r:id="rId41"/>
  </p:sldIdLst>
  <p:sldSz cx="9144000" cy="6858000" type="screen4x3"/>
  <p:notesSz cx="7099300" cy="102346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4" userDrawn="1">
          <p15:clr>
            <a:srgbClr val="A4A3A4"/>
          </p15:clr>
        </p15:guide>
        <p15:guide id="2" pos="2236"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6A8A8"/>
    <a:srgbClr val="AAE8F4"/>
    <a:srgbClr val="000000"/>
    <a:srgbClr val="000066"/>
    <a:srgbClr val="00004C"/>
    <a:srgbClr val="0036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54" autoAdjust="0"/>
    <p:restoredTop sz="87011" autoAdjust="0"/>
  </p:normalViewPr>
  <p:slideViewPr>
    <p:cSldViewPr>
      <p:cViewPr varScale="1">
        <p:scale>
          <a:sx n="61" d="100"/>
          <a:sy n="61" d="100"/>
        </p:scale>
        <p:origin x="1500" y="72"/>
      </p:cViewPr>
      <p:guideLst>
        <p:guide orient="horz" pos="2160"/>
        <p:guide pos="2880"/>
      </p:guideLst>
    </p:cSldViewPr>
  </p:slideViewPr>
  <p:notesTextViewPr>
    <p:cViewPr>
      <p:scale>
        <a:sx n="3" d="2"/>
        <a:sy n="3" d="2"/>
      </p:scale>
      <p:origin x="0" y="0"/>
    </p:cViewPr>
  </p:notesTextViewPr>
  <p:notesViewPr>
    <p:cSldViewPr>
      <p:cViewPr varScale="1">
        <p:scale>
          <a:sx n="67" d="100"/>
          <a:sy n="67" d="100"/>
        </p:scale>
        <p:origin x="-2784" y="-96"/>
      </p:cViewPr>
      <p:guideLst>
        <p:guide orient="horz" pos="3224"/>
        <p:guide pos="2236"/>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321112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2"/>
            <a:ext cx="3076363" cy="511731"/>
          </a:xfrm>
          <a:prstGeom prst="rect">
            <a:avLst/>
          </a:prstGeom>
        </p:spPr>
        <p:txBody>
          <a:bodyPr vert="horz" wrap="square" lIns="96661" tIns="48331" rIns="96661" bIns="48331" numCol="1" anchor="t" anchorCtr="0" compatLnSpc="1">
            <a:prstTxWarp prst="textNoShape">
              <a:avLst/>
            </a:prstTxWarp>
          </a:bodyPr>
          <a:lstStyle>
            <a:lvl1pPr>
              <a:defRPr sz="1300">
                <a:latin typeface="Calibri" pitchFamily="34" charset="0"/>
              </a:defRPr>
            </a:lvl1pPr>
          </a:lstStyle>
          <a:p>
            <a:endParaRPr lang="en-US"/>
          </a:p>
        </p:txBody>
      </p:sp>
      <p:sp>
        <p:nvSpPr>
          <p:cNvPr id="3" name="Date Placeholder 2"/>
          <p:cNvSpPr>
            <a:spLocks noGrp="1"/>
          </p:cNvSpPr>
          <p:nvPr>
            <p:ph type="dt" idx="1"/>
          </p:nvPr>
        </p:nvSpPr>
        <p:spPr>
          <a:xfrm>
            <a:off x="4021296" y="2"/>
            <a:ext cx="3076363" cy="511731"/>
          </a:xfrm>
          <a:prstGeom prst="rect">
            <a:avLst/>
          </a:prstGeom>
        </p:spPr>
        <p:txBody>
          <a:bodyPr vert="horz" wrap="square" lIns="96661" tIns="48331" rIns="96661" bIns="48331" numCol="1" anchor="t" anchorCtr="0" compatLnSpc="1">
            <a:prstTxWarp prst="textNoShape">
              <a:avLst/>
            </a:prstTxWarp>
          </a:bodyPr>
          <a:lstStyle>
            <a:lvl1pPr algn="r">
              <a:defRPr sz="1300">
                <a:latin typeface="Calibri" pitchFamily="34" charset="0"/>
              </a:defRPr>
            </a:lvl1pPr>
          </a:lstStyle>
          <a:p>
            <a:fld id="{5EDDA0F7-BB27-45D6-A5CE-AEC59009A5B9}" type="datetimeFigureOut">
              <a:rPr lang="en-US"/>
              <a:pPr/>
              <a:t>5/31/2024</a:t>
            </a:fld>
            <a:endParaRPr lang="en-US"/>
          </a:p>
        </p:txBody>
      </p:sp>
      <p:sp>
        <p:nvSpPr>
          <p:cNvPr id="4" name="Slide Image Placeholder 3"/>
          <p:cNvSpPr>
            <a:spLocks noGrp="1" noRot="1" noChangeAspect="1"/>
          </p:cNvSpPr>
          <p:nvPr>
            <p:ph type="sldImg" idx="2"/>
          </p:nvPr>
        </p:nvSpPr>
        <p:spPr>
          <a:xfrm>
            <a:off x="990600" y="768350"/>
            <a:ext cx="5118100" cy="3838575"/>
          </a:xfrm>
          <a:prstGeom prst="rect">
            <a:avLst/>
          </a:prstGeom>
          <a:noFill/>
          <a:ln w="12700">
            <a:solidFill>
              <a:prstClr val="black"/>
            </a:solidFill>
          </a:ln>
        </p:spPr>
        <p:txBody>
          <a:bodyPr vert="horz" lIns="96661" tIns="48331" rIns="96661" bIns="48331" rtlCol="0" anchor="ctr"/>
          <a:lstStyle/>
          <a:p>
            <a:pPr lvl="0"/>
            <a:endParaRPr lang="en-US" noProof="0"/>
          </a:p>
        </p:txBody>
      </p:sp>
      <p:sp>
        <p:nvSpPr>
          <p:cNvPr id="5" name="Notes Placeholder 4"/>
          <p:cNvSpPr>
            <a:spLocks noGrp="1"/>
          </p:cNvSpPr>
          <p:nvPr>
            <p:ph type="body" sz="quarter" idx="3"/>
          </p:nvPr>
        </p:nvSpPr>
        <p:spPr>
          <a:xfrm>
            <a:off x="709930" y="4861441"/>
            <a:ext cx="5679440" cy="4605576"/>
          </a:xfrm>
          <a:prstGeom prst="rect">
            <a:avLst/>
          </a:prstGeom>
        </p:spPr>
        <p:txBody>
          <a:bodyPr vert="horz" lIns="96661" tIns="48331" rIns="96661" bIns="48331"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Footer Placeholder 5"/>
          <p:cNvSpPr>
            <a:spLocks noGrp="1"/>
          </p:cNvSpPr>
          <p:nvPr>
            <p:ph type="ftr" sz="quarter" idx="4"/>
          </p:nvPr>
        </p:nvSpPr>
        <p:spPr>
          <a:xfrm>
            <a:off x="0" y="9721106"/>
            <a:ext cx="3076363" cy="511731"/>
          </a:xfrm>
          <a:prstGeom prst="rect">
            <a:avLst/>
          </a:prstGeom>
        </p:spPr>
        <p:txBody>
          <a:bodyPr vert="horz" wrap="square" lIns="96661" tIns="48331" rIns="96661" bIns="48331" numCol="1" anchor="b" anchorCtr="0" compatLnSpc="1">
            <a:prstTxWarp prst="textNoShape">
              <a:avLst/>
            </a:prstTxWarp>
          </a:bodyPr>
          <a:lstStyle>
            <a:lvl1pPr>
              <a:defRPr sz="1300">
                <a:latin typeface="Calibri" pitchFamily="34" charset="0"/>
              </a:defRPr>
            </a:lvl1pPr>
          </a:lstStyle>
          <a:p>
            <a:endParaRPr lang="en-US"/>
          </a:p>
        </p:txBody>
      </p:sp>
      <p:sp>
        <p:nvSpPr>
          <p:cNvPr id="7" name="Slide Number Placeholder 6"/>
          <p:cNvSpPr>
            <a:spLocks noGrp="1"/>
          </p:cNvSpPr>
          <p:nvPr>
            <p:ph type="sldNum" sz="quarter" idx="5"/>
          </p:nvPr>
        </p:nvSpPr>
        <p:spPr>
          <a:xfrm>
            <a:off x="4021296" y="9721106"/>
            <a:ext cx="3076363" cy="511731"/>
          </a:xfrm>
          <a:prstGeom prst="rect">
            <a:avLst/>
          </a:prstGeom>
        </p:spPr>
        <p:txBody>
          <a:bodyPr vert="horz" wrap="square" lIns="96661" tIns="48331" rIns="96661" bIns="48331" numCol="1" anchor="b" anchorCtr="0" compatLnSpc="1">
            <a:prstTxWarp prst="textNoShape">
              <a:avLst/>
            </a:prstTxWarp>
          </a:bodyPr>
          <a:lstStyle>
            <a:lvl1pPr algn="r">
              <a:defRPr sz="1300">
                <a:latin typeface="Calibri" pitchFamily="34" charset="0"/>
              </a:defRPr>
            </a:lvl1pPr>
          </a:lstStyle>
          <a:p>
            <a:fld id="{76159C16-962D-45B7-9AE3-AA455C3EA8F0}" type="slidenum">
              <a:rPr lang="en-US"/>
              <a:pPr/>
              <a:t>‹#›</a:t>
            </a:fld>
            <a:endParaRPr lang="en-US"/>
          </a:p>
        </p:txBody>
      </p:sp>
    </p:spTree>
    <p:extLst>
      <p:ext uri="{BB962C8B-B14F-4D97-AF65-F5344CB8AC3E}">
        <p14:creationId xmlns:p14="http://schemas.microsoft.com/office/powerpoint/2010/main" val="600913562"/>
      </p:ext>
    </p:extLst>
  </p:cSld>
  <p:clrMap bg1="lt1" tx1="dk1" bg2="lt2" tx2="dk2" accent1="accent1" accent2="accent2" accent3="accent3" accent4="accent4" accent5="accent5" accent6="accent6" hlink="hlink" folHlink="folHlink"/>
  <p:hf hdr="0" ftr="0" dt="0"/>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Mảng</a:t>
            </a:r>
            <a:r>
              <a:rPr lang="en-US" dirty="0" smtClean="0"/>
              <a:t>                       CT </a:t>
            </a:r>
            <a:r>
              <a:rPr lang="en-US" dirty="0" err="1" smtClean="0"/>
              <a:t>lưu</a:t>
            </a:r>
            <a:r>
              <a:rPr lang="en-US" dirty="0" smtClean="0"/>
              <a:t> </a:t>
            </a:r>
            <a:r>
              <a:rPr lang="en-US" dirty="0" err="1" smtClean="0"/>
              <a:t>trữ</a:t>
            </a:r>
            <a:r>
              <a:rPr lang="en-US" baseline="0" dirty="0" smtClean="0"/>
              <a:t> </a:t>
            </a:r>
            <a:r>
              <a:rPr lang="en-US" baseline="0" dirty="0" err="1" smtClean="0"/>
              <a:t>tuần</a:t>
            </a:r>
            <a:r>
              <a:rPr lang="en-US" baseline="0" dirty="0" smtClean="0"/>
              <a:t> </a:t>
            </a:r>
            <a:r>
              <a:rPr lang="en-US" baseline="0" dirty="0" err="1" smtClean="0"/>
              <a:t>tự</a:t>
            </a:r>
            <a:endParaRPr lang="en-US" dirty="0" smtClean="0"/>
          </a:p>
          <a:p>
            <a:r>
              <a:rPr lang="en-US" dirty="0" err="1" smtClean="0"/>
              <a:t>Danh</a:t>
            </a:r>
            <a:r>
              <a:rPr lang="en-US" baseline="0" dirty="0" smtClean="0"/>
              <a:t> </a:t>
            </a:r>
            <a:r>
              <a:rPr lang="en-US" baseline="0" dirty="0" err="1" smtClean="0"/>
              <a:t>sách</a:t>
            </a:r>
            <a:r>
              <a:rPr lang="en-US" baseline="0" dirty="0" smtClean="0"/>
              <a:t>               CT </a:t>
            </a:r>
            <a:r>
              <a:rPr lang="en-US" baseline="0" err="1" smtClean="0"/>
              <a:t>lưu</a:t>
            </a:r>
            <a:r>
              <a:rPr lang="en-US" baseline="0" smtClean="0"/>
              <a:t> trư</a:t>
            </a:r>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2</a:t>
            </a:fld>
            <a:endParaRPr lang="en-US"/>
          </a:p>
        </p:txBody>
      </p:sp>
    </p:spTree>
    <p:extLst>
      <p:ext uri="{BB962C8B-B14F-4D97-AF65-F5344CB8AC3E}">
        <p14:creationId xmlns:p14="http://schemas.microsoft.com/office/powerpoint/2010/main" val="22456990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6</a:t>
            </a:fld>
            <a:endParaRPr lang="en-US"/>
          </a:p>
        </p:txBody>
      </p:sp>
    </p:spTree>
    <p:extLst>
      <p:ext uri="{BB962C8B-B14F-4D97-AF65-F5344CB8AC3E}">
        <p14:creationId xmlns:p14="http://schemas.microsoft.com/office/powerpoint/2010/main" val="31685075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a:t>
            </a:r>
            <a:r>
              <a:rPr lang="vi-VN" dirty="0" smtClean="0"/>
              <a:t>rường hợp xấu nhất: cũng là trường hợp không tìm thấy phần tử K. Khi đó số</a:t>
            </a:r>
          </a:p>
          <a:p>
            <a:r>
              <a:rPr lang="vi-VN" dirty="0" smtClean="0"/>
              <a:t>thao tác của giải thuật chính là số lần chia đôi dãy ban đầu cho đến khi không</a:t>
            </a:r>
          </a:p>
          <a:p>
            <a:r>
              <a:rPr lang="vi-VN" dirty="0" smtClean="0"/>
              <a:t>chia được nữa, tức là:</a:t>
            </a:r>
          </a:p>
          <a:p>
            <a:r>
              <a:rPr lang="vi-VN" dirty="0" smtClean="0"/>
              <a:t>Ttn(n) = log2N +1 = O(log2N);</a:t>
            </a:r>
          </a:p>
          <a:p>
            <a:r>
              <a:rPr lang="vi-VN" dirty="0" smtClean="0"/>
              <a:t>Trường hợp trung bình: khá dễ dàng ta cũng thấy:</a:t>
            </a:r>
          </a:p>
          <a:p>
            <a:r>
              <a:rPr lang="vi-VN" dirty="0" smtClean="0"/>
              <a:t>Ttb(n) = (log2N +2)/2 = O(log2N);</a:t>
            </a:r>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10</a:t>
            </a:fld>
            <a:endParaRPr lang="en-US"/>
          </a:p>
        </p:txBody>
      </p:sp>
    </p:spTree>
    <p:extLst>
      <p:ext uri="{BB962C8B-B14F-4D97-AF65-F5344CB8AC3E}">
        <p14:creationId xmlns:p14="http://schemas.microsoft.com/office/powerpoint/2010/main" val="26353323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smtClean="0">
                <a:latin typeface="Courier New" panose="02070309020205020404" pitchFamily="49" charset="0"/>
                <a:cs typeface="Courier New" panose="02070309020205020404" pitchFamily="49" charset="0"/>
              </a:rPr>
              <a:t>//</a:t>
            </a:r>
            <a:r>
              <a:rPr lang="en-US" sz="1200" dirty="0" err="1" smtClean="0">
                <a:latin typeface="Courier New" panose="02070309020205020404" pitchFamily="49" charset="0"/>
                <a:cs typeface="Courier New" panose="02070309020205020404" pitchFamily="49" charset="0"/>
              </a:rPr>
              <a:t>Hàm</a:t>
            </a:r>
            <a:r>
              <a:rPr lang="en-US" sz="1200" dirty="0" smtClean="0">
                <a:latin typeface="Courier New" panose="02070309020205020404" pitchFamily="49" charset="0"/>
                <a:cs typeface="Courier New" panose="02070309020205020404" pitchFamily="49" charset="0"/>
              </a:rPr>
              <a:t> </a:t>
            </a:r>
            <a:r>
              <a:rPr lang="en-US" sz="1200" dirty="0" err="1" smtClean="0">
                <a:latin typeface="Courier New" panose="02070309020205020404" pitchFamily="49" charset="0"/>
                <a:cs typeface="Courier New" panose="02070309020205020404" pitchFamily="49" charset="0"/>
              </a:rPr>
              <a:t>trả</a:t>
            </a:r>
            <a:r>
              <a:rPr lang="en-US" sz="1200" dirty="0" smtClean="0">
                <a:latin typeface="Courier New" panose="02070309020205020404" pitchFamily="49" charset="0"/>
                <a:cs typeface="Courier New" panose="02070309020205020404" pitchFamily="49" charset="0"/>
              </a:rPr>
              <a:t> </a:t>
            </a:r>
            <a:r>
              <a:rPr lang="en-US" sz="1200" dirty="0" err="1" smtClean="0">
                <a:latin typeface="Courier New" panose="02070309020205020404" pitchFamily="49" charset="0"/>
                <a:cs typeface="Courier New" panose="02070309020205020404" pitchFamily="49" charset="0"/>
              </a:rPr>
              <a:t>về</a:t>
            </a:r>
            <a:r>
              <a:rPr lang="en-US" sz="1200" dirty="0" smtClean="0">
                <a:latin typeface="Courier New" panose="02070309020205020404" pitchFamily="49" charset="0"/>
                <a:cs typeface="Courier New" panose="02070309020205020404" pitchFamily="49" charset="0"/>
              </a:rPr>
              <a:t> </a:t>
            </a:r>
            <a:r>
              <a:rPr lang="en-US" sz="1200" dirty="0" err="1" smtClean="0">
                <a:latin typeface="Courier New" panose="02070309020205020404" pitchFamily="49" charset="0"/>
                <a:cs typeface="Courier New" panose="02070309020205020404" pitchFamily="49" charset="0"/>
              </a:rPr>
              <a:t>vị</a:t>
            </a:r>
            <a:r>
              <a:rPr lang="en-US" sz="1200" dirty="0" smtClean="0">
                <a:latin typeface="Courier New" panose="02070309020205020404" pitchFamily="49" charset="0"/>
                <a:cs typeface="Courier New" panose="02070309020205020404" pitchFamily="49" charset="0"/>
              </a:rPr>
              <a:t> </a:t>
            </a:r>
            <a:r>
              <a:rPr lang="en-US" sz="1200" dirty="0" err="1" smtClean="0">
                <a:latin typeface="Courier New" panose="02070309020205020404" pitchFamily="49" charset="0"/>
                <a:cs typeface="Courier New" panose="02070309020205020404" pitchFamily="49" charset="0"/>
              </a:rPr>
              <a:t>trí</a:t>
            </a:r>
            <a:r>
              <a:rPr lang="en-US" sz="1200" dirty="0" smtClean="0">
                <a:latin typeface="Courier New" panose="02070309020205020404" pitchFamily="49" charset="0"/>
                <a:cs typeface="Courier New" panose="02070309020205020404" pitchFamily="49" charset="0"/>
              </a:rPr>
              <a:t> </a:t>
            </a:r>
            <a:r>
              <a:rPr lang="en-US" sz="1200" dirty="0" err="1" smtClean="0">
                <a:latin typeface="Courier New" panose="02070309020205020404" pitchFamily="49" charset="0"/>
                <a:cs typeface="Courier New" panose="02070309020205020404" pitchFamily="49" charset="0"/>
              </a:rPr>
              <a:t>tìm</a:t>
            </a:r>
            <a:r>
              <a:rPr lang="en-US" sz="1200" dirty="0" smtClean="0">
                <a:latin typeface="Courier New" panose="02070309020205020404" pitchFamily="49" charset="0"/>
                <a:cs typeface="Courier New" panose="02070309020205020404" pitchFamily="49" charset="0"/>
              </a:rPr>
              <a:t> </a:t>
            </a:r>
            <a:r>
              <a:rPr lang="en-US" sz="1200" dirty="0" err="1" smtClean="0">
                <a:latin typeface="Courier New" panose="02070309020205020404" pitchFamily="49" charset="0"/>
                <a:cs typeface="Courier New" panose="02070309020205020404" pitchFamily="49" charset="0"/>
              </a:rPr>
              <a:t>thấy</a:t>
            </a:r>
            <a:r>
              <a:rPr lang="en-US" sz="1200" dirty="0" smtClean="0">
                <a:latin typeface="Courier New" panose="02070309020205020404" pitchFamily="49" charset="0"/>
                <a:cs typeface="Courier New" panose="02070309020205020404" pitchFamily="49" charset="0"/>
              </a:rPr>
              <a:t> </a:t>
            </a:r>
            <a:r>
              <a:rPr lang="en-US" sz="1200" dirty="0" err="1" smtClean="0">
                <a:latin typeface="Courier New" panose="02070309020205020404" pitchFamily="49" charset="0"/>
                <a:cs typeface="Courier New" panose="02070309020205020404" pitchFamily="49" charset="0"/>
              </a:rPr>
              <a:t>đầu</a:t>
            </a:r>
            <a:r>
              <a:rPr lang="en-US" sz="1200" dirty="0" smtClean="0">
                <a:latin typeface="Courier New" panose="02070309020205020404" pitchFamily="49" charset="0"/>
                <a:cs typeface="Courier New" panose="02070309020205020404" pitchFamily="49" charset="0"/>
              </a:rPr>
              <a:t> </a:t>
            </a:r>
            <a:r>
              <a:rPr lang="en-US" sz="1200" dirty="0" err="1" smtClean="0">
                <a:latin typeface="Courier New" panose="02070309020205020404" pitchFamily="49" charset="0"/>
                <a:cs typeface="Courier New" panose="02070309020205020404" pitchFamily="49" charset="0"/>
              </a:rPr>
              <a:t>tiên</a:t>
            </a:r>
            <a:r>
              <a:rPr lang="en-US" sz="1200" dirty="0" smtClean="0">
                <a:latin typeface="Courier New" panose="02070309020205020404" pitchFamily="49" charset="0"/>
                <a:cs typeface="Courier New" panose="02070309020205020404" pitchFamily="49" charset="0"/>
              </a:rPr>
              <a:t> </a:t>
            </a:r>
          </a:p>
          <a:p>
            <a:r>
              <a:rPr lang="en-US" sz="1200" dirty="0" smtClean="0">
                <a:latin typeface="Courier New" panose="02070309020205020404" pitchFamily="49" charset="0"/>
                <a:cs typeface="Courier New" panose="02070309020205020404" pitchFamily="49" charset="0"/>
              </a:rPr>
              <a:t>//</a:t>
            </a:r>
            <a:r>
              <a:rPr lang="en-US" sz="1200" dirty="0" err="1" smtClean="0">
                <a:latin typeface="Courier New" panose="02070309020205020404" pitchFamily="49" charset="0"/>
                <a:cs typeface="Courier New" panose="02070309020205020404" pitchFamily="49" charset="0"/>
              </a:rPr>
              <a:t>trả</a:t>
            </a:r>
            <a:r>
              <a:rPr lang="en-US" sz="1200" dirty="0" smtClean="0">
                <a:latin typeface="Courier New" panose="02070309020205020404" pitchFamily="49" charset="0"/>
                <a:cs typeface="Courier New" panose="02070309020205020404" pitchFamily="49" charset="0"/>
              </a:rPr>
              <a:t> </a:t>
            </a:r>
            <a:r>
              <a:rPr lang="en-US" sz="1200" dirty="0" err="1" smtClean="0">
                <a:latin typeface="Courier New" panose="02070309020205020404" pitchFamily="49" charset="0"/>
                <a:cs typeface="Courier New" panose="02070309020205020404" pitchFamily="49" charset="0"/>
              </a:rPr>
              <a:t>về</a:t>
            </a:r>
            <a:r>
              <a:rPr lang="en-US" sz="1200" dirty="0" smtClean="0">
                <a:latin typeface="Courier New" panose="02070309020205020404" pitchFamily="49" charset="0"/>
                <a:cs typeface="Courier New" panose="02070309020205020404" pitchFamily="49" charset="0"/>
              </a:rPr>
              <a:t> -1 </a:t>
            </a:r>
            <a:r>
              <a:rPr lang="en-US" sz="1200" dirty="0" err="1" smtClean="0">
                <a:latin typeface="Courier New" panose="02070309020205020404" pitchFamily="49" charset="0"/>
                <a:cs typeface="Courier New" panose="02070309020205020404" pitchFamily="49" charset="0"/>
              </a:rPr>
              <a:t>nếu</a:t>
            </a:r>
            <a:r>
              <a:rPr lang="en-US" sz="1200" dirty="0" smtClean="0">
                <a:latin typeface="Courier New" panose="02070309020205020404" pitchFamily="49" charset="0"/>
                <a:cs typeface="Courier New" panose="02070309020205020404" pitchFamily="49" charset="0"/>
              </a:rPr>
              <a:t> </a:t>
            </a:r>
            <a:r>
              <a:rPr lang="en-US" sz="1200" dirty="0" err="1" smtClean="0">
                <a:latin typeface="Courier New" panose="02070309020205020404" pitchFamily="49" charset="0"/>
                <a:cs typeface="Courier New" panose="02070309020205020404" pitchFamily="49" charset="0"/>
              </a:rPr>
              <a:t>không</a:t>
            </a:r>
            <a:r>
              <a:rPr lang="en-US" sz="1200" dirty="0" smtClean="0">
                <a:latin typeface="Courier New" panose="02070309020205020404" pitchFamily="49" charset="0"/>
                <a:cs typeface="Courier New" panose="02070309020205020404" pitchFamily="49" charset="0"/>
              </a:rPr>
              <a:t> </a:t>
            </a:r>
            <a:r>
              <a:rPr lang="en-US" sz="1200" dirty="0" err="1" smtClean="0">
                <a:latin typeface="Courier New" panose="02070309020205020404" pitchFamily="49" charset="0"/>
                <a:cs typeface="Courier New" panose="02070309020205020404" pitchFamily="49" charset="0"/>
              </a:rPr>
              <a:t>tìm</a:t>
            </a:r>
            <a:r>
              <a:rPr lang="en-US" sz="1200" dirty="0" smtClean="0">
                <a:latin typeface="Courier New" panose="02070309020205020404" pitchFamily="49" charset="0"/>
                <a:cs typeface="Courier New" panose="02070309020205020404" pitchFamily="49" charset="0"/>
              </a:rPr>
              <a:t> </a:t>
            </a:r>
            <a:r>
              <a:rPr lang="en-US" sz="1200" dirty="0" err="1" smtClean="0">
                <a:latin typeface="Courier New" panose="02070309020205020404" pitchFamily="49" charset="0"/>
                <a:cs typeface="Courier New" panose="02070309020205020404" pitchFamily="49" charset="0"/>
              </a:rPr>
              <a:t>thấy</a:t>
            </a:r>
            <a:endParaRPr lang="en-US" sz="1200" dirty="0" smtClean="0">
              <a:latin typeface="Courier New" panose="02070309020205020404" pitchFamily="49" charset="0"/>
              <a:cs typeface="Courier New" panose="02070309020205020404" pitchFamily="49" charset="0"/>
            </a:endParaRPr>
          </a:p>
          <a:p>
            <a:endParaRPr lang="en-US" sz="1200" dirty="0" smtClean="0">
              <a:latin typeface="Courier New" panose="02070309020205020404" pitchFamily="49" charset="0"/>
              <a:cs typeface="Courier New" panose="02070309020205020404" pitchFamily="49" charset="0"/>
            </a:endParaRPr>
          </a:p>
          <a:p>
            <a:r>
              <a:rPr lang="en-US" sz="1200" dirty="0" err="1" smtClean="0">
                <a:latin typeface="Courier New" panose="02070309020205020404" pitchFamily="49" charset="0"/>
                <a:cs typeface="Courier New" panose="02070309020205020404" pitchFamily="49" charset="0"/>
              </a:rPr>
              <a:t>int</a:t>
            </a:r>
            <a:r>
              <a:rPr lang="en-US" sz="1200" dirty="0" smtClean="0">
                <a:latin typeface="Courier New" panose="02070309020205020404" pitchFamily="49" charset="0"/>
                <a:cs typeface="Courier New" panose="02070309020205020404" pitchFamily="49" charset="0"/>
              </a:rPr>
              <a:t>  BFSearch2(char V[], </a:t>
            </a:r>
            <a:r>
              <a:rPr lang="en-US" sz="1200" dirty="0" err="1" smtClean="0">
                <a:latin typeface="Courier New" panose="02070309020205020404" pitchFamily="49" charset="0"/>
                <a:cs typeface="Courier New" panose="02070309020205020404" pitchFamily="49" charset="0"/>
              </a:rPr>
              <a:t>int</a:t>
            </a:r>
            <a:r>
              <a:rPr lang="en-US" sz="1200" dirty="0" smtClean="0">
                <a:latin typeface="Courier New" panose="02070309020205020404" pitchFamily="49" charset="0"/>
                <a:cs typeface="Courier New" panose="02070309020205020404" pitchFamily="49" charset="0"/>
              </a:rPr>
              <a:t> N, char P[], </a:t>
            </a:r>
            <a:r>
              <a:rPr lang="en-US" sz="1200" dirty="0" err="1" smtClean="0">
                <a:latin typeface="Courier New" panose="02070309020205020404" pitchFamily="49" charset="0"/>
                <a:cs typeface="Courier New" panose="02070309020205020404" pitchFamily="49" charset="0"/>
              </a:rPr>
              <a:t>int</a:t>
            </a:r>
            <a:r>
              <a:rPr lang="en-US" sz="1200" dirty="0" smtClean="0">
                <a:latin typeface="Courier New" panose="02070309020205020404" pitchFamily="49" charset="0"/>
                <a:cs typeface="Courier New" panose="02070309020205020404" pitchFamily="49" charset="0"/>
              </a:rPr>
              <a:t> M ) {</a:t>
            </a:r>
          </a:p>
          <a:p>
            <a:r>
              <a:rPr lang="en-US" sz="1200" dirty="0" smtClean="0">
                <a:latin typeface="Courier New" panose="02070309020205020404" pitchFamily="49" charset="0"/>
                <a:cs typeface="Courier New" panose="02070309020205020404" pitchFamily="49" charset="0"/>
              </a:rPr>
              <a:t>if (N&lt;M) return -1;   </a:t>
            </a:r>
          </a:p>
          <a:p>
            <a:r>
              <a:rPr lang="en-US" sz="1200" dirty="0" smtClean="0">
                <a:latin typeface="Courier New" panose="02070309020205020404" pitchFamily="49" charset="0"/>
                <a:cs typeface="Courier New" panose="02070309020205020404" pitchFamily="49" charset="0"/>
              </a:rPr>
              <a:t> </a:t>
            </a:r>
            <a:r>
              <a:rPr lang="en-US" sz="1200" dirty="0" err="1" smtClean="0">
                <a:latin typeface="Courier New" panose="02070309020205020404" pitchFamily="49" charset="0"/>
                <a:cs typeface="Courier New" panose="02070309020205020404" pitchFamily="49" charset="0"/>
              </a:rPr>
              <a:t>int</a:t>
            </a:r>
            <a:r>
              <a:rPr lang="en-US" sz="1200" dirty="0" smtClean="0">
                <a:latin typeface="Courier New" panose="02070309020205020404" pitchFamily="49" charset="0"/>
                <a:cs typeface="Courier New" panose="02070309020205020404" pitchFamily="49" charset="0"/>
              </a:rPr>
              <a:t>  </a:t>
            </a:r>
            <a:r>
              <a:rPr lang="en-US" sz="1200" dirty="0" err="1" smtClean="0">
                <a:latin typeface="Courier New" panose="02070309020205020404" pitchFamily="49" charset="0"/>
                <a:cs typeface="Courier New" panose="02070309020205020404" pitchFamily="49" charset="0"/>
              </a:rPr>
              <a:t>i</a:t>
            </a:r>
            <a:r>
              <a:rPr lang="en-US" sz="1200" dirty="0" smtClean="0">
                <a:latin typeface="Courier New" panose="02070309020205020404" pitchFamily="49" charset="0"/>
                <a:cs typeface="Courier New" panose="02070309020205020404" pitchFamily="49" charset="0"/>
              </a:rPr>
              <a:t>, j;    </a:t>
            </a:r>
            <a:r>
              <a:rPr lang="en-US" sz="1200" dirty="0" err="1" smtClean="0">
                <a:latin typeface="Courier New" panose="02070309020205020404" pitchFamily="49" charset="0"/>
                <a:cs typeface="Courier New" panose="02070309020205020404" pitchFamily="49" charset="0"/>
              </a:rPr>
              <a:t>i</a:t>
            </a:r>
            <a:r>
              <a:rPr lang="en-US" sz="1200" dirty="0" smtClean="0">
                <a:latin typeface="Courier New" panose="02070309020205020404" pitchFamily="49" charset="0"/>
                <a:cs typeface="Courier New" panose="02070309020205020404" pitchFamily="49" charset="0"/>
              </a:rPr>
              <a:t>=j=0;    </a:t>
            </a:r>
          </a:p>
          <a:p>
            <a:r>
              <a:rPr lang="en-US" sz="1200" dirty="0" smtClean="0">
                <a:latin typeface="Courier New" panose="02070309020205020404" pitchFamily="49" charset="0"/>
                <a:cs typeface="Courier New" panose="02070309020205020404" pitchFamily="49" charset="0"/>
              </a:rPr>
              <a:t> do {</a:t>
            </a:r>
          </a:p>
          <a:p>
            <a:r>
              <a:rPr lang="en-US" sz="1200" dirty="0" smtClean="0">
                <a:latin typeface="Courier New" panose="02070309020205020404" pitchFamily="49" charset="0"/>
                <a:cs typeface="Courier New" panose="02070309020205020404" pitchFamily="49" charset="0"/>
              </a:rPr>
              <a:t>          while (j&lt;M &amp;&amp; V[</a:t>
            </a:r>
            <a:r>
              <a:rPr lang="en-US" sz="1200" dirty="0" err="1" smtClean="0">
                <a:latin typeface="Courier New" panose="02070309020205020404" pitchFamily="49" charset="0"/>
                <a:cs typeface="Courier New" panose="02070309020205020404" pitchFamily="49" charset="0"/>
              </a:rPr>
              <a:t>i+j</a:t>
            </a:r>
            <a:r>
              <a:rPr lang="en-US" sz="1200" dirty="0" smtClean="0">
                <a:latin typeface="Courier New" panose="02070309020205020404" pitchFamily="49" charset="0"/>
                <a:cs typeface="Courier New" panose="02070309020205020404" pitchFamily="49" charset="0"/>
              </a:rPr>
              <a:t>]==P[j]) { </a:t>
            </a:r>
            <a:r>
              <a:rPr lang="en-US" sz="1200" dirty="0" err="1" smtClean="0">
                <a:latin typeface="Courier New" panose="02070309020205020404" pitchFamily="49" charset="0"/>
                <a:cs typeface="Courier New" panose="02070309020205020404" pitchFamily="49" charset="0"/>
              </a:rPr>
              <a:t>j++</a:t>
            </a:r>
            <a:r>
              <a:rPr lang="en-US" sz="1200" dirty="0" smtClean="0">
                <a:latin typeface="Courier New" panose="02070309020205020404" pitchFamily="49" charset="0"/>
                <a:cs typeface="Courier New" panose="02070309020205020404" pitchFamily="49" charset="0"/>
              </a:rPr>
              <a:t>; }</a:t>
            </a:r>
          </a:p>
          <a:p>
            <a:r>
              <a:rPr lang="en-US" sz="1200" dirty="0" smtClean="0">
                <a:latin typeface="Courier New" panose="02070309020205020404" pitchFamily="49" charset="0"/>
                <a:cs typeface="Courier New" panose="02070309020205020404" pitchFamily="49" charset="0"/>
              </a:rPr>
              <a:t>         if (</a:t>
            </a:r>
            <a:r>
              <a:rPr lang="en-US" sz="1200" dirty="0" err="1" smtClean="0">
                <a:latin typeface="Courier New" panose="02070309020205020404" pitchFamily="49" charset="0"/>
                <a:cs typeface="Courier New" panose="02070309020205020404" pitchFamily="49" charset="0"/>
              </a:rPr>
              <a:t>i</a:t>
            </a:r>
            <a:r>
              <a:rPr lang="en-US" sz="1200" dirty="0" smtClean="0">
                <a:latin typeface="Courier New" panose="02070309020205020404" pitchFamily="49" charset="0"/>
                <a:cs typeface="Courier New" panose="02070309020205020404" pitchFamily="49" charset="0"/>
              </a:rPr>
              <a:t>&lt;=N-M &amp;&amp; j&lt;M ) { </a:t>
            </a:r>
            <a:r>
              <a:rPr lang="en-US" sz="1200" dirty="0" err="1" smtClean="0">
                <a:latin typeface="Courier New" panose="02070309020205020404" pitchFamily="49" charset="0"/>
                <a:cs typeface="Courier New" panose="02070309020205020404" pitchFamily="49" charset="0"/>
              </a:rPr>
              <a:t>i</a:t>
            </a:r>
            <a:r>
              <a:rPr lang="en-US" sz="1200" dirty="0" smtClean="0">
                <a:latin typeface="Courier New" panose="02070309020205020404" pitchFamily="49" charset="0"/>
                <a:cs typeface="Courier New" panose="02070309020205020404" pitchFamily="49" charset="0"/>
              </a:rPr>
              <a:t>++; j=0; }</a:t>
            </a:r>
          </a:p>
          <a:p>
            <a:r>
              <a:rPr lang="en-US" sz="1200" dirty="0" smtClean="0">
                <a:latin typeface="Courier New" panose="02070309020205020404" pitchFamily="49" charset="0"/>
                <a:cs typeface="Courier New" panose="02070309020205020404" pitchFamily="49" charset="0"/>
              </a:rPr>
              <a:t>  } while (</a:t>
            </a:r>
            <a:r>
              <a:rPr lang="en-US" sz="1200" dirty="0" err="1" smtClean="0">
                <a:latin typeface="Courier New" panose="02070309020205020404" pitchFamily="49" charset="0"/>
                <a:cs typeface="Courier New" panose="02070309020205020404" pitchFamily="49" charset="0"/>
              </a:rPr>
              <a:t>i</a:t>
            </a:r>
            <a:r>
              <a:rPr lang="en-US" sz="1200" dirty="0" smtClean="0">
                <a:latin typeface="Courier New" panose="02070309020205020404" pitchFamily="49" charset="0"/>
                <a:cs typeface="Courier New" panose="02070309020205020404" pitchFamily="49" charset="0"/>
              </a:rPr>
              <a:t>&lt;=N-M &amp;&amp; j&lt;M) ;</a:t>
            </a:r>
          </a:p>
          <a:p>
            <a:r>
              <a:rPr lang="en-US" sz="1200" dirty="0" smtClean="0">
                <a:latin typeface="Courier New" panose="02070309020205020404" pitchFamily="49" charset="0"/>
                <a:cs typeface="Courier New" panose="02070309020205020404" pitchFamily="49" charset="0"/>
              </a:rPr>
              <a:t>  if (j==M) return </a:t>
            </a:r>
            <a:r>
              <a:rPr lang="en-US" sz="1200" dirty="0" err="1" smtClean="0">
                <a:latin typeface="Courier New" panose="02070309020205020404" pitchFamily="49" charset="0"/>
                <a:cs typeface="Courier New" panose="02070309020205020404" pitchFamily="49" charset="0"/>
              </a:rPr>
              <a:t>i</a:t>
            </a:r>
            <a:r>
              <a:rPr lang="en-US" sz="1200" dirty="0" smtClean="0">
                <a:latin typeface="Courier New" panose="02070309020205020404" pitchFamily="49" charset="0"/>
                <a:cs typeface="Courier New" panose="02070309020205020404" pitchFamily="49" charset="0"/>
              </a:rPr>
              <a:t>;</a:t>
            </a:r>
          </a:p>
          <a:p>
            <a:r>
              <a:rPr lang="en-US" sz="1200" dirty="0" smtClean="0">
                <a:latin typeface="Courier New" panose="02070309020205020404" pitchFamily="49" charset="0"/>
                <a:cs typeface="Courier New" panose="02070309020205020404" pitchFamily="49" charset="0"/>
              </a:rPr>
              <a:t>  else return -1;</a:t>
            </a:r>
          </a:p>
          <a:p>
            <a:r>
              <a:rPr lang="en-US" sz="1200" dirty="0" smtClean="0">
                <a:latin typeface="Courier New" panose="02070309020205020404" pitchFamily="49" charset="0"/>
                <a:cs typeface="Courier New" panose="02070309020205020404" pitchFamily="49" charset="0"/>
              </a:rPr>
              <a:t>}//end </a:t>
            </a:r>
            <a:r>
              <a:rPr lang="en-US" sz="1200" dirty="0" err="1" smtClean="0">
                <a:latin typeface="Courier New" panose="02070309020205020404" pitchFamily="49" charset="0"/>
                <a:cs typeface="Courier New" panose="02070309020205020404" pitchFamily="49" charset="0"/>
              </a:rPr>
              <a:t>BFSearch</a:t>
            </a:r>
            <a:endParaRPr lang="en-US" sz="1200" dirty="0" smtClean="0">
              <a:latin typeface="Courier New" panose="02070309020205020404" pitchFamily="49" charset="0"/>
              <a:cs typeface="Courier New" panose="02070309020205020404" pitchFamily="49" charset="0"/>
            </a:endParaRPr>
          </a:p>
        </p:txBody>
      </p:sp>
      <p:sp>
        <p:nvSpPr>
          <p:cNvPr id="4" name="Slide Number Placeholder 3"/>
          <p:cNvSpPr>
            <a:spLocks noGrp="1"/>
          </p:cNvSpPr>
          <p:nvPr>
            <p:ph type="sldNum" sz="quarter" idx="10"/>
          </p:nvPr>
        </p:nvSpPr>
        <p:spPr/>
        <p:txBody>
          <a:bodyPr/>
          <a:lstStyle/>
          <a:p>
            <a:fld id="{76159C16-962D-45B7-9AE3-AA455C3EA8F0}" type="slidenum">
              <a:rPr lang="en-US" smtClean="0"/>
              <a:pPr/>
              <a:t>12</a:t>
            </a:fld>
            <a:endParaRPr lang="en-US"/>
          </a:p>
        </p:txBody>
      </p:sp>
    </p:spTree>
    <p:extLst>
      <p:ext uri="{BB962C8B-B14F-4D97-AF65-F5344CB8AC3E}">
        <p14:creationId xmlns:p14="http://schemas.microsoft.com/office/powerpoint/2010/main" val="28915202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smtClean="0">
                <a:latin typeface="Courier New" panose="02070309020205020404" pitchFamily="49" charset="0"/>
                <a:cs typeface="Courier New" panose="02070309020205020404" pitchFamily="49" charset="0"/>
              </a:rPr>
              <a:t>=&gt; </a:t>
            </a:r>
            <a:r>
              <a:rPr lang="en-US" sz="1200" dirty="0" err="1" smtClean="0">
                <a:latin typeface="Courier New" panose="02070309020205020404" pitchFamily="49" charset="0"/>
                <a:cs typeface="Courier New" panose="02070309020205020404" pitchFamily="49" charset="0"/>
              </a:rPr>
              <a:t>cần</a:t>
            </a:r>
            <a:r>
              <a:rPr lang="en-US" sz="1200" baseline="0" dirty="0" smtClean="0">
                <a:latin typeface="Courier New" panose="02070309020205020404" pitchFamily="49" charset="0"/>
                <a:cs typeface="Courier New" panose="02070309020205020404" pitchFamily="49" charset="0"/>
              </a:rPr>
              <a:t> </a:t>
            </a:r>
            <a:r>
              <a:rPr lang="en-US" sz="1200" baseline="0" dirty="0" err="1" smtClean="0">
                <a:latin typeface="Courier New" panose="02070309020205020404" pitchFamily="49" charset="0"/>
                <a:cs typeface="Courier New" panose="02070309020205020404" pitchFamily="49" charset="0"/>
              </a:rPr>
              <a:t>tìm</a:t>
            </a:r>
            <a:r>
              <a:rPr lang="en-US" sz="1200" baseline="0" dirty="0" smtClean="0">
                <a:latin typeface="Courier New" panose="02070309020205020404" pitchFamily="49" charset="0"/>
                <a:cs typeface="Courier New" panose="02070309020205020404" pitchFamily="49" charset="0"/>
              </a:rPr>
              <a:t> </a:t>
            </a:r>
            <a:r>
              <a:rPr lang="en-US" sz="1200" baseline="0" dirty="0" err="1" smtClean="0">
                <a:latin typeface="Courier New" panose="02070309020205020404" pitchFamily="49" charset="0"/>
                <a:cs typeface="Courier New" panose="02070309020205020404" pitchFamily="49" charset="0"/>
              </a:rPr>
              <a:t>chuỗi</a:t>
            </a:r>
            <a:r>
              <a:rPr lang="en-US" sz="1200" baseline="0" dirty="0" smtClean="0">
                <a:latin typeface="Courier New" panose="02070309020205020404" pitchFamily="49" charset="0"/>
                <a:cs typeface="Courier New" panose="02070309020205020404" pitchFamily="49" charset="0"/>
              </a:rPr>
              <a:t> </a:t>
            </a:r>
            <a:r>
              <a:rPr lang="en-US" sz="1200" baseline="0" dirty="0" err="1" smtClean="0">
                <a:latin typeface="Courier New" panose="02070309020205020404" pitchFamily="49" charset="0"/>
                <a:cs typeface="Courier New" panose="02070309020205020404" pitchFamily="49" charset="0"/>
              </a:rPr>
              <a:t>bắt</a:t>
            </a:r>
            <a:r>
              <a:rPr lang="en-US" sz="1200" baseline="0" dirty="0" smtClean="0">
                <a:latin typeface="Courier New" panose="02070309020205020404" pitchFamily="49" charset="0"/>
                <a:cs typeface="Courier New" panose="02070309020205020404" pitchFamily="49" charset="0"/>
              </a:rPr>
              <a:t> </a:t>
            </a:r>
            <a:r>
              <a:rPr lang="en-US" sz="1200" baseline="0" dirty="0" err="1" smtClean="0">
                <a:latin typeface="Courier New" panose="02070309020205020404" pitchFamily="49" charset="0"/>
                <a:cs typeface="Courier New" panose="02070309020205020404" pitchFamily="49" charset="0"/>
              </a:rPr>
              <a:t>đầu</a:t>
            </a:r>
            <a:r>
              <a:rPr lang="en-US" sz="1200" baseline="0" dirty="0" smtClean="0">
                <a:latin typeface="Courier New" panose="02070309020205020404" pitchFamily="49" charset="0"/>
                <a:cs typeface="Courier New" panose="02070309020205020404" pitchFamily="49" charset="0"/>
              </a:rPr>
              <a:t> </a:t>
            </a:r>
            <a:r>
              <a:rPr lang="en-US" sz="1200" baseline="0" dirty="0" err="1" smtClean="0">
                <a:latin typeface="Courier New" panose="02070309020205020404" pitchFamily="49" charset="0"/>
                <a:cs typeface="Courier New" panose="02070309020205020404" pitchFamily="49" charset="0"/>
              </a:rPr>
              <a:t>và</a:t>
            </a:r>
            <a:r>
              <a:rPr lang="en-US" sz="1200" baseline="0" dirty="0" smtClean="0">
                <a:latin typeface="Courier New" panose="02070309020205020404" pitchFamily="49" charset="0"/>
                <a:cs typeface="Courier New" panose="02070309020205020404" pitchFamily="49" charset="0"/>
              </a:rPr>
              <a:t> </a:t>
            </a:r>
            <a:r>
              <a:rPr lang="en-US" sz="1200" baseline="0" dirty="0" err="1" smtClean="0">
                <a:latin typeface="Courier New" panose="02070309020205020404" pitchFamily="49" charset="0"/>
                <a:cs typeface="Courier New" panose="02070309020205020404" pitchFamily="49" charset="0"/>
              </a:rPr>
              <a:t>kết</a:t>
            </a:r>
            <a:r>
              <a:rPr lang="en-US" sz="1200" baseline="0" dirty="0" smtClean="0">
                <a:latin typeface="Courier New" panose="02070309020205020404" pitchFamily="49" charset="0"/>
                <a:cs typeface="Courier New" panose="02070309020205020404" pitchFamily="49" charset="0"/>
              </a:rPr>
              <a:t> </a:t>
            </a:r>
            <a:r>
              <a:rPr lang="en-US" sz="1200" baseline="0" dirty="0" err="1" smtClean="0">
                <a:latin typeface="Courier New" panose="02070309020205020404" pitchFamily="49" charset="0"/>
                <a:cs typeface="Courier New" panose="02070309020205020404" pitchFamily="49" charset="0"/>
              </a:rPr>
              <a:t>thúc</a:t>
            </a:r>
            <a:r>
              <a:rPr lang="en-US" sz="1200" baseline="0" dirty="0" smtClean="0">
                <a:latin typeface="Courier New" panose="02070309020205020404" pitchFamily="49" charset="0"/>
                <a:cs typeface="Courier New" panose="02070309020205020404" pitchFamily="49" charset="0"/>
              </a:rPr>
              <a:t> </a:t>
            </a:r>
            <a:r>
              <a:rPr lang="en-US" sz="1200" baseline="0" dirty="0" err="1" smtClean="0">
                <a:latin typeface="Courier New" panose="02070309020205020404" pitchFamily="49" charset="0"/>
                <a:cs typeface="Courier New" panose="02070309020205020404" pitchFamily="49" charset="0"/>
              </a:rPr>
              <a:t>là</a:t>
            </a:r>
            <a:r>
              <a:rPr lang="en-US" sz="1200" baseline="0" dirty="0" smtClean="0">
                <a:latin typeface="Courier New" panose="02070309020205020404" pitchFamily="49" charset="0"/>
                <a:cs typeface="Courier New" panose="02070309020205020404" pitchFamily="49" charset="0"/>
              </a:rPr>
              <a:t> </a:t>
            </a:r>
            <a:r>
              <a:rPr lang="en-US" sz="1200" baseline="0" dirty="0" err="1" smtClean="0">
                <a:latin typeface="Courier New" panose="02070309020205020404" pitchFamily="49" charset="0"/>
                <a:cs typeface="Courier New" panose="02070309020205020404" pitchFamily="49" charset="0"/>
              </a:rPr>
              <a:t>trùng</a:t>
            </a:r>
            <a:r>
              <a:rPr lang="en-US" sz="1200" baseline="0" dirty="0" smtClean="0">
                <a:latin typeface="Courier New" panose="02070309020205020404" pitchFamily="49" charset="0"/>
                <a:cs typeface="Courier New" panose="02070309020205020404" pitchFamily="49" charset="0"/>
              </a:rPr>
              <a:t> </a:t>
            </a:r>
            <a:r>
              <a:rPr lang="en-US" sz="1200" baseline="0" dirty="0" err="1" smtClean="0">
                <a:latin typeface="Courier New" panose="02070309020205020404" pitchFamily="49" charset="0"/>
                <a:cs typeface="Courier New" panose="02070309020205020404" pitchFamily="49" charset="0"/>
              </a:rPr>
              <a:t>khớp</a:t>
            </a:r>
            <a:r>
              <a:rPr lang="en-US" sz="1200" baseline="0" dirty="0" smtClean="0">
                <a:latin typeface="Courier New" panose="02070309020205020404" pitchFamily="49" charset="0"/>
                <a:cs typeface="Courier New" panose="02070309020205020404" pitchFamily="49" charset="0"/>
              </a:rPr>
              <a:t> </a:t>
            </a:r>
            <a:r>
              <a:rPr lang="en-US" sz="1200" baseline="0" dirty="0" err="1" smtClean="0">
                <a:latin typeface="Courier New" panose="02070309020205020404" pitchFamily="49" charset="0"/>
                <a:cs typeface="Courier New" panose="02070309020205020404" pitchFamily="49" charset="0"/>
              </a:rPr>
              <a:t>nhau</a:t>
            </a:r>
            <a:r>
              <a:rPr lang="en-US" sz="1200" baseline="0" dirty="0" smtClean="0">
                <a:latin typeface="Courier New" panose="02070309020205020404" pitchFamily="49" charset="0"/>
                <a:cs typeface="Courier New" panose="02070309020205020404" pitchFamily="49" charset="0"/>
              </a:rPr>
              <a:t> ở </a:t>
            </a:r>
            <a:r>
              <a:rPr lang="en-US" sz="1200" baseline="0" dirty="0" err="1" smtClean="0">
                <a:latin typeface="Courier New" panose="02070309020205020404" pitchFamily="49" charset="0"/>
                <a:cs typeface="Courier New" panose="02070309020205020404" pitchFamily="49" charset="0"/>
              </a:rPr>
              <a:t>vị</a:t>
            </a:r>
            <a:r>
              <a:rPr lang="en-US" sz="1200" baseline="0" dirty="0" smtClean="0">
                <a:latin typeface="Courier New" panose="02070309020205020404" pitchFamily="49" charset="0"/>
                <a:cs typeface="Courier New" panose="02070309020205020404" pitchFamily="49" charset="0"/>
              </a:rPr>
              <a:t> </a:t>
            </a:r>
            <a:r>
              <a:rPr lang="en-US" sz="1200" baseline="0" dirty="0" err="1" smtClean="0">
                <a:latin typeface="Courier New" panose="02070309020205020404" pitchFamily="49" charset="0"/>
                <a:cs typeface="Courier New" panose="02070309020205020404" pitchFamily="49" charset="0"/>
              </a:rPr>
              <a:t>trí</a:t>
            </a:r>
            <a:r>
              <a:rPr lang="en-US" sz="1200" baseline="0" dirty="0" smtClean="0">
                <a:latin typeface="Courier New" panose="02070309020205020404" pitchFamily="49" charset="0"/>
                <a:cs typeface="Courier New" panose="02070309020205020404" pitchFamily="49" charset="0"/>
              </a:rPr>
              <a:t> </a:t>
            </a:r>
            <a:r>
              <a:rPr lang="en-US" sz="1200" baseline="0" dirty="0" err="1" smtClean="0">
                <a:latin typeface="Courier New" panose="02070309020205020404" pitchFamily="49" charset="0"/>
                <a:cs typeface="Courier New" panose="02070309020205020404" pitchFamily="49" charset="0"/>
              </a:rPr>
              <a:t>pj</a:t>
            </a:r>
            <a:endParaRPr lang="en-US" sz="1200" dirty="0" smtClean="0">
              <a:latin typeface="Courier New" panose="02070309020205020404" pitchFamily="49" charset="0"/>
              <a:cs typeface="Courier New" panose="02070309020205020404" pitchFamily="49" charset="0"/>
            </a:endParaRPr>
          </a:p>
        </p:txBody>
      </p:sp>
      <p:sp>
        <p:nvSpPr>
          <p:cNvPr id="4" name="Slide Number Placeholder 3"/>
          <p:cNvSpPr>
            <a:spLocks noGrp="1"/>
          </p:cNvSpPr>
          <p:nvPr>
            <p:ph type="sldNum" sz="quarter" idx="10"/>
          </p:nvPr>
        </p:nvSpPr>
        <p:spPr/>
        <p:txBody>
          <a:bodyPr/>
          <a:lstStyle/>
          <a:p>
            <a:fld id="{76159C16-962D-45B7-9AE3-AA455C3EA8F0}" type="slidenum">
              <a:rPr lang="en-US" smtClean="0"/>
              <a:pPr/>
              <a:t>13</a:t>
            </a:fld>
            <a:endParaRPr lang="en-US"/>
          </a:p>
        </p:txBody>
      </p:sp>
    </p:spTree>
    <p:extLst>
      <p:ext uri="{BB962C8B-B14F-4D97-AF65-F5344CB8AC3E}">
        <p14:creationId xmlns:p14="http://schemas.microsoft.com/office/powerpoint/2010/main" val="40353115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err="1" smtClean="0"/>
              <a:t>p</a:t>
            </a:r>
            <a:r>
              <a:rPr lang="en-US" sz="1200" baseline="-25000" dirty="0" err="1" smtClean="0"/>
              <a:t>k</a:t>
            </a:r>
            <a:r>
              <a:rPr lang="en-US" sz="1200" dirty="0" smtClean="0"/>
              <a:t>≠ </a:t>
            </a:r>
            <a:r>
              <a:rPr lang="en-US" sz="1200" dirty="0" err="1" smtClean="0"/>
              <a:t>p</a:t>
            </a:r>
            <a:r>
              <a:rPr lang="en-US" sz="1200" baseline="-25000" dirty="0" err="1" smtClean="0"/>
              <a:t>j</a:t>
            </a:r>
            <a:r>
              <a:rPr lang="en-US" sz="1200" baseline="-25000" dirty="0" smtClean="0"/>
              <a:t>. </a:t>
            </a:r>
            <a:r>
              <a:rPr lang="en-US" sz="1200" baseline="0" dirty="0" err="1" smtClean="0"/>
              <a:t>Nếu</a:t>
            </a:r>
            <a:r>
              <a:rPr lang="en-US" sz="1200" baseline="0" dirty="0" smtClean="0"/>
              <a:t> </a:t>
            </a:r>
            <a:r>
              <a:rPr lang="en-US" sz="1200" baseline="0" dirty="0" err="1" smtClean="0"/>
              <a:t>pk</a:t>
            </a:r>
            <a:r>
              <a:rPr lang="en-US" sz="1200" baseline="0" dirty="0" smtClean="0"/>
              <a:t> == </a:t>
            </a:r>
            <a:r>
              <a:rPr lang="en-US" sz="1200" baseline="0" dirty="0" err="1" smtClean="0"/>
              <a:t>pj</a:t>
            </a:r>
            <a:r>
              <a:rPr lang="en-US" sz="1200" baseline="0" dirty="0" smtClean="0"/>
              <a:t> =&gt; </a:t>
            </a:r>
            <a:r>
              <a:rPr lang="en-US" sz="1200" baseline="0" dirty="0" err="1" smtClean="0"/>
              <a:t>pk</a:t>
            </a:r>
            <a:r>
              <a:rPr lang="en-US" sz="1200" baseline="0" dirty="0" smtClean="0"/>
              <a:t> </a:t>
            </a:r>
            <a:r>
              <a:rPr lang="en-US" sz="1200" dirty="0" smtClean="0"/>
              <a:t>≠ vi =&gt; </a:t>
            </a:r>
            <a:r>
              <a:rPr lang="en-US" sz="1200" dirty="0" err="1" smtClean="0"/>
              <a:t>không</a:t>
            </a:r>
            <a:r>
              <a:rPr lang="en-US" sz="1200" baseline="0" dirty="0" smtClean="0"/>
              <a:t> </a:t>
            </a:r>
            <a:r>
              <a:rPr lang="en-US" sz="1200" baseline="0" dirty="0" err="1" smtClean="0"/>
              <a:t>khớp</a:t>
            </a:r>
            <a:r>
              <a:rPr lang="en-US" sz="1200" baseline="0" dirty="0" smtClean="0"/>
              <a:t> </a:t>
            </a:r>
            <a:r>
              <a:rPr lang="en-US" sz="1200" baseline="0" dirty="0" err="1" smtClean="0"/>
              <a:t>ngay</a:t>
            </a:r>
            <a:r>
              <a:rPr lang="en-US" sz="1200" baseline="0" dirty="0" smtClean="0"/>
              <a:t> </a:t>
            </a:r>
            <a:r>
              <a:rPr lang="en-US" sz="1200" baseline="0" dirty="0" err="1" smtClean="0"/>
              <a:t>từ</a:t>
            </a:r>
            <a:r>
              <a:rPr lang="en-US" sz="1200" baseline="0" dirty="0" smtClean="0"/>
              <a:t> </a:t>
            </a:r>
            <a:r>
              <a:rPr lang="en-US" sz="1200" baseline="0" dirty="0" err="1" smtClean="0"/>
              <a:t>lúc</a:t>
            </a:r>
            <a:r>
              <a:rPr lang="en-US" sz="1200" baseline="0" dirty="0" smtClean="0"/>
              <a:t> </a:t>
            </a:r>
            <a:r>
              <a:rPr lang="en-US" sz="1200" baseline="0" dirty="0" err="1" smtClean="0"/>
              <a:t>kiểm</a:t>
            </a:r>
            <a:r>
              <a:rPr lang="en-US" sz="1200" baseline="0" dirty="0" smtClean="0"/>
              <a:t> </a:t>
            </a:r>
            <a:r>
              <a:rPr lang="en-US" sz="1200" baseline="0" dirty="0" err="1" smtClean="0"/>
              <a:t>tra</a:t>
            </a:r>
            <a:r>
              <a:rPr lang="en-US" sz="1200" baseline="0" dirty="0" smtClean="0"/>
              <a:t> </a:t>
            </a:r>
            <a:r>
              <a:rPr lang="en-US" sz="1200" baseline="0" dirty="0" err="1" smtClean="0"/>
              <a:t>ký</a:t>
            </a:r>
            <a:r>
              <a:rPr lang="en-US" sz="1200" baseline="0" dirty="0" smtClean="0"/>
              <a:t> </a:t>
            </a:r>
            <a:r>
              <a:rPr lang="en-US" sz="1200" baseline="0" dirty="0" err="1" smtClean="0"/>
              <a:t>tự</a:t>
            </a:r>
            <a:r>
              <a:rPr lang="en-US" sz="1200" baseline="0" dirty="0" smtClean="0"/>
              <a:t> </a:t>
            </a:r>
            <a:r>
              <a:rPr lang="en-US" sz="1200" baseline="0" dirty="0" err="1" smtClean="0"/>
              <a:t>đầu</a:t>
            </a:r>
            <a:r>
              <a:rPr lang="en-US" sz="1200" baseline="0" dirty="0" smtClean="0"/>
              <a:t> </a:t>
            </a:r>
            <a:r>
              <a:rPr lang="en-US" sz="1200" baseline="0" dirty="0" err="1" smtClean="0"/>
              <a:t>tiên</a:t>
            </a:r>
            <a:endParaRPr lang="en-US" sz="1200" baseline="0" dirty="0" smtClean="0"/>
          </a:p>
          <a:p>
            <a:pPr marL="0" marR="0" lvl="2" indent="0" algn="l" defTabSz="914400" rtl="0" eaLnBrk="1" fontAlgn="base" latinLnBrk="0" hangingPunct="1">
              <a:lnSpc>
                <a:spcPct val="100000"/>
              </a:lnSpc>
              <a:spcBef>
                <a:spcPct val="30000"/>
              </a:spcBef>
              <a:spcAft>
                <a:spcPct val="0"/>
              </a:spcAft>
              <a:buClrTx/>
              <a:buSzTx/>
              <a:buFontTx/>
              <a:buNone/>
              <a:tabLst/>
              <a:defRPr/>
            </a:pPr>
            <a:r>
              <a:rPr lang="en-US" sz="2000" dirty="0" smtClean="0"/>
              <a:t>p</a:t>
            </a:r>
            <a:r>
              <a:rPr lang="en-US" sz="2000" baseline="-25000" dirty="0" smtClean="0"/>
              <a:t>0</a:t>
            </a:r>
            <a:r>
              <a:rPr lang="en-US" sz="2000" dirty="0" smtClean="0"/>
              <a:t>p</a:t>
            </a:r>
            <a:r>
              <a:rPr lang="en-US" sz="2000" baseline="-25000" dirty="0" smtClean="0"/>
              <a:t>1</a:t>
            </a:r>
            <a:r>
              <a:rPr lang="en-US" sz="2000" dirty="0" smtClean="0"/>
              <a:t>..p</a:t>
            </a:r>
            <a:r>
              <a:rPr lang="en-US" sz="2000" baseline="-25000" dirty="0" smtClean="0"/>
              <a:t>k-1</a:t>
            </a:r>
            <a:r>
              <a:rPr lang="en-US" sz="2000" dirty="0" smtClean="0"/>
              <a:t> = v</a:t>
            </a:r>
            <a:r>
              <a:rPr lang="en-US" sz="2000" baseline="-25000" dirty="0" smtClean="0"/>
              <a:t>i-k</a:t>
            </a:r>
            <a:r>
              <a:rPr lang="en-US" sz="2000" dirty="0" smtClean="0"/>
              <a:t>…v</a:t>
            </a:r>
            <a:r>
              <a:rPr lang="en-US" sz="2000" baseline="-25000" dirty="0" smtClean="0"/>
              <a:t>i-1</a:t>
            </a:r>
            <a:r>
              <a:rPr lang="en-US" sz="2000" dirty="0" smtClean="0"/>
              <a:t>;</a:t>
            </a:r>
            <a:r>
              <a:rPr lang="en-US" sz="2000" baseline="0" dirty="0" smtClean="0"/>
              <a:t> </a:t>
            </a:r>
            <a:r>
              <a:rPr lang="en-US" sz="2000" baseline="0" dirty="0" err="1" smtClean="0"/>
              <a:t>mà</a:t>
            </a:r>
            <a:r>
              <a:rPr lang="en-US" sz="2000" baseline="0" dirty="0" smtClean="0"/>
              <a:t> </a:t>
            </a:r>
            <a:r>
              <a:rPr lang="en-US" sz="2000" dirty="0" smtClean="0"/>
              <a:t>v</a:t>
            </a:r>
            <a:r>
              <a:rPr lang="en-US" sz="2000" baseline="-25000" dirty="0" smtClean="0"/>
              <a:t>i-k</a:t>
            </a:r>
            <a:r>
              <a:rPr lang="en-US" sz="2000" dirty="0" smtClean="0"/>
              <a:t>…v</a:t>
            </a:r>
            <a:r>
              <a:rPr lang="en-US" sz="2000" baseline="-25000" dirty="0" smtClean="0"/>
              <a:t>i-1</a:t>
            </a:r>
            <a:r>
              <a:rPr lang="en-US" sz="2000" baseline="0" dirty="0" smtClean="0"/>
              <a:t>=</a:t>
            </a:r>
            <a:r>
              <a:rPr lang="en-US" sz="2000" dirty="0" smtClean="0"/>
              <a:t>p</a:t>
            </a:r>
            <a:r>
              <a:rPr lang="en-US" sz="2000" baseline="-25000" dirty="0" smtClean="0"/>
              <a:t>j-k</a:t>
            </a:r>
            <a:r>
              <a:rPr lang="en-US" sz="2000" dirty="0" smtClean="0"/>
              <a:t>p</a:t>
            </a:r>
            <a:r>
              <a:rPr lang="en-US" sz="2000" baseline="-25000" dirty="0" smtClean="0"/>
              <a:t>j-k+1</a:t>
            </a:r>
            <a:r>
              <a:rPr lang="en-US" sz="2000" dirty="0" smtClean="0"/>
              <a:t>...p</a:t>
            </a:r>
            <a:r>
              <a:rPr lang="en-US" sz="2000" baseline="-25000" dirty="0" smtClean="0"/>
              <a:t>j-1 </a:t>
            </a:r>
            <a:r>
              <a:rPr lang="en-US" sz="2000" baseline="0" dirty="0" smtClean="0"/>
              <a:t>=&gt;</a:t>
            </a:r>
            <a:r>
              <a:rPr lang="en-US" sz="1200" dirty="0" smtClean="0"/>
              <a:t>[p</a:t>
            </a:r>
            <a:r>
              <a:rPr lang="en-US" sz="1200" baseline="-25000" dirty="0" smtClean="0"/>
              <a:t>0</a:t>
            </a:r>
            <a:r>
              <a:rPr lang="en-US" sz="1200" dirty="0" smtClean="0"/>
              <a:t>p</a:t>
            </a:r>
            <a:r>
              <a:rPr lang="en-US" sz="1200" baseline="-25000" dirty="0" smtClean="0"/>
              <a:t>1</a:t>
            </a:r>
            <a:r>
              <a:rPr lang="en-US" sz="1200" dirty="0" smtClean="0"/>
              <a:t>...p</a:t>
            </a:r>
            <a:r>
              <a:rPr lang="en-US" sz="1200" baseline="-25000" dirty="0" smtClean="0"/>
              <a:t>k-1</a:t>
            </a:r>
            <a:r>
              <a:rPr lang="en-US" sz="1200" dirty="0" smtClean="0"/>
              <a:t>] = [p</a:t>
            </a:r>
            <a:r>
              <a:rPr lang="en-US" sz="1200" baseline="-25000" dirty="0" smtClean="0"/>
              <a:t>j-k</a:t>
            </a:r>
            <a:r>
              <a:rPr lang="en-US" sz="1200" dirty="0" smtClean="0"/>
              <a:t>p</a:t>
            </a:r>
            <a:r>
              <a:rPr lang="en-US" sz="1200" baseline="-25000" dirty="0" smtClean="0"/>
              <a:t>j-k+1</a:t>
            </a:r>
            <a:r>
              <a:rPr lang="en-US" sz="1200" dirty="0" smtClean="0"/>
              <a:t>...p</a:t>
            </a:r>
            <a:r>
              <a:rPr lang="en-US" sz="1200" baseline="-25000" dirty="0" smtClean="0"/>
              <a:t>j-1</a:t>
            </a:r>
            <a:r>
              <a:rPr lang="en-US" sz="1200" dirty="0" smtClean="0"/>
              <a:t>]</a:t>
            </a:r>
            <a:endParaRPr lang="en-US" sz="1400" dirty="0" smtClean="0"/>
          </a:p>
          <a:p>
            <a:pPr marL="0" marR="0" lvl="2" indent="0" algn="l" defTabSz="914400" rtl="0" eaLnBrk="1" fontAlgn="base" latinLnBrk="0" hangingPunct="1">
              <a:lnSpc>
                <a:spcPct val="100000"/>
              </a:lnSpc>
              <a:spcBef>
                <a:spcPct val="30000"/>
              </a:spcBef>
              <a:spcAft>
                <a:spcPct val="0"/>
              </a:spcAft>
              <a:buClrTx/>
              <a:buSzTx/>
              <a:buFontTx/>
              <a:buNone/>
              <a:tabLst/>
              <a:defRPr/>
            </a:pPr>
            <a:endParaRPr lang="en-US" sz="1200" baseline="0" dirty="0" smtClean="0">
              <a:latin typeface="Courier New" panose="02070309020205020404" pitchFamily="49" charset="0"/>
              <a:cs typeface="Courier New" panose="02070309020205020404" pitchFamily="49" charset="0"/>
            </a:endParaRPr>
          </a:p>
        </p:txBody>
      </p:sp>
      <p:sp>
        <p:nvSpPr>
          <p:cNvPr id="4" name="Slide Number Placeholder 3"/>
          <p:cNvSpPr>
            <a:spLocks noGrp="1"/>
          </p:cNvSpPr>
          <p:nvPr>
            <p:ph type="sldNum" sz="quarter" idx="10"/>
          </p:nvPr>
        </p:nvSpPr>
        <p:spPr/>
        <p:txBody>
          <a:bodyPr/>
          <a:lstStyle/>
          <a:p>
            <a:fld id="{76159C16-962D-45B7-9AE3-AA455C3EA8F0}" type="slidenum">
              <a:rPr lang="en-US" smtClean="0"/>
              <a:pPr/>
              <a:t>14</a:t>
            </a:fld>
            <a:endParaRPr lang="en-US"/>
          </a:p>
        </p:txBody>
      </p:sp>
    </p:spTree>
    <p:extLst>
      <p:ext uri="{BB962C8B-B14F-4D97-AF65-F5344CB8AC3E}">
        <p14:creationId xmlns:p14="http://schemas.microsoft.com/office/powerpoint/2010/main" val="12871530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sz="1200" b="0" dirty="0" smtClean="0">
                <a:latin typeface="Arial" panose="020B0604020202020204" pitchFamily="34" charset="0"/>
                <a:ea typeface="Times New Roman"/>
                <a:cs typeface="Arial" panose="020B0604020202020204" pitchFamily="34" charset="0"/>
              </a:rPr>
              <a:t>p</a:t>
            </a:r>
            <a:r>
              <a:rPr lang="en-US" sz="1200" b="0" baseline="-25000" dirty="0" smtClean="0">
                <a:latin typeface="Arial" panose="020B0604020202020204" pitchFamily="34" charset="0"/>
                <a:ea typeface="Times New Roman"/>
                <a:cs typeface="Arial" panose="020B0604020202020204" pitchFamily="34" charset="0"/>
              </a:rPr>
              <a:t>0</a:t>
            </a:r>
            <a:r>
              <a:rPr lang="en-US" sz="1200" b="0" dirty="0" smtClean="0">
                <a:latin typeface="Arial" panose="020B0604020202020204" pitchFamily="34" charset="0"/>
                <a:ea typeface="Times New Roman"/>
                <a:cs typeface="Arial" panose="020B0604020202020204" pitchFamily="34" charset="0"/>
              </a:rPr>
              <a:t>..p</a:t>
            </a:r>
            <a:r>
              <a:rPr lang="en-US" sz="1200" b="0" baseline="-25000" dirty="0" smtClean="0">
                <a:latin typeface="Arial" panose="020B0604020202020204" pitchFamily="34" charset="0"/>
                <a:ea typeface="Times New Roman"/>
                <a:cs typeface="Arial" panose="020B0604020202020204" pitchFamily="34" charset="0"/>
              </a:rPr>
              <a:t>j-1: </a:t>
            </a:r>
            <a:r>
              <a:rPr lang="en-US" sz="1200" b="0" i="0" baseline="0" dirty="0" err="1" smtClean="0">
                <a:latin typeface="Arial" panose="020B0604020202020204" pitchFamily="34" charset="0"/>
                <a:ea typeface="Times New Roman"/>
                <a:cs typeface="Arial" panose="020B0604020202020204" pitchFamily="34" charset="0"/>
              </a:rPr>
              <a:t>Chuỗi</a:t>
            </a:r>
            <a:r>
              <a:rPr lang="en-US" sz="1200" b="0" i="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trước</a:t>
            </a:r>
            <a:r>
              <a:rPr lang="en-US" sz="1200" b="0" baseline="0" dirty="0" smtClean="0">
                <a:latin typeface="Arial" panose="020B0604020202020204" pitchFamily="34" charset="0"/>
                <a:ea typeface="Times New Roman"/>
                <a:cs typeface="Arial" panose="020B0604020202020204" pitchFamily="34" charset="0"/>
              </a:rPr>
              <a:t> j</a:t>
            </a:r>
          </a:p>
          <a:p>
            <a:pPr marL="0" marR="0" indent="0" algn="l" defTabSz="914400" rtl="0" eaLnBrk="1" fontAlgn="base" latinLnBrk="0" hangingPunct="1">
              <a:lnSpc>
                <a:spcPct val="100000"/>
              </a:lnSpc>
              <a:spcBef>
                <a:spcPct val="30000"/>
              </a:spcBef>
              <a:spcAft>
                <a:spcPct val="0"/>
              </a:spcAft>
              <a:buClrTx/>
              <a:buSzTx/>
              <a:buFontTx/>
              <a:buNone/>
              <a:tabLst/>
              <a:defRPr/>
            </a:pPr>
            <a:endParaRPr lang="en-US" sz="1200" b="0" baseline="0" dirty="0" smtClean="0">
              <a:latin typeface="Arial" panose="020B0604020202020204" pitchFamily="34" charset="0"/>
              <a:ea typeface="Times New Roman"/>
              <a:cs typeface="Arial" panose="020B0604020202020204" pitchFamily="34" charset="0"/>
            </a:endParaRPr>
          </a:p>
          <a:p>
            <a:pPr lvl="2"/>
            <a:r>
              <a:rPr lang="en-US" sz="1800" dirty="0" err="1" smtClean="0"/>
              <a:t>Khi</a:t>
            </a:r>
            <a:r>
              <a:rPr lang="en-US" sz="1800" dirty="0" smtClean="0"/>
              <a:t> so </a:t>
            </a:r>
            <a:r>
              <a:rPr lang="en-US" sz="1800" dirty="0" err="1" smtClean="0"/>
              <a:t>sánh</a:t>
            </a:r>
            <a:r>
              <a:rPr lang="en-US" sz="1800" dirty="0" smtClean="0"/>
              <a:t> </a:t>
            </a:r>
            <a:r>
              <a:rPr lang="en-US" sz="1800" dirty="0" err="1" smtClean="0"/>
              <a:t>đến</a:t>
            </a:r>
            <a:r>
              <a:rPr lang="en-US" sz="1800" dirty="0" smtClean="0"/>
              <a:t> </a:t>
            </a:r>
            <a:r>
              <a:rPr lang="en-US" sz="1800" dirty="0" err="1" smtClean="0"/>
              <a:t>cặp</a:t>
            </a:r>
            <a:r>
              <a:rPr lang="en-US" sz="1800" dirty="0" smtClean="0"/>
              <a:t> </a:t>
            </a:r>
            <a:r>
              <a:rPr lang="en-US" sz="1800" dirty="0" err="1" smtClean="0"/>
              <a:t>ký</a:t>
            </a:r>
            <a:r>
              <a:rPr lang="en-US" sz="1800" dirty="0" smtClean="0"/>
              <a:t> </a:t>
            </a:r>
            <a:r>
              <a:rPr lang="en-US" sz="1800" dirty="0" err="1" smtClean="0"/>
              <a:t>tự</a:t>
            </a:r>
            <a:r>
              <a:rPr lang="en-US" sz="1800" dirty="0" smtClean="0"/>
              <a:t> </a:t>
            </a:r>
            <a:r>
              <a:rPr lang="en-US" sz="1800" i="1" dirty="0" smtClean="0"/>
              <a:t>(</a:t>
            </a:r>
            <a:r>
              <a:rPr lang="en-US" sz="1800" i="1" dirty="0" err="1" smtClean="0"/>
              <a:t>v</a:t>
            </a:r>
            <a:r>
              <a:rPr lang="en-US" sz="1800" i="1" baseline="-25000" dirty="0" err="1" smtClean="0"/>
              <a:t>i</a:t>
            </a:r>
            <a:r>
              <a:rPr lang="en-US" sz="1800" i="1" dirty="0" err="1" smtClean="0"/>
              <a:t>,p</a:t>
            </a:r>
            <a:r>
              <a:rPr lang="en-US" sz="1800" i="1" baseline="-25000" dirty="0" err="1" smtClean="0"/>
              <a:t>j</a:t>
            </a:r>
            <a:r>
              <a:rPr lang="en-US" sz="1800" i="1" dirty="0" smtClean="0"/>
              <a:t>) </a:t>
            </a:r>
            <a:r>
              <a:rPr lang="en-US" sz="1800" i="1" dirty="0" err="1" smtClean="0"/>
              <a:t>đầu</a:t>
            </a:r>
            <a:r>
              <a:rPr lang="en-US" sz="1800" i="1" dirty="0" smtClean="0"/>
              <a:t> </a:t>
            </a:r>
            <a:r>
              <a:rPr lang="en-US" sz="1800" i="1" dirty="0" err="1" smtClean="0"/>
              <a:t>tiên</a:t>
            </a:r>
            <a:r>
              <a:rPr lang="en-US" sz="1800" i="1" dirty="0" smtClean="0"/>
              <a:t> </a:t>
            </a:r>
            <a:r>
              <a:rPr lang="en-US" sz="1800" dirty="0" err="1" smtClean="0"/>
              <a:t>mà</a:t>
            </a:r>
            <a:r>
              <a:rPr lang="en-US" sz="1800" dirty="0" smtClean="0"/>
              <a:t> </a:t>
            </a:r>
            <a:r>
              <a:rPr lang="en-US" sz="1800" i="1" dirty="0" smtClean="0"/>
              <a:t>v</a:t>
            </a:r>
            <a:r>
              <a:rPr lang="en-US" sz="1800" i="1" baseline="-25000" dirty="0" smtClean="0"/>
              <a:t>i</a:t>
            </a:r>
            <a:r>
              <a:rPr lang="en-US" sz="1800" i="1" dirty="0" smtClean="0"/>
              <a:t> ≠ </a:t>
            </a:r>
            <a:r>
              <a:rPr lang="en-US" sz="1800" i="1" dirty="0" err="1" smtClean="0"/>
              <a:t>p</a:t>
            </a:r>
            <a:r>
              <a:rPr lang="en-US" sz="1800" i="1" baseline="-25000" dirty="0" err="1" smtClean="0"/>
              <a:t>j</a:t>
            </a:r>
            <a:r>
              <a:rPr lang="en-US" sz="1800" i="1" baseline="-25000" dirty="0" smtClean="0"/>
              <a:t> </a:t>
            </a:r>
            <a:r>
              <a:rPr lang="en-US" sz="1800" b="1" dirty="0" smtClean="0"/>
              <a:t>(</a:t>
            </a:r>
            <a:r>
              <a:rPr lang="vi-VN" sz="1800" b="1" i="1" dirty="0" smtClean="0"/>
              <a:t>j</a:t>
            </a:r>
            <a:r>
              <a:rPr lang="vi-VN" sz="1800" b="1" dirty="0" smtClean="0"/>
              <a:t> cặp trước đó</a:t>
            </a:r>
            <a:r>
              <a:rPr lang="en-US" sz="1800" b="1" dirty="0" smtClean="0"/>
              <a:t> </a:t>
            </a:r>
            <a:r>
              <a:rPr lang="en-US" sz="1800" b="1" dirty="0" err="1" smtClean="0"/>
              <a:t>đã</a:t>
            </a:r>
            <a:r>
              <a:rPr lang="en-US" sz="1800" b="1" dirty="0" smtClean="0"/>
              <a:t> </a:t>
            </a:r>
            <a:r>
              <a:rPr lang="en-US" sz="1800" b="1" dirty="0" err="1" smtClean="0"/>
              <a:t>khớp</a:t>
            </a:r>
            <a:r>
              <a:rPr lang="en-US" sz="1800" b="1" dirty="0" smtClean="0"/>
              <a:t>)</a:t>
            </a:r>
          </a:p>
          <a:p>
            <a:pPr lvl="2"/>
            <a:r>
              <a:rPr lang="en-US" sz="1800" dirty="0" smtClean="0">
                <a:sym typeface="Wingdings" panose="05000000000000000000" pitchFamily="2" charset="2"/>
              </a:rPr>
              <a:t> </a:t>
            </a:r>
            <a:r>
              <a:rPr lang="en-US" sz="1800" dirty="0" err="1" smtClean="0">
                <a:sym typeface="Wingdings" panose="05000000000000000000" pitchFamily="2" charset="2"/>
              </a:rPr>
              <a:t>tiếp</a:t>
            </a:r>
            <a:r>
              <a:rPr lang="en-US" sz="1800" dirty="0" smtClean="0">
                <a:sym typeface="Wingdings" panose="05000000000000000000" pitchFamily="2" charset="2"/>
              </a:rPr>
              <a:t> </a:t>
            </a:r>
            <a:r>
              <a:rPr lang="en-US" sz="1800" dirty="0" err="1" smtClean="0">
                <a:sym typeface="Wingdings" panose="05000000000000000000" pitchFamily="2" charset="2"/>
              </a:rPr>
              <a:t>tục</a:t>
            </a:r>
            <a:r>
              <a:rPr lang="vi-VN" sz="1800" dirty="0" smtClean="0"/>
              <a:t> việc so sánh từ một kí</a:t>
            </a:r>
            <a:r>
              <a:rPr lang="en-US" sz="1800" dirty="0" smtClean="0"/>
              <a:t> </a:t>
            </a:r>
            <a:r>
              <a:rPr lang="vi-VN" sz="1800" dirty="0" smtClean="0"/>
              <a:t>tự </a:t>
            </a:r>
            <a:r>
              <a:rPr lang="vi-VN" sz="1800" i="1" dirty="0" smtClean="0"/>
              <a:t>p</a:t>
            </a:r>
            <a:r>
              <a:rPr lang="vi-VN" sz="1800" i="1" baseline="-25000" dirty="0" smtClean="0"/>
              <a:t>k</a:t>
            </a:r>
            <a:r>
              <a:rPr lang="vi-VN" sz="1800" dirty="0" smtClean="0"/>
              <a:t> trong mẫu</a:t>
            </a:r>
            <a:r>
              <a:rPr lang="en-US" sz="1800" dirty="0" smtClean="0"/>
              <a:t> </a:t>
            </a:r>
            <a:r>
              <a:rPr lang="vi-VN" sz="1800" dirty="0" smtClean="0"/>
              <a:t>với kí tự </a:t>
            </a:r>
            <a:r>
              <a:rPr lang="vi-VN" sz="1800" i="1" dirty="0" smtClean="0"/>
              <a:t>v</a:t>
            </a:r>
            <a:r>
              <a:rPr lang="vi-VN" sz="1800" i="1" baseline="-25000" dirty="0" smtClean="0"/>
              <a:t>i</a:t>
            </a:r>
            <a:r>
              <a:rPr lang="vi-VN" sz="1800" dirty="0" smtClean="0"/>
              <a:t> hiện đang không khớp</a:t>
            </a:r>
            <a:r>
              <a:rPr lang="en-US" sz="1800" dirty="0" smtClean="0"/>
              <a:t> </a:t>
            </a:r>
            <a:r>
              <a:rPr lang="vi-VN" sz="1800" dirty="0" smtClean="0"/>
              <a:t>trong văn bản</a:t>
            </a:r>
            <a:endParaRPr lang="en-US" sz="1800" dirty="0" smtClean="0"/>
          </a:p>
          <a:p>
            <a:pPr marL="0" marR="0" indent="0" algn="l" defTabSz="914400" rtl="0" eaLnBrk="1" fontAlgn="base" latinLnBrk="0" hangingPunct="1">
              <a:lnSpc>
                <a:spcPct val="100000"/>
              </a:lnSpc>
              <a:spcBef>
                <a:spcPct val="30000"/>
              </a:spcBef>
              <a:spcAft>
                <a:spcPct val="0"/>
              </a:spcAft>
              <a:buClrTx/>
              <a:buSzTx/>
              <a:buFontTx/>
              <a:buNone/>
              <a:tabLst/>
              <a:defRPr/>
            </a:pPr>
            <a:endParaRPr lang="en-US" sz="1200" b="0" baseline="0" dirty="0" smtClean="0">
              <a:latin typeface="Arial" panose="020B0604020202020204" pitchFamily="34" charset="0"/>
              <a:ea typeface="Times New Roman"/>
              <a:cs typeface="Arial" panose="020B0604020202020204" pitchFamily="34" charset="0"/>
            </a:endParaRPr>
          </a:p>
          <a:p>
            <a:pPr marL="0" marR="0" indent="0" algn="l" defTabSz="914400" rtl="0" eaLnBrk="1" fontAlgn="base" latinLnBrk="0" hangingPunct="1">
              <a:lnSpc>
                <a:spcPct val="100000"/>
              </a:lnSpc>
              <a:spcBef>
                <a:spcPct val="30000"/>
              </a:spcBef>
              <a:spcAft>
                <a:spcPct val="0"/>
              </a:spcAft>
              <a:buClrTx/>
              <a:buSzTx/>
              <a:buFontTx/>
              <a:buNone/>
              <a:tabLst/>
              <a:defRPr/>
            </a:pPr>
            <a:r>
              <a:rPr lang="en-US" sz="1200" b="0" baseline="0" dirty="0" err="1" smtClean="0">
                <a:latin typeface="Arial" panose="020B0604020202020204" pitchFamily="34" charset="0"/>
                <a:ea typeface="Times New Roman"/>
                <a:cs typeface="Arial" panose="020B0604020202020204" pitchFamily="34" charset="0"/>
              </a:rPr>
              <a:t>giả</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sử</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đang</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tìm</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kiếm</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đến</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vị</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trí</a:t>
            </a:r>
            <a:r>
              <a:rPr lang="en-US" sz="1200" b="0" baseline="0" dirty="0" smtClean="0">
                <a:latin typeface="Arial" panose="020B0604020202020204" pitchFamily="34" charset="0"/>
                <a:ea typeface="Times New Roman"/>
                <a:cs typeface="Arial" panose="020B0604020202020204" pitchFamily="34" charset="0"/>
              </a:rPr>
              <a:t> j </a:t>
            </a:r>
            <a:r>
              <a:rPr lang="en-US" sz="1200" b="0" baseline="0" dirty="0" err="1" smtClean="0">
                <a:latin typeface="Arial" panose="020B0604020202020204" pitchFamily="34" charset="0"/>
                <a:ea typeface="Times New Roman"/>
                <a:cs typeface="Arial" panose="020B0604020202020204" pitchFamily="34" charset="0"/>
              </a:rPr>
              <a:t>trong</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mẫu</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thì</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phát</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hiện</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ra</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sai</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khác</a:t>
            </a:r>
            <a:r>
              <a:rPr lang="en-US" sz="1200" b="0" baseline="0" dirty="0" smtClean="0">
                <a:latin typeface="Arial" panose="020B0604020202020204" pitchFamily="34" charset="0"/>
                <a:ea typeface="Times New Roman"/>
                <a:cs typeface="Arial" panose="020B0604020202020204" pitchFamily="34" charset="0"/>
              </a:rPr>
              <a:t> =&gt; </a:t>
            </a:r>
            <a:r>
              <a:rPr lang="en-US" sz="1200" b="0" baseline="0" dirty="0" err="1" smtClean="0">
                <a:latin typeface="Arial" panose="020B0604020202020204" pitchFamily="34" charset="0"/>
                <a:ea typeface="Times New Roman"/>
                <a:cs typeface="Arial" panose="020B0604020202020204" pitchFamily="34" charset="0"/>
              </a:rPr>
              <a:t>cần</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tìm</a:t>
            </a:r>
            <a:r>
              <a:rPr lang="en-US" sz="1200" b="0" baseline="0" dirty="0" smtClean="0">
                <a:latin typeface="Arial" panose="020B0604020202020204" pitchFamily="34" charset="0"/>
                <a:ea typeface="Times New Roman"/>
                <a:cs typeface="Arial" panose="020B0604020202020204" pitchFamily="34" charset="0"/>
              </a:rPr>
              <a:t> k </a:t>
            </a:r>
            <a:r>
              <a:rPr lang="en-US" sz="1200" b="0" baseline="0" dirty="0" err="1" smtClean="0">
                <a:latin typeface="Arial" panose="020B0604020202020204" pitchFamily="34" charset="0"/>
                <a:ea typeface="Times New Roman"/>
                <a:cs typeface="Arial" panose="020B0604020202020204" pitchFamily="34" charset="0"/>
              </a:rPr>
              <a:t>là</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vị</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trí</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sẽ</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bắt</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đầu</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đối</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sánh</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tiếp</a:t>
            </a:r>
            <a:endParaRPr lang="en-US" sz="1200" b="0" baseline="0" dirty="0" smtClean="0">
              <a:latin typeface="Arial" panose="020B0604020202020204" pitchFamily="34" charset="0"/>
              <a:ea typeface="Times New Roman"/>
              <a:cs typeface="Arial" panose="020B0604020202020204" pitchFamily="34" charset="0"/>
            </a:endParaRPr>
          </a:p>
          <a:p>
            <a:pPr marL="0" marR="0" indent="0" algn="l" defTabSz="914400" rtl="0" eaLnBrk="1" fontAlgn="base" latinLnBrk="0" hangingPunct="1">
              <a:lnSpc>
                <a:spcPct val="100000"/>
              </a:lnSpc>
              <a:spcBef>
                <a:spcPct val="30000"/>
              </a:spcBef>
              <a:spcAft>
                <a:spcPct val="0"/>
              </a:spcAft>
              <a:buClrTx/>
              <a:buSzTx/>
              <a:buFontTx/>
              <a:buNone/>
              <a:tabLst/>
              <a:defRPr/>
            </a:pPr>
            <a:r>
              <a:rPr lang="en-US" sz="1200" b="0" baseline="0" dirty="0" err="1" smtClean="0">
                <a:latin typeface="Arial" panose="020B0604020202020204" pitchFamily="34" charset="0"/>
                <a:ea typeface="Times New Roman"/>
                <a:cs typeface="Arial" panose="020B0604020202020204" pitchFamily="34" charset="0"/>
              </a:rPr>
              <a:t>Sẽ</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cần</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tìm</a:t>
            </a:r>
            <a:r>
              <a:rPr lang="en-US" sz="1200" b="0" baseline="0" dirty="0" smtClean="0">
                <a:latin typeface="Arial" panose="020B0604020202020204" pitchFamily="34" charset="0"/>
                <a:ea typeface="Times New Roman"/>
                <a:cs typeface="Arial" panose="020B0604020202020204" pitchFamily="34" charset="0"/>
              </a:rPr>
              <a:t> TRƯỚC </a:t>
            </a:r>
            <a:r>
              <a:rPr lang="en-US" sz="1200" b="0" baseline="0" dirty="0" err="1" smtClean="0">
                <a:latin typeface="Arial" panose="020B0604020202020204" pitchFamily="34" charset="0"/>
                <a:ea typeface="Times New Roman"/>
                <a:cs typeface="Arial" panose="020B0604020202020204" pitchFamily="34" charset="0"/>
              </a:rPr>
              <a:t>các</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giá</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trị</a:t>
            </a:r>
            <a:r>
              <a:rPr lang="en-US" sz="1200" b="0" baseline="0" dirty="0" smtClean="0">
                <a:latin typeface="Arial" panose="020B0604020202020204" pitchFamily="34" charset="0"/>
                <a:ea typeface="Times New Roman"/>
                <a:cs typeface="Arial" panose="020B0604020202020204" pitchFamily="34" charset="0"/>
              </a:rPr>
              <a:t> k </a:t>
            </a:r>
            <a:r>
              <a:rPr lang="en-US" sz="1200" b="0" baseline="0" dirty="0" err="1" smtClean="0">
                <a:latin typeface="Arial" panose="020B0604020202020204" pitchFamily="34" charset="0"/>
                <a:ea typeface="Times New Roman"/>
                <a:cs typeface="Arial" panose="020B0604020202020204" pitchFamily="34" charset="0"/>
              </a:rPr>
              <a:t>tương</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ứng</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với</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từng</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vị</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trí</a:t>
            </a:r>
            <a:r>
              <a:rPr lang="en-US" sz="1200" b="0" baseline="0" dirty="0" smtClean="0">
                <a:latin typeface="Arial" panose="020B0604020202020204" pitchFamily="34" charset="0"/>
                <a:ea typeface="Times New Roman"/>
                <a:cs typeface="Arial" panose="020B0604020202020204" pitchFamily="34" charset="0"/>
              </a:rPr>
              <a:t> j = 0..M-1</a:t>
            </a:r>
            <a:endParaRPr lang="en-US" sz="1200" b="0" baseline="-25000" dirty="0" smtClean="0">
              <a:latin typeface="Arial" panose="020B0604020202020204" pitchFamily="34" charset="0"/>
              <a:ea typeface="Times New Roman"/>
              <a:cs typeface="Arial" panose="020B0604020202020204" pitchFamily="34" charset="0"/>
            </a:endParaRPr>
          </a:p>
          <a:p>
            <a:endParaRPr lang="en-US" sz="1200" dirty="0" smtClean="0">
              <a:latin typeface="Courier New" panose="02070309020205020404" pitchFamily="49" charset="0"/>
              <a:cs typeface="Courier New" panose="02070309020205020404" pitchFamily="49" charset="0"/>
            </a:endParaRPr>
          </a:p>
        </p:txBody>
      </p:sp>
      <p:sp>
        <p:nvSpPr>
          <p:cNvPr id="4" name="Slide Number Placeholder 3"/>
          <p:cNvSpPr>
            <a:spLocks noGrp="1"/>
          </p:cNvSpPr>
          <p:nvPr>
            <p:ph type="sldNum" sz="quarter" idx="10"/>
          </p:nvPr>
        </p:nvSpPr>
        <p:spPr/>
        <p:txBody>
          <a:bodyPr/>
          <a:lstStyle/>
          <a:p>
            <a:fld id="{76159C16-962D-45B7-9AE3-AA455C3EA8F0}" type="slidenum">
              <a:rPr lang="en-US" smtClean="0"/>
              <a:pPr/>
              <a:t>15</a:t>
            </a:fld>
            <a:endParaRPr lang="en-US"/>
          </a:p>
        </p:txBody>
      </p:sp>
    </p:spTree>
    <p:extLst>
      <p:ext uri="{BB962C8B-B14F-4D97-AF65-F5344CB8AC3E}">
        <p14:creationId xmlns:p14="http://schemas.microsoft.com/office/powerpoint/2010/main" val="30955057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b="1" dirty="0" err="1" smtClean="0"/>
              <a:t>Chọn</a:t>
            </a:r>
            <a:r>
              <a:rPr lang="en-US" b="1" dirty="0" smtClean="0"/>
              <a:t> </a:t>
            </a:r>
            <a:r>
              <a:rPr lang="vi-VN" b="1" dirty="0" smtClean="0"/>
              <a:t>pk≠pj</a:t>
            </a:r>
            <a:r>
              <a:rPr lang="en-US" b="1" dirty="0" smtClean="0"/>
              <a:t>:</a:t>
            </a:r>
            <a:r>
              <a:rPr lang="en-US" dirty="0" smtClean="0"/>
              <a:t>H</a:t>
            </a:r>
            <a:r>
              <a:rPr lang="vi-VN" dirty="0" smtClean="0"/>
              <a:t>iển nhiên, vì pj đã được so sánh là không khớp với</a:t>
            </a:r>
            <a:r>
              <a:rPr lang="en-US" dirty="0" smtClean="0"/>
              <a:t> </a:t>
            </a:r>
            <a:r>
              <a:rPr lang="vi-VN" dirty="0" smtClean="0"/>
              <a:t>vi, mà ta đang muốn chuẩn bị tìm pk để so khớp với vi, nên giá trị được chọn</a:t>
            </a:r>
            <a:r>
              <a:rPr lang="en-US" dirty="0" smtClean="0"/>
              <a:t> </a:t>
            </a:r>
            <a:r>
              <a:rPr lang="vi-VN" dirty="0" smtClean="0"/>
              <a:t>phải khác với pj.</a:t>
            </a:r>
            <a:endParaRPr lang="en-US" dirty="0" smtClean="0"/>
          </a:p>
          <a:p>
            <a:pPr marL="0" marR="0" indent="0" algn="l" defTabSz="914400" rtl="0" eaLnBrk="1" fontAlgn="base" latinLnBrk="0" hangingPunct="1">
              <a:lnSpc>
                <a:spcPct val="100000"/>
              </a:lnSpc>
              <a:spcBef>
                <a:spcPct val="30000"/>
              </a:spcBef>
              <a:spcAft>
                <a:spcPct val="0"/>
              </a:spcAft>
              <a:buClrTx/>
              <a:buSzTx/>
              <a:buFontTx/>
              <a:buNone/>
              <a:tabLst/>
              <a:defRPr/>
            </a:pPr>
            <a:endParaRPr lang="en-US" sz="1200" b="0" dirty="0" smtClean="0">
              <a:latin typeface="Arial" panose="020B0604020202020204" pitchFamily="34" charset="0"/>
              <a:ea typeface="Times New Roman"/>
              <a:cs typeface="Arial" panose="020B0604020202020204" pitchFamily="34" charset="0"/>
            </a:endParaRPr>
          </a:p>
          <a:p>
            <a:pPr marL="0" marR="0" indent="0" algn="l" defTabSz="914400" rtl="0" eaLnBrk="1" fontAlgn="base" latinLnBrk="0" hangingPunct="1">
              <a:lnSpc>
                <a:spcPct val="100000"/>
              </a:lnSpc>
              <a:spcBef>
                <a:spcPct val="30000"/>
              </a:spcBef>
              <a:spcAft>
                <a:spcPct val="0"/>
              </a:spcAft>
              <a:buClrTx/>
              <a:buSzTx/>
              <a:buFontTx/>
              <a:buNone/>
              <a:tabLst/>
              <a:defRPr/>
            </a:pPr>
            <a:endParaRPr lang="en-US" sz="1200" b="0" baseline="0" dirty="0" smtClean="0">
              <a:latin typeface="Arial" panose="020B0604020202020204" pitchFamily="34" charset="0"/>
              <a:ea typeface="Times New Roman"/>
              <a:cs typeface="Arial" panose="020B0604020202020204" pitchFamily="34" charset="0"/>
            </a:endParaRPr>
          </a:p>
          <a:p>
            <a:pPr lvl="2"/>
            <a:r>
              <a:rPr lang="en-US" sz="1800" dirty="0" err="1" smtClean="0"/>
              <a:t>Khi</a:t>
            </a:r>
            <a:r>
              <a:rPr lang="en-US" sz="1800" dirty="0" smtClean="0"/>
              <a:t> so </a:t>
            </a:r>
            <a:r>
              <a:rPr lang="en-US" sz="1800" dirty="0" err="1" smtClean="0"/>
              <a:t>sánh</a:t>
            </a:r>
            <a:r>
              <a:rPr lang="en-US" sz="1800" dirty="0" smtClean="0"/>
              <a:t> </a:t>
            </a:r>
            <a:r>
              <a:rPr lang="en-US" sz="1800" dirty="0" err="1" smtClean="0"/>
              <a:t>đến</a:t>
            </a:r>
            <a:r>
              <a:rPr lang="en-US" sz="1800" dirty="0" smtClean="0"/>
              <a:t> </a:t>
            </a:r>
            <a:r>
              <a:rPr lang="en-US" sz="1800" dirty="0" err="1" smtClean="0"/>
              <a:t>cặp</a:t>
            </a:r>
            <a:r>
              <a:rPr lang="en-US" sz="1800" dirty="0" smtClean="0"/>
              <a:t> </a:t>
            </a:r>
            <a:r>
              <a:rPr lang="en-US" sz="1800" dirty="0" err="1" smtClean="0"/>
              <a:t>ký</a:t>
            </a:r>
            <a:r>
              <a:rPr lang="en-US" sz="1800" dirty="0" smtClean="0"/>
              <a:t> </a:t>
            </a:r>
            <a:r>
              <a:rPr lang="en-US" sz="1800" dirty="0" err="1" smtClean="0"/>
              <a:t>tự</a:t>
            </a:r>
            <a:r>
              <a:rPr lang="en-US" sz="1800" dirty="0" smtClean="0"/>
              <a:t> </a:t>
            </a:r>
            <a:r>
              <a:rPr lang="en-US" sz="1800" i="1" dirty="0" smtClean="0"/>
              <a:t>(</a:t>
            </a:r>
            <a:r>
              <a:rPr lang="en-US" sz="1800" i="1" dirty="0" err="1" smtClean="0"/>
              <a:t>v</a:t>
            </a:r>
            <a:r>
              <a:rPr lang="en-US" sz="1800" i="1" baseline="-25000" dirty="0" err="1" smtClean="0"/>
              <a:t>i</a:t>
            </a:r>
            <a:r>
              <a:rPr lang="en-US" sz="1800" i="1" dirty="0" err="1" smtClean="0"/>
              <a:t>,p</a:t>
            </a:r>
            <a:r>
              <a:rPr lang="en-US" sz="1800" i="1" baseline="-25000" dirty="0" err="1" smtClean="0"/>
              <a:t>j</a:t>
            </a:r>
            <a:r>
              <a:rPr lang="en-US" sz="1800" i="1" dirty="0" smtClean="0"/>
              <a:t>) </a:t>
            </a:r>
            <a:r>
              <a:rPr lang="en-US" sz="1800" i="1" dirty="0" err="1" smtClean="0"/>
              <a:t>đầu</a:t>
            </a:r>
            <a:r>
              <a:rPr lang="en-US" sz="1800" i="1" dirty="0" smtClean="0"/>
              <a:t> </a:t>
            </a:r>
            <a:r>
              <a:rPr lang="en-US" sz="1800" i="1" dirty="0" err="1" smtClean="0"/>
              <a:t>tiên</a:t>
            </a:r>
            <a:r>
              <a:rPr lang="en-US" sz="1800" i="1" dirty="0" smtClean="0"/>
              <a:t> </a:t>
            </a:r>
            <a:r>
              <a:rPr lang="en-US" sz="1800" dirty="0" err="1" smtClean="0"/>
              <a:t>mà</a:t>
            </a:r>
            <a:r>
              <a:rPr lang="en-US" sz="1800" dirty="0" smtClean="0"/>
              <a:t> </a:t>
            </a:r>
            <a:r>
              <a:rPr lang="en-US" sz="1800" i="1" dirty="0" smtClean="0"/>
              <a:t>v</a:t>
            </a:r>
            <a:r>
              <a:rPr lang="en-US" sz="1800" i="1" baseline="-25000" dirty="0" smtClean="0"/>
              <a:t>i</a:t>
            </a:r>
            <a:r>
              <a:rPr lang="en-US" sz="1800" i="1" dirty="0" smtClean="0"/>
              <a:t> ≠ </a:t>
            </a:r>
            <a:r>
              <a:rPr lang="en-US" sz="1800" i="1" dirty="0" err="1" smtClean="0"/>
              <a:t>p</a:t>
            </a:r>
            <a:r>
              <a:rPr lang="en-US" sz="1800" i="1" baseline="-25000" dirty="0" err="1" smtClean="0"/>
              <a:t>j</a:t>
            </a:r>
            <a:r>
              <a:rPr lang="en-US" sz="1800" i="1" baseline="-25000" dirty="0" smtClean="0"/>
              <a:t> </a:t>
            </a:r>
            <a:r>
              <a:rPr lang="en-US" sz="1800" b="1" dirty="0" smtClean="0"/>
              <a:t>(</a:t>
            </a:r>
            <a:r>
              <a:rPr lang="vi-VN" sz="1800" b="1" i="1" dirty="0" smtClean="0"/>
              <a:t>j</a:t>
            </a:r>
            <a:r>
              <a:rPr lang="vi-VN" sz="1800" b="1" dirty="0" smtClean="0"/>
              <a:t> cặp trước đó</a:t>
            </a:r>
            <a:r>
              <a:rPr lang="en-US" sz="1800" b="1" dirty="0" smtClean="0"/>
              <a:t> </a:t>
            </a:r>
            <a:r>
              <a:rPr lang="en-US" sz="1800" b="1" dirty="0" err="1" smtClean="0"/>
              <a:t>đã</a:t>
            </a:r>
            <a:r>
              <a:rPr lang="en-US" sz="1800" b="1" dirty="0" smtClean="0"/>
              <a:t> </a:t>
            </a:r>
            <a:r>
              <a:rPr lang="en-US" sz="1800" b="1" dirty="0" err="1" smtClean="0"/>
              <a:t>khớp</a:t>
            </a:r>
            <a:r>
              <a:rPr lang="en-US" sz="1800" b="1" dirty="0" smtClean="0"/>
              <a:t>)</a:t>
            </a:r>
          </a:p>
          <a:p>
            <a:pPr lvl="2"/>
            <a:r>
              <a:rPr lang="en-US" sz="1800" dirty="0" smtClean="0">
                <a:sym typeface="Wingdings" panose="05000000000000000000" pitchFamily="2" charset="2"/>
              </a:rPr>
              <a:t> </a:t>
            </a:r>
            <a:r>
              <a:rPr lang="en-US" sz="1800" dirty="0" err="1" smtClean="0">
                <a:sym typeface="Wingdings" panose="05000000000000000000" pitchFamily="2" charset="2"/>
              </a:rPr>
              <a:t>tiếp</a:t>
            </a:r>
            <a:r>
              <a:rPr lang="en-US" sz="1800" dirty="0" smtClean="0">
                <a:sym typeface="Wingdings" panose="05000000000000000000" pitchFamily="2" charset="2"/>
              </a:rPr>
              <a:t> </a:t>
            </a:r>
            <a:r>
              <a:rPr lang="en-US" sz="1800" dirty="0" err="1" smtClean="0">
                <a:sym typeface="Wingdings" panose="05000000000000000000" pitchFamily="2" charset="2"/>
              </a:rPr>
              <a:t>tục</a:t>
            </a:r>
            <a:r>
              <a:rPr lang="vi-VN" sz="1800" dirty="0" smtClean="0"/>
              <a:t> việc so sánh từ một kí</a:t>
            </a:r>
            <a:r>
              <a:rPr lang="en-US" sz="1800" dirty="0" smtClean="0"/>
              <a:t> </a:t>
            </a:r>
            <a:r>
              <a:rPr lang="vi-VN" sz="1800" dirty="0" smtClean="0"/>
              <a:t>tự </a:t>
            </a:r>
            <a:r>
              <a:rPr lang="vi-VN" sz="1800" i="1" dirty="0" smtClean="0"/>
              <a:t>p</a:t>
            </a:r>
            <a:r>
              <a:rPr lang="vi-VN" sz="1800" i="1" baseline="-25000" dirty="0" smtClean="0"/>
              <a:t>k</a:t>
            </a:r>
            <a:r>
              <a:rPr lang="vi-VN" sz="1800" dirty="0" smtClean="0"/>
              <a:t> trong mẫu</a:t>
            </a:r>
            <a:r>
              <a:rPr lang="en-US" sz="1800" dirty="0" smtClean="0"/>
              <a:t> </a:t>
            </a:r>
            <a:r>
              <a:rPr lang="vi-VN" sz="1800" dirty="0" smtClean="0"/>
              <a:t>với kí tự </a:t>
            </a:r>
            <a:r>
              <a:rPr lang="vi-VN" sz="1800" i="1" dirty="0" smtClean="0"/>
              <a:t>v</a:t>
            </a:r>
            <a:r>
              <a:rPr lang="vi-VN" sz="1800" i="1" baseline="-25000" dirty="0" smtClean="0"/>
              <a:t>i</a:t>
            </a:r>
            <a:r>
              <a:rPr lang="vi-VN" sz="1800" dirty="0" smtClean="0"/>
              <a:t> hiện đang không khớp</a:t>
            </a:r>
            <a:r>
              <a:rPr lang="en-US" sz="1800" dirty="0" smtClean="0"/>
              <a:t> </a:t>
            </a:r>
            <a:r>
              <a:rPr lang="vi-VN" sz="1800" dirty="0" smtClean="0"/>
              <a:t>trong văn bản</a:t>
            </a:r>
            <a:endParaRPr lang="en-US" sz="1800" dirty="0" smtClean="0"/>
          </a:p>
          <a:p>
            <a:pPr marL="0" marR="0" indent="0" algn="l" defTabSz="914400" rtl="0" eaLnBrk="1" fontAlgn="base" latinLnBrk="0" hangingPunct="1">
              <a:lnSpc>
                <a:spcPct val="100000"/>
              </a:lnSpc>
              <a:spcBef>
                <a:spcPct val="30000"/>
              </a:spcBef>
              <a:spcAft>
                <a:spcPct val="0"/>
              </a:spcAft>
              <a:buClrTx/>
              <a:buSzTx/>
              <a:buFontTx/>
              <a:buNone/>
              <a:tabLst/>
              <a:defRPr/>
            </a:pPr>
            <a:endParaRPr lang="en-US" sz="1200" b="0" baseline="0" dirty="0" smtClean="0">
              <a:latin typeface="Arial" panose="020B0604020202020204" pitchFamily="34" charset="0"/>
              <a:ea typeface="Times New Roman"/>
              <a:cs typeface="Arial" panose="020B0604020202020204" pitchFamily="34" charset="0"/>
            </a:endParaRPr>
          </a:p>
          <a:p>
            <a:pPr marL="0" marR="0" indent="0" algn="l" defTabSz="914400" rtl="0" eaLnBrk="1" fontAlgn="base" latinLnBrk="0" hangingPunct="1">
              <a:lnSpc>
                <a:spcPct val="100000"/>
              </a:lnSpc>
              <a:spcBef>
                <a:spcPct val="30000"/>
              </a:spcBef>
              <a:spcAft>
                <a:spcPct val="0"/>
              </a:spcAft>
              <a:buClrTx/>
              <a:buSzTx/>
              <a:buFontTx/>
              <a:buNone/>
              <a:tabLst/>
              <a:defRPr/>
            </a:pPr>
            <a:r>
              <a:rPr lang="en-US" sz="1200" b="0" baseline="0" dirty="0" err="1" smtClean="0">
                <a:latin typeface="Arial" panose="020B0604020202020204" pitchFamily="34" charset="0"/>
                <a:ea typeface="Times New Roman"/>
                <a:cs typeface="Arial" panose="020B0604020202020204" pitchFamily="34" charset="0"/>
              </a:rPr>
              <a:t>giả</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sử</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đang</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tìm</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kiếm</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đến</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vị</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trí</a:t>
            </a:r>
            <a:r>
              <a:rPr lang="en-US" sz="1200" b="0" baseline="0" dirty="0" smtClean="0">
                <a:latin typeface="Arial" panose="020B0604020202020204" pitchFamily="34" charset="0"/>
                <a:ea typeface="Times New Roman"/>
                <a:cs typeface="Arial" panose="020B0604020202020204" pitchFamily="34" charset="0"/>
              </a:rPr>
              <a:t> j </a:t>
            </a:r>
            <a:r>
              <a:rPr lang="en-US" sz="1200" b="0" baseline="0" dirty="0" err="1" smtClean="0">
                <a:latin typeface="Arial" panose="020B0604020202020204" pitchFamily="34" charset="0"/>
                <a:ea typeface="Times New Roman"/>
                <a:cs typeface="Arial" panose="020B0604020202020204" pitchFamily="34" charset="0"/>
              </a:rPr>
              <a:t>trong</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mẫu</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thì</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phát</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hiện</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ra</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sai</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khác</a:t>
            </a:r>
            <a:r>
              <a:rPr lang="en-US" sz="1200" b="0" baseline="0" dirty="0" smtClean="0">
                <a:latin typeface="Arial" panose="020B0604020202020204" pitchFamily="34" charset="0"/>
                <a:ea typeface="Times New Roman"/>
                <a:cs typeface="Arial" panose="020B0604020202020204" pitchFamily="34" charset="0"/>
              </a:rPr>
              <a:t> =&gt; </a:t>
            </a:r>
            <a:r>
              <a:rPr lang="en-US" sz="1200" b="0" baseline="0" dirty="0" err="1" smtClean="0">
                <a:latin typeface="Arial" panose="020B0604020202020204" pitchFamily="34" charset="0"/>
                <a:ea typeface="Times New Roman"/>
                <a:cs typeface="Arial" panose="020B0604020202020204" pitchFamily="34" charset="0"/>
              </a:rPr>
              <a:t>cần</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tìm</a:t>
            </a:r>
            <a:r>
              <a:rPr lang="en-US" sz="1200" b="0" baseline="0" dirty="0" smtClean="0">
                <a:latin typeface="Arial" panose="020B0604020202020204" pitchFamily="34" charset="0"/>
                <a:ea typeface="Times New Roman"/>
                <a:cs typeface="Arial" panose="020B0604020202020204" pitchFamily="34" charset="0"/>
              </a:rPr>
              <a:t> k </a:t>
            </a:r>
            <a:r>
              <a:rPr lang="en-US" sz="1200" b="0" baseline="0" dirty="0" err="1" smtClean="0">
                <a:latin typeface="Arial" panose="020B0604020202020204" pitchFamily="34" charset="0"/>
                <a:ea typeface="Times New Roman"/>
                <a:cs typeface="Arial" panose="020B0604020202020204" pitchFamily="34" charset="0"/>
              </a:rPr>
              <a:t>là</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vị</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trí</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sẽ</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bắt</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đầu</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đối</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sánh</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tiếp</a:t>
            </a:r>
            <a:endParaRPr lang="en-US" sz="1200" b="0" baseline="0" dirty="0" smtClean="0">
              <a:latin typeface="Arial" panose="020B0604020202020204" pitchFamily="34" charset="0"/>
              <a:ea typeface="Times New Roman"/>
              <a:cs typeface="Arial" panose="020B0604020202020204" pitchFamily="34" charset="0"/>
            </a:endParaRPr>
          </a:p>
          <a:p>
            <a:pPr marL="0" marR="0" indent="0" algn="l" defTabSz="914400" rtl="0" eaLnBrk="1" fontAlgn="base" latinLnBrk="0" hangingPunct="1">
              <a:lnSpc>
                <a:spcPct val="100000"/>
              </a:lnSpc>
              <a:spcBef>
                <a:spcPct val="30000"/>
              </a:spcBef>
              <a:spcAft>
                <a:spcPct val="0"/>
              </a:spcAft>
              <a:buClrTx/>
              <a:buSzTx/>
              <a:buFontTx/>
              <a:buNone/>
              <a:tabLst/>
              <a:defRPr/>
            </a:pPr>
            <a:r>
              <a:rPr lang="en-US" sz="1200" b="0" baseline="0" dirty="0" err="1" smtClean="0">
                <a:latin typeface="Arial" panose="020B0604020202020204" pitchFamily="34" charset="0"/>
                <a:ea typeface="Times New Roman"/>
                <a:cs typeface="Arial" panose="020B0604020202020204" pitchFamily="34" charset="0"/>
              </a:rPr>
              <a:t>Sẽ</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cần</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tìm</a:t>
            </a:r>
            <a:r>
              <a:rPr lang="en-US" sz="1200" b="0" baseline="0" dirty="0" smtClean="0">
                <a:latin typeface="Arial" panose="020B0604020202020204" pitchFamily="34" charset="0"/>
                <a:ea typeface="Times New Roman"/>
                <a:cs typeface="Arial" panose="020B0604020202020204" pitchFamily="34" charset="0"/>
              </a:rPr>
              <a:t> TRƯỚC </a:t>
            </a:r>
            <a:r>
              <a:rPr lang="en-US" sz="1200" b="0" baseline="0" dirty="0" err="1" smtClean="0">
                <a:latin typeface="Arial" panose="020B0604020202020204" pitchFamily="34" charset="0"/>
                <a:ea typeface="Times New Roman"/>
                <a:cs typeface="Arial" panose="020B0604020202020204" pitchFamily="34" charset="0"/>
              </a:rPr>
              <a:t>các</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giá</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trị</a:t>
            </a:r>
            <a:r>
              <a:rPr lang="en-US" sz="1200" b="0" baseline="0" dirty="0" smtClean="0">
                <a:latin typeface="Arial" panose="020B0604020202020204" pitchFamily="34" charset="0"/>
                <a:ea typeface="Times New Roman"/>
                <a:cs typeface="Arial" panose="020B0604020202020204" pitchFamily="34" charset="0"/>
              </a:rPr>
              <a:t> k </a:t>
            </a:r>
            <a:r>
              <a:rPr lang="en-US" sz="1200" b="0" baseline="0" dirty="0" err="1" smtClean="0">
                <a:latin typeface="Arial" panose="020B0604020202020204" pitchFamily="34" charset="0"/>
                <a:ea typeface="Times New Roman"/>
                <a:cs typeface="Arial" panose="020B0604020202020204" pitchFamily="34" charset="0"/>
              </a:rPr>
              <a:t>tương</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ứng</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với</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từng</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vị</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trí</a:t>
            </a:r>
            <a:r>
              <a:rPr lang="en-US" sz="1200" b="0" baseline="0" dirty="0" smtClean="0">
                <a:latin typeface="Arial" panose="020B0604020202020204" pitchFamily="34" charset="0"/>
                <a:ea typeface="Times New Roman"/>
                <a:cs typeface="Arial" panose="020B0604020202020204" pitchFamily="34" charset="0"/>
              </a:rPr>
              <a:t> j = 0..M-1</a:t>
            </a:r>
            <a:endParaRPr lang="en-US" sz="1200" b="0" baseline="-25000" dirty="0" smtClean="0">
              <a:latin typeface="Arial" panose="020B0604020202020204" pitchFamily="34" charset="0"/>
              <a:ea typeface="Times New Roman"/>
              <a:cs typeface="Arial" panose="020B0604020202020204" pitchFamily="34" charset="0"/>
            </a:endParaRPr>
          </a:p>
          <a:p>
            <a:endParaRPr lang="en-US" sz="1200" dirty="0" smtClean="0">
              <a:latin typeface="Courier New" panose="02070309020205020404" pitchFamily="49" charset="0"/>
              <a:cs typeface="Courier New" panose="02070309020205020404" pitchFamily="49" charset="0"/>
            </a:endParaRPr>
          </a:p>
        </p:txBody>
      </p:sp>
      <p:sp>
        <p:nvSpPr>
          <p:cNvPr id="4" name="Slide Number Placeholder 3"/>
          <p:cNvSpPr>
            <a:spLocks noGrp="1"/>
          </p:cNvSpPr>
          <p:nvPr>
            <p:ph type="sldNum" sz="quarter" idx="10"/>
          </p:nvPr>
        </p:nvSpPr>
        <p:spPr/>
        <p:txBody>
          <a:bodyPr/>
          <a:lstStyle/>
          <a:p>
            <a:fld id="{76159C16-962D-45B7-9AE3-AA455C3EA8F0}" type="slidenum">
              <a:rPr lang="en-US" smtClean="0"/>
              <a:pPr/>
              <a:t>16</a:t>
            </a:fld>
            <a:endParaRPr lang="en-US"/>
          </a:p>
        </p:txBody>
      </p:sp>
    </p:spTree>
    <p:extLst>
      <p:ext uri="{BB962C8B-B14F-4D97-AF65-F5344CB8AC3E}">
        <p14:creationId xmlns:p14="http://schemas.microsoft.com/office/powerpoint/2010/main" val="38426787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2"/>
            <a:r>
              <a:rPr lang="en-US" sz="1800" dirty="0" err="1" smtClean="0"/>
              <a:t>Khi</a:t>
            </a:r>
            <a:r>
              <a:rPr lang="en-US" sz="1800" dirty="0" smtClean="0"/>
              <a:t> so </a:t>
            </a:r>
            <a:r>
              <a:rPr lang="en-US" sz="1800" dirty="0" err="1" smtClean="0"/>
              <a:t>sánh</a:t>
            </a:r>
            <a:r>
              <a:rPr lang="en-US" sz="1800" dirty="0" smtClean="0"/>
              <a:t> </a:t>
            </a:r>
            <a:r>
              <a:rPr lang="en-US" sz="1800" dirty="0" err="1" smtClean="0"/>
              <a:t>đến</a:t>
            </a:r>
            <a:r>
              <a:rPr lang="en-US" sz="1800" dirty="0" smtClean="0"/>
              <a:t> </a:t>
            </a:r>
            <a:r>
              <a:rPr lang="en-US" sz="1800" dirty="0" err="1" smtClean="0"/>
              <a:t>cặp</a:t>
            </a:r>
            <a:r>
              <a:rPr lang="en-US" sz="1800" dirty="0" smtClean="0"/>
              <a:t> </a:t>
            </a:r>
            <a:r>
              <a:rPr lang="en-US" sz="1800" dirty="0" err="1" smtClean="0"/>
              <a:t>ký</a:t>
            </a:r>
            <a:r>
              <a:rPr lang="en-US" sz="1800" dirty="0" smtClean="0"/>
              <a:t> </a:t>
            </a:r>
            <a:r>
              <a:rPr lang="en-US" sz="1800" dirty="0" err="1" smtClean="0"/>
              <a:t>tự</a:t>
            </a:r>
            <a:r>
              <a:rPr lang="en-US" sz="1800" dirty="0" smtClean="0"/>
              <a:t> </a:t>
            </a:r>
            <a:r>
              <a:rPr lang="en-US" sz="1800" i="1" dirty="0" smtClean="0"/>
              <a:t>(</a:t>
            </a:r>
            <a:r>
              <a:rPr lang="en-US" sz="1800" i="1" dirty="0" err="1" smtClean="0"/>
              <a:t>v</a:t>
            </a:r>
            <a:r>
              <a:rPr lang="en-US" sz="1800" i="1" baseline="-25000" dirty="0" err="1" smtClean="0"/>
              <a:t>i</a:t>
            </a:r>
            <a:r>
              <a:rPr lang="en-US" sz="1800" i="1" dirty="0" err="1" smtClean="0"/>
              <a:t>,p</a:t>
            </a:r>
            <a:r>
              <a:rPr lang="en-US" sz="1800" i="1" baseline="-25000" dirty="0" err="1" smtClean="0"/>
              <a:t>j</a:t>
            </a:r>
            <a:r>
              <a:rPr lang="en-US" sz="1800" i="1" dirty="0" smtClean="0"/>
              <a:t>) </a:t>
            </a:r>
            <a:r>
              <a:rPr lang="en-US" sz="1800" i="1" dirty="0" err="1" smtClean="0"/>
              <a:t>đầu</a:t>
            </a:r>
            <a:r>
              <a:rPr lang="en-US" sz="1800" i="1" dirty="0" smtClean="0"/>
              <a:t> </a:t>
            </a:r>
            <a:r>
              <a:rPr lang="en-US" sz="1800" i="1" dirty="0" err="1" smtClean="0"/>
              <a:t>tiên</a:t>
            </a:r>
            <a:r>
              <a:rPr lang="en-US" sz="1800" i="1" dirty="0" smtClean="0"/>
              <a:t> </a:t>
            </a:r>
            <a:r>
              <a:rPr lang="en-US" sz="1800" dirty="0" err="1" smtClean="0"/>
              <a:t>mà</a:t>
            </a:r>
            <a:r>
              <a:rPr lang="en-US" sz="1800" dirty="0" smtClean="0"/>
              <a:t> </a:t>
            </a:r>
            <a:r>
              <a:rPr lang="en-US" sz="1800" i="1" dirty="0" smtClean="0"/>
              <a:t>v</a:t>
            </a:r>
            <a:r>
              <a:rPr lang="en-US" sz="1800" i="1" baseline="-25000" dirty="0" smtClean="0"/>
              <a:t>i</a:t>
            </a:r>
            <a:r>
              <a:rPr lang="en-US" sz="1800" i="1" dirty="0" smtClean="0"/>
              <a:t> ≠ </a:t>
            </a:r>
            <a:r>
              <a:rPr lang="en-US" sz="1800" i="1" dirty="0" err="1" smtClean="0"/>
              <a:t>p</a:t>
            </a:r>
            <a:r>
              <a:rPr lang="en-US" sz="1800" i="1" baseline="-25000" dirty="0" err="1" smtClean="0"/>
              <a:t>j</a:t>
            </a:r>
            <a:r>
              <a:rPr lang="en-US" sz="1800" i="1" baseline="-25000" dirty="0" smtClean="0"/>
              <a:t> </a:t>
            </a:r>
            <a:r>
              <a:rPr lang="en-US" sz="1800" b="1" dirty="0" smtClean="0"/>
              <a:t>(</a:t>
            </a:r>
            <a:r>
              <a:rPr lang="vi-VN" sz="1800" b="1" i="1" dirty="0" smtClean="0"/>
              <a:t>j</a:t>
            </a:r>
            <a:r>
              <a:rPr lang="vi-VN" sz="1800" b="1" dirty="0" smtClean="0"/>
              <a:t> cặp trước đó</a:t>
            </a:r>
            <a:r>
              <a:rPr lang="en-US" sz="1800" b="1" dirty="0" smtClean="0"/>
              <a:t> </a:t>
            </a:r>
            <a:r>
              <a:rPr lang="en-US" sz="1800" b="1" dirty="0" err="1" smtClean="0"/>
              <a:t>đã</a:t>
            </a:r>
            <a:r>
              <a:rPr lang="en-US" sz="1800" b="1" dirty="0" smtClean="0"/>
              <a:t> </a:t>
            </a:r>
            <a:r>
              <a:rPr lang="en-US" sz="1800" b="1" dirty="0" err="1" smtClean="0"/>
              <a:t>khớp</a:t>
            </a:r>
            <a:r>
              <a:rPr lang="en-US" sz="1800" b="1" dirty="0" smtClean="0"/>
              <a:t>)</a:t>
            </a:r>
          </a:p>
          <a:p>
            <a:pPr lvl="2"/>
            <a:r>
              <a:rPr lang="en-US" sz="1800" dirty="0" smtClean="0">
                <a:sym typeface="Wingdings" panose="05000000000000000000" pitchFamily="2" charset="2"/>
              </a:rPr>
              <a:t> </a:t>
            </a:r>
            <a:r>
              <a:rPr lang="en-US" sz="1800" dirty="0" err="1" smtClean="0">
                <a:sym typeface="Wingdings" panose="05000000000000000000" pitchFamily="2" charset="2"/>
              </a:rPr>
              <a:t>tiếp</a:t>
            </a:r>
            <a:r>
              <a:rPr lang="en-US" sz="1800" dirty="0" smtClean="0">
                <a:sym typeface="Wingdings" panose="05000000000000000000" pitchFamily="2" charset="2"/>
              </a:rPr>
              <a:t> </a:t>
            </a:r>
            <a:r>
              <a:rPr lang="en-US" sz="1800" dirty="0" err="1" smtClean="0">
                <a:sym typeface="Wingdings" panose="05000000000000000000" pitchFamily="2" charset="2"/>
              </a:rPr>
              <a:t>tục</a:t>
            </a:r>
            <a:r>
              <a:rPr lang="vi-VN" sz="1800" dirty="0" smtClean="0"/>
              <a:t> việc so sánh từ một kí</a:t>
            </a:r>
            <a:r>
              <a:rPr lang="en-US" sz="1800" dirty="0" smtClean="0"/>
              <a:t> </a:t>
            </a:r>
            <a:r>
              <a:rPr lang="vi-VN" sz="1800" dirty="0" smtClean="0"/>
              <a:t>tự </a:t>
            </a:r>
            <a:r>
              <a:rPr lang="vi-VN" sz="1800" i="1" dirty="0" smtClean="0"/>
              <a:t>p</a:t>
            </a:r>
            <a:r>
              <a:rPr lang="vi-VN" sz="1800" i="1" baseline="-25000" dirty="0" smtClean="0"/>
              <a:t>k</a:t>
            </a:r>
            <a:r>
              <a:rPr lang="vi-VN" sz="1800" dirty="0" smtClean="0"/>
              <a:t> trong mẫu</a:t>
            </a:r>
            <a:r>
              <a:rPr lang="en-US" sz="1800" dirty="0" smtClean="0"/>
              <a:t> </a:t>
            </a:r>
            <a:r>
              <a:rPr lang="vi-VN" sz="1800" dirty="0" smtClean="0"/>
              <a:t>với kí tự </a:t>
            </a:r>
            <a:r>
              <a:rPr lang="vi-VN" sz="1800" i="1" dirty="0" smtClean="0"/>
              <a:t>v</a:t>
            </a:r>
            <a:r>
              <a:rPr lang="vi-VN" sz="1800" i="1" baseline="-25000" dirty="0" smtClean="0"/>
              <a:t>i</a:t>
            </a:r>
            <a:r>
              <a:rPr lang="vi-VN" sz="1800" dirty="0" smtClean="0"/>
              <a:t> hiện đang không khớp</a:t>
            </a:r>
            <a:r>
              <a:rPr lang="en-US" sz="1800" dirty="0" smtClean="0"/>
              <a:t> </a:t>
            </a:r>
            <a:r>
              <a:rPr lang="vi-VN" sz="1800" dirty="0" smtClean="0"/>
              <a:t>trong văn bản</a:t>
            </a:r>
            <a:endParaRPr lang="en-US" sz="1800" dirty="0" smtClean="0"/>
          </a:p>
          <a:p>
            <a:pPr marL="0" marR="0" indent="0" algn="l" defTabSz="914400" rtl="0" eaLnBrk="1" fontAlgn="base" latinLnBrk="0" hangingPunct="1">
              <a:lnSpc>
                <a:spcPct val="100000"/>
              </a:lnSpc>
              <a:spcBef>
                <a:spcPct val="30000"/>
              </a:spcBef>
              <a:spcAft>
                <a:spcPct val="0"/>
              </a:spcAft>
              <a:buClrTx/>
              <a:buSzTx/>
              <a:buFontTx/>
              <a:buNone/>
              <a:tabLst/>
              <a:defRPr/>
            </a:pPr>
            <a:endParaRPr lang="en-US" sz="1200" b="0" baseline="0" dirty="0" smtClean="0">
              <a:latin typeface="Arial" panose="020B0604020202020204" pitchFamily="34" charset="0"/>
              <a:ea typeface="Times New Roman"/>
              <a:cs typeface="Arial" panose="020B0604020202020204" pitchFamily="34" charset="0"/>
            </a:endParaRPr>
          </a:p>
          <a:p>
            <a:pPr marL="0" marR="0" indent="0" algn="l" defTabSz="914400" rtl="0" eaLnBrk="1" fontAlgn="base" latinLnBrk="0" hangingPunct="1">
              <a:lnSpc>
                <a:spcPct val="100000"/>
              </a:lnSpc>
              <a:spcBef>
                <a:spcPct val="30000"/>
              </a:spcBef>
              <a:spcAft>
                <a:spcPct val="0"/>
              </a:spcAft>
              <a:buClrTx/>
              <a:buSzTx/>
              <a:buFontTx/>
              <a:buNone/>
              <a:tabLst/>
              <a:defRPr/>
            </a:pPr>
            <a:r>
              <a:rPr lang="en-US" sz="1200" b="0" baseline="0" dirty="0" err="1" smtClean="0">
                <a:latin typeface="Arial" panose="020B0604020202020204" pitchFamily="34" charset="0"/>
                <a:ea typeface="Times New Roman"/>
                <a:cs typeface="Arial" panose="020B0604020202020204" pitchFamily="34" charset="0"/>
              </a:rPr>
              <a:t>giả</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sử</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đang</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tìm</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kiếm</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đến</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vị</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trí</a:t>
            </a:r>
            <a:r>
              <a:rPr lang="en-US" sz="1200" b="0" baseline="0" dirty="0" smtClean="0">
                <a:latin typeface="Arial" panose="020B0604020202020204" pitchFamily="34" charset="0"/>
                <a:ea typeface="Times New Roman"/>
                <a:cs typeface="Arial" panose="020B0604020202020204" pitchFamily="34" charset="0"/>
              </a:rPr>
              <a:t> j </a:t>
            </a:r>
            <a:r>
              <a:rPr lang="en-US" sz="1200" b="0" baseline="0" dirty="0" err="1" smtClean="0">
                <a:latin typeface="Arial" panose="020B0604020202020204" pitchFamily="34" charset="0"/>
                <a:ea typeface="Times New Roman"/>
                <a:cs typeface="Arial" panose="020B0604020202020204" pitchFamily="34" charset="0"/>
              </a:rPr>
              <a:t>trong</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mẫu</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thì</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phát</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hiện</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ra</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sai</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khác</a:t>
            </a:r>
            <a:r>
              <a:rPr lang="en-US" sz="1200" b="0" baseline="0" dirty="0" smtClean="0">
                <a:latin typeface="Arial" panose="020B0604020202020204" pitchFamily="34" charset="0"/>
                <a:ea typeface="Times New Roman"/>
                <a:cs typeface="Arial" panose="020B0604020202020204" pitchFamily="34" charset="0"/>
              </a:rPr>
              <a:t> =&gt; </a:t>
            </a:r>
            <a:r>
              <a:rPr lang="en-US" sz="1200" b="0" baseline="0" dirty="0" err="1" smtClean="0">
                <a:latin typeface="Arial" panose="020B0604020202020204" pitchFamily="34" charset="0"/>
                <a:ea typeface="Times New Roman"/>
                <a:cs typeface="Arial" panose="020B0604020202020204" pitchFamily="34" charset="0"/>
              </a:rPr>
              <a:t>cần</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tìm</a:t>
            </a:r>
            <a:r>
              <a:rPr lang="en-US" sz="1200" b="0" baseline="0" dirty="0" smtClean="0">
                <a:latin typeface="Arial" panose="020B0604020202020204" pitchFamily="34" charset="0"/>
                <a:ea typeface="Times New Roman"/>
                <a:cs typeface="Arial" panose="020B0604020202020204" pitchFamily="34" charset="0"/>
              </a:rPr>
              <a:t> k </a:t>
            </a:r>
            <a:r>
              <a:rPr lang="en-US" sz="1200" b="0" baseline="0" dirty="0" err="1" smtClean="0">
                <a:latin typeface="Arial" panose="020B0604020202020204" pitchFamily="34" charset="0"/>
                <a:ea typeface="Times New Roman"/>
                <a:cs typeface="Arial" panose="020B0604020202020204" pitchFamily="34" charset="0"/>
              </a:rPr>
              <a:t>là</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vị</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trí</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sẽ</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bắt</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đầu</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đối</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sánh</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tiếp</a:t>
            </a:r>
            <a:endParaRPr lang="en-US" sz="1200" b="0" baseline="0" dirty="0" smtClean="0">
              <a:latin typeface="Arial" panose="020B0604020202020204" pitchFamily="34" charset="0"/>
              <a:ea typeface="Times New Roman"/>
              <a:cs typeface="Arial" panose="020B0604020202020204" pitchFamily="34" charset="0"/>
            </a:endParaRPr>
          </a:p>
          <a:p>
            <a:pPr marL="0" marR="0" indent="0" algn="l" defTabSz="914400" rtl="0" eaLnBrk="1" fontAlgn="base" latinLnBrk="0" hangingPunct="1">
              <a:lnSpc>
                <a:spcPct val="100000"/>
              </a:lnSpc>
              <a:spcBef>
                <a:spcPct val="30000"/>
              </a:spcBef>
              <a:spcAft>
                <a:spcPct val="0"/>
              </a:spcAft>
              <a:buClrTx/>
              <a:buSzTx/>
              <a:buFontTx/>
              <a:buNone/>
              <a:tabLst/>
              <a:defRPr/>
            </a:pPr>
            <a:r>
              <a:rPr lang="en-US" sz="1200" b="0" baseline="0" dirty="0" err="1" smtClean="0">
                <a:latin typeface="Arial" panose="020B0604020202020204" pitchFamily="34" charset="0"/>
                <a:ea typeface="Times New Roman"/>
                <a:cs typeface="Arial" panose="020B0604020202020204" pitchFamily="34" charset="0"/>
              </a:rPr>
              <a:t>Sẽ</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cần</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tìm</a:t>
            </a:r>
            <a:r>
              <a:rPr lang="en-US" sz="1200" b="0" baseline="0" dirty="0" smtClean="0">
                <a:latin typeface="Arial" panose="020B0604020202020204" pitchFamily="34" charset="0"/>
                <a:ea typeface="Times New Roman"/>
                <a:cs typeface="Arial" panose="020B0604020202020204" pitchFamily="34" charset="0"/>
              </a:rPr>
              <a:t> TRƯỚC </a:t>
            </a:r>
            <a:r>
              <a:rPr lang="en-US" sz="1200" b="0" baseline="0" dirty="0" err="1" smtClean="0">
                <a:latin typeface="Arial" panose="020B0604020202020204" pitchFamily="34" charset="0"/>
                <a:ea typeface="Times New Roman"/>
                <a:cs typeface="Arial" panose="020B0604020202020204" pitchFamily="34" charset="0"/>
              </a:rPr>
              <a:t>các</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giá</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trị</a:t>
            </a:r>
            <a:r>
              <a:rPr lang="en-US" sz="1200" b="0" baseline="0" dirty="0" smtClean="0">
                <a:latin typeface="Arial" panose="020B0604020202020204" pitchFamily="34" charset="0"/>
                <a:ea typeface="Times New Roman"/>
                <a:cs typeface="Arial" panose="020B0604020202020204" pitchFamily="34" charset="0"/>
              </a:rPr>
              <a:t> k </a:t>
            </a:r>
            <a:r>
              <a:rPr lang="en-US" sz="1200" b="0" baseline="0" dirty="0" err="1" smtClean="0">
                <a:latin typeface="Arial" panose="020B0604020202020204" pitchFamily="34" charset="0"/>
                <a:ea typeface="Times New Roman"/>
                <a:cs typeface="Arial" panose="020B0604020202020204" pitchFamily="34" charset="0"/>
              </a:rPr>
              <a:t>tương</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ứng</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với</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từng</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vị</a:t>
            </a:r>
            <a:r>
              <a:rPr lang="en-US" sz="1200" b="0" baseline="0" dirty="0" smtClean="0">
                <a:latin typeface="Arial" panose="020B0604020202020204" pitchFamily="34" charset="0"/>
                <a:ea typeface="Times New Roman"/>
                <a:cs typeface="Arial" panose="020B0604020202020204" pitchFamily="34" charset="0"/>
              </a:rPr>
              <a:t> </a:t>
            </a:r>
            <a:r>
              <a:rPr lang="en-US" sz="1200" b="0" baseline="0" dirty="0" err="1" smtClean="0">
                <a:latin typeface="Arial" panose="020B0604020202020204" pitchFamily="34" charset="0"/>
                <a:ea typeface="Times New Roman"/>
                <a:cs typeface="Arial" panose="020B0604020202020204" pitchFamily="34" charset="0"/>
              </a:rPr>
              <a:t>trí</a:t>
            </a:r>
            <a:r>
              <a:rPr lang="en-US" sz="1200" b="0" baseline="0" dirty="0" smtClean="0">
                <a:latin typeface="Arial" panose="020B0604020202020204" pitchFamily="34" charset="0"/>
                <a:ea typeface="Times New Roman"/>
                <a:cs typeface="Arial" panose="020B0604020202020204" pitchFamily="34" charset="0"/>
              </a:rPr>
              <a:t> j = 0..M-1</a:t>
            </a:r>
          </a:p>
          <a:p>
            <a:pPr marL="0" marR="0" indent="0" algn="l" defTabSz="914400" rtl="0" eaLnBrk="1" fontAlgn="base" latinLnBrk="0" hangingPunct="1">
              <a:lnSpc>
                <a:spcPct val="100000"/>
              </a:lnSpc>
              <a:spcBef>
                <a:spcPct val="30000"/>
              </a:spcBef>
              <a:spcAft>
                <a:spcPct val="0"/>
              </a:spcAft>
              <a:buClrTx/>
              <a:buSzTx/>
              <a:buFontTx/>
              <a:buNone/>
              <a:tabLst/>
              <a:defRPr/>
            </a:pPr>
            <a:endParaRPr lang="en-US" sz="1200" b="0" baseline="0" dirty="0" smtClean="0">
              <a:latin typeface="Arial" panose="020B0604020202020204" pitchFamily="34" charset="0"/>
              <a:cs typeface="Arial" panose="020B0604020202020204" pitchFamily="34" charset="0"/>
            </a:endParaRPr>
          </a:p>
          <a:p>
            <a:pPr marL="0" marR="0" indent="0" algn="l" defTabSz="914400" rtl="0" eaLnBrk="1" fontAlgn="base" latinLnBrk="0" hangingPunct="1">
              <a:lnSpc>
                <a:spcPct val="100000"/>
              </a:lnSpc>
              <a:spcBef>
                <a:spcPct val="30000"/>
              </a:spcBef>
              <a:spcAft>
                <a:spcPct val="0"/>
              </a:spcAft>
              <a:buClrTx/>
              <a:buSzTx/>
              <a:buFontTx/>
              <a:buNone/>
              <a:tabLst/>
              <a:defRPr/>
            </a:pPr>
            <a:r>
              <a:rPr lang="en-US" sz="1200" b="0" baseline="0" dirty="0" err="1" smtClean="0">
                <a:latin typeface="Arial" panose="020B0604020202020204" pitchFamily="34" charset="0"/>
                <a:cs typeface="Arial" panose="020B0604020202020204" pitchFamily="34" charset="0"/>
              </a:rPr>
              <a:t>Lưu</a:t>
            </a:r>
            <a:r>
              <a:rPr lang="en-US" sz="1200" b="0" baseline="0" dirty="0" smtClean="0">
                <a:latin typeface="Arial" panose="020B0604020202020204" pitchFamily="34" charset="0"/>
                <a:cs typeface="Arial" panose="020B0604020202020204" pitchFamily="34" charset="0"/>
              </a:rPr>
              <a:t> </a:t>
            </a:r>
            <a:r>
              <a:rPr lang="en-US" sz="1200" b="0" baseline="0" dirty="0" err="1" smtClean="0">
                <a:latin typeface="Arial" panose="020B0604020202020204" pitchFamily="34" charset="0"/>
                <a:cs typeface="Arial" panose="020B0604020202020204" pitchFamily="34" charset="0"/>
              </a:rPr>
              <a:t>giá</a:t>
            </a:r>
            <a:r>
              <a:rPr lang="en-US" sz="1200" b="0" baseline="0" dirty="0" smtClean="0">
                <a:latin typeface="Arial" panose="020B0604020202020204" pitchFamily="34" charset="0"/>
                <a:cs typeface="Arial" panose="020B0604020202020204" pitchFamily="34" charset="0"/>
              </a:rPr>
              <a:t> </a:t>
            </a:r>
            <a:r>
              <a:rPr lang="en-US" sz="1200" b="0" baseline="0" dirty="0" err="1" smtClean="0">
                <a:latin typeface="Arial" panose="020B0604020202020204" pitchFamily="34" charset="0"/>
                <a:cs typeface="Arial" panose="020B0604020202020204" pitchFamily="34" charset="0"/>
              </a:rPr>
              <a:t>trị</a:t>
            </a:r>
            <a:r>
              <a:rPr lang="en-US" sz="1200" b="0" baseline="0" dirty="0" smtClean="0">
                <a:latin typeface="Arial" panose="020B0604020202020204" pitchFamily="34" charset="0"/>
                <a:cs typeface="Arial" panose="020B0604020202020204" pitchFamily="34" charset="0"/>
              </a:rPr>
              <a:t> k </a:t>
            </a:r>
            <a:r>
              <a:rPr lang="en-US" sz="1200" b="0" baseline="0" dirty="0" err="1" smtClean="0">
                <a:latin typeface="Arial" panose="020B0604020202020204" pitchFamily="34" charset="0"/>
                <a:cs typeface="Arial" panose="020B0604020202020204" pitchFamily="34" charset="0"/>
              </a:rPr>
              <a:t>tương</a:t>
            </a:r>
            <a:r>
              <a:rPr lang="en-US" sz="1200" b="0" baseline="0" dirty="0" smtClean="0">
                <a:latin typeface="Arial" panose="020B0604020202020204" pitchFamily="34" charset="0"/>
                <a:cs typeface="Arial" panose="020B0604020202020204" pitchFamily="34" charset="0"/>
              </a:rPr>
              <a:t> </a:t>
            </a:r>
            <a:r>
              <a:rPr lang="en-US" sz="1200" b="0" baseline="0" dirty="0" err="1" smtClean="0">
                <a:latin typeface="Arial" panose="020B0604020202020204" pitchFamily="34" charset="0"/>
                <a:cs typeface="Arial" panose="020B0604020202020204" pitchFamily="34" charset="0"/>
              </a:rPr>
              <a:t>ứng</a:t>
            </a:r>
            <a:r>
              <a:rPr lang="en-US" sz="1200" b="0" baseline="0" dirty="0" smtClean="0">
                <a:latin typeface="Arial" panose="020B0604020202020204" pitchFamily="34" charset="0"/>
                <a:cs typeface="Arial" panose="020B0604020202020204" pitchFamily="34" charset="0"/>
              </a:rPr>
              <a:t> </a:t>
            </a:r>
            <a:r>
              <a:rPr lang="en-US" sz="1200" b="0" baseline="0" dirty="0" err="1" smtClean="0">
                <a:latin typeface="Arial" panose="020B0604020202020204" pitchFamily="34" charset="0"/>
                <a:cs typeface="Arial" panose="020B0604020202020204" pitchFamily="34" charset="0"/>
              </a:rPr>
              <a:t>với</a:t>
            </a:r>
            <a:r>
              <a:rPr lang="en-US" sz="1200" b="0" baseline="0" dirty="0" smtClean="0">
                <a:latin typeface="Arial" panose="020B0604020202020204" pitchFamily="34" charset="0"/>
                <a:cs typeface="Arial" panose="020B0604020202020204" pitchFamily="34" charset="0"/>
              </a:rPr>
              <a:t> </a:t>
            </a:r>
            <a:r>
              <a:rPr lang="en-US" sz="1200" b="0" baseline="0" dirty="0" err="1" smtClean="0">
                <a:latin typeface="Arial" panose="020B0604020202020204" pitchFamily="34" charset="0"/>
                <a:cs typeface="Arial" panose="020B0604020202020204" pitchFamily="34" charset="0"/>
              </a:rPr>
              <a:t>vị</a:t>
            </a:r>
            <a:r>
              <a:rPr lang="en-US" sz="1200" b="0" baseline="0" dirty="0" smtClean="0">
                <a:latin typeface="Arial" panose="020B0604020202020204" pitchFamily="34" charset="0"/>
                <a:cs typeface="Arial" panose="020B0604020202020204" pitchFamily="34" charset="0"/>
              </a:rPr>
              <a:t> </a:t>
            </a:r>
            <a:r>
              <a:rPr lang="en-US" sz="1200" b="0" baseline="0" dirty="0" err="1" smtClean="0">
                <a:latin typeface="Arial" panose="020B0604020202020204" pitchFamily="34" charset="0"/>
                <a:cs typeface="Arial" panose="020B0604020202020204" pitchFamily="34" charset="0"/>
              </a:rPr>
              <a:t>trí</a:t>
            </a:r>
            <a:r>
              <a:rPr lang="en-US" sz="1200" b="0" baseline="0" dirty="0" smtClean="0">
                <a:latin typeface="Arial" panose="020B0604020202020204" pitchFamily="34" charset="0"/>
                <a:cs typeface="Arial" panose="020B0604020202020204" pitchFamily="34" charset="0"/>
              </a:rPr>
              <a:t> j </a:t>
            </a:r>
            <a:r>
              <a:rPr lang="en-US" sz="1200" b="0" baseline="0" dirty="0" err="1" smtClean="0">
                <a:latin typeface="Arial" panose="020B0604020202020204" pitchFamily="34" charset="0"/>
                <a:cs typeface="Arial" panose="020B0604020202020204" pitchFamily="34" charset="0"/>
              </a:rPr>
              <a:t>vào</a:t>
            </a:r>
            <a:r>
              <a:rPr lang="en-US" sz="1200" b="0" baseline="0" dirty="0" smtClean="0">
                <a:latin typeface="Arial" panose="020B0604020202020204" pitchFamily="34" charset="0"/>
                <a:cs typeface="Arial" panose="020B0604020202020204" pitchFamily="34" charset="0"/>
              </a:rPr>
              <a:t> </a:t>
            </a:r>
            <a:r>
              <a:rPr lang="en-US" sz="1200" b="0" baseline="0" dirty="0" err="1" smtClean="0">
                <a:latin typeface="Arial" panose="020B0604020202020204" pitchFamily="34" charset="0"/>
                <a:cs typeface="Arial" panose="020B0604020202020204" pitchFamily="34" charset="0"/>
              </a:rPr>
              <a:t>phần</a:t>
            </a:r>
            <a:r>
              <a:rPr lang="en-US" sz="1200" b="0" baseline="0" dirty="0" smtClean="0">
                <a:latin typeface="Arial" panose="020B0604020202020204" pitchFamily="34" charset="0"/>
                <a:cs typeface="Arial" panose="020B0604020202020204" pitchFamily="34" charset="0"/>
              </a:rPr>
              <a:t> </a:t>
            </a:r>
            <a:r>
              <a:rPr lang="en-US" sz="1200" b="0" baseline="0" dirty="0" err="1" smtClean="0">
                <a:latin typeface="Arial" panose="020B0604020202020204" pitchFamily="34" charset="0"/>
                <a:cs typeface="Arial" panose="020B0604020202020204" pitchFamily="34" charset="0"/>
              </a:rPr>
              <a:t>tử</a:t>
            </a:r>
            <a:r>
              <a:rPr lang="en-US" sz="1200" b="0" baseline="0" dirty="0" smtClean="0">
                <a:latin typeface="Arial" panose="020B0604020202020204" pitchFamily="34" charset="0"/>
                <a:cs typeface="Arial" panose="020B0604020202020204" pitchFamily="34" charset="0"/>
              </a:rPr>
              <a:t> next[j]</a:t>
            </a:r>
            <a:endParaRPr lang="en-US" sz="1200" dirty="0" smtClean="0">
              <a:latin typeface="Courier New" panose="02070309020205020404" pitchFamily="49" charset="0"/>
              <a:cs typeface="Courier New" panose="02070309020205020404" pitchFamily="49" charset="0"/>
            </a:endParaRPr>
          </a:p>
        </p:txBody>
      </p:sp>
      <p:sp>
        <p:nvSpPr>
          <p:cNvPr id="4" name="Slide Number Placeholder 3"/>
          <p:cNvSpPr>
            <a:spLocks noGrp="1"/>
          </p:cNvSpPr>
          <p:nvPr>
            <p:ph type="sldNum" sz="quarter" idx="10"/>
          </p:nvPr>
        </p:nvSpPr>
        <p:spPr/>
        <p:txBody>
          <a:bodyPr/>
          <a:lstStyle/>
          <a:p>
            <a:fld id="{76159C16-962D-45B7-9AE3-AA455C3EA8F0}" type="slidenum">
              <a:rPr lang="en-US" smtClean="0"/>
              <a:pPr/>
              <a:t>17</a:t>
            </a:fld>
            <a:endParaRPr lang="en-US"/>
          </a:p>
        </p:txBody>
      </p:sp>
    </p:spTree>
    <p:extLst>
      <p:ext uri="{BB962C8B-B14F-4D97-AF65-F5344CB8AC3E}">
        <p14:creationId xmlns:p14="http://schemas.microsoft.com/office/powerpoint/2010/main" val="25121441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2" indent="0" algn="l" defTabSz="914400" rtl="0" eaLnBrk="1" fontAlgn="base" latinLnBrk="0" hangingPunct="1">
              <a:lnSpc>
                <a:spcPct val="100000"/>
              </a:lnSpc>
              <a:spcBef>
                <a:spcPct val="30000"/>
              </a:spcBef>
              <a:spcAft>
                <a:spcPct val="0"/>
              </a:spcAft>
              <a:buClrTx/>
              <a:buSzTx/>
              <a:buFontTx/>
              <a:buNone/>
              <a:tabLst/>
              <a:defRPr/>
            </a:pPr>
            <a:r>
              <a:rPr lang="en-US" sz="1600" dirty="0" smtClean="0">
                <a:latin typeface="Courier New" panose="02070309020205020404" pitchFamily="49" charset="0"/>
                <a:cs typeface="Courier New" panose="02070309020205020404" pitchFamily="49" charset="0"/>
              </a:rPr>
              <a:t>while (k&gt;0&amp;&amp;p[k]==p[j]) k--;  // </a:t>
            </a:r>
            <a:r>
              <a:rPr lang="en-US" sz="1600" dirty="0" err="1" smtClean="0">
                <a:latin typeface="Courier New" panose="02070309020205020404" pitchFamily="49" charset="0"/>
                <a:cs typeface="Courier New" panose="02070309020205020404" pitchFamily="49" charset="0"/>
              </a:rPr>
              <a:t>tìm</a:t>
            </a:r>
            <a:r>
              <a:rPr lang="en-US" sz="1600" baseline="0" dirty="0" smtClean="0">
                <a:latin typeface="Courier New" panose="02070309020205020404" pitchFamily="49" charset="0"/>
                <a:cs typeface="Courier New" panose="02070309020205020404" pitchFamily="49" charset="0"/>
              </a:rPr>
              <a:t> </a:t>
            </a:r>
            <a:r>
              <a:rPr lang="en-US" sz="1600" baseline="0" dirty="0" err="1" smtClean="0">
                <a:latin typeface="Courier New" panose="02070309020205020404" pitchFamily="49" charset="0"/>
                <a:cs typeface="Courier New" panose="02070309020205020404" pitchFamily="49" charset="0"/>
              </a:rPr>
              <a:t>đến</a:t>
            </a:r>
            <a:r>
              <a:rPr lang="en-US" sz="1600" baseline="0" dirty="0" smtClean="0">
                <a:latin typeface="Courier New" panose="02070309020205020404" pitchFamily="49" charset="0"/>
                <a:cs typeface="Courier New" panose="02070309020205020404" pitchFamily="49" charset="0"/>
              </a:rPr>
              <a:t> k max: </a:t>
            </a:r>
            <a:r>
              <a:rPr lang="en-US" sz="1600" dirty="0" smtClean="0">
                <a:latin typeface="Courier New" panose="02070309020205020404" pitchFamily="49" charset="0"/>
                <a:cs typeface="Courier New" panose="02070309020205020404" pitchFamily="49" charset="0"/>
              </a:rPr>
              <a:t>p[k] ≠ p[j];</a:t>
            </a:r>
          </a:p>
          <a:p>
            <a:pPr marL="0" marR="0" lvl="2" indent="0" algn="l" defTabSz="914400" rtl="0" eaLnBrk="1" fontAlgn="base" latinLnBrk="0" hangingPunct="1">
              <a:lnSpc>
                <a:spcPct val="100000"/>
              </a:lnSpc>
              <a:spcBef>
                <a:spcPct val="30000"/>
              </a:spcBef>
              <a:spcAft>
                <a:spcPct val="0"/>
              </a:spcAft>
              <a:buClrTx/>
              <a:buSzTx/>
              <a:buFontTx/>
              <a:buNone/>
              <a:tabLst/>
              <a:defRPr/>
            </a:pPr>
            <a:endParaRPr lang="en-US" sz="1600" baseline="0" dirty="0" smtClean="0">
              <a:latin typeface="Courier New" panose="02070309020205020404" pitchFamily="49" charset="0"/>
              <a:cs typeface="Courier New" panose="02070309020205020404" pitchFamily="49" charset="0"/>
            </a:endParaRPr>
          </a:p>
          <a:p>
            <a:pPr marL="0" marR="0" lvl="2" indent="0" algn="l" defTabSz="914400" rtl="0" eaLnBrk="1" fontAlgn="base" latinLnBrk="0" hangingPunct="1">
              <a:lnSpc>
                <a:spcPct val="100000"/>
              </a:lnSpc>
              <a:spcBef>
                <a:spcPct val="30000"/>
              </a:spcBef>
              <a:spcAft>
                <a:spcPct val="0"/>
              </a:spcAft>
              <a:buClrTx/>
              <a:buSzTx/>
              <a:buFontTx/>
              <a:buNone/>
              <a:tabLst/>
              <a:defRPr/>
            </a:pPr>
            <a:r>
              <a:rPr lang="en-US" sz="1600" dirty="0" smtClean="0">
                <a:latin typeface="Courier New" panose="02070309020205020404" pitchFamily="49" charset="0"/>
                <a:cs typeface="Courier New" panose="02070309020205020404" pitchFamily="49" charset="0"/>
              </a:rPr>
              <a:t>while (</a:t>
            </a:r>
            <a:r>
              <a:rPr lang="en-US" sz="1600" dirty="0" err="1" smtClean="0">
                <a:latin typeface="Courier New" panose="02070309020205020404" pitchFamily="49" charset="0"/>
                <a:cs typeface="Courier New" panose="02070309020205020404" pitchFamily="49" charset="0"/>
              </a:rPr>
              <a:t>i</a:t>
            </a:r>
            <a:r>
              <a:rPr lang="en-US" sz="1600" dirty="0" smtClean="0">
                <a:latin typeface="Courier New" panose="02070309020205020404" pitchFamily="49" charset="0"/>
                <a:cs typeface="Courier New" panose="02070309020205020404" pitchFamily="49" charset="0"/>
              </a:rPr>
              <a:t>&lt;=k &amp;&amp; p[k-</a:t>
            </a:r>
            <a:r>
              <a:rPr lang="en-US" sz="1600" dirty="0" err="1" smtClean="0">
                <a:latin typeface="Courier New" panose="02070309020205020404" pitchFamily="49" charset="0"/>
                <a:cs typeface="Courier New" panose="02070309020205020404" pitchFamily="49" charset="0"/>
              </a:rPr>
              <a:t>i</a:t>
            </a:r>
            <a:r>
              <a:rPr lang="en-US" sz="1600" dirty="0" smtClean="0">
                <a:latin typeface="Courier New" panose="02070309020205020404" pitchFamily="49" charset="0"/>
                <a:cs typeface="Courier New" panose="02070309020205020404" pitchFamily="49" charset="0"/>
              </a:rPr>
              <a:t>]==p[j-</a:t>
            </a:r>
            <a:r>
              <a:rPr lang="en-US" sz="1600" dirty="0" err="1" smtClean="0">
                <a:latin typeface="Courier New" panose="02070309020205020404" pitchFamily="49" charset="0"/>
                <a:cs typeface="Courier New" panose="02070309020205020404" pitchFamily="49" charset="0"/>
              </a:rPr>
              <a:t>i</a:t>
            </a:r>
            <a:r>
              <a:rPr lang="en-US" sz="1600" dirty="0" smtClean="0">
                <a:latin typeface="Courier New" panose="02070309020205020404" pitchFamily="49" charset="0"/>
                <a:cs typeface="Courier New" panose="02070309020205020404" pitchFamily="49" charset="0"/>
              </a:rPr>
              <a:t>])  </a:t>
            </a:r>
            <a:r>
              <a:rPr lang="en-US" sz="1600" dirty="0" err="1" smtClean="0">
                <a:latin typeface="Courier New" panose="02070309020205020404" pitchFamily="49" charset="0"/>
                <a:cs typeface="Courier New" panose="02070309020205020404" pitchFamily="49" charset="0"/>
              </a:rPr>
              <a:t>i</a:t>
            </a:r>
            <a:r>
              <a:rPr lang="en-US" sz="1600" dirty="0" smtClean="0">
                <a:latin typeface="Courier New" panose="02070309020205020404" pitchFamily="49" charset="0"/>
                <a:cs typeface="Courier New" panose="02070309020205020404" pitchFamily="49" charset="0"/>
              </a:rPr>
              <a:t>++; // so </a:t>
            </a:r>
            <a:r>
              <a:rPr lang="en-US" sz="1600" dirty="0" err="1" smtClean="0">
                <a:latin typeface="Courier New" panose="02070309020205020404" pitchFamily="49" charset="0"/>
                <a:cs typeface="Courier New" panose="02070309020205020404" pitchFamily="49" charset="0"/>
              </a:rPr>
              <a:t>sánh</a:t>
            </a:r>
            <a:r>
              <a:rPr lang="en-US" sz="1600" baseline="0" dirty="0" smtClean="0">
                <a:latin typeface="Courier New" panose="02070309020205020404" pitchFamily="49" charset="0"/>
                <a:cs typeface="Courier New" panose="02070309020205020404" pitchFamily="49" charset="0"/>
              </a:rPr>
              <a:t> </a:t>
            </a:r>
            <a:r>
              <a:rPr lang="en-US" sz="1600" baseline="0" dirty="0" err="1" smtClean="0">
                <a:latin typeface="Courier New" panose="02070309020205020404" pitchFamily="49" charset="0"/>
                <a:cs typeface="Courier New" panose="02070309020205020404" pitchFamily="49" charset="0"/>
              </a:rPr>
              <a:t>chuỗi</a:t>
            </a:r>
            <a:r>
              <a:rPr lang="en-US" sz="1600" baseline="0" dirty="0" smtClean="0">
                <a:latin typeface="Courier New" panose="02070309020205020404" pitchFamily="49" charset="0"/>
                <a:cs typeface="Courier New" panose="02070309020205020404" pitchFamily="49" charset="0"/>
              </a:rPr>
              <a:t> </a:t>
            </a:r>
            <a:r>
              <a:rPr lang="en-US" sz="1600" dirty="0" smtClean="0">
                <a:latin typeface="Courier New" panose="02070309020205020404" pitchFamily="49" charset="0"/>
                <a:cs typeface="Courier New" panose="02070309020205020404" pitchFamily="49" charset="0"/>
              </a:rPr>
              <a:t>(p[0] p[1] .. p[k-1]) </a:t>
            </a:r>
            <a:r>
              <a:rPr lang="en-US" sz="1600" dirty="0" err="1" smtClean="0">
                <a:latin typeface="Courier New" panose="02070309020205020404" pitchFamily="49" charset="0"/>
                <a:cs typeface="Courier New" panose="02070309020205020404" pitchFamily="49" charset="0"/>
              </a:rPr>
              <a:t>và</a:t>
            </a:r>
            <a:r>
              <a:rPr lang="en-US" sz="1600" dirty="0" smtClean="0">
                <a:latin typeface="Courier New" panose="02070309020205020404" pitchFamily="49" charset="0"/>
                <a:cs typeface="Courier New" panose="02070309020205020404" pitchFamily="49" charset="0"/>
              </a:rPr>
              <a:t> (p[j-k] p[1] .. p[j-1])</a:t>
            </a:r>
            <a:r>
              <a:rPr lang="en-US" sz="1600" baseline="0" dirty="0" smtClean="0">
                <a:latin typeface="Courier New" panose="02070309020205020404" pitchFamily="49" charset="0"/>
                <a:cs typeface="Courier New" panose="02070309020205020404" pitchFamily="49" charset="0"/>
              </a:rPr>
              <a:t>. </a:t>
            </a:r>
            <a:r>
              <a:rPr lang="en-US" sz="1600" baseline="0" dirty="0" err="1" smtClean="0">
                <a:latin typeface="Courier New" panose="02070309020205020404" pitchFamily="49" charset="0"/>
                <a:cs typeface="Courier New" panose="02070309020205020404" pitchFamily="49" charset="0"/>
              </a:rPr>
              <a:t>Nếu</a:t>
            </a:r>
            <a:r>
              <a:rPr lang="en-US" sz="1600" baseline="0" dirty="0" smtClean="0">
                <a:latin typeface="Courier New" panose="02070309020205020404" pitchFamily="49" charset="0"/>
                <a:cs typeface="Courier New" panose="02070309020205020404" pitchFamily="49" charset="0"/>
              </a:rPr>
              <a:t> </a:t>
            </a:r>
            <a:r>
              <a:rPr lang="en-US" sz="1600" baseline="0" dirty="0" err="1" smtClean="0">
                <a:latin typeface="Courier New" panose="02070309020205020404" pitchFamily="49" charset="0"/>
                <a:cs typeface="Courier New" panose="02070309020205020404" pitchFamily="49" charset="0"/>
              </a:rPr>
              <a:t>cuối</a:t>
            </a:r>
            <a:r>
              <a:rPr lang="en-US" sz="1600" baseline="0" dirty="0" smtClean="0">
                <a:latin typeface="Courier New" panose="02070309020205020404" pitchFamily="49" charset="0"/>
                <a:cs typeface="Courier New" panose="02070309020205020404" pitchFamily="49" charset="0"/>
              </a:rPr>
              <a:t> </a:t>
            </a:r>
            <a:r>
              <a:rPr lang="en-US" sz="1600" baseline="0" dirty="0" err="1" smtClean="0">
                <a:latin typeface="Courier New" panose="02070309020205020404" pitchFamily="49" charset="0"/>
                <a:cs typeface="Courier New" panose="02070309020205020404" pitchFamily="49" charset="0"/>
              </a:rPr>
              <a:t>cùng</a:t>
            </a:r>
            <a:r>
              <a:rPr lang="en-US" sz="1600" baseline="0" dirty="0" smtClean="0">
                <a:latin typeface="Courier New" panose="02070309020205020404" pitchFamily="49" charset="0"/>
                <a:cs typeface="Courier New" panose="02070309020205020404" pitchFamily="49" charset="0"/>
              </a:rPr>
              <a:t> </a:t>
            </a:r>
            <a:r>
              <a:rPr lang="en-US" sz="1600" baseline="0" dirty="0" err="1" smtClean="0">
                <a:latin typeface="Courier New" panose="02070309020205020404" pitchFamily="49" charset="0"/>
                <a:cs typeface="Courier New" panose="02070309020205020404" pitchFamily="49" charset="0"/>
              </a:rPr>
              <a:t>khi</a:t>
            </a:r>
            <a:r>
              <a:rPr lang="en-US" sz="1600" baseline="0" dirty="0" smtClean="0">
                <a:latin typeface="Courier New" panose="02070309020205020404" pitchFamily="49" charset="0"/>
                <a:cs typeface="Courier New" panose="02070309020205020404" pitchFamily="49" charset="0"/>
              </a:rPr>
              <a:t> </a:t>
            </a:r>
            <a:r>
              <a:rPr lang="en-US" sz="1600" baseline="0" dirty="0" err="1" smtClean="0">
                <a:latin typeface="Courier New" panose="02070309020205020404" pitchFamily="49" charset="0"/>
                <a:cs typeface="Courier New" panose="02070309020205020404" pitchFamily="49" charset="0"/>
              </a:rPr>
              <a:t>i</a:t>
            </a:r>
            <a:r>
              <a:rPr lang="en-US" sz="1600" baseline="0" dirty="0" smtClean="0">
                <a:latin typeface="Courier New" panose="02070309020205020404" pitchFamily="49" charset="0"/>
                <a:cs typeface="Courier New" panose="02070309020205020404" pitchFamily="49" charset="0"/>
              </a:rPr>
              <a:t>=k ; p[0]=p[j-k] </a:t>
            </a:r>
            <a:r>
              <a:rPr lang="en-US" sz="1600" baseline="0" dirty="0" smtClean="0">
                <a:latin typeface="Courier New" panose="02070309020205020404" pitchFamily="49" charset="0"/>
                <a:cs typeface="Courier New" panose="02070309020205020404" pitchFamily="49" charset="0"/>
                <a:sym typeface="Wingdings" panose="05000000000000000000" pitchFamily="2" charset="2"/>
              </a:rPr>
              <a:t> </a:t>
            </a:r>
            <a:r>
              <a:rPr lang="en-US" sz="1600" baseline="0" dirty="0" err="1" smtClean="0">
                <a:latin typeface="Courier New" panose="02070309020205020404" pitchFamily="49" charset="0"/>
                <a:cs typeface="Courier New" panose="02070309020205020404" pitchFamily="49" charset="0"/>
                <a:sym typeface="Wingdings" panose="05000000000000000000" pitchFamily="2" charset="2"/>
              </a:rPr>
              <a:t>Đã</a:t>
            </a:r>
            <a:r>
              <a:rPr lang="en-US" sz="1600" baseline="0" dirty="0" smtClean="0">
                <a:latin typeface="Courier New" panose="02070309020205020404" pitchFamily="49" charset="0"/>
                <a:cs typeface="Courier New" panose="02070309020205020404" pitchFamily="49" charset="0"/>
                <a:sym typeface="Wingdings" panose="05000000000000000000" pitchFamily="2" charset="2"/>
              </a:rPr>
              <a:t> </a:t>
            </a:r>
            <a:r>
              <a:rPr lang="en-US" sz="1600" baseline="0" dirty="0" err="1" smtClean="0">
                <a:latin typeface="Courier New" panose="02070309020205020404" pitchFamily="49" charset="0"/>
                <a:cs typeface="Courier New" panose="02070309020205020404" pitchFamily="49" charset="0"/>
                <a:sym typeface="Wingdings" panose="05000000000000000000" pitchFamily="2" charset="2"/>
              </a:rPr>
              <a:t>khớp</a:t>
            </a:r>
            <a:r>
              <a:rPr lang="en-US" sz="1600" baseline="0" dirty="0" smtClean="0">
                <a:latin typeface="Courier New" panose="02070309020205020404" pitchFamily="49" charset="0"/>
                <a:cs typeface="Courier New" panose="02070309020205020404" pitchFamily="49" charset="0"/>
                <a:sym typeface="Wingdings" panose="05000000000000000000" pitchFamily="2" charset="2"/>
              </a:rPr>
              <a:t>. (</a:t>
            </a:r>
            <a:r>
              <a:rPr lang="en-US" sz="1600" baseline="0" dirty="0" err="1" smtClean="0">
                <a:latin typeface="Courier New" panose="02070309020205020404" pitchFamily="49" charset="0"/>
                <a:cs typeface="Courier New" panose="02070309020205020404" pitchFamily="49" charset="0"/>
                <a:sym typeface="Wingdings" panose="05000000000000000000" pitchFamily="2" charset="2"/>
              </a:rPr>
              <a:t>Lúc</a:t>
            </a:r>
            <a:r>
              <a:rPr lang="en-US" sz="1600" baseline="0" dirty="0" smtClean="0">
                <a:latin typeface="Courier New" panose="02070309020205020404" pitchFamily="49" charset="0"/>
                <a:cs typeface="Courier New" panose="02070309020205020404" pitchFamily="49" charset="0"/>
                <a:sym typeface="Wingdings" panose="05000000000000000000" pitchFamily="2" charset="2"/>
              </a:rPr>
              <a:t> </a:t>
            </a:r>
            <a:r>
              <a:rPr lang="en-US" sz="1600" baseline="0" dirty="0" err="1" smtClean="0">
                <a:latin typeface="Courier New" panose="02070309020205020404" pitchFamily="49" charset="0"/>
                <a:cs typeface="Courier New" panose="02070309020205020404" pitchFamily="49" charset="0"/>
                <a:sym typeface="Wingdings" panose="05000000000000000000" pitchFamily="2" charset="2"/>
              </a:rPr>
              <a:t>này</a:t>
            </a:r>
            <a:r>
              <a:rPr lang="en-US" sz="1600" baseline="0" dirty="0" smtClean="0">
                <a:latin typeface="Courier New" panose="02070309020205020404" pitchFamily="49" charset="0"/>
                <a:cs typeface="Courier New" panose="02070309020205020404" pitchFamily="49" charset="0"/>
                <a:sym typeface="Wingdings" panose="05000000000000000000" pitchFamily="2" charset="2"/>
              </a:rPr>
              <a:t> </a:t>
            </a:r>
            <a:r>
              <a:rPr lang="en-US" sz="1600" baseline="0" dirty="0" err="1" smtClean="0">
                <a:latin typeface="Courier New" panose="02070309020205020404" pitchFamily="49" charset="0"/>
                <a:cs typeface="Courier New" panose="02070309020205020404" pitchFamily="49" charset="0"/>
                <a:sym typeface="Wingdings" panose="05000000000000000000" pitchFamily="2" charset="2"/>
              </a:rPr>
              <a:t>vẫn</a:t>
            </a:r>
            <a:r>
              <a:rPr lang="en-US" sz="1600" baseline="0" dirty="0" smtClean="0">
                <a:latin typeface="Courier New" panose="02070309020205020404" pitchFamily="49" charset="0"/>
                <a:cs typeface="Courier New" panose="02070309020205020404" pitchFamily="49" charset="0"/>
                <a:sym typeface="Wingdings" panose="05000000000000000000" pitchFamily="2" charset="2"/>
              </a:rPr>
              <a:t> </a:t>
            </a:r>
            <a:r>
              <a:rPr lang="en-US" sz="1600" baseline="0" dirty="0" err="1" smtClean="0">
                <a:latin typeface="Courier New" panose="02070309020205020404" pitchFamily="49" charset="0"/>
                <a:cs typeface="Courier New" panose="02070309020205020404" pitchFamily="49" charset="0"/>
                <a:sym typeface="Wingdings" panose="05000000000000000000" pitchFamily="2" charset="2"/>
              </a:rPr>
              <a:t>tăng</a:t>
            </a:r>
            <a:r>
              <a:rPr lang="en-US" sz="1600" baseline="0" dirty="0" smtClean="0">
                <a:latin typeface="Courier New" panose="02070309020205020404" pitchFamily="49" charset="0"/>
                <a:cs typeface="Courier New" panose="02070309020205020404" pitchFamily="49" charset="0"/>
                <a:sym typeface="Wingdings" panose="05000000000000000000" pitchFamily="2" charset="2"/>
              </a:rPr>
              <a:t> </a:t>
            </a:r>
            <a:r>
              <a:rPr lang="en-US" sz="1600" baseline="0" dirty="0" err="1" smtClean="0">
                <a:latin typeface="Courier New" panose="02070309020205020404" pitchFamily="49" charset="0"/>
                <a:cs typeface="Courier New" panose="02070309020205020404" pitchFamily="49" charset="0"/>
                <a:sym typeface="Wingdings" panose="05000000000000000000" pitchFamily="2" charset="2"/>
              </a:rPr>
              <a:t>i</a:t>
            </a:r>
            <a:r>
              <a:rPr lang="en-US" sz="1600" baseline="0" dirty="0" smtClean="0">
                <a:latin typeface="Courier New" panose="02070309020205020404" pitchFamily="49" charset="0"/>
                <a:cs typeface="Courier New" panose="02070309020205020404" pitchFamily="49" charset="0"/>
                <a:sym typeface="Wingdings" panose="05000000000000000000" pitchFamily="2" charset="2"/>
              </a:rPr>
              <a:t>++ =&gt; </a:t>
            </a:r>
            <a:r>
              <a:rPr lang="en-US" sz="1600" baseline="0" dirty="0" err="1" smtClean="0">
                <a:latin typeface="Courier New" panose="02070309020205020404" pitchFamily="49" charset="0"/>
                <a:cs typeface="Courier New" panose="02070309020205020404" pitchFamily="49" charset="0"/>
              </a:rPr>
              <a:t>i</a:t>
            </a:r>
            <a:r>
              <a:rPr lang="en-US" sz="1600" baseline="0" dirty="0" smtClean="0">
                <a:latin typeface="Courier New" panose="02070309020205020404" pitchFamily="49" charset="0"/>
                <a:cs typeface="Courier New" panose="02070309020205020404" pitchFamily="49" charset="0"/>
              </a:rPr>
              <a:t> = k+1 -&gt; </a:t>
            </a:r>
            <a:r>
              <a:rPr lang="en-US" sz="1600" baseline="0" dirty="0" err="1" smtClean="0">
                <a:latin typeface="Courier New" panose="02070309020205020404" pitchFamily="49" charset="0"/>
                <a:cs typeface="Courier New" panose="02070309020205020404" pitchFamily="49" charset="0"/>
              </a:rPr>
              <a:t>i</a:t>
            </a:r>
            <a:r>
              <a:rPr lang="en-US" sz="1600" baseline="0" dirty="0" smtClean="0">
                <a:latin typeface="Courier New" panose="02070309020205020404" pitchFamily="49" charset="0"/>
                <a:cs typeface="Courier New" panose="02070309020205020404" pitchFamily="49" charset="0"/>
              </a:rPr>
              <a:t>&gt;k) =&gt; </a:t>
            </a:r>
            <a:r>
              <a:rPr lang="en-US" sz="1600" baseline="0" dirty="0" err="1" smtClean="0">
                <a:latin typeface="Courier New" panose="02070309020205020404" pitchFamily="49" charset="0"/>
                <a:cs typeface="Courier New" panose="02070309020205020404" pitchFamily="49" charset="0"/>
              </a:rPr>
              <a:t>Nếu</a:t>
            </a:r>
            <a:r>
              <a:rPr lang="en-US" sz="1600" baseline="0" dirty="0" smtClean="0">
                <a:latin typeface="Courier New" panose="02070309020205020404" pitchFamily="49" charset="0"/>
                <a:cs typeface="Courier New" panose="02070309020205020404" pitchFamily="49" charset="0"/>
              </a:rPr>
              <a:t> </a:t>
            </a:r>
            <a:r>
              <a:rPr lang="en-US" sz="1600" baseline="0" dirty="0" err="1" smtClean="0">
                <a:latin typeface="Courier New" panose="02070309020205020404" pitchFamily="49" charset="0"/>
                <a:cs typeface="Courier New" panose="02070309020205020404" pitchFamily="49" charset="0"/>
              </a:rPr>
              <a:t>i</a:t>
            </a:r>
            <a:r>
              <a:rPr lang="en-US" sz="1600" baseline="0" dirty="0" smtClean="0">
                <a:latin typeface="Courier New" panose="02070309020205020404" pitchFamily="49" charset="0"/>
                <a:cs typeface="Courier New" panose="02070309020205020404" pitchFamily="49" charset="0"/>
              </a:rPr>
              <a:t>&gt; k =&gt; </a:t>
            </a:r>
            <a:r>
              <a:rPr lang="en-US" sz="1600" baseline="0" dirty="0" err="1" smtClean="0">
                <a:latin typeface="Courier New" panose="02070309020205020404" pitchFamily="49" charset="0"/>
                <a:cs typeface="Courier New" panose="02070309020205020404" pitchFamily="49" charset="0"/>
              </a:rPr>
              <a:t>phát</a:t>
            </a:r>
            <a:r>
              <a:rPr lang="en-US" sz="1600" baseline="0" dirty="0" smtClean="0">
                <a:latin typeface="Courier New" panose="02070309020205020404" pitchFamily="49" charset="0"/>
                <a:cs typeface="Courier New" panose="02070309020205020404" pitchFamily="49" charset="0"/>
              </a:rPr>
              <a:t> </a:t>
            </a:r>
            <a:r>
              <a:rPr lang="en-US" sz="1600" baseline="0" dirty="0" err="1" smtClean="0">
                <a:latin typeface="Courier New" panose="02070309020205020404" pitchFamily="49" charset="0"/>
                <a:cs typeface="Courier New" panose="02070309020205020404" pitchFamily="49" charset="0"/>
              </a:rPr>
              <a:t>hiện</a:t>
            </a:r>
            <a:r>
              <a:rPr lang="en-US" sz="1600" baseline="0" dirty="0" smtClean="0">
                <a:latin typeface="Courier New" panose="02070309020205020404" pitchFamily="49" charset="0"/>
                <a:cs typeface="Courier New" panose="02070309020205020404" pitchFamily="49" charset="0"/>
              </a:rPr>
              <a:t> </a:t>
            </a:r>
            <a:r>
              <a:rPr lang="en-US" sz="1600" baseline="0" dirty="0" err="1" smtClean="0">
                <a:latin typeface="Courier New" panose="02070309020205020404" pitchFamily="49" charset="0"/>
                <a:cs typeface="Courier New" panose="02070309020205020404" pitchFamily="49" charset="0"/>
              </a:rPr>
              <a:t>chuỗi</a:t>
            </a:r>
            <a:r>
              <a:rPr lang="en-US" sz="1600" baseline="0" dirty="0" smtClean="0">
                <a:latin typeface="Courier New" panose="02070309020205020404" pitchFamily="49" charset="0"/>
                <a:cs typeface="Courier New" panose="02070309020205020404" pitchFamily="49" charset="0"/>
              </a:rPr>
              <a:t> </a:t>
            </a:r>
            <a:r>
              <a:rPr lang="en-US" sz="1600" baseline="0" dirty="0" err="1" smtClean="0">
                <a:latin typeface="Courier New" panose="02070309020205020404" pitchFamily="49" charset="0"/>
                <a:cs typeface="Courier New" panose="02070309020205020404" pitchFamily="49" charset="0"/>
              </a:rPr>
              <a:t>khớp</a:t>
            </a:r>
            <a:r>
              <a:rPr lang="en-US" sz="1600" baseline="0" dirty="0" smtClean="0">
                <a:latin typeface="Courier New" panose="02070309020205020404" pitchFamily="49" charset="0"/>
                <a:cs typeface="Courier New" panose="02070309020205020404" pitchFamily="49" charset="0"/>
              </a:rPr>
              <a:t> </a:t>
            </a:r>
            <a:r>
              <a:rPr lang="en-US" sz="1600" baseline="0" dirty="0" err="1" smtClean="0">
                <a:latin typeface="Courier New" panose="02070309020205020404" pitchFamily="49" charset="0"/>
                <a:cs typeface="Courier New" panose="02070309020205020404" pitchFamily="49" charset="0"/>
              </a:rPr>
              <a:t>tại</a:t>
            </a:r>
            <a:r>
              <a:rPr lang="en-US" sz="1600" baseline="0" dirty="0" smtClean="0">
                <a:latin typeface="Courier New" panose="02070309020205020404" pitchFamily="49" charset="0"/>
                <a:cs typeface="Courier New" panose="02070309020205020404" pitchFamily="49" charset="0"/>
              </a:rPr>
              <a:t> </a:t>
            </a:r>
            <a:r>
              <a:rPr lang="en-US" sz="1600" baseline="0" dirty="0" err="1" smtClean="0">
                <a:latin typeface="Courier New" panose="02070309020205020404" pitchFamily="49" charset="0"/>
                <a:cs typeface="Courier New" panose="02070309020205020404" pitchFamily="49" charset="0"/>
              </a:rPr>
              <a:t>vị</a:t>
            </a:r>
            <a:r>
              <a:rPr lang="en-US" sz="1600" baseline="0" dirty="0" smtClean="0">
                <a:latin typeface="Courier New" panose="02070309020205020404" pitchFamily="49" charset="0"/>
                <a:cs typeface="Courier New" panose="02070309020205020404" pitchFamily="49" charset="0"/>
              </a:rPr>
              <a:t> </a:t>
            </a:r>
            <a:r>
              <a:rPr lang="en-US" sz="1600" baseline="0" dirty="0" err="1" smtClean="0">
                <a:latin typeface="Courier New" panose="02070309020205020404" pitchFamily="49" charset="0"/>
                <a:cs typeface="Courier New" panose="02070309020205020404" pitchFamily="49" charset="0"/>
              </a:rPr>
              <a:t>trí</a:t>
            </a:r>
            <a:r>
              <a:rPr lang="en-US" sz="1600" baseline="0" dirty="0" smtClean="0">
                <a:latin typeface="Courier New" panose="02070309020205020404" pitchFamily="49" charset="0"/>
                <a:cs typeface="Courier New" panose="02070309020205020404" pitchFamily="49" charset="0"/>
              </a:rPr>
              <a:t> </a:t>
            </a:r>
            <a:r>
              <a:rPr lang="en-US" sz="1600" baseline="0" dirty="0" err="1" smtClean="0">
                <a:latin typeface="Courier New" panose="02070309020205020404" pitchFamily="49" charset="0"/>
                <a:cs typeface="Courier New" panose="02070309020205020404" pitchFamily="49" charset="0"/>
              </a:rPr>
              <a:t>trước</a:t>
            </a:r>
            <a:r>
              <a:rPr lang="en-US" sz="1600" baseline="0" dirty="0" smtClean="0">
                <a:latin typeface="Courier New" panose="02070309020205020404" pitchFamily="49" charset="0"/>
                <a:cs typeface="Courier New" panose="02070309020205020404" pitchFamily="49" charset="0"/>
              </a:rPr>
              <a:t> k =&gt; </a:t>
            </a:r>
            <a:r>
              <a:rPr lang="en-US" sz="1600" baseline="0" dirty="0" err="1" smtClean="0">
                <a:latin typeface="Courier New" panose="02070309020205020404" pitchFamily="49" charset="0"/>
                <a:cs typeface="Courier New" panose="02070309020205020404" pitchFamily="49" charset="0"/>
              </a:rPr>
              <a:t>lưu</a:t>
            </a:r>
            <a:r>
              <a:rPr lang="en-US" sz="1600" baseline="0" dirty="0" smtClean="0">
                <a:latin typeface="Courier New" panose="02070309020205020404" pitchFamily="49" charset="0"/>
                <a:cs typeface="Courier New" panose="02070309020205020404" pitchFamily="49" charset="0"/>
              </a:rPr>
              <a:t> k </a:t>
            </a:r>
            <a:r>
              <a:rPr lang="en-US" sz="1600" baseline="0" dirty="0" err="1" smtClean="0">
                <a:latin typeface="Courier New" panose="02070309020205020404" pitchFamily="49" charset="0"/>
                <a:cs typeface="Courier New" panose="02070309020205020404" pitchFamily="49" charset="0"/>
              </a:rPr>
              <a:t>vào</a:t>
            </a:r>
            <a:r>
              <a:rPr lang="en-US" sz="1600" baseline="0" dirty="0" smtClean="0">
                <a:latin typeface="Courier New" panose="02070309020205020404" pitchFamily="49" charset="0"/>
                <a:cs typeface="Courier New" panose="02070309020205020404" pitchFamily="49" charset="0"/>
              </a:rPr>
              <a:t> </a:t>
            </a:r>
            <a:r>
              <a:rPr lang="en-US" sz="1600" baseline="0" dirty="0" err="1" smtClean="0">
                <a:latin typeface="Courier New" panose="02070309020205020404" pitchFamily="49" charset="0"/>
                <a:cs typeface="Courier New" panose="02070309020205020404" pitchFamily="49" charset="0"/>
              </a:rPr>
              <a:t>mảng</a:t>
            </a:r>
            <a:r>
              <a:rPr lang="en-US" sz="1600" baseline="0" dirty="0" smtClean="0">
                <a:latin typeface="Courier New" panose="02070309020205020404" pitchFamily="49" charset="0"/>
                <a:cs typeface="Courier New" panose="02070309020205020404" pitchFamily="49" charset="0"/>
              </a:rPr>
              <a:t> next</a:t>
            </a:r>
          </a:p>
          <a:p>
            <a:pPr marL="0" marR="0" lvl="2" indent="0" algn="l" defTabSz="914400" rtl="0" eaLnBrk="1" fontAlgn="base" latinLnBrk="0" hangingPunct="1">
              <a:lnSpc>
                <a:spcPct val="100000"/>
              </a:lnSpc>
              <a:spcBef>
                <a:spcPct val="30000"/>
              </a:spcBef>
              <a:spcAft>
                <a:spcPct val="0"/>
              </a:spcAft>
              <a:buClrTx/>
              <a:buSzTx/>
              <a:buFontTx/>
              <a:buNone/>
              <a:tabLst/>
              <a:defRPr/>
            </a:pPr>
            <a:endParaRPr lang="en-US" sz="1600" baseline="0" dirty="0" smtClean="0">
              <a:latin typeface="Courier New" panose="02070309020205020404" pitchFamily="49" charset="0"/>
              <a:cs typeface="Courier New" panose="02070309020205020404" pitchFamily="49" charset="0"/>
            </a:endParaRPr>
          </a:p>
          <a:p>
            <a:pPr marL="0" marR="0" lvl="2" indent="0" algn="l" defTabSz="914400" rtl="0" eaLnBrk="1" fontAlgn="base" latinLnBrk="0" hangingPunct="1">
              <a:lnSpc>
                <a:spcPct val="100000"/>
              </a:lnSpc>
              <a:spcBef>
                <a:spcPct val="30000"/>
              </a:spcBef>
              <a:spcAft>
                <a:spcPct val="0"/>
              </a:spcAft>
              <a:buClrTx/>
              <a:buSzTx/>
              <a:buFontTx/>
              <a:buNone/>
              <a:tabLst/>
              <a:defRPr/>
            </a:pPr>
            <a:r>
              <a:rPr lang="en-US" sz="1600" baseline="0" dirty="0" smtClean="0">
                <a:latin typeface="Courier New" panose="02070309020205020404" pitchFamily="49" charset="0"/>
                <a:cs typeface="Courier New" panose="02070309020205020404" pitchFamily="49" charset="0"/>
              </a:rPr>
              <a:t>k=j-1, k--: </a:t>
            </a:r>
            <a:r>
              <a:rPr lang="en-US" sz="1600" baseline="0" dirty="0" err="1" smtClean="0">
                <a:latin typeface="Courier New" panose="02070309020205020404" pitchFamily="49" charset="0"/>
                <a:cs typeface="Courier New" panose="02070309020205020404" pitchFamily="49" charset="0"/>
              </a:rPr>
              <a:t>để</a:t>
            </a:r>
            <a:r>
              <a:rPr lang="en-US" sz="1600" baseline="0" dirty="0" smtClean="0">
                <a:latin typeface="Courier New" panose="02070309020205020404" pitchFamily="49" charset="0"/>
                <a:cs typeface="Courier New" panose="02070309020205020404" pitchFamily="49" charset="0"/>
              </a:rPr>
              <a:t> </a:t>
            </a:r>
            <a:r>
              <a:rPr lang="en-US" sz="1600" baseline="0" dirty="0" err="1" smtClean="0">
                <a:latin typeface="Courier New" panose="02070309020205020404" pitchFamily="49" charset="0"/>
                <a:cs typeface="Courier New" panose="02070309020205020404" pitchFamily="49" charset="0"/>
              </a:rPr>
              <a:t>tìm</a:t>
            </a:r>
            <a:r>
              <a:rPr lang="en-US" sz="1600" baseline="0" dirty="0" smtClean="0">
                <a:latin typeface="Courier New" panose="02070309020205020404" pitchFamily="49" charset="0"/>
                <a:cs typeface="Courier New" panose="02070309020205020404" pitchFamily="49" charset="0"/>
              </a:rPr>
              <a:t> </a:t>
            </a:r>
            <a:r>
              <a:rPr lang="en-US" sz="1600" baseline="0" dirty="0" err="1" smtClean="0">
                <a:latin typeface="Courier New" panose="02070309020205020404" pitchFamily="49" charset="0"/>
                <a:cs typeface="Courier New" panose="02070309020205020404" pitchFamily="49" charset="0"/>
              </a:rPr>
              <a:t>kiếm</a:t>
            </a:r>
            <a:r>
              <a:rPr lang="en-US" sz="1600" baseline="0" dirty="0" smtClean="0">
                <a:latin typeface="Courier New" panose="02070309020205020404" pitchFamily="49" charset="0"/>
                <a:cs typeface="Courier New" panose="02070309020205020404" pitchFamily="49" charset="0"/>
              </a:rPr>
              <a:t> </a:t>
            </a:r>
            <a:r>
              <a:rPr lang="en-US" sz="1600" baseline="0" dirty="0" err="1" smtClean="0">
                <a:latin typeface="Courier New" panose="02070309020205020404" pitchFamily="49" charset="0"/>
                <a:cs typeface="Courier New" panose="02070309020205020404" pitchFamily="49" charset="0"/>
              </a:rPr>
              <a:t>từ</a:t>
            </a:r>
            <a:r>
              <a:rPr lang="en-US" sz="1600" baseline="0" dirty="0" smtClean="0">
                <a:latin typeface="Courier New" panose="02070309020205020404" pitchFamily="49" charset="0"/>
                <a:cs typeface="Courier New" panose="02070309020205020404" pitchFamily="49" charset="0"/>
              </a:rPr>
              <a:t> k </a:t>
            </a:r>
            <a:r>
              <a:rPr lang="en-US" sz="1600" baseline="0" dirty="0" err="1" smtClean="0">
                <a:latin typeface="Courier New" panose="02070309020205020404" pitchFamily="49" charset="0"/>
                <a:cs typeface="Courier New" panose="02070309020205020404" pitchFamily="49" charset="0"/>
              </a:rPr>
              <a:t>lớn</a:t>
            </a:r>
            <a:r>
              <a:rPr lang="en-US" sz="1600" baseline="0" dirty="0" smtClean="0">
                <a:latin typeface="Courier New" panose="02070309020205020404" pitchFamily="49" charset="0"/>
                <a:cs typeface="Courier New" panose="02070309020205020404" pitchFamily="49" charset="0"/>
              </a:rPr>
              <a:t> </a:t>
            </a:r>
            <a:r>
              <a:rPr lang="en-US" sz="1600" baseline="0" dirty="0" err="1" smtClean="0">
                <a:latin typeface="Courier New" panose="02070309020205020404" pitchFamily="49" charset="0"/>
                <a:cs typeface="Courier New" panose="02070309020205020404" pitchFamily="49" charset="0"/>
              </a:rPr>
              <a:t>nhất</a:t>
            </a:r>
            <a:r>
              <a:rPr lang="en-US" sz="1600" baseline="0" dirty="0" smtClean="0">
                <a:latin typeface="Courier New" panose="02070309020205020404" pitchFamily="49" charset="0"/>
                <a:cs typeface="Courier New" panose="02070309020205020404" pitchFamily="49" charset="0"/>
              </a:rPr>
              <a:t> </a:t>
            </a:r>
            <a:r>
              <a:rPr lang="en-US" sz="1600" baseline="0" dirty="0" err="1" smtClean="0">
                <a:latin typeface="Courier New" panose="02070309020205020404" pitchFamily="49" charset="0"/>
                <a:cs typeface="Courier New" panose="02070309020205020404" pitchFamily="49" charset="0"/>
              </a:rPr>
              <a:t>có</a:t>
            </a:r>
            <a:r>
              <a:rPr lang="en-US" sz="1600" baseline="0" dirty="0" smtClean="0">
                <a:latin typeface="Courier New" panose="02070309020205020404" pitchFamily="49" charset="0"/>
                <a:cs typeface="Courier New" panose="02070309020205020404" pitchFamily="49" charset="0"/>
              </a:rPr>
              <a:t> </a:t>
            </a:r>
            <a:r>
              <a:rPr lang="en-US" sz="1600" baseline="0" dirty="0" err="1" smtClean="0">
                <a:latin typeface="Courier New" panose="02070309020205020404" pitchFamily="49" charset="0"/>
                <a:cs typeface="Courier New" panose="02070309020205020404" pitchFamily="49" charset="0"/>
              </a:rPr>
              <a:t>thể</a:t>
            </a:r>
            <a:r>
              <a:rPr lang="en-US" sz="1600" baseline="0" dirty="0" smtClean="0">
                <a:latin typeface="Courier New" panose="02070309020205020404" pitchFamily="49" charset="0"/>
                <a:cs typeface="Courier New" panose="02070309020205020404" pitchFamily="49" charset="0"/>
              </a:rPr>
              <a:t> </a:t>
            </a:r>
            <a:r>
              <a:rPr lang="en-US" sz="1600" baseline="0" dirty="0" err="1" smtClean="0">
                <a:latin typeface="Courier New" panose="02070309020205020404" pitchFamily="49" charset="0"/>
                <a:cs typeface="Courier New" panose="02070309020205020404" pitchFamily="49" charset="0"/>
              </a:rPr>
              <a:t>và</a:t>
            </a:r>
            <a:r>
              <a:rPr lang="en-US" sz="1600" baseline="0" dirty="0" smtClean="0">
                <a:latin typeface="Courier New" panose="02070309020205020404" pitchFamily="49" charset="0"/>
                <a:cs typeface="Courier New" panose="02070309020205020404" pitchFamily="49" charset="0"/>
              </a:rPr>
              <a:t> </a:t>
            </a:r>
            <a:r>
              <a:rPr lang="en-US" sz="1600" baseline="0" dirty="0" err="1" smtClean="0">
                <a:latin typeface="Courier New" panose="02070309020205020404" pitchFamily="49" charset="0"/>
                <a:cs typeface="Courier New" panose="02070309020205020404" pitchFamily="49" charset="0"/>
              </a:rPr>
              <a:t>giảm</a:t>
            </a:r>
            <a:r>
              <a:rPr lang="en-US" sz="1600" baseline="0" dirty="0" smtClean="0">
                <a:latin typeface="Courier New" panose="02070309020205020404" pitchFamily="49" charset="0"/>
                <a:cs typeface="Courier New" panose="02070309020205020404" pitchFamily="49" charset="0"/>
              </a:rPr>
              <a:t> </a:t>
            </a:r>
            <a:r>
              <a:rPr lang="en-US" sz="1600" baseline="0" dirty="0" err="1" smtClean="0">
                <a:latin typeface="Courier New" panose="02070309020205020404" pitchFamily="49" charset="0"/>
                <a:cs typeface="Courier New" panose="02070309020205020404" pitchFamily="49" charset="0"/>
              </a:rPr>
              <a:t>dần</a:t>
            </a:r>
            <a:r>
              <a:rPr lang="en-US" sz="1600" baseline="0" dirty="0" smtClean="0">
                <a:latin typeface="Courier New" panose="02070309020205020404" pitchFamily="49" charset="0"/>
                <a:cs typeface="Courier New" panose="02070309020205020404" pitchFamily="49" charset="0"/>
              </a:rPr>
              <a:t> </a:t>
            </a:r>
            <a:endParaRPr lang="en-US" sz="1600" dirty="0" smtClean="0">
              <a:latin typeface="Courier New" panose="02070309020205020404" pitchFamily="49" charset="0"/>
              <a:cs typeface="Courier New" panose="02070309020205020404" pitchFamily="49" charset="0"/>
            </a:endParaRPr>
          </a:p>
          <a:p>
            <a:pPr marL="0" marR="0" lvl="2" indent="0" algn="l" defTabSz="914400" rtl="0" eaLnBrk="1" fontAlgn="base" latinLnBrk="0" hangingPunct="1">
              <a:lnSpc>
                <a:spcPct val="100000"/>
              </a:lnSpc>
              <a:spcBef>
                <a:spcPct val="30000"/>
              </a:spcBef>
              <a:spcAft>
                <a:spcPct val="0"/>
              </a:spcAft>
              <a:buClrTx/>
              <a:buSzTx/>
              <a:buFontTx/>
              <a:buNone/>
              <a:tabLst/>
              <a:defRPr/>
            </a:pPr>
            <a:endParaRPr lang="en-US" sz="1600" dirty="0" smtClean="0">
              <a:latin typeface="Courier New" panose="02070309020205020404" pitchFamily="49" charset="0"/>
              <a:cs typeface="Courier New" panose="02070309020205020404" pitchFamily="49" charset="0"/>
            </a:endParaRPr>
          </a:p>
          <a:p>
            <a:endParaRPr lang="en-US" sz="1200" dirty="0" smtClean="0">
              <a:latin typeface="Courier New" panose="02070309020205020404" pitchFamily="49" charset="0"/>
              <a:cs typeface="Courier New" panose="02070309020205020404" pitchFamily="49" charset="0"/>
            </a:endParaRPr>
          </a:p>
        </p:txBody>
      </p:sp>
      <p:sp>
        <p:nvSpPr>
          <p:cNvPr id="4" name="Slide Number Placeholder 3"/>
          <p:cNvSpPr>
            <a:spLocks noGrp="1"/>
          </p:cNvSpPr>
          <p:nvPr>
            <p:ph type="sldNum" sz="quarter" idx="10"/>
          </p:nvPr>
        </p:nvSpPr>
        <p:spPr/>
        <p:txBody>
          <a:bodyPr/>
          <a:lstStyle/>
          <a:p>
            <a:fld id="{76159C16-962D-45B7-9AE3-AA455C3EA8F0}" type="slidenum">
              <a:rPr lang="en-US" smtClean="0"/>
              <a:pPr/>
              <a:t>18</a:t>
            </a:fld>
            <a:endParaRPr lang="en-US"/>
          </a:p>
        </p:txBody>
      </p:sp>
    </p:spTree>
    <p:extLst>
      <p:ext uri="{BB962C8B-B14F-4D97-AF65-F5344CB8AC3E}">
        <p14:creationId xmlns:p14="http://schemas.microsoft.com/office/powerpoint/2010/main" val="12084184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sz="1200" dirty="0" smtClean="0">
                <a:latin typeface="Courier New" panose="02070309020205020404" pitchFamily="49" charset="0"/>
                <a:cs typeface="Courier New" panose="02070309020205020404" pitchFamily="49" charset="0"/>
              </a:rPr>
              <a:t>while (</a:t>
            </a:r>
            <a:r>
              <a:rPr lang="en-US" sz="1200" dirty="0" err="1" smtClean="0">
                <a:latin typeface="Courier New" panose="02070309020205020404" pitchFamily="49" charset="0"/>
                <a:cs typeface="Courier New" panose="02070309020205020404" pitchFamily="49" charset="0"/>
              </a:rPr>
              <a:t>i</a:t>
            </a:r>
            <a:r>
              <a:rPr lang="en-US" sz="1200" dirty="0" smtClean="0">
                <a:latin typeface="Courier New" panose="02070309020205020404" pitchFamily="49" charset="0"/>
                <a:cs typeface="Courier New" panose="02070309020205020404" pitchFamily="49" charset="0"/>
              </a:rPr>
              <a:t>&lt;=n-m : </a:t>
            </a:r>
            <a:r>
              <a:rPr lang="vi-VN" sz="1200" dirty="0" smtClean="0">
                <a:latin typeface="Courier New" panose="02070309020205020404" pitchFamily="49" charset="0"/>
                <a:cs typeface="Courier New" panose="02070309020205020404" pitchFamily="49" charset="0"/>
              </a:rPr>
              <a:t>Nếu kích thước còn lại của văn bản mà cần kiểm tra so khớp mà nhỏ</a:t>
            </a:r>
            <a:r>
              <a:rPr lang="en-US" sz="1200" dirty="0" smtClean="0">
                <a:latin typeface="Courier New" panose="02070309020205020404" pitchFamily="49" charset="0"/>
                <a:cs typeface="Courier New" panose="02070309020205020404" pitchFamily="49" charset="0"/>
              </a:rPr>
              <a:t> </a:t>
            </a:r>
            <a:r>
              <a:rPr lang="vi-VN" sz="1200" dirty="0" smtClean="0">
                <a:latin typeface="Courier New" panose="02070309020205020404" pitchFamily="49" charset="0"/>
                <a:cs typeface="Courier New" panose="02070309020205020404" pitchFamily="49" charset="0"/>
              </a:rPr>
              <a:t>hơn kích thước mẫu (M) thì có thể kết luận ngay là mẫu không thể khớp được</a:t>
            </a:r>
            <a:r>
              <a:rPr lang="en-US" sz="1200" dirty="0" smtClean="0">
                <a:latin typeface="Courier New" panose="02070309020205020404" pitchFamily="49" charset="0"/>
                <a:cs typeface="Courier New" panose="02070309020205020404" pitchFamily="49" charset="0"/>
              </a:rPr>
              <a:t> </a:t>
            </a:r>
            <a:r>
              <a:rPr lang="vi-VN" sz="1200" dirty="0" smtClean="0">
                <a:latin typeface="Courier New" panose="02070309020205020404" pitchFamily="49" charset="0"/>
                <a:cs typeface="Courier New" panose="02070309020205020404" pitchFamily="49" charset="0"/>
              </a:rPr>
              <a:t>với văn bản nữa.</a:t>
            </a:r>
            <a:endParaRPr lang="en-US" sz="1200" dirty="0" smtClean="0">
              <a:latin typeface="Courier New" panose="02070309020205020404" pitchFamily="49" charset="0"/>
              <a:cs typeface="Courier New" panose="02070309020205020404" pitchFamily="49" charset="0"/>
            </a:endParaRPr>
          </a:p>
          <a:p>
            <a:endParaRPr lang="en-US" sz="1200" dirty="0" smtClean="0">
              <a:latin typeface="Courier New" panose="02070309020205020404" pitchFamily="49" charset="0"/>
              <a:cs typeface="Courier New" panose="02070309020205020404" pitchFamily="49" charset="0"/>
            </a:endParaRPr>
          </a:p>
          <a:p>
            <a:r>
              <a:rPr lang="en-US" sz="1200" dirty="0" err="1" smtClean="0">
                <a:latin typeface="Courier New" panose="02070309020205020404" pitchFamily="49" charset="0"/>
                <a:cs typeface="Courier New" panose="02070309020205020404" pitchFamily="49" charset="0"/>
              </a:rPr>
              <a:t>Đầu</a:t>
            </a:r>
            <a:r>
              <a:rPr lang="en-US" sz="1200" dirty="0" smtClean="0">
                <a:latin typeface="Courier New" panose="02070309020205020404" pitchFamily="49" charset="0"/>
                <a:cs typeface="Courier New" panose="02070309020205020404" pitchFamily="49" charset="0"/>
              </a:rPr>
              <a:t> </a:t>
            </a:r>
            <a:r>
              <a:rPr lang="en-US" sz="1200" dirty="0" err="1" smtClean="0">
                <a:latin typeface="Courier New" panose="02070309020205020404" pitchFamily="49" charset="0"/>
                <a:cs typeface="Courier New" panose="02070309020205020404" pitchFamily="49" charset="0"/>
              </a:rPr>
              <a:t>vào</a:t>
            </a:r>
            <a:r>
              <a:rPr lang="en-US" sz="1200" dirty="0" smtClean="0">
                <a:latin typeface="Courier New" panose="02070309020205020404" pitchFamily="49" charset="0"/>
                <a:cs typeface="Courier New" panose="02070309020205020404" pitchFamily="49" charset="0"/>
              </a:rPr>
              <a:t>: </a:t>
            </a:r>
            <a:r>
              <a:rPr lang="en-US" sz="1200" dirty="0" err="1" smtClean="0">
                <a:latin typeface="Courier New" panose="02070309020205020404" pitchFamily="49" charset="0"/>
                <a:cs typeface="Courier New" panose="02070309020205020404" pitchFamily="49" charset="0"/>
              </a:rPr>
              <a:t>mẫu</a:t>
            </a:r>
            <a:r>
              <a:rPr lang="en-US" sz="1200" dirty="0" smtClean="0">
                <a:latin typeface="Courier New" panose="02070309020205020404" pitchFamily="49" charset="0"/>
                <a:cs typeface="Courier New" panose="02070309020205020404" pitchFamily="49" charset="0"/>
              </a:rPr>
              <a:t> P </a:t>
            </a:r>
            <a:r>
              <a:rPr lang="en-US" sz="1200" dirty="0" err="1" smtClean="0">
                <a:latin typeface="Courier New" panose="02070309020205020404" pitchFamily="49" charset="0"/>
                <a:cs typeface="Courier New" panose="02070309020205020404" pitchFamily="49" charset="0"/>
              </a:rPr>
              <a:t>là</a:t>
            </a:r>
            <a:r>
              <a:rPr lang="en-US" sz="1200" dirty="0" smtClean="0">
                <a:latin typeface="Courier New" panose="02070309020205020404" pitchFamily="49" charset="0"/>
                <a:cs typeface="Courier New" panose="02070309020205020404" pitchFamily="49" charset="0"/>
              </a:rPr>
              <a:t> </a:t>
            </a:r>
            <a:r>
              <a:rPr lang="en-US" sz="1200" dirty="0" err="1" smtClean="0">
                <a:latin typeface="Courier New" panose="02070309020205020404" pitchFamily="49" charset="0"/>
                <a:cs typeface="Courier New" panose="02070309020205020404" pitchFamily="49" charset="0"/>
              </a:rPr>
              <a:t>một</a:t>
            </a:r>
            <a:r>
              <a:rPr lang="en-US" sz="1200" dirty="0" smtClean="0">
                <a:latin typeface="Courier New" panose="02070309020205020404" pitchFamily="49" charset="0"/>
                <a:cs typeface="Courier New" panose="02070309020205020404" pitchFamily="49" charset="0"/>
              </a:rPr>
              <a:t> </a:t>
            </a:r>
            <a:r>
              <a:rPr lang="en-US" sz="1200" dirty="0" err="1" smtClean="0">
                <a:latin typeface="Courier New" panose="02070309020205020404" pitchFamily="49" charset="0"/>
                <a:cs typeface="Courier New" panose="02070309020205020404" pitchFamily="49" charset="0"/>
              </a:rPr>
              <a:t>mảng</a:t>
            </a:r>
            <a:r>
              <a:rPr lang="en-US" sz="1200" dirty="0" smtClean="0">
                <a:latin typeface="Courier New" panose="02070309020205020404" pitchFamily="49" charset="0"/>
                <a:cs typeface="Courier New" panose="02070309020205020404" pitchFamily="49" charset="0"/>
              </a:rPr>
              <a:t> M </a:t>
            </a:r>
            <a:r>
              <a:rPr lang="en-US" sz="1200" dirty="0" err="1" smtClean="0">
                <a:latin typeface="Courier New" panose="02070309020205020404" pitchFamily="49" charset="0"/>
                <a:cs typeface="Courier New" panose="02070309020205020404" pitchFamily="49" charset="0"/>
              </a:rPr>
              <a:t>ký</a:t>
            </a:r>
            <a:r>
              <a:rPr lang="en-US" sz="1200" dirty="0" smtClean="0">
                <a:latin typeface="Courier New" panose="02070309020205020404" pitchFamily="49" charset="0"/>
                <a:cs typeface="Courier New" panose="02070309020205020404" pitchFamily="49" charset="0"/>
              </a:rPr>
              <a:t> </a:t>
            </a:r>
            <a:r>
              <a:rPr lang="en-US" sz="1200" dirty="0" err="1" smtClean="0">
                <a:latin typeface="Courier New" panose="02070309020205020404" pitchFamily="49" charset="0"/>
                <a:cs typeface="Courier New" panose="02070309020205020404" pitchFamily="49" charset="0"/>
              </a:rPr>
              <a:t>tự</a:t>
            </a:r>
            <a:r>
              <a:rPr lang="en-US" sz="1200" dirty="0" smtClean="0">
                <a:latin typeface="Courier New" panose="02070309020205020404" pitchFamily="49" charset="0"/>
                <a:cs typeface="Courier New" panose="02070309020205020404" pitchFamily="49" charset="0"/>
              </a:rPr>
              <a:t>, </a:t>
            </a:r>
            <a:r>
              <a:rPr lang="en-US" sz="1200" dirty="0" err="1" smtClean="0">
                <a:latin typeface="Courier New" panose="02070309020205020404" pitchFamily="49" charset="0"/>
                <a:cs typeface="Courier New" panose="02070309020205020404" pitchFamily="49" charset="0"/>
              </a:rPr>
              <a:t>và</a:t>
            </a:r>
            <a:r>
              <a:rPr lang="en-US" sz="1200" dirty="0" smtClean="0">
                <a:latin typeface="Courier New" panose="02070309020205020404" pitchFamily="49" charset="0"/>
                <a:cs typeface="Courier New" panose="02070309020205020404" pitchFamily="49" charset="0"/>
              </a:rPr>
              <a:t> </a:t>
            </a:r>
            <a:r>
              <a:rPr lang="en-US" sz="1200" dirty="0" err="1" smtClean="0">
                <a:latin typeface="Courier New" panose="02070309020205020404" pitchFamily="49" charset="0"/>
                <a:cs typeface="Courier New" panose="02070309020205020404" pitchFamily="49" charset="0"/>
              </a:rPr>
              <a:t>văn</a:t>
            </a:r>
            <a:r>
              <a:rPr lang="en-US" sz="1200" dirty="0" smtClean="0">
                <a:latin typeface="Courier New" panose="02070309020205020404" pitchFamily="49" charset="0"/>
                <a:cs typeface="Courier New" panose="02070309020205020404" pitchFamily="49" charset="0"/>
              </a:rPr>
              <a:t> </a:t>
            </a:r>
            <a:r>
              <a:rPr lang="en-US" sz="1200" dirty="0" err="1" smtClean="0">
                <a:latin typeface="Courier New" panose="02070309020205020404" pitchFamily="49" charset="0"/>
                <a:cs typeface="Courier New" panose="02070309020205020404" pitchFamily="49" charset="0"/>
              </a:rPr>
              <a:t>bản</a:t>
            </a:r>
            <a:r>
              <a:rPr lang="en-US" sz="1200" dirty="0" smtClean="0">
                <a:latin typeface="Courier New" panose="02070309020205020404" pitchFamily="49" charset="0"/>
                <a:cs typeface="Courier New" panose="02070309020205020404" pitchFamily="49" charset="0"/>
              </a:rPr>
              <a:t> V </a:t>
            </a:r>
            <a:r>
              <a:rPr lang="en-US" sz="1200" dirty="0" err="1" smtClean="0">
                <a:latin typeface="Courier New" panose="02070309020205020404" pitchFamily="49" charset="0"/>
                <a:cs typeface="Courier New" panose="02070309020205020404" pitchFamily="49" charset="0"/>
              </a:rPr>
              <a:t>là</a:t>
            </a:r>
            <a:r>
              <a:rPr lang="en-US" sz="1200" dirty="0" smtClean="0">
                <a:latin typeface="Courier New" panose="02070309020205020404" pitchFamily="49" charset="0"/>
                <a:cs typeface="Courier New" panose="02070309020205020404" pitchFamily="49" charset="0"/>
              </a:rPr>
              <a:t> </a:t>
            </a:r>
            <a:r>
              <a:rPr lang="en-US" sz="1200" dirty="0" err="1" smtClean="0">
                <a:latin typeface="Courier New" panose="02070309020205020404" pitchFamily="49" charset="0"/>
                <a:cs typeface="Courier New" panose="02070309020205020404" pitchFamily="49" charset="0"/>
              </a:rPr>
              <a:t>một</a:t>
            </a:r>
            <a:r>
              <a:rPr lang="en-US" sz="1200" dirty="0" smtClean="0">
                <a:latin typeface="Courier New" panose="02070309020205020404" pitchFamily="49" charset="0"/>
                <a:cs typeface="Courier New" panose="02070309020205020404" pitchFamily="49" charset="0"/>
              </a:rPr>
              <a:t> </a:t>
            </a:r>
            <a:r>
              <a:rPr lang="en-US" sz="1200" dirty="0" err="1" smtClean="0">
                <a:latin typeface="Courier New" panose="02070309020205020404" pitchFamily="49" charset="0"/>
                <a:cs typeface="Courier New" panose="02070309020205020404" pitchFamily="49" charset="0"/>
              </a:rPr>
              <a:t>mảng</a:t>
            </a:r>
            <a:r>
              <a:rPr lang="en-US" sz="1200" dirty="0" smtClean="0">
                <a:latin typeface="Courier New" panose="02070309020205020404" pitchFamily="49" charset="0"/>
                <a:cs typeface="Courier New" panose="02070309020205020404" pitchFamily="49" charset="0"/>
              </a:rPr>
              <a:t> N </a:t>
            </a:r>
            <a:r>
              <a:rPr lang="en-US" sz="1200" dirty="0" err="1" smtClean="0">
                <a:latin typeface="Courier New" panose="02070309020205020404" pitchFamily="49" charset="0"/>
                <a:cs typeface="Courier New" panose="02070309020205020404" pitchFamily="49" charset="0"/>
              </a:rPr>
              <a:t>ký</a:t>
            </a:r>
            <a:r>
              <a:rPr lang="en-US" sz="1200" dirty="0" smtClean="0">
                <a:latin typeface="Courier New" panose="02070309020205020404" pitchFamily="49" charset="0"/>
                <a:cs typeface="Courier New" panose="02070309020205020404" pitchFamily="49" charset="0"/>
              </a:rPr>
              <a:t> </a:t>
            </a:r>
            <a:r>
              <a:rPr lang="en-US" sz="1200" dirty="0" err="1" smtClean="0">
                <a:latin typeface="Courier New" panose="02070309020205020404" pitchFamily="49" charset="0"/>
                <a:cs typeface="Courier New" panose="02070309020205020404" pitchFamily="49" charset="0"/>
              </a:rPr>
              <a:t>tự</a:t>
            </a:r>
            <a:r>
              <a:rPr lang="en-US" sz="1200" dirty="0" smtClean="0">
                <a:latin typeface="Courier New" panose="02070309020205020404" pitchFamily="49" charset="0"/>
                <a:cs typeface="Courier New" panose="02070309020205020404" pitchFamily="49" charset="0"/>
              </a:rPr>
              <a:t>;</a:t>
            </a:r>
          </a:p>
          <a:p>
            <a:r>
              <a:rPr lang="en-US" sz="1200" dirty="0" err="1" smtClean="0">
                <a:latin typeface="Courier New" panose="02070309020205020404" pitchFamily="49" charset="0"/>
                <a:cs typeface="Courier New" panose="02070309020205020404" pitchFamily="49" charset="0"/>
              </a:rPr>
              <a:t>Đầu</a:t>
            </a:r>
            <a:r>
              <a:rPr lang="en-US" sz="1200" dirty="0" smtClean="0">
                <a:latin typeface="Courier New" panose="02070309020205020404" pitchFamily="49" charset="0"/>
                <a:cs typeface="Courier New" panose="02070309020205020404" pitchFamily="49" charset="0"/>
              </a:rPr>
              <a:t> </a:t>
            </a:r>
            <a:r>
              <a:rPr lang="en-US" sz="1200" dirty="0" err="1" smtClean="0">
                <a:latin typeface="Courier New" panose="02070309020205020404" pitchFamily="49" charset="0"/>
                <a:cs typeface="Courier New" panose="02070309020205020404" pitchFamily="49" charset="0"/>
              </a:rPr>
              <a:t>ra</a:t>
            </a:r>
            <a:r>
              <a:rPr lang="en-US" sz="1200" dirty="0" smtClean="0">
                <a:latin typeface="Courier New" panose="02070309020205020404" pitchFamily="49" charset="0"/>
                <a:cs typeface="Courier New" panose="02070309020205020404" pitchFamily="49" charset="0"/>
              </a:rPr>
              <a:t>: </a:t>
            </a:r>
            <a:r>
              <a:rPr lang="en-US" sz="1200" dirty="0" err="1" smtClean="0">
                <a:latin typeface="Courier New" panose="02070309020205020404" pitchFamily="49" charset="0"/>
                <a:cs typeface="Courier New" panose="02070309020205020404" pitchFamily="49" charset="0"/>
              </a:rPr>
              <a:t>kết</a:t>
            </a:r>
            <a:r>
              <a:rPr lang="en-US" sz="1200" dirty="0" smtClean="0">
                <a:latin typeface="Courier New" panose="02070309020205020404" pitchFamily="49" charset="0"/>
                <a:cs typeface="Courier New" panose="02070309020205020404" pitchFamily="49" charset="0"/>
              </a:rPr>
              <a:t> </a:t>
            </a:r>
            <a:r>
              <a:rPr lang="en-US" sz="1200" dirty="0" err="1" smtClean="0">
                <a:latin typeface="Courier New" panose="02070309020205020404" pitchFamily="49" charset="0"/>
                <a:cs typeface="Courier New" panose="02070309020205020404" pitchFamily="49" charset="0"/>
              </a:rPr>
              <a:t>quả</a:t>
            </a:r>
            <a:r>
              <a:rPr lang="en-US" sz="1200" dirty="0" smtClean="0">
                <a:latin typeface="Courier New" panose="02070309020205020404" pitchFamily="49" charset="0"/>
                <a:cs typeface="Courier New" panose="02070309020205020404" pitchFamily="49" charset="0"/>
              </a:rPr>
              <a:t> </a:t>
            </a:r>
            <a:r>
              <a:rPr lang="en-US" sz="1200" dirty="0" err="1" smtClean="0">
                <a:latin typeface="Courier New" panose="02070309020205020404" pitchFamily="49" charset="0"/>
                <a:cs typeface="Courier New" panose="02070309020205020404" pitchFamily="49" charset="0"/>
              </a:rPr>
              <a:t>tìm</a:t>
            </a:r>
            <a:r>
              <a:rPr lang="en-US" sz="1200" dirty="0" smtClean="0">
                <a:latin typeface="Courier New" panose="02070309020205020404" pitchFamily="49" charset="0"/>
                <a:cs typeface="Courier New" panose="02070309020205020404" pitchFamily="49" charset="0"/>
              </a:rPr>
              <a:t> </a:t>
            </a:r>
            <a:r>
              <a:rPr lang="en-US" sz="1200" dirty="0" err="1" smtClean="0">
                <a:latin typeface="Courier New" panose="02070309020205020404" pitchFamily="49" charset="0"/>
                <a:cs typeface="Courier New" panose="02070309020205020404" pitchFamily="49" charset="0"/>
              </a:rPr>
              <a:t>kiếm</a:t>
            </a:r>
            <a:r>
              <a:rPr lang="en-US" sz="1200" dirty="0" smtClean="0">
                <a:latin typeface="Courier New" panose="02070309020205020404" pitchFamily="49" charset="0"/>
                <a:cs typeface="Courier New" panose="02070309020205020404" pitchFamily="49" charset="0"/>
              </a:rPr>
              <a:t>: </a:t>
            </a:r>
            <a:r>
              <a:rPr lang="en-US" sz="1200" dirty="0" err="1" smtClean="0">
                <a:latin typeface="Courier New" panose="02070309020205020404" pitchFamily="49" charset="0"/>
                <a:cs typeface="Courier New" panose="02070309020205020404" pitchFamily="49" charset="0"/>
              </a:rPr>
              <a:t>nếu</a:t>
            </a:r>
            <a:r>
              <a:rPr lang="en-US" sz="1200" dirty="0" smtClean="0">
                <a:latin typeface="Courier New" panose="02070309020205020404" pitchFamily="49" charset="0"/>
                <a:cs typeface="Courier New" panose="02070309020205020404" pitchFamily="49" charset="0"/>
              </a:rPr>
              <a:t> </a:t>
            </a:r>
            <a:r>
              <a:rPr lang="en-US" sz="1200" dirty="0" err="1" smtClean="0">
                <a:latin typeface="Courier New" panose="02070309020205020404" pitchFamily="49" charset="0"/>
                <a:cs typeface="Courier New" panose="02070309020205020404" pitchFamily="49" charset="0"/>
              </a:rPr>
              <a:t>tìm</a:t>
            </a:r>
            <a:r>
              <a:rPr lang="en-US" sz="1200" dirty="0" smtClean="0">
                <a:latin typeface="Courier New" panose="02070309020205020404" pitchFamily="49" charset="0"/>
                <a:cs typeface="Courier New" panose="02070309020205020404" pitchFamily="49" charset="0"/>
              </a:rPr>
              <a:t> </a:t>
            </a:r>
            <a:r>
              <a:rPr lang="en-US" sz="1200" dirty="0" err="1" smtClean="0">
                <a:latin typeface="Courier New" panose="02070309020205020404" pitchFamily="49" charset="0"/>
                <a:cs typeface="Courier New" panose="02070309020205020404" pitchFamily="49" charset="0"/>
              </a:rPr>
              <a:t>thấy</a:t>
            </a:r>
            <a:r>
              <a:rPr lang="en-US" sz="1200" dirty="0" smtClean="0">
                <a:latin typeface="Courier New" panose="02070309020205020404" pitchFamily="49" charset="0"/>
                <a:cs typeface="Courier New" panose="02070309020205020404" pitchFamily="49" charset="0"/>
              </a:rPr>
              <a:t> </a:t>
            </a:r>
            <a:r>
              <a:rPr lang="en-US" sz="1200" dirty="0" err="1" smtClean="0">
                <a:latin typeface="Courier New" panose="02070309020205020404" pitchFamily="49" charset="0"/>
                <a:cs typeface="Courier New" panose="02070309020205020404" pitchFamily="49" charset="0"/>
              </a:rPr>
              <a:t>trả</a:t>
            </a:r>
            <a:r>
              <a:rPr lang="en-US" sz="1200" dirty="0" smtClean="0">
                <a:latin typeface="Courier New" panose="02070309020205020404" pitchFamily="49" charset="0"/>
                <a:cs typeface="Courier New" panose="02070309020205020404" pitchFamily="49" charset="0"/>
              </a:rPr>
              <a:t> </a:t>
            </a:r>
            <a:r>
              <a:rPr lang="en-US" sz="1200" dirty="0" err="1" smtClean="0">
                <a:latin typeface="Courier New" panose="02070309020205020404" pitchFamily="49" charset="0"/>
                <a:cs typeface="Courier New" panose="02070309020205020404" pitchFamily="49" charset="0"/>
              </a:rPr>
              <a:t>về</a:t>
            </a:r>
            <a:r>
              <a:rPr lang="en-US" sz="1200" dirty="0" smtClean="0">
                <a:latin typeface="Courier New" panose="02070309020205020404" pitchFamily="49" charset="0"/>
                <a:cs typeface="Courier New" panose="02070309020205020404" pitchFamily="49" charset="0"/>
              </a:rPr>
              <a:t> </a:t>
            </a:r>
            <a:r>
              <a:rPr lang="en-US" sz="1200" dirty="0" err="1" smtClean="0">
                <a:latin typeface="Courier New" panose="02070309020205020404" pitchFamily="49" charset="0"/>
                <a:cs typeface="Courier New" panose="02070309020205020404" pitchFamily="49" charset="0"/>
              </a:rPr>
              <a:t>giá</a:t>
            </a:r>
            <a:r>
              <a:rPr lang="en-US" sz="1200" dirty="0" smtClean="0">
                <a:latin typeface="Courier New" panose="02070309020205020404" pitchFamily="49" charset="0"/>
                <a:cs typeface="Courier New" panose="02070309020205020404" pitchFamily="49" charset="0"/>
              </a:rPr>
              <a:t> </a:t>
            </a:r>
            <a:r>
              <a:rPr lang="en-US" sz="1200" dirty="0" err="1" smtClean="0">
                <a:latin typeface="Courier New" panose="02070309020205020404" pitchFamily="49" charset="0"/>
                <a:cs typeface="Courier New" panose="02070309020205020404" pitchFamily="49" charset="0"/>
              </a:rPr>
              <a:t>trị</a:t>
            </a:r>
            <a:r>
              <a:rPr lang="en-US" sz="1200" dirty="0" smtClean="0">
                <a:latin typeface="Courier New" panose="02070309020205020404" pitchFamily="49" charset="0"/>
                <a:cs typeface="Courier New" panose="02070309020205020404" pitchFamily="49" charset="0"/>
              </a:rPr>
              <a:t> </a:t>
            </a:r>
            <a:r>
              <a:rPr lang="en-US" sz="1200" dirty="0" err="1" smtClean="0">
                <a:latin typeface="Courier New" panose="02070309020205020404" pitchFamily="49" charset="0"/>
                <a:cs typeface="Courier New" panose="02070309020205020404" pitchFamily="49" charset="0"/>
              </a:rPr>
              <a:t>là</a:t>
            </a:r>
            <a:r>
              <a:rPr lang="en-US" sz="1200" dirty="0" smtClean="0">
                <a:latin typeface="Courier New" panose="02070309020205020404" pitchFamily="49" charset="0"/>
                <a:cs typeface="Courier New" panose="02070309020205020404" pitchFamily="49" charset="0"/>
              </a:rPr>
              <a:t> </a:t>
            </a:r>
            <a:r>
              <a:rPr lang="en-US" sz="1200" dirty="0" err="1" smtClean="0">
                <a:latin typeface="Courier New" panose="02070309020205020404" pitchFamily="49" charset="0"/>
                <a:cs typeface="Courier New" panose="02070309020205020404" pitchFamily="49" charset="0"/>
              </a:rPr>
              <a:t>vị</a:t>
            </a:r>
            <a:r>
              <a:rPr lang="en-US" sz="1200" dirty="0" smtClean="0">
                <a:latin typeface="Courier New" panose="02070309020205020404" pitchFamily="49" charset="0"/>
                <a:cs typeface="Courier New" panose="02070309020205020404" pitchFamily="49" charset="0"/>
              </a:rPr>
              <a:t> </a:t>
            </a:r>
            <a:r>
              <a:rPr lang="en-US" sz="1200" dirty="0" err="1" smtClean="0">
                <a:latin typeface="Courier New" panose="02070309020205020404" pitchFamily="49" charset="0"/>
                <a:cs typeface="Courier New" panose="02070309020205020404" pitchFamily="49" charset="0"/>
              </a:rPr>
              <a:t>trí</a:t>
            </a:r>
            <a:r>
              <a:rPr lang="en-US" sz="1200" dirty="0" smtClean="0">
                <a:latin typeface="Courier New" panose="02070309020205020404" pitchFamily="49" charset="0"/>
                <a:cs typeface="Courier New" panose="02070309020205020404" pitchFamily="49" charset="0"/>
              </a:rPr>
              <a:t> </a:t>
            </a:r>
            <a:r>
              <a:rPr lang="en-US" sz="1200" dirty="0" err="1" smtClean="0">
                <a:latin typeface="Courier New" panose="02070309020205020404" pitchFamily="49" charset="0"/>
                <a:cs typeface="Courier New" panose="02070309020205020404" pitchFamily="49" charset="0"/>
              </a:rPr>
              <a:t>tìm</a:t>
            </a:r>
            <a:r>
              <a:rPr lang="en-US" sz="1200" dirty="0" smtClean="0">
                <a:latin typeface="Courier New" panose="02070309020205020404" pitchFamily="49" charset="0"/>
                <a:cs typeface="Courier New" panose="02070309020205020404" pitchFamily="49" charset="0"/>
              </a:rPr>
              <a:t> </a:t>
            </a:r>
            <a:r>
              <a:rPr lang="en-US" sz="1200" dirty="0" err="1" smtClean="0">
                <a:latin typeface="Courier New" panose="02070309020205020404" pitchFamily="49" charset="0"/>
                <a:cs typeface="Courier New" panose="02070309020205020404" pitchFamily="49" charset="0"/>
              </a:rPr>
              <a:t>thấy</a:t>
            </a:r>
            <a:r>
              <a:rPr lang="en-US" sz="1200" dirty="0" smtClean="0">
                <a:latin typeface="Courier New" panose="02070309020205020404" pitchFamily="49" charset="0"/>
                <a:cs typeface="Courier New" panose="02070309020205020404" pitchFamily="49" charset="0"/>
              </a:rPr>
              <a:t> </a:t>
            </a:r>
            <a:r>
              <a:rPr lang="en-US" sz="1200" dirty="0" err="1" smtClean="0">
                <a:latin typeface="Courier New" panose="02070309020205020404" pitchFamily="49" charset="0"/>
                <a:cs typeface="Courier New" panose="02070309020205020404" pitchFamily="49" charset="0"/>
              </a:rPr>
              <a:t>đầu</a:t>
            </a:r>
            <a:r>
              <a:rPr lang="en-US" sz="1200" dirty="0" smtClean="0">
                <a:latin typeface="Courier New" panose="02070309020205020404" pitchFamily="49" charset="0"/>
                <a:cs typeface="Courier New" panose="02070309020205020404" pitchFamily="49" charset="0"/>
              </a:rPr>
              <a:t> </a:t>
            </a:r>
            <a:r>
              <a:rPr lang="en-US" sz="1200" dirty="0" err="1" smtClean="0">
                <a:latin typeface="Courier New" panose="02070309020205020404" pitchFamily="49" charset="0"/>
                <a:cs typeface="Courier New" panose="02070309020205020404" pitchFamily="49" charset="0"/>
              </a:rPr>
              <a:t>tiên</a:t>
            </a:r>
            <a:r>
              <a:rPr lang="en-US" sz="1200" dirty="0" smtClean="0">
                <a:latin typeface="Courier New" panose="02070309020205020404" pitchFamily="49" charset="0"/>
                <a:cs typeface="Courier New" panose="02070309020205020404" pitchFamily="49" charset="0"/>
              </a:rPr>
              <a:t> </a:t>
            </a:r>
            <a:r>
              <a:rPr lang="en-US" sz="1200" dirty="0" err="1" smtClean="0">
                <a:latin typeface="Courier New" panose="02070309020205020404" pitchFamily="49" charset="0"/>
                <a:cs typeface="Courier New" panose="02070309020205020404" pitchFamily="49" charset="0"/>
              </a:rPr>
              <a:t>của</a:t>
            </a:r>
            <a:r>
              <a:rPr lang="en-US" sz="1200" dirty="0" smtClean="0">
                <a:latin typeface="Courier New" panose="02070309020205020404" pitchFamily="49" charset="0"/>
                <a:cs typeface="Courier New" panose="02070309020205020404" pitchFamily="49" charset="0"/>
              </a:rPr>
              <a:t> P </a:t>
            </a:r>
            <a:r>
              <a:rPr lang="en-US" sz="1200" dirty="0" err="1" smtClean="0">
                <a:latin typeface="Courier New" panose="02070309020205020404" pitchFamily="49" charset="0"/>
                <a:cs typeface="Courier New" panose="02070309020205020404" pitchFamily="49" charset="0"/>
              </a:rPr>
              <a:t>trong</a:t>
            </a:r>
            <a:r>
              <a:rPr lang="en-US" sz="1200" dirty="0" smtClean="0">
                <a:latin typeface="Courier New" panose="02070309020205020404" pitchFamily="49" charset="0"/>
                <a:cs typeface="Courier New" panose="02070309020205020404" pitchFamily="49" charset="0"/>
              </a:rPr>
              <a:t> </a:t>
            </a:r>
            <a:r>
              <a:rPr lang="en-US" sz="1200" dirty="0" err="1" smtClean="0">
                <a:latin typeface="Courier New" panose="02070309020205020404" pitchFamily="49" charset="0"/>
                <a:cs typeface="Courier New" panose="02070309020205020404" pitchFamily="49" charset="0"/>
              </a:rPr>
              <a:t>trong</a:t>
            </a:r>
            <a:r>
              <a:rPr lang="en-US" sz="1200" dirty="0" smtClean="0">
                <a:latin typeface="Courier New" panose="02070309020205020404" pitchFamily="49" charset="0"/>
                <a:cs typeface="Courier New" panose="02070309020205020404" pitchFamily="49" charset="0"/>
              </a:rPr>
              <a:t> </a:t>
            </a:r>
            <a:r>
              <a:rPr lang="en-US" sz="1200" dirty="0" err="1" smtClean="0">
                <a:latin typeface="Courier New" panose="02070309020205020404" pitchFamily="49" charset="0"/>
                <a:cs typeface="Courier New" panose="02070309020205020404" pitchFamily="49" charset="0"/>
              </a:rPr>
              <a:t>văn</a:t>
            </a:r>
            <a:r>
              <a:rPr lang="en-US" sz="1200" dirty="0" smtClean="0">
                <a:latin typeface="Courier New" panose="02070309020205020404" pitchFamily="49" charset="0"/>
                <a:cs typeface="Courier New" panose="02070309020205020404" pitchFamily="49" charset="0"/>
              </a:rPr>
              <a:t> </a:t>
            </a:r>
            <a:r>
              <a:rPr lang="en-US" sz="1200" dirty="0" err="1" smtClean="0">
                <a:latin typeface="Courier New" panose="02070309020205020404" pitchFamily="49" charset="0"/>
                <a:cs typeface="Courier New" panose="02070309020205020404" pitchFamily="49" charset="0"/>
              </a:rPr>
              <a:t>bản</a:t>
            </a:r>
            <a:r>
              <a:rPr lang="en-US" sz="1200" dirty="0" smtClean="0">
                <a:latin typeface="Courier New" panose="02070309020205020404" pitchFamily="49" charset="0"/>
                <a:cs typeface="Courier New" panose="02070309020205020404" pitchFamily="49" charset="0"/>
              </a:rPr>
              <a:t> V (</a:t>
            </a:r>
            <a:r>
              <a:rPr lang="en-US" sz="1200" dirty="0" err="1" smtClean="0">
                <a:latin typeface="Courier New" panose="02070309020205020404" pitchFamily="49" charset="0"/>
                <a:cs typeface="Courier New" panose="02070309020205020404" pitchFamily="49" charset="0"/>
              </a:rPr>
              <a:t>giá</a:t>
            </a:r>
            <a:r>
              <a:rPr lang="en-US" sz="1200" dirty="0" smtClean="0">
                <a:latin typeface="Courier New" panose="02070309020205020404" pitchFamily="49" charset="0"/>
                <a:cs typeface="Courier New" panose="02070309020205020404" pitchFamily="49" charset="0"/>
              </a:rPr>
              <a:t> </a:t>
            </a:r>
            <a:r>
              <a:rPr lang="en-US" sz="1200" dirty="0" err="1" smtClean="0">
                <a:latin typeface="Courier New" panose="02070309020205020404" pitchFamily="49" charset="0"/>
                <a:cs typeface="Courier New" panose="02070309020205020404" pitchFamily="49" charset="0"/>
              </a:rPr>
              <a:t>trị</a:t>
            </a:r>
            <a:r>
              <a:rPr lang="en-US" sz="1200" dirty="0" smtClean="0">
                <a:latin typeface="Courier New" panose="02070309020205020404" pitchFamily="49" charset="0"/>
                <a:cs typeface="Courier New" panose="02070309020205020404" pitchFamily="49" charset="0"/>
              </a:rPr>
              <a:t> </a:t>
            </a:r>
            <a:r>
              <a:rPr lang="en-US" sz="1200" dirty="0" err="1" smtClean="0">
                <a:latin typeface="Courier New" panose="02070309020205020404" pitchFamily="49" charset="0"/>
                <a:cs typeface="Courier New" panose="02070309020205020404" pitchFamily="49" charset="0"/>
              </a:rPr>
              <a:t>trong</a:t>
            </a:r>
            <a:r>
              <a:rPr lang="en-US" sz="1200" dirty="0" smtClean="0">
                <a:latin typeface="Courier New" panose="02070309020205020404" pitchFamily="49" charset="0"/>
                <a:cs typeface="Courier New" panose="02070309020205020404" pitchFamily="49" charset="0"/>
              </a:rPr>
              <a:t> </a:t>
            </a:r>
            <a:r>
              <a:rPr lang="en-US" sz="1200" dirty="0" err="1" smtClean="0">
                <a:latin typeface="Courier New" panose="02070309020205020404" pitchFamily="49" charset="0"/>
                <a:cs typeface="Courier New" panose="02070309020205020404" pitchFamily="49" charset="0"/>
              </a:rPr>
              <a:t>khoảng</a:t>
            </a:r>
            <a:r>
              <a:rPr lang="en-US" sz="1200" dirty="0" smtClean="0">
                <a:latin typeface="Courier New" panose="02070309020205020404" pitchFamily="49" charset="0"/>
                <a:cs typeface="Courier New" panose="02070309020205020404" pitchFamily="49" charset="0"/>
              </a:rPr>
              <a:t> </a:t>
            </a:r>
            <a:r>
              <a:rPr lang="en-US" sz="1200" dirty="0" err="1" smtClean="0">
                <a:latin typeface="Courier New" panose="02070309020205020404" pitchFamily="49" charset="0"/>
                <a:cs typeface="Courier New" panose="02070309020205020404" pitchFamily="49" charset="0"/>
              </a:rPr>
              <a:t>từ</a:t>
            </a:r>
            <a:r>
              <a:rPr lang="en-US" sz="1200" dirty="0" smtClean="0">
                <a:latin typeface="Courier New" panose="02070309020205020404" pitchFamily="49" charset="0"/>
                <a:cs typeface="Courier New" panose="02070309020205020404" pitchFamily="49" charset="0"/>
              </a:rPr>
              <a:t> 0 </a:t>
            </a:r>
            <a:r>
              <a:rPr lang="en-US" sz="1200" dirty="0" err="1" smtClean="0">
                <a:latin typeface="Courier New" panose="02070309020205020404" pitchFamily="49" charset="0"/>
                <a:cs typeface="Courier New" panose="02070309020205020404" pitchFamily="49" charset="0"/>
              </a:rPr>
              <a:t>đến</a:t>
            </a:r>
            <a:r>
              <a:rPr lang="en-US" sz="1200" dirty="0" smtClean="0">
                <a:latin typeface="Courier New" panose="02070309020205020404" pitchFamily="49" charset="0"/>
                <a:cs typeface="Courier New" panose="02070309020205020404" pitchFamily="49" charset="0"/>
              </a:rPr>
              <a:t> N-1), </a:t>
            </a:r>
            <a:r>
              <a:rPr lang="en-US" sz="1200" dirty="0" err="1" smtClean="0">
                <a:latin typeface="Courier New" panose="02070309020205020404" pitchFamily="49" charset="0"/>
                <a:cs typeface="Courier New" panose="02070309020205020404" pitchFamily="49" charset="0"/>
              </a:rPr>
              <a:t>trái</a:t>
            </a:r>
            <a:r>
              <a:rPr lang="en-US" sz="1200" dirty="0" smtClean="0">
                <a:latin typeface="Courier New" panose="02070309020205020404" pitchFamily="49" charset="0"/>
                <a:cs typeface="Courier New" panose="02070309020205020404" pitchFamily="49" charset="0"/>
              </a:rPr>
              <a:t> </a:t>
            </a:r>
            <a:r>
              <a:rPr lang="en-US" sz="1200" dirty="0" err="1" smtClean="0">
                <a:latin typeface="Courier New" panose="02070309020205020404" pitchFamily="49" charset="0"/>
                <a:cs typeface="Courier New" panose="02070309020205020404" pitchFamily="49" charset="0"/>
              </a:rPr>
              <a:t>lại</a:t>
            </a:r>
            <a:r>
              <a:rPr lang="en-US" sz="1200" dirty="0" smtClean="0">
                <a:latin typeface="Courier New" panose="02070309020205020404" pitchFamily="49" charset="0"/>
                <a:cs typeface="Courier New" panose="02070309020205020404" pitchFamily="49" charset="0"/>
              </a:rPr>
              <a:t> </a:t>
            </a:r>
            <a:r>
              <a:rPr lang="en-US" sz="1200" dirty="0" err="1" smtClean="0">
                <a:latin typeface="Courier New" panose="02070309020205020404" pitchFamily="49" charset="0"/>
                <a:cs typeface="Courier New" panose="02070309020205020404" pitchFamily="49" charset="0"/>
              </a:rPr>
              <a:t>trả</a:t>
            </a:r>
            <a:r>
              <a:rPr lang="en-US" sz="1200" dirty="0" smtClean="0">
                <a:latin typeface="Courier New" panose="02070309020205020404" pitchFamily="49" charset="0"/>
                <a:cs typeface="Courier New" panose="02070309020205020404" pitchFamily="49" charset="0"/>
              </a:rPr>
              <a:t> </a:t>
            </a:r>
            <a:r>
              <a:rPr lang="en-US" sz="1200" dirty="0" err="1" smtClean="0">
                <a:latin typeface="Courier New" panose="02070309020205020404" pitchFamily="49" charset="0"/>
                <a:cs typeface="Courier New" panose="02070309020205020404" pitchFamily="49" charset="0"/>
              </a:rPr>
              <a:t>về</a:t>
            </a:r>
            <a:r>
              <a:rPr lang="en-US" sz="1200" dirty="0" smtClean="0">
                <a:latin typeface="Courier New" panose="02070309020205020404" pitchFamily="49" charset="0"/>
                <a:cs typeface="Courier New" panose="02070309020205020404" pitchFamily="49" charset="0"/>
              </a:rPr>
              <a:t> </a:t>
            </a:r>
            <a:r>
              <a:rPr lang="en-US" sz="1200" dirty="0" err="1" smtClean="0">
                <a:latin typeface="Courier New" panose="02070309020205020404" pitchFamily="49" charset="0"/>
                <a:cs typeface="Courier New" panose="02070309020205020404" pitchFamily="49" charset="0"/>
              </a:rPr>
              <a:t>giá</a:t>
            </a:r>
            <a:r>
              <a:rPr lang="en-US" sz="1200" dirty="0" smtClean="0">
                <a:latin typeface="Courier New" panose="02070309020205020404" pitchFamily="49" charset="0"/>
                <a:cs typeface="Courier New" panose="02070309020205020404" pitchFamily="49" charset="0"/>
              </a:rPr>
              <a:t> </a:t>
            </a:r>
            <a:r>
              <a:rPr lang="en-US" sz="1200" dirty="0" err="1" smtClean="0">
                <a:latin typeface="Courier New" panose="02070309020205020404" pitchFamily="49" charset="0"/>
                <a:cs typeface="Courier New" panose="02070309020205020404" pitchFamily="49" charset="0"/>
              </a:rPr>
              <a:t>trị</a:t>
            </a:r>
            <a:r>
              <a:rPr lang="en-US" sz="1200" dirty="0" smtClean="0">
                <a:latin typeface="Courier New" panose="02070309020205020404" pitchFamily="49" charset="0"/>
                <a:cs typeface="Courier New" panose="02070309020205020404" pitchFamily="49" charset="0"/>
              </a:rPr>
              <a:t> -1.</a:t>
            </a:r>
          </a:p>
        </p:txBody>
      </p:sp>
      <p:sp>
        <p:nvSpPr>
          <p:cNvPr id="4" name="Slide Number Placeholder 3"/>
          <p:cNvSpPr>
            <a:spLocks noGrp="1"/>
          </p:cNvSpPr>
          <p:nvPr>
            <p:ph type="sldNum" sz="quarter" idx="10"/>
          </p:nvPr>
        </p:nvSpPr>
        <p:spPr/>
        <p:txBody>
          <a:bodyPr/>
          <a:lstStyle/>
          <a:p>
            <a:fld id="{76159C16-962D-45B7-9AE3-AA455C3EA8F0}" type="slidenum">
              <a:rPr lang="en-US" smtClean="0"/>
              <a:pPr/>
              <a:t>19</a:t>
            </a:fld>
            <a:endParaRPr lang="en-US"/>
          </a:p>
        </p:txBody>
      </p:sp>
    </p:spTree>
    <p:extLst>
      <p:ext uri="{BB962C8B-B14F-4D97-AF65-F5344CB8AC3E}">
        <p14:creationId xmlns:p14="http://schemas.microsoft.com/office/powerpoint/2010/main" val="26859392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D </a:t>
            </a:r>
            <a:r>
              <a:rPr lang="en-US" dirty="0" err="1" smtClean="0"/>
              <a:t>là</a:t>
            </a:r>
            <a:r>
              <a:rPr lang="en-US" dirty="0" smtClean="0"/>
              <a:t> </a:t>
            </a:r>
            <a:r>
              <a:rPr lang="en-US" dirty="0" err="1" smtClean="0"/>
              <a:t>miền</a:t>
            </a:r>
            <a:r>
              <a:rPr lang="en-US" dirty="0" smtClean="0"/>
              <a:t> </a:t>
            </a:r>
            <a:r>
              <a:rPr lang="en-US" dirty="0" err="1" smtClean="0"/>
              <a:t>giá</a:t>
            </a:r>
            <a:r>
              <a:rPr lang="en-US" dirty="0" smtClean="0"/>
              <a:t> </a:t>
            </a:r>
            <a:r>
              <a:rPr lang="en-US" dirty="0" err="1" smtClean="0"/>
              <a:t>trị</a:t>
            </a:r>
            <a:r>
              <a:rPr lang="en-US" dirty="0" smtClean="0"/>
              <a:t> </a:t>
            </a:r>
            <a:r>
              <a:rPr lang="en-US" dirty="0" err="1" smtClean="0"/>
              <a:t>cho</a:t>
            </a:r>
            <a:r>
              <a:rPr lang="en-US" dirty="0" smtClean="0"/>
              <a:t> </a:t>
            </a:r>
            <a:r>
              <a:rPr lang="en-US" dirty="0" err="1" smtClean="0"/>
              <a:t>các</a:t>
            </a:r>
            <a:r>
              <a:rPr lang="en-US" dirty="0" smtClean="0"/>
              <a:t> </a:t>
            </a:r>
            <a:r>
              <a:rPr lang="en-US" dirty="0" err="1" smtClean="0"/>
              <a:t>phần</a:t>
            </a:r>
            <a:r>
              <a:rPr lang="en-US" dirty="0" smtClean="0"/>
              <a:t> </a:t>
            </a:r>
            <a:r>
              <a:rPr lang="en-US" dirty="0" err="1" smtClean="0"/>
              <a:t>tử</a:t>
            </a:r>
            <a:r>
              <a:rPr lang="en-US" dirty="0" smtClean="0"/>
              <a:t> </a:t>
            </a:r>
            <a:r>
              <a:rPr lang="en-US" dirty="0" err="1" smtClean="0"/>
              <a:t>cần</a:t>
            </a:r>
            <a:r>
              <a:rPr lang="en-US" dirty="0" smtClean="0"/>
              <a:t> </a:t>
            </a:r>
            <a:r>
              <a:rPr lang="en-US" dirty="0" err="1" smtClean="0"/>
              <a:t>tìm</a:t>
            </a:r>
            <a:r>
              <a:rPr lang="en-US" dirty="0" smtClean="0"/>
              <a:t>, P </a:t>
            </a:r>
            <a:r>
              <a:rPr lang="en-US" dirty="0" err="1" smtClean="0"/>
              <a:t>miền</a:t>
            </a:r>
            <a:r>
              <a:rPr lang="en-US" dirty="0" smtClean="0"/>
              <a:t> </a:t>
            </a:r>
            <a:r>
              <a:rPr lang="en-US" dirty="0" err="1" smtClean="0"/>
              <a:t>giá</a:t>
            </a:r>
            <a:r>
              <a:rPr lang="en-US" dirty="0" smtClean="0"/>
              <a:t> </a:t>
            </a:r>
            <a:r>
              <a:rPr lang="en-US" dirty="0" err="1" smtClean="0"/>
              <a:t>trị</a:t>
            </a:r>
            <a:r>
              <a:rPr lang="en-US" dirty="0" smtClean="0"/>
              <a:t> </a:t>
            </a:r>
            <a:r>
              <a:rPr lang="en-US" dirty="0" err="1" smtClean="0"/>
              <a:t>của</a:t>
            </a:r>
            <a:r>
              <a:rPr lang="en-US" dirty="0" smtClean="0"/>
              <a:t> </a:t>
            </a:r>
            <a:r>
              <a:rPr lang="en-US" dirty="0" err="1" smtClean="0"/>
              <a:t>các</a:t>
            </a:r>
            <a:r>
              <a:rPr lang="en-US" dirty="0" smtClean="0"/>
              <a:t> </a:t>
            </a:r>
            <a:r>
              <a:rPr lang="en-US" dirty="0" err="1" smtClean="0"/>
              <a:t>địa</a:t>
            </a:r>
            <a:r>
              <a:rPr lang="en-US" dirty="0" smtClean="0"/>
              <a:t> </a:t>
            </a:r>
            <a:r>
              <a:rPr lang="en-US" dirty="0" err="1" smtClean="0"/>
              <a:t>chỉ</a:t>
            </a:r>
            <a:endParaRPr lang="en-US" dirty="0" smtClean="0"/>
          </a:p>
          <a:p>
            <a:r>
              <a:rPr lang="en-US" dirty="0" err="1" smtClean="0"/>
              <a:t>của</a:t>
            </a:r>
            <a:r>
              <a:rPr lang="en-US" dirty="0" smtClean="0"/>
              <a:t> </a:t>
            </a:r>
            <a:r>
              <a:rPr lang="en-US" dirty="0" err="1" smtClean="0"/>
              <a:t>các</a:t>
            </a:r>
            <a:r>
              <a:rPr lang="en-US" dirty="0" smtClean="0"/>
              <a:t> </a:t>
            </a:r>
            <a:r>
              <a:rPr lang="en-US" dirty="0" err="1" smtClean="0"/>
              <a:t>phần</a:t>
            </a:r>
            <a:r>
              <a:rPr lang="en-US" dirty="0" smtClean="0"/>
              <a:t> </a:t>
            </a:r>
            <a:r>
              <a:rPr lang="en-US" dirty="0" err="1" smtClean="0"/>
              <a:t>tử</a:t>
            </a:r>
            <a:r>
              <a:rPr lang="en-US" dirty="0" smtClean="0"/>
              <a:t> </a:t>
            </a:r>
            <a:r>
              <a:rPr lang="en-US" dirty="0" err="1" smtClean="0"/>
              <a:t>đó</a:t>
            </a:r>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20</a:t>
            </a:fld>
            <a:endParaRPr lang="en-US"/>
          </a:p>
        </p:txBody>
      </p:sp>
    </p:spTree>
    <p:extLst>
      <p:ext uri="{BB962C8B-B14F-4D97-AF65-F5344CB8AC3E}">
        <p14:creationId xmlns:p14="http://schemas.microsoft.com/office/powerpoint/2010/main" val="40931052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21</a:t>
            </a:fld>
            <a:endParaRPr lang="en-US"/>
          </a:p>
        </p:txBody>
      </p:sp>
    </p:spTree>
    <p:extLst>
      <p:ext uri="{BB962C8B-B14F-4D97-AF65-F5344CB8AC3E}">
        <p14:creationId xmlns:p14="http://schemas.microsoft.com/office/powerpoint/2010/main" val="23985718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smtClean="0"/>
              <a:t>miền xác định của h sẽ bao phủ hết miền giá trị</a:t>
            </a:r>
            <a:r>
              <a:rPr lang="en-US" dirty="0" smtClean="0"/>
              <a:t> </a:t>
            </a:r>
            <a:r>
              <a:rPr lang="vi-VN" dirty="0" smtClean="0"/>
              <a:t>các địa chỉ mà các phần tử có thể được lưu trữ (ánh xạ h là một toàn ánh)</a:t>
            </a:r>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22</a:t>
            </a:fld>
            <a:endParaRPr lang="en-US"/>
          </a:p>
        </p:txBody>
      </p:sp>
    </p:spTree>
    <p:extLst>
      <p:ext uri="{BB962C8B-B14F-4D97-AF65-F5344CB8AC3E}">
        <p14:creationId xmlns:p14="http://schemas.microsoft.com/office/powerpoint/2010/main" val="37931617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smtClean="0"/>
              <a:t>miền xác định của h sẽ bao phủ hết miền giá trị</a:t>
            </a:r>
            <a:r>
              <a:rPr lang="en-US" dirty="0" smtClean="0"/>
              <a:t> </a:t>
            </a:r>
            <a:r>
              <a:rPr lang="vi-VN" dirty="0" smtClean="0"/>
              <a:t>các địa chỉ mà các phần tử có thể được lưu trữ (ánh xạ h là một toàn ánh)</a:t>
            </a:r>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23</a:t>
            </a:fld>
            <a:endParaRPr lang="en-US"/>
          </a:p>
        </p:txBody>
      </p:sp>
    </p:spTree>
    <p:extLst>
      <p:ext uri="{BB962C8B-B14F-4D97-AF65-F5344CB8AC3E}">
        <p14:creationId xmlns:p14="http://schemas.microsoft.com/office/powerpoint/2010/main" val="5087229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24</a:t>
            </a:fld>
            <a:endParaRPr lang="en-US"/>
          </a:p>
        </p:txBody>
      </p:sp>
    </p:spTree>
    <p:extLst>
      <p:ext uri="{BB962C8B-B14F-4D97-AF65-F5344CB8AC3E}">
        <p14:creationId xmlns:p14="http://schemas.microsoft.com/office/powerpoint/2010/main" val="39494450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25</a:t>
            </a:fld>
            <a:endParaRPr lang="en-US"/>
          </a:p>
        </p:txBody>
      </p:sp>
    </p:spTree>
    <p:extLst>
      <p:ext uri="{BB962C8B-B14F-4D97-AF65-F5344CB8AC3E}">
        <p14:creationId xmlns:p14="http://schemas.microsoft.com/office/powerpoint/2010/main" val="34823300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smtClean="0"/>
              <a:t>Phương pháp sử dụng phép nhân</a:t>
            </a:r>
          </a:p>
          <a:p>
            <a:r>
              <a:rPr lang="vi-VN" dirty="0" smtClean="0"/>
              <a:t>Trong phương pháp này, giá trị K sẽ được xử lý qua hai bước. Bước thứ nhất,</a:t>
            </a:r>
          </a:p>
          <a:p>
            <a:r>
              <a:rPr lang="vi-VN" dirty="0" smtClean="0"/>
              <a:t>nó sẽ được nhân với một giá trị A mà nằm trong khoảng (0,1) rồi tách phần lẻ ra</a:t>
            </a:r>
          </a:p>
          <a:p>
            <a:r>
              <a:rPr lang="vi-VN" dirty="0" smtClean="0"/>
              <a:t>(phần sau dấu phẩy). Sau đó, phần lẻ đó sẽ được nhân với một giá trị M, rồi lấy</a:t>
            </a:r>
          </a:p>
          <a:p>
            <a:r>
              <a:rPr lang="vi-VN" dirty="0" smtClean="0"/>
              <a:t>phần nguyên của tích. Cuối cùng mới đem kết quả đó chia dư cho N.</a:t>
            </a:r>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26</a:t>
            </a:fld>
            <a:endParaRPr lang="en-US"/>
          </a:p>
        </p:txBody>
      </p:sp>
    </p:spTree>
    <p:extLst>
      <p:ext uri="{BB962C8B-B14F-4D97-AF65-F5344CB8AC3E}">
        <p14:creationId xmlns:p14="http://schemas.microsoft.com/office/powerpoint/2010/main" val="16829112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27</a:t>
            </a:fld>
            <a:endParaRPr lang="en-US"/>
          </a:p>
        </p:txBody>
      </p:sp>
    </p:spTree>
    <p:extLst>
      <p:ext uri="{BB962C8B-B14F-4D97-AF65-F5344CB8AC3E}">
        <p14:creationId xmlns:p14="http://schemas.microsoft.com/office/powerpoint/2010/main" val="38506204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28</a:t>
            </a:fld>
            <a:endParaRPr lang="en-US"/>
          </a:p>
        </p:txBody>
      </p:sp>
    </p:spTree>
    <p:extLst>
      <p:ext uri="{BB962C8B-B14F-4D97-AF65-F5344CB8AC3E}">
        <p14:creationId xmlns:p14="http://schemas.microsoft.com/office/powerpoint/2010/main" val="12597485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31</a:t>
            </a:fld>
            <a:endParaRPr lang="en-US"/>
          </a:p>
        </p:txBody>
      </p:sp>
    </p:spTree>
    <p:extLst>
      <p:ext uri="{BB962C8B-B14F-4D97-AF65-F5344CB8AC3E}">
        <p14:creationId xmlns:p14="http://schemas.microsoft.com/office/powerpoint/2010/main" val="7014265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process of examining memory locations in the hash table is called probing.</a:t>
            </a:r>
          </a:p>
          <a:p>
            <a:r>
              <a:rPr lang="en-US" dirty="0" smtClean="0"/>
              <a:t>Open addressing technique can be implemented using linear probing, quadratic probing, double hashing, and rehashing.</a:t>
            </a:r>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33</a:t>
            </a:fld>
            <a:endParaRPr lang="en-US"/>
          </a:p>
        </p:txBody>
      </p:sp>
    </p:spTree>
    <p:extLst>
      <p:ext uri="{BB962C8B-B14F-4D97-AF65-F5344CB8AC3E}">
        <p14:creationId xmlns:p14="http://schemas.microsoft.com/office/powerpoint/2010/main" val="19426558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34</a:t>
            </a:fld>
            <a:endParaRPr lang="en-US"/>
          </a:p>
        </p:txBody>
      </p:sp>
    </p:spTree>
    <p:extLst>
      <p:ext uri="{BB962C8B-B14F-4D97-AF65-F5344CB8AC3E}">
        <p14:creationId xmlns:p14="http://schemas.microsoft.com/office/powerpoint/2010/main" val="372547433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35</a:t>
            </a:fld>
            <a:endParaRPr lang="en-US"/>
          </a:p>
        </p:txBody>
      </p:sp>
    </p:spTree>
    <p:extLst>
      <p:ext uri="{BB962C8B-B14F-4D97-AF65-F5344CB8AC3E}">
        <p14:creationId xmlns:p14="http://schemas.microsoft.com/office/powerpoint/2010/main" val="7948265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where m is the size of the hash table, h’(k) = (k mod m), </a:t>
            </a:r>
            <a:r>
              <a:rPr lang="en-US" dirty="0" err="1" smtClean="0"/>
              <a:t>i</a:t>
            </a:r>
            <a:r>
              <a:rPr lang="en-US" dirty="0" smtClean="0"/>
              <a:t> is the probe number that varies from 0 to m–1, and c1 and c2 are constants such that c1 and c2 π 0.</a:t>
            </a:r>
          </a:p>
          <a:p>
            <a:endParaRPr lang="en-US" dirty="0" smtClean="0"/>
          </a:p>
          <a:p>
            <a:r>
              <a:rPr lang="en-US" dirty="0" smtClean="0"/>
              <a:t>When the hash table becomes nearly full, the number of collisions increases, thereby degrading the performance of insertion and search operations. In such cases, a better option is to create a new hash table with size double of the original hash table. All the entries in the original hash table will then have to be moved to the new hash table. This is done by taking each entry, computing its new hash value, and then inserting it in the new hash table. Though rehashing seems to be a simple process, it is quite expensive and must therefore not be done frequently.</a:t>
            </a:r>
          </a:p>
          <a:p>
            <a:endParaRPr lang="en-US" dirty="0" smtClean="0"/>
          </a:p>
          <a:p>
            <a:r>
              <a:rPr lang="en-US" dirty="0" smtClean="0"/>
              <a:t>Linear probing has the best cache performance but suffers from clustering. One more advantage of Linear probing is easy to compute. </a:t>
            </a:r>
          </a:p>
          <a:p>
            <a:r>
              <a:rPr lang="en-US" dirty="0" smtClean="0"/>
              <a:t>Quadratic probing lies between the two in terms of cache performance and clustering. </a:t>
            </a:r>
          </a:p>
          <a:p>
            <a:r>
              <a:rPr lang="en-US" dirty="0" smtClean="0"/>
              <a:t>Double hashing has poor cache performance but no clustering. Double hashing requires more computation time as two hash functions need to be computed. </a:t>
            </a:r>
          </a:p>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36</a:t>
            </a:fld>
            <a:endParaRPr lang="en-US"/>
          </a:p>
        </p:txBody>
      </p:sp>
    </p:spTree>
    <p:extLst>
      <p:ext uri="{BB962C8B-B14F-4D97-AF65-F5344CB8AC3E}">
        <p14:creationId xmlns:p14="http://schemas.microsoft.com/office/powerpoint/2010/main" val="263396505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where m is the size of the hash table, h’(k) = (k mod m), </a:t>
            </a:r>
            <a:r>
              <a:rPr lang="en-US" dirty="0" err="1" smtClean="0"/>
              <a:t>i</a:t>
            </a:r>
            <a:r>
              <a:rPr lang="en-US" dirty="0" smtClean="0"/>
              <a:t> is the probe number that varies from 0 to m–1, and c1 and c2 are constants such that c1 and c2 π 0.</a:t>
            </a:r>
          </a:p>
          <a:p>
            <a:endParaRPr lang="en-US" dirty="0" smtClean="0"/>
          </a:p>
          <a:p>
            <a:r>
              <a:rPr lang="en-US" dirty="0" smtClean="0"/>
              <a:t>When the hash table becomes nearly full, the number of collisions increases, thereby degrading the performance of insertion and search operations. In such cases, a better option is to create a new hash table with size double of the original hash table. All the entries in the original hash table will then have to be moved to the new hash table. This is done by taking each entry, computing its new hash value, and then inserting it in the new hash table. Though rehashing seems to be a simple process, it is quite expensive and must therefore not be done frequently.</a:t>
            </a:r>
          </a:p>
          <a:p>
            <a:endParaRPr lang="en-US" dirty="0" smtClean="0"/>
          </a:p>
          <a:p>
            <a:r>
              <a:rPr lang="en-US" dirty="0" smtClean="0"/>
              <a:t>Linear probing has the best cache performance but suffers from clustering. One more advantage of Linear probing is easy to compute. </a:t>
            </a:r>
          </a:p>
          <a:p>
            <a:r>
              <a:rPr lang="en-US" dirty="0" smtClean="0"/>
              <a:t>Quadratic probing lies between the two in terms of cache performance and clustering. </a:t>
            </a:r>
          </a:p>
          <a:p>
            <a:r>
              <a:rPr lang="en-US" dirty="0" smtClean="0"/>
              <a:t>Double hashing has poor cache performance but no clustering. Double hashing requires more computation time as two hash functions need to be computed. </a:t>
            </a:r>
          </a:p>
          <a:p>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37</a:t>
            </a:fld>
            <a:endParaRPr lang="en-US"/>
          </a:p>
        </p:txBody>
      </p:sp>
    </p:spTree>
    <p:extLst>
      <p:ext uri="{BB962C8B-B14F-4D97-AF65-F5344CB8AC3E}">
        <p14:creationId xmlns:p14="http://schemas.microsoft.com/office/powerpoint/2010/main" val="286044505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smtClean="0"/>
              <a:t>4) Nó chủ yếu được sử dụng khi không biết có bao nhiêu và tần suất các khóa có thể được chèn hoặc xóa. </a:t>
            </a:r>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39</a:t>
            </a:fld>
            <a:endParaRPr lang="en-US"/>
          </a:p>
        </p:txBody>
      </p:sp>
    </p:spTree>
    <p:extLst>
      <p:ext uri="{BB962C8B-B14F-4D97-AF65-F5344CB8AC3E}">
        <p14:creationId xmlns:p14="http://schemas.microsoft.com/office/powerpoint/2010/main" val="231605829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next[0]=0 </a:t>
            </a:r>
          </a:p>
          <a:p>
            <a:r>
              <a:rPr lang="en-US" dirty="0" smtClean="0"/>
              <a:t>next[1]=0 </a:t>
            </a:r>
          </a:p>
          <a:p>
            <a:r>
              <a:rPr lang="en-US" dirty="0" smtClean="0"/>
              <a:t>next[2]=0 </a:t>
            </a:r>
          </a:p>
          <a:p>
            <a:r>
              <a:rPr lang="en-US" dirty="0" smtClean="0"/>
              <a:t>next[3]=0 </a:t>
            </a:r>
          </a:p>
          <a:p>
            <a:r>
              <a:rPr lang="en-US" dirty="0" smtClean="0"/>
              <a:t>next[4]=0 </a:t>
            </a:r>
          </a:p>
          <a:p>
            <a:r>
              <a:rPr lang="en-US" dirty="0" smtClean="0"/>
              <a:t>next[5]=0 </a:t>
            </a:r>
          </a:p>
          <a:p>
            <a:r>
              <a:rPr lang="en-US" dirty="0" smtClean="0"/>
              <a:t>next[6]=0 </a:t>
            </a:r>
          </a:p>
          <a:p>
            <a:r>
              <a:rPr lang="en-US" dirty="0" smtClean="0"/>
              <a:t>next[7]=3 </a:t>
            </a:r>
          </a:p>
          <a:p>
            <a:r>
              <a:rPr lang="en-US" dirty="0" err="1" smtClean="0"/>
              <a:t>KMPSearch</a:t>
            </a:r>
            <a:r>
              <a:rPr lang="en-US" dirty="0" smtClean="0"/>
              <a:t> at 7:</a:t>
            </a:r>
            <a:endParaRPr lang="en-US" dirty="0"/>
          </a:p>
        </p:txBody>
      </p:sp>
      <p:sp>
        <p:nvSpPr>
          <p:cNvPr id="4" name="Slide Number Placeholder 3"/>
          <p:cNvSpPr>
            <a:spLocks noGrp="1"/>
          </p:cNvSpPr>
          <p:nvPr>
            <p:ph type="sldNum" sz="quarter" idx="10"/>
          </p:nvPr>
        </p:nvSpPr>
        <p:spPr/>
        <p:txBody>
          <a:bodyPr/>
          <a:lstStyle/>
          <a:p>
            <a:fld id="{76159C16-962D-45B7-9AE3-AA455C3EA8F0}" type="slidenum">
              <a:rPr lang="en-US" smtClean="0"/>
              <a:pPr/>
              <a:t>40</a:t>
            </a:fld>
            <a:endParaRPr lang="en-US"/>
          </a:p>
        </p:txBody>
      </p:sp>
    </p:spTree>
    <p:extLst>
      <p:ext uri="{BB962C8B-B14F-4D97-AF65-F5344CB8AC3E}">
        <p14:creationId xmlns:p14="http://schemas.microsoft.com/office/powerpoint/2010/main" val="7787398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smtClean="0"/>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5/31/2024</a:t>
            </a:fld>
            <a:endParaRPr lang="en-US" dirty="0"/>
          </a:p>
        </p:txBody>
      </p:sp>
      <p:sp>
        <p:nvSpPr>
          <p:cNvPr id="5" name="Footer Placeholder 4"/>
          <p:cNvSpPr>
            <a:spLocks noGrp="1"/>
          </p:cNvSpPr>
          <p:nvPr>
            <p:ph type="ftr" sz="quarter" idx="11"/>
          </p:nvPr>
        </p:nvSpPr>
        <p:spPr/>
        <p:txBody>
          <a:bodyPr/>
          <a:lstStyle/>
          <a:p>
            <a:pPr algn="r"/>
            <a:r>
              <a:rPr lang="fr-FR" smtClean="0"/>
              <a:t>ET2100 </a:t>
            </a:r>
            <a:r>
              <a:rPr lang="en-US" i="1" smtClean="0"/>
              <a:t>- </a:t>
            </a:r>
            <a:r>
              <a:rPr lang="en-US" b="1" i="1" smtClean="0"/>
              <a:t>Data Structures and Algorithms</a:t>
            </a:r>
            <a:endParaRPr lang="en-US" smtClean="0"/>
          </a:p>
          <a:p>
            <a:pPr algn="r"/>
            <a:r>
              <a:rPr lang="en-US" smtClean="0"/>
              <a:t>School of Electrical and Electronic Engineering</a:t>
            </a:r>
            <a:endParaRPr lang="en-US" dirty="0"/>
          </a:p>
        </p:txBody>
      </p:sp>
      <p:sp>
        <p:nvSpPr>
          <p:cNvPr id="6" name="Slide Number Placeholder 5"/>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1280166699"/>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5/31/2024</a:t>
            </a:fld>
            <a:endParaRPr lang="en-US" dirty="0"/>
          </a:p>
        </p:txBody>
      </p:sp>
      <p:sp>
        <p:nvSpPr>
          <p:cNvPr id="5" name="Footer Placeholder 4"/>
          <p:cNvSpPr>
            <a:spLocks noGrp="1"/>
          </p:cNvSpPr>
          <p:nvPr>
            <p:ph type="ftr" sz="quarter" idx="11"/>
          </p:nvPr>
        </p:nvSpPr>
        <p:spPr/>
        <p:txBody>
          <a:bodyPr/>
          <a:lstStyle/>
          <a:p>
            <a:pPr algn="r"/>
            <a:r>
              <a:rPr lang="fr-FR" smtClean="0"/>
              <a:t>ET2100 </a:t>
            </a:r>
            <a:r>
              <a:rPr lang="en-US" i="1" smtClean="0"/>
              <a:t>- </a:t>
            </a:r>
            <a:r>
              <a:rPr lang="en-US" b="1" i="1" smtClean="0"/>
              <a:t>Data Structures and Algorithms</a:t>
            </a:r>
            <a:endParaRPr lang="en-US" smtClean="0"/>
          </a:p>
          <a:p>
            <a:pPr algn="r"/>
            <a:r>
              <a:rPr lang="en-US" smtClean="0"/>
              <a:t>School of Electrical and Electronic Engineering</a:t>
            </a:r>
            <a:endParaRPr lang="en-US" dirty="0"/>
          </a:p>
        </p:txBody>
      </p:sp>
      <p:sp>
        <p:nvSpPr>
          <p:cNvPr id="6" name="Slide Number Placeholder 5"/>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31838877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smtClean="0"/>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5/31/2024</a:t>
            </a:fld>
            <a:endParaRPr lang="en-US" dirty="0"/>
          </a:p>
        </p:txBody>
      </p:sp>
      <p:sp>
        <p:nvSpPr>
          <p:cNvPr id="5" name="Footer Placeholder 4"/>
          <p:cNvSpPr>
            <a:spLocks noGrp="1"/>
          </p:cNvSpPr>
          <p:nvPr>
            <p:ph type="ftr" sz="quarter" idx="11"/>
          </p:nvPr>
        </p:nvSpPr>
        <p:spPr/>
        <p:txBody>
          <a:bodyPr/>
          <a:lstStyle/>
          <a:p>
            <a:pPr algn="r"/>
            <a:r>
              <a:rPr lang="fr-FR" smtClean="0"/>
              <a:t>ET2100 </a:t>
            </a:r>
            <a:r>
              <a:rPr lang="en-US" i="1" smtClean="0"/>
              <a:t>- </a:t>
            </a:r>
            <a:r>
              <a:rPr lang="en-US" b="1" i="1" smtClean="0"/>
              <a:t>Data Structures and Algorithms</a:t>
            </a:r>
            <a:endParaRPr lang="en-US" smtClean="0"/>
          </a:p>
          <a:p>
            <a:pPr algn="r"/>
            <a:r>
              <a:rPr lang="en-US" smtClean="0"/>
              <a:t>School of Electrical and Electronic Engineering</a:t>
            </a:r>
            <a:endParaRPr lang="en-US" dirty="0"/>
          </a:p>
        </p:txBody>
      </p:sp>
      <p:sp>
        <p:nvSpPr>
          <p:cNvPr id="6" name="Slide Number Placeholder 5"/>
          <p:cNvSpPr>
            <a:spLocks noGrp="1"/>
          </p:cNvSpPr>
          <p:nvPr>
            <p:ph type="sldNum" sz="quarter" idx="12"/>
          </p:nvPr>
        </p:nvSpPr>
        <p:spPr/>
        <p:txBody>
          <a:bodyPr/>
          <a:lstStyle/>
          <a:p>
            <a:fld id="{26B269CE-12F4-4F4F-BF2F-21E0A343DA44}" type="slidenum">
              <a:rPr lang="en-US" smtClean="0"/>
              <a:pPr/>
              <a:t>‹#›</a:t>
            </a:fld>
            <a:endParaRPr lang="en-US"/>
          </a:p>
        </p:txBody>
      </p:sp>
    </p:spTree>
    <p:extLst>
      <p:ext uri="{BB962C8B-B14F-4D97-AF65-F5344CB8AC3E}">
        <p14:creationId xmlns:p14="http://schemas.microsoft.com/office/powerpoint/2010/main" val="19708674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5/31/2024</a:t>
            </a:fld>
            <a:endParaRPr lang="en-US" dirty="0"/>
          </a:p>
        </p:txBody>
      </p:sp>
      <p:sp>
        <p:nvSpPr>
          <p:cNvPr id="6" name="Footer Placeholder 5"/>
          <p:cNvSpPr>
            <a:spLocks noGrp="1"/>
          </p:cNvSpPr>
          <p:nvPr>
            <p:ph type="ftr" sz="quarter" idx="11"/>
          </p:nvPr>
        </p:nvSpPr>
        <p:spPr/>
        <p:txBody>
          <a:bodyPr/>
          <a:lstStyle/>
          <a:p>
            <a:pPr algn="r"/>
            <a:r>
              <a:rPr lang="fr-FR" smtClean="0"/>
              <a:t>ET2100 </a:t>
            </a:r>
            <a:r>
              <a:rPr lang="en-US" i="1" smtClean="0"/>
              <a:t>- </a:t>
            </a:r>
            <a:r>
              <a:rPr lang="en-US" b="1" i="1" smtClean="0"/>
              <a:t>Data Structures and Algorithms</a:t>
            </a:r>
            <a:endParaRPr lang="en-US" smtClean="0"/>
          </a:p>
          <a:p>
            <a:pPr algn="r"/>
            <a:r>
              <a:rPr lang="en-US" smtClean="0"/>
              <a:t>School of Electrical and Electronic Engineering</a:t>
            </a:r>
            <a:endParaRPr lang="en-US" dirty="0"/>
          </a:p>
        </p:txBody>
      </p:sp>
      <p:sp>
        <p:nvSpPr>
          <p:cNvPr id="7" name="Slide Number Placeholder 6"/>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3415720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5/31/2024</a:t>
            </a:fld>
            <a:endParaRPr lang="en-US" dirty="0"/>
          </a:p>
        </p:txBody>
      </p:sp>
      <p:sp>
        <p:nvSpPr>
          <p:cNvPr id="8" name="Footer Placeholder 7"/>
          <p:cNvSpPr>
            <a:spLocks noGrp="1"/>
          </p:cNvSpPr>
          <p:nvPr>
            <p:ph type="ftr" sz="quarter" idx="11"/>
          </p:nvPr>
        </p:nvSpPr>
        <p:spPr/>
        <p:txBody>
          <a:bodyPr/>
          <a:lstStyle/>
          <a:p>
            <a:pPr algn="r"/>
            <a:r>
              <a:rPr lang="fr-FR" smtClean="0"/>
              <a:t>ET2100 </a:t>
            </a:r>
            <a:r>
              <a:rPr lang="en-US" i="1" smtClean="0"/>
              <a:t>- </a:t>
            </a:r>
            <a:r>
              <a:rPr lang="en-US" b="1" i="1" smtClean="0"/>
              <a:t>Data Structures and Algorithms</a:t>
            </a:r>
            <a:endParaRPr lang="en-US" smtClean="0"/>
          </a:p>
          <a:p>
            <a:pPr algn="r"/>
            <a:r>
              <a:rPr lang="en-US" smtClean="0"/>
              <a:t>School of Electrical and Electronic Engineering</a:t>
            </a:r>
            <a:endParaRPr lang="en-US" dirty="0"/>
          </a:p>
        </p:txBody>
      </p:sp>
      <p:sp>
        <p:nvSpPr>
          <p:cNvPr id="9" name="Slide Number Placeholder 8"/>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3596346183"/>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5/31/2024</a:t>
            </a:fld>
            <a:endParaRPr lang="en-US" dirty="0"/>
          </a:p>
        </p:txBody>
      </p:sp>
      <p:sp>
        <p:nvSpPr>
          <p:cNvPr id="4" name="Footer Placeholder 3"/>
          <p:cNvSpPr>
            <a:spLocks noGrp="1"/>
          </p:cNvSpPr>
          <p:nvPr>
            <p:ph type="ftr" sz="quarter" idx="11"/>
          </p:nvPr>
        </p:nvSpPr>
        <p:spPr/>
        <p:txBody>
          <a:bodyPr/>
          <a:lstStyle/>
          <a:p>
            <a:pPr algn="r"/>
            <a:r>
              <a:rPr lang="fr-FR" smtClean="0"/>
              <a:t>ET2100 </a:t>
            </a:r>
            <a:r>
              <a:rPr lang="en-US" i="1" smtClean="0"/>
              <a:t>- </a:t>
            </a:r>
            <a:r>
              <a:rPr lang="en-US" b="1" i="1" smtClean="0"/>
              <a:t>Data Structures and Algorithms</a:t>
            </a:r>
            <a:endParaRPr lang="en-US" smtClean="0"/>
          </a:p>
          <a:p>
            <a:pPr algn="r"/>
            <a:r>
              <a:rPr lang="en-US" smtClean="0"/>
              <a:t>School of Electrical and Electronic Engineering</a:t>
            </a:r>
            <a:endParaRPr lang="en-US" dirty="0"/>
          </a:p>
        </p:txBody>
      </p:sp>
      <p:sp>
        <p:nvSpPr>
          <p:cNvPr id="5" name="Slide Number Placeholder 4"/>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321821575"/>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5/31/2024</a:t>
            </a:fld>
            <a:endParaRPr lang="en-US" dirty="0"/>
          </a:p>
        </p:txBody>
      </p:sp>
      <p:sp>
        <p:nvSpPr>
          <p:cNvPr id="3" name="Footer Placeholder 2"/>
          <p:cNvSpPr>
            <a:spLocks noGrp="1"/>
          </p:cNvSpPr>
          <p:nvPr>
            <p:ph type="ftr" sz="quarter" idx="11"/>
          </p:nvPr>
        </p:nvSpPr>
        <p:spPr/>
        <p:txBody>
          <a:bodyPr/>
          <a:lstStyle/>
          <a:p>
            <a:pPr algn="r"/>
            <a:r>
              <a:rPr lang="fr-FR" smtClean="0"/>
              <a:t>ET2100 </a:t>
            </a:r>
            <a:r>
              <a:rPr lang="en-US" i="1" smtClean="0"/>
              <a:t>- </a:t>
            </a:r>
            <a:r>
              <a:rPr lang="en-US" b="1" i="1" smtClean="0"/>
              <a:t>Data Structures and Algorithms</a:t>
            </a:r>
            <a:endParaRPr lang="en-US" smtClean="0"/>
          </a:p>
          <a:p>
            <a:pPr algn="r"/>
            <a:r>
              <a:rPr lang="en-US" smtClean="0"/>
              <a:t>School of Electrical and Electronic Engineering</a:t>
            </a:r>
            <a:endParaRPr lang="en-US" dirty="0"/>
          </a:p>
        </p:txBody>
      </p:sp>
      <p:sp>
        <p:nvSpPr>
          <p:cNvPr id="4" name="Slide Number Placeholder 3"/>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1399018855"/>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5/31/2024</a:t>
            </a:fld>
            <a:endParaRPr lang="en-US" dirty="0"/>
          </a:p>
        </p:txBody>
      </p:sp>
      <p:sp>
        <p:nvSpPr>
          <p:cNvPr id="6" name="Footer Placeholder 5"/>
          <p:cNvSpPr>
            <a:spLocks noGrp="1"/>
          </p:cNvSpPr>
          <p:nvPr>
            <p:ph type="ftr" sz="quarter" idx="11"/>
          </p:nvPr>
        </p:nvSpPr>
        <p:spPr/>
        <p:txBody>
          <a:bodyPr/>
          <a:lstStyle/>
          <a:p>
            <a:pPr algn="r"/>
            <a:r>
              <a:rPr lang="fr-FR" smtClean="0"/>
              <a:t>ET2100 </a:t>
            </a:r>
            <a:r>
              <a:rPr lang="en-US" i="1" smtClean="0"/>
              <a:t>- </a:t>
            </a:r>
            <a:r>
              <a:rPr lang="en-US" b="1" i="1" smtClean="0"/>
              <a:t>Data Structures and Algorithms</a:t>
            </a:r>
            <a:endParaRPr lang="en-US" smtClean="0"/>
          </a:p>
          <a:p>
            <a:pPr algn="r"/>
            <a:r>
              <a:rPr lang="en-US" smtClean="0"/>
              <a:t>School of Electrical and Electronic Engineering</a:t>
            </a:r>
            <a:endParaRPr lang="en-US" dirty="0"/>
          </a:p>
        </p:txBody>
      </p:sp>
      <p:sp>
        <p:nvSpPr>
          <p:cNvPr id="7" name="Slide Number Placeholder 6"/>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674716362"/>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smtClean="0"/>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5/31/2024</a:t>
            </a:fld>
            <a:endParaRPr lang="en-US" dirty="0"/>
          </a:p>
        </p:txBody>
      </p:sp>
      <p:sp>
        <p:nvSpPr>
          <p:cNvPr id="6" name="Footer Placeholder 5"/>
          <p:cNvSpPr>
            <a:spLocks noGrp="1"/>
          </p:cNvSpPr>
          <p:nvPr>
            <p:ph type="ftr" sz="quarter" idx="11"/>
          </p:nvPr>
        </p:nvSpPr>
        <p:spPr/>
        <p:txBody>
          <a:bodyPr/>
          <a:lstStyle/>
          <a:p>
            <a:pPr algn="r"/>
            <a:r>
              <a:rPr lang="fr-FR" smtClean="0"/>
              <a:t>ET2100 </a:t>
            </a:r>
            <a:r>
              <a:rPr lang="en-US" i="1" smtClean="0"/>
              <a:t>- </a:t>
            </a:r>
            <a:r>
              <a:rPr lang="en-US" b="1" i="1" smtClean="0"/>
              <a:t>Data Structures and Algorithms</a:t>
            </a:r>
            <a:endParaRPr lang="en-US" smtClean="0"/>
          </a:p>
          <a:p>
            <a:pPr algn="r"/>
            <a:r>
              <a:rPr lang="en-US" smtClean="0"/>
              <a:t>School of Electrical and Electronic Engineering</a:t>
            </a:r>
            <a:endParaRPr lang="en-US" dirty="0"/>
          </a:p>
        </p:txBody>
      </p:sp>
      <p:sp>
        <p:nvSpPr>
          <p:cNvPr id="7" name="Slide Number Placeholder 6"/>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1637221812"/>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5/31/2024</a:t>
            </a:fld>
            <a:endParaRPr lang="en-US" dirty="0"/>
          </a:p>
        </p:txBody>
      </p:sp>
      <p:sp>
        <p:nvSpPr>
          <p:cNvPr id="5" name="Footer Placeholder 4"/>
          <p:cNvSpPr>
            <a:spLocks noGrp="1"/>
          </p:cNvSpPr>
          <p:nvPr>
            <p:ph type="ftr" sz="quarter" idx="11"/>
          </p:nvPr>
        </p:nvSpPr>
        <p:spPr/>
        <p:txBody>
          <a:bodyPr/>
          <a:lstStyle/>
          <a:p>
            <a:pPr algn="r"/>
            <a:r>
              <a:rPr lang="fr-FR" smtClean="0"/>
              <a:t>ET2100 </a:t>
            </a:r>
            <a:r>
              <a:rPr lang="en-US" i="1" smtClean="0"/>
              <a:t>- </a:t>
            </a:r>
            <a:r>
              <a:rPr lang="en-US" b="1" i="1" smtClean="0"/>
              <a:t>Data Structures and Algorithms</a:t>
            </a:r>
            <a:endParaRPr lang="en-US" smtClean="0"/>
          </a:p>
          <a:p>
            <a:pPr algn="r"/>
            <a:r>
              <a:rPr lang="en-US" smtClean="0"/>
              <a:t>School of Electrical and Electronic Engineering</a:t>
            </a:r>
            <a:endParaRPr lang="en-US" dirty="0"/>
          </a:p>
        </p:txBody>
      </p:sp>
      <p:sp>
        <p:nvSpPr>
          <p:cNvPr id="6" name="Slide Number Placeholder 5"/>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3920979004"/>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5/31/2024</a:t>
            </a:fld>
            <a:endParaRPr lang="en-US" dirty="0"/>
          </a:p>
        </p:txBody>
      </p:sp>
      <p:sp>
        <p:nvSpPr>
          <p:cNvPr id="5" name="Footer Placeholder 4"/>
          <p:cNvSpPr>
            <a:spLocks noGrp="1"/>
          </p:cNvSpPr>
          <p:nvPr>
            <p:ph type="ftr" sz="quarter" idx="11"/>
          </p:nvPr>
        </p:nvSpPr>
        <p:spPr/>
        <p:txBody>
          <a:bodyPr/>
          <a:lstStyle/>
          <a:p>
            <a:pPr algn="r"/>
            <a:r>
              <a:rPr lang="fr-FR" smtClean="0"/>
              <a:t>ET2100 </a:t>
            </a:r>
            <a:r>
              <a:rPr lang="en-US" i="1" smtClean="0"/>
              <a:t>- </a:t>
            </a:r>
            <a:r>
              <a:rPr lang="en-US" b="1" i="1" smtClean="0"/>
              <a:t>Data Structures and Algorithms</a:t>
            </a:r>
            <a:endParaRPr lang="en-US" smtClean="0"/>
          </a:p>
          <a:p>
            <a:pPr algn="r"/>
            <a:r>
              <a:rPr lang="en-US" smtClean="0"/>
              <a:t>School of Electrical and Electronic Engineering</a:t>
            </a:r>
            <a:endParaRPr lang="en-US" dirty="0"/>
          </a:p>
        </p:txBody>
      </p:sp>
      <p:sp>
        <p:nvSpPr>
          <p:cNvPr id="6" name="Slide Number Placeholder 5"/>
          <p:cNvSpPr>
            <a:spLocks noGrp="1"/>
          </p:cNvSpPr>
          <p:nvPr>
            <p:ph type="sldNum" sz="quarter" idx="12"/>
          </p:nvPr>
        </p:nvSpPr>
        <p:spPr/>
        <p:txBody>
          <a:bodyPr/>
          <a:lstStyle/>
          <a:p>
            <a:fld id="{BC24317B-5122-4A99-A6E9-FA23C146A7E0}" type="slidenum">
              <a:rPr lang="en-US" smtClean="0"/>
              <a:pPr/>
              <a:t>‹#›</a:t>
            </a:fld>
            <a:endParaRPr lang="en-US"/>
          </a:p>
        </p:txBody>
      </p:sp>
    </p:spTree>
    <p:extLst>
      <p:ext uri="{BB962C8B-B14F-4D97-AF65-F5344CB8AC3E}">
        <p14:creationId xmlns:p14="http://schemas.microsoft.com/office/powerpoint/2010/main" val="342561585"/>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8323482"/>
      </p:ext>
    </p:extLst>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6">
            <a:extLst>
              <a:ext uri="{FF2B5EF4-FFF2-40B4-BE49-F238E27FC236}">
                <a16:creationId xmlns:a16="http://schemas.microsoft.com/office/drawing/2014/main" id="{C5DD3B49-F775-49FC-ACAD-45B074D1C945}"/>
              </a:ext>
            </a:extLst>
          </p:cNvPr>
          <p:cNvSpPr>
            <a:spLocks noGrp="1"/>
          </p:cNvSpPr>
          <p:nvPr>
            <p:ph type="title" hasCustomPrompt="1"/>
          </p:nvPr>
        </p:nvSpPr>
        <p:spPr>
          <a:xfrm>
            <a:off x="2380488" y="2365248"/>
            <a:ext cx="4383024" cy="2127504"/>
          </a:xfrm>
          <a:prstGeom prst="rect">
            <a:avLst/>
          </a:prstGeom>
        </p:spPr>
        <p:txBody>
          <a:bodyPr/>
          <a:lstStyle>
            <a:lvl1pPr algn="ctr">
              <a:defRPr sz="36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CLICK TO EDIT MASTER TITLE STYLE</a:t>
            </a:r>
          </a:p>
        </p:txBody>
      </p:sp>
    </p:spTree>
    <p:extLst>
      <p:ext uri="{BB962C8B-B14F-4D97-AF65-F5344CB8AC3E}">
        <p14:creationId xmlns:p14="http://schemas.microsoft.com/office/powerpoint/2010/main" val="2501647684"/>
      </p:ext>
    </p:extLst>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8598435"/>
      </p:ext>
    </p:extLst>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1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sz="half" idx="10"/>
          </p:nvPr>
        </p:nvSpPr>
        <p:spPr>
          <a:xfrm>
            <a:off x="628650" y="6565259"/>
            <a:ext cx="2057400" cy="365125"/>
          </a:xfrm>
          <a:prstGeom prst="rect">
            <a:avLst/>
          </a:prstGeom>
        </p:spPr>
        <p:txBody>
          <a:bodyPr/>
          <a:lstStyle>
            <a:lvl1pP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5/31/2024</a:t>
            </a:fld>
            <a:endParaRPr lang="en-US"/>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sz="quarter" idx="11"/>
          </p:nvPr>
        </p:nvSpPr>
        <p:spPr>
          <a:xfrm>
            <a:off x="3028950" y="6565259"/>
            <a:ext cx="3086100" cy="365125"/>
          </a:xfrm>
          <a:prstGeom prst="rect">
            <a:avLst/>
          </a:prstGeom>
        </p:spPr>
        <p:txBody>
          <a:bodyPr/>
          <a:lstStyle>
            <a:lvl1pPr algn="ct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pPr algn="r"/>
            <a:r>
              <a:rPr lang="fr-FR" smtClean="0"/>
              <a:t>ET2100 </a:t>
            </a:r>
            <a:r>
              <a:rPr lang="en-US" i="1" smtClean="0"/>
              <a:t>- </a:t>
            </a:r>
            <a:r>
              <a:rPr lang="en-US" b="1" i="1" smtClean="0"/>
              <a:t>Data Structures and Algorithms</a:t>
            </a:r>
            <a:endParaRPr lang="en-US" smtClean="0"/>
          </a:p>
          <a:p>
            <a:pPr algn="r"/>
            <a:r>
              <a:rPr lang="en-US" smtClean="0"/>
              <a:t>School of Electrical and Electronic Engineering</a:t>
            </a:r>
            <a:endParaRPr lang="en-US" dirty="0"/>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8"/>
            <a:ext cx="2057400" cy="365125"/>
          </a:xfrm>
          <a:prstGeom prst="rect">
            <a:avLst/>
          </a:prstGeom>
        </p:spPr>
        <p:txBody>
          <a:bodyPr/>
          <a:lstStyle>
            <a:lvl1pPr algn="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C24317B-5122-4A99-A6E9-FA23C146A7E0}" type="slidenum">
              <a:rPr lang="en-US" smtClean="0"/>
              <a:pPr/>
              <a:t>‹#›</a:t>
            </a:fld>
            <a:endParaRPr lang="en-US"/>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sz="half" idx="1"/>
          </p:nvPr>
        </p:nvSpPr>
        <p:spPr>
          <a:xfrm>
            <a:off x="528828"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sz="half" idx="2"/>
          </p:nvPr>
        </p:nvSpPr>
        <p:spPr>
          <a:xfrm>
            <a:off x="4572000"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5"/>
            <a:ext cx="8673846" cy="451739"/>
          </a:xfrm>
          <a:prstGeom prst="rect">
            <a:avLst/>
          </a:prstGeom>
        </p:spPr>
        <p:txBody>
          <a:bodyPr/>
          <a:lstStyle>
            <a:lvl1pPr>
              <a:defRPr sz="21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2: ………………………………………</a:t>
            </a:r>
          </a:p>
        </p:txBody>
      </p:sp>
    </p:spTree>
    <p:extLst>
      <p:ext uri="{BB962C8B-B14F-4D97-AF65-F5344CB8AC3E}">
        <p14:creationId xmlns:p14="http://schemas.microsoft.com/office/powerpoint/2010/main" val="889229237"/>
      </p:ext>
    </p:extLst>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1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9"/>
            <a:ext cx="2057400" cy="365125"/>
          </a:xfrm>
          <a:prstGeom prst="rect">
            <a:avLst/>
          </a:prstGeom>
        </p:spPr>
        <p:txBody>
          <a:bodyPr/>
          <a:lstStyle>
            <a:lvl1pP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5/31/2024</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9"/>
            <a:ext cx="3086100" cy="365125"/>
          </a:xfrm>
          <a:prstGeom prst="rect">
            <a:avLst/>
          </a:prstGeom>
        </p:spPr>
        <p:txBody>
          <a:bodyPr/>
          <a:lstStyle>
            <a:lvl1pPr algn="ct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pPr algn="r"/>
            <a:r>
              <a:rPr lang="fr-FR" smtClean="0"/>
              <a:t>ET2100 </a:t>
            </a:r>
            <a:r>
              <a:rPr lang="en-US" i="1" smtClean="0"/>
              <a:t>- </a:t>
            </a:r>
            <a:r>
              <a:rPr lang="en-US" b="1" i="1" smtClean="0"/>
              <a:t>Data Structures and Algorithms</a:t>
            </a:r>
            <a:endParaRPr lang="en-US" smtClean="0"/>
          </a:p>
          <a:p>
            <a:pPr algn="r"/>
            <a:r>
              <a:rPr lang="en-US" smtClean="0"/>
              <a:t>School of Electrical and Electronic Engineering</a:t>
            </a:r>
            <a:endParaRPr lang="en-US" dirty="0"/>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8"/>
            <a:ext cx="2057400" cy="365125"/>
          </a:xfrm>
          <a:prstGeom prst="rect">
            <a:avLst/>
          </a:prstGeom>
        </p:spPr>
        <p:txBody>
          <a:bodyPr/>
          <a:lstStyle>
            <a:lvl1pPr algn="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C24317B-5122-4A99-A6E9-FA23C146A7E0}" type="slidenum">
              <a:rPr lang="en-US" smtClean="0"/>
              <a:pPr/>
              <a:t>‹#›</a:t>
            </a:fld>
            <a:endParaRPr lang="en-US"/>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5"/>
            <a:ext cx="8673846" cy="451739"/>
          </a:xfrm>
          <a:prstGeom prst="rect">
            <a:avLst/>
          </a:prstGeom>
        </p:spPr>
        <p:txBody>
          <a:bodyPr/>
          <a:lstStyle>
            <a:lvl1pPr>
              <a:defRPr sz="21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3: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1" y="963168"/>
            <a:ext cx="8674100" cy="513283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828506107"/>
      </p:ext>
    </p:extLst>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1_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6">
            <a:extLst>
              <a:ext uri="{FF2B5EF4-FFF2-40B4-BE49-F238E27FC236}">
                <a16:creationId xmlns:a16="http://schemas.microsoft.com/office/drawing/2014/main" id="{689FBFE6-E7AD-40DE-88B8-794C73F956C5}"/>
              </a:ext>
            </a:extLst>
          </p:cNvPr>
          <p:cNvSpPr>
            <a:spLocks noGrp="1"/>
          </p:cNvSpPr>
          <p:nvPr>
            <p:ph type="title" hasCustomPrompt="1"/>
          </p:nvPr>
        </p:nvSpPr>
        <p:spPr>
          <a:xfrm>
            <a:off x="3511295" y="224919"/>
            <a:ext cx="5397627" cy="451739"/>
          </a:xfrm>
          <a:prstGeom prst="rect">
            <a:avLst/>
          </a:prstGeom>
        </p:spPr>
        <p:txBody>
          <a:bodyPr/>
          <a:lstStyle>
            <a:lvl1pPr>
              <a:defRPr sz="2100" b="1">
                <a:solidFill>
                  <a:schemeClr val="tx1"/>
                </a:solidFill>
                <a:latin typeface="Lato" panose="020F0502020204030203" pitchFamily="34" charset="0"/>
                <a:ea typeface="Lato" panose="020F0502020204030203" pitchFamily="34" charset="0"/>
                <a:cs typeface="Lato" panose="020F0502020204030203" pitchFamily="34" charset="0"/>
              </a:defRPr>
            </a:lvl1pPr>
          </a:lstStyle>
          <a:p>
            <a:r>
              <a:rPr lang="en-US" dirty="0"/>
              <a:t>Title 4: ……………………………………</a:t>
            </a:r>
          </a:p>
        </p:txBody>
      </p:sp>
      <p:sp>
        <p:nvSpPr>
          <p:cNvPr id="12" name="Text Placeholder 7">
            <a:extLst>
              <a:ext uri="{FF2B5EF4-FFF2-40B4-BE49-F238E27FC236}">
                <a16:creationId xmlns:a16="http://schemas.microsoft.com/office/drawing/2014/main" id="{1C2ED7A5-CBB5-4B5C-BD2A-3596087A71FA}"/>
              </a:ext>
            </a:extLst>
          </p:cNvPr>
          <p:cNvSpPr>
            <a:spLocks noGrp="1"/>
          </p:cNvSpPr>
          <p:nvPr>
            <p:ph type="body" sz="quarter" idx="13"/>
          </p:nvPr>
        </p:nvSpPr>
        <p:spPr>
          <a:xfrm>
            <a:off x="3524251" y="1011238"/>
            <a:ext cx="5384672" cy="552926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Date Placeholder 3">
            <a:extLst>
              <a:ext uri="{FF2B5EF4-FFF2-40B4-BE49-F238E27FC236}">
                <a16:creationId xmlns:a16="http://schemas.microsoft.com/office/drawing/2014/main" id="{E21F2271-B488-4DC9-A50E-592D82F22CE9}"/>
              </a:ext>
            </a:extLst>
          </p:cNvPr>
          <p:cNvSpPr>
            <a:spLocks noGrp="1"/>
          </p:cNvSpPr>
          <p:nvPr>
            <p:ph type="dt" sz="half" idx="10"/>
          </p:nvPr>
        </p:nvSpPr>
        <p:spPr>
          <a:xfrm>
            <a:off x="628650" y="6565259"/>
            <a:ext cx="2057400" cy="365125"/>
          </a:xfrm>
          <a:prstGeom prst="rect">
            <a:avLst/>
          </a:prstGeom>
        </p:spPr>
        <p:txBody>
          <a:bodyPr/>
          <a:lstStyle>
            <a:lvl1pPr>
              <a:defRPr sz="9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5/31/2024</a:t>
            </a:fld>
            <a:endParaRPr lang="en-US"/>
          </a:p>
        </p:txBody>
      </p:sp>
      <p:sp>
        <p:nvSpPr>
          <p:cNvPr id="14" name="Footer Placeholder 4">
            <a:extLst>
              <a:ext uri="{FF2B5EF4-FFF2-40B4-BE49-F238E27FC236}">
                <a16:creationId xmlns:a16="http://schemas.microsoft.com/office/drawing/2014/main" id="{706E966D-F219-41DE-82BF-3F3121B7DCCC}"/>
              </a:ext>
            </a:extLst>
          </p:cNvPr>
          <p:cNvSpPr>
            <a:spLocks noGrp="1"/>
          </p:cNvSpPr>
          <p:nvPr>
            <p:ph type="ftr" sz="quarter" idx="11"/>
          </p:nvPr>
        </p:nvSpPr>
        <p:spPr>
          <a:xfrm>
            <a:off x="3028950" y="6565259"/>
            <a:ext cx="3086100" cy="365125"/>
          </a:xfrm>
          <a:prstGeom prst="rect">
            <a:avLst/>
          </a:prstGeom>
        </p:spPr>
        <p:txBody>
          <a:bodyPr/>
          <a:lstStyle>
            <a:lvl1pPr algn="ct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pPr algn="r"/>
            <a:r>
              <a:rPr lang="fr-FR" smtClean="0"/>
              <a:t>ET2100 </a:t>
            </a:r>
            <a:r>
              <a:rPr lang="en-US" i="1" smtClean="0"/>
              <a:t>- </a:t>
            </a:r>
            <a:r>
              <a:rPr lang="en-US" b="1" i="1" smtClean="0"/>
              <a:t>Data Structures and Algorithms</a:t>
            </a:r>
            <a:endParaRPr lang="en-US" smtClean="0"/>
          </a:p>
          <a:p>
            <a:pPr algn="r"/>
            <a:r>
              <a:rPr lang="en-US" smtClean="0"/>
              <a:t>School of Electrical and Electronic Engineering</a:t>
            </a:r>
            <a:endParaRPr lang="en-US" dirty="0"/>
          </a:p>
        </p:txBody>
      </p:sp>
      <p:sp>
        <p:nvSpPr>
          <p:cNvPr id="15" name="Slide Number Placeholder 5">
            <a:extLst>
              <a:ext uri="{FF2B5EF4-FFF2-40B4-BE49-F238E27FC236}">
                <a16:creationId xmlns:a16="http://schemas.microsoft.com/office/drawing/2014/main" id="{AF61A491-C108-489A-B2EA-9FC27DAD4D24}"/>
              </a:ext>
            </a:extLst>
          </p:cNvPr>
          <p:cNvSpPr>
            <a:spLocks noGrp="1"/>
          </p:cNvSpPr>
          <p:nvPr>
            <p:ph type="sldNum" sz="quarter" idx="12"/>
          </p:nvPr>
        </p:nvSpPr>
        <p:spPr>
          <a:xfrm>
            <a:off x="6867383" y="6572128"/>
            <a:ext cx="2057400" cy="365125"/>
          </a:xfrm>
          <a:prstGeom prst="rect">
            <a:avLst/>
          </a:prstGeom>
        </p:spPr>
        <p:txBody>
          <a:bodyPr/>
          <a:lstStyle>
            <a:lvl1pPr algn="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C24317B-5122-4A99-A6E9-FA23C146A7E0}" type="slidenum">
              <a:rPr lang="en-US" smtClean="0"/>
              <a:pPr/>
              <a:t>‹#›</a:t>
            </a:fld>
            <a:endParaRPr lang="en-US"/>
          </a:p>
        </p:txBody>
      </p:sp>
    </p:spTree>
    <p:extLst>
      <p:ext uri="{BB962C8B-B14F-4D97-AF65-F5344CB8AC3E}">
        <p14:creationId xmlns:p14="http://schemas.microsoft.com/office/powerpoint/2010/main" val="2791158872"/>
      </p:ext>
    </p:extLst>
  </p:cSld>
  <p:clrMapOvr>
    <a:masterClrMapping/>
  </p:clrMapOvr>
  <p:hf hd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1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5"/>
            <a:ext cx="8673846" cy="451739"/>
          </a:xfrm>
          <a:prstGeom prst="rect">
            <a:avLst/>
          </a:prstGeom>
        </p:spPr>
        <p:txBody>
          <a:bodyPr/>
          <a:lstStyle>
            <a:lvl1pPr>
              <a:defRPr sz="21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5: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9"/>
            <a:ext cx="2057400" cy="365125"/>
          </a:xfrm>
          <a:prstGeom prst="rect">
            <a:avLst/>
          </a:prstGeom>
        </p:spPr>
        <p:txBody>
          <a:bodyPr/>
          <a:lstStyle>
            <a:lvl1pP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5/31/2024</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9"/>
            <a:ext cx="3086100" cy="365125"/>
          </a:xfrm>
          <a:prstGeom prst="rect">
            <a:avLst/>
          </a:prstGeom>
        </p:spPr>
        <p:txBody>
          <a:bodyPr/>
          <a:lstStyle>
            <a:lvl1pPr algn="ct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pPr algn="r"/>
            <a:r>
              <a:rPr lang="fr-FR" smtClean="0"/>
              <a:t>ET2100 </a:t>
            </a:r>
            <a:r>
              <a:rPr lang="en-US" i="1" smtClean="0"/>
              <a:t>- </a:t>
            </a:r>
            <a:r>
              <a:rPr lang="en-US" b="1" i="1" smtClean="0"/>
              <a:t>Data Structures and Algorithms</a:t>
            </a:r>
            <a:endParaRPr lang="en-US" smtClean="0"/>
          </a:p>
          <a:p>
            <a:pPr algn="r"/>
            <a:r>
              <a:rPr lang="en-US" smtClean="0"/>
              <a:t>School of Electrical and Electronic Engineering</a:t>
            </a:r>
            <a:endParaRPr lang="en-US" dirty="0"/>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8"/>
            <a:ext cx="2057400" cy="365125"/>
          </a:xfrm>
          <a:prstGeom prst="rect">
            <a:avLst/>
          </a:prstGeom>
        </p:spPr>
        <p:txBody>
          <a:bodyPr/>
          <a:lstStyle>
            <a:lvl1pPr algn="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C24317B-5122-4A99-A6E9-FA23C146A7E0}" type="slidenum">
              <a:rPr lang="en-US" smtClean="0"/>
              <a:pPr/>
              <a:t>‹#›</a:t>
            </a:fld>
            <a:endParaRPr lang="en-US"/>
          </a:p>
        </p:txBody>
      </p:sp>
    </p:spTree>
    <p:extLst>
      <p:ext uri="{BB962C8B-B14F-4D97-AF65-F5344CB8AC3E}">
        <p14:creationId xmlns:p14="http://schemas.microsoft.com/office/powerpoint/2010/main" val="4209737174"/>
      </p:ext>
    </p:extLst>
  </p:cSld>
  <p:clrMapOvr>
    <a:masterClrMapping/>
  </p:clrMapOvr>
  <p:hf hdr="0" dt="0"/>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1_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76EAE966-F590-4BAF-A55B-75735FCC661F}"/>
              </a:ext>
            </a:extLst>
          </p:cNvPr>
          <p:cNvSpPr>
            <a:spLocks noGrp="1"/>
          </p:cNvSpPr>
          <p:nvPr>
            <p:ph type="dt" sz="half" idx="10"/>
          </p:nvPr>
        </p:nvSpPr>
        <p:spPr>
          <a:xfrm>
            <a:off x="628650" y="6565259"/>
            <a:ext cx="2057400" cy="365125"/>
          </a:xfrm>
          <a:prstGeom prst="rect">
            <a:avLst/>
          </a:prstGeom>
        </p:spPr>
        <p:txBody>
          <a:bodyPr/>
          <a:lstStyle>
            <a:lvl1pPr>
              <a:defRPr sz="9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5/31/2024</a:t>
            </a:fld>
            <a:endParaRPr lang="en-US"/>
          </a:p>
        </p:txBody>
      </p:sp>
      <p:sp>
        <p:nvSpPr>
          <p:cNvPr id="6" name="Footer Placeholder 4">
            <a:extLst>
              <a:ext uri="{FF2B5EF4-FFF2-40B4-BE49-F238E27FC236}">
                <a16:creationId xmlns:a16="http://schemas.microsoft.com/office/drawing/2014/main" id="{C330CA1C-4366-43E8-9DC8-B360FC115AE4}"/>
              </a:ext>
            </a:extLst>
          </p:cNvPr>
          <p:cNvSpPr>
            <a:spLocks noGrp="1"/>
          </p:cNvSpPr>
          <p:nvPr>
            <p:ph type="ftr" sz="quarter" idx="11"/>
          </p:nvPr>
        </p:nvSpPr>
        <p:spPr>
          <a:xfrm>
            <a:off x="3028950" y="6565259"/>
            <a:ext cx="3086100" cy="365125"/>
          </a:xfrm>
          <a:prstGeom prst="rect">
            <a:avLst/>
          </a:prstGeom>
        </p:spPr>
        <p:txBody>
          <a:bodyPr/>
          <a:lstStyle>
            <a:lvl1pPr algn="ct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pPr algn="r"/>
            <a:r>
              <a:rPr lang="fr-FR" smtClean="0"/>
              <a:t>ET2100 </a:t>
            </a:r>
            <a:r>
              <a:rPr lang="en-US" i="1" smtClean="0"/>
              <a:t>- </a:t>
            </a:r>
            <a:r>
              <a:rPr lang="en-US" b="1" i="1" smtClean="0"/>
              <a:t>Data Structures and Algorithms</a:t>
            </a:r>
            <a:endParaRPr lang="en-US" smtClean="0"/>
          </a:p>
          <a:p>
            <a:pPr algn="r"/>
            <a:r>
              <a:rPr lang="en-US" smtClean="0"/>
              <a:t>School of Electrical and Electronic Engineering</a:t>
            </a:r>
            <a:endParaRPr lang="en-US" dirty="0"/>
          </a:p>
        </p:txBody>
      </p:sp>
      <p:sp>
        <p:nvSpPr>
          <p:cNvPr id="7" name="Slide Number Placeholder 5">
            <a:extLst>
              <a:ext uri="{FF2B5EF4-FFF2-40B4-BE49-F238E27FC236}">
                <a16:creationId xmlns:a16="http://schemas.microsoft.com/office/drawing/2014/main" id="{72DB13F6-9193-4FE2-AE85-5B96248CC0EA}"/>
              </a:ext>
            </a:extLst>
          </p:cNvPr>
          <p:cNvSpPr>
            <a:spLocks noGrp="1"/>
          </p:cNvSpPr>
          <p:nvPr>
            <p:ph type="sldNum" sz="quarter" idx="12"/>
          </p:nvPr>
        </p:nvSpPr>
        <p:spPr>
          <a:xfrm>
            <a:off x="6867383" y="6572128"/>
            <a:ext cx="2057400" cy="365125"/>
          </a:xfrm>
          <a:prstGeom prst="rect">
            <a:avLst/>
          </a:prstGeom>
        </p:spPr>
        <p:txBody>
          <a:bodyPr/>
          <a:lstStyle>
            <a:lvl1pPr algn="r">
              <a:defRPr sz="9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BC24317B-5122-4A99-A6E9-FA23C146A7E0}" type="slidenum">
              <a:rPr lang="en-US" smtClean="0"/>
              <a:pPr/>
              <a:t>‹#›</a:t>
            </a:fld>
            <a:endParaRPr lang="en-US"/>
          </a:p>
        </p:txBody>
      </p:sp>
    </p:spTree>
    <p:extLst>
      <p:ext uri="{BB962C8B-B14F-4D97-AF65-F5344CB8AC3E}">
        <p14:creationId xmlns:p14="http://schemas.microsoft.com/office/powerpoint/2010/main" val="2119030030"/>
      </p:ext>
    </p:extLst>
  </p:cSld>
  <p:clrMapOvr>
    <a:masterClrMapping/>
  </p:clrMapOvr>
  <p:hf hd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8" name="Content Placeholder 7"/>
          <p:cNvSpPr>
            <a:spLocks noGrp="1"/>
          </p:cNvSpPr>
          <p:nvPr>
            <p:ph sz="quarter" idx="1"/>
          </p:nvPr>
        </p:nvSpPr>
        <p:spPr>
          <a:xfrm>
            <a:off x="457200" y="1219200"/>
            <a:ext cx="8229600" cy="49377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 name="Slide Number Placeholder 22"/>
          <p:cNvSpPr>
            <a:spLocks noGrp="1"/>
          </p:cNvSpPr>
          <p:nvPr>
            <p:ph type="sldNum" sz="quarter" idx="4"/>
          </p:nvPr>
        </p:nvSpPr>
        <p:spPr>
          <a:xfrm>
            <a:off x="612775" y="6356350"/>
            <a:ext cx="1981200" cy="365125"/>
          </a:xfrm>
          <a:prstGeom prst="rect">
            <a:avLst/>
          </a:prstGeom>
        </p:spPr>
        <p:txBody>
          <a:bodyPr vert="horz" wrap="square" lIns="91440" tIns="45720" rIns="91440" bIns="45720" numCol="1" anchor="t" anchorCtr="0" compatLnSpc="1">
            <a:prstTxWarp prst="textNoShape">
              <a:avLst/>
            </a:prstTxWarp>
          </a:bodyPr>
          <a:lstStyle>
            <a:lvl1pPr>
              <a:defRPr sz="1400">
                <a:solidFill>
                  <a:schemeClr val="tx2"/>
                </a:solidFill>
                <a:latin typeface="Gill Sans MT"/>
              </a:defRPr>
            </a:lvl1pPr>
          </a:lstStyle>
          <a:p>
            <a:fld id="{BC24317B-5122-4A99-A6E9-FA23C146A7E0}" type="slidenum">
              <a:rPr lang="en-US"/>
              <a:pPr/>
              <a:t>‹#›</a:t>
            </a:fld>
            <a:endParaRPr lang="en-US"/>
          </a:p>
        </p:txBody>
      </p:sp>
      <p:sp>
        <p:nvSpPr>
          <p:cNvPr id="6" name="Footer Placeholder 20"/>
          <p:cNvSpPr>
            <a:spLocks noGrp="1"/>
          </p:cNvSpPr>
          <p:nvPr>
            <p:ph type="ftr" sz="quarter" idx="3"/>
          </p:nvPr>
        </p:nvSpPr>
        <p:spPr>
          <a:xfrm>
            <a:off x="3124200" y="6356350"/>
            <a:ext cx="5583072"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lgn="r"/>
            <a:r>
              <a:rPr lang="fr-FR" dirty="0" smtClean="0"/>
              <a:t>ET2100 </a:t>
            </a:r>
            <a:r>
              <a:rPr lang="en-US" i="1" dirty="0" smtClean="0"/>
              <a:t>- </a:t>
            </a:r>
            <a:r>
              <a:rPr lang="en-US" b="1" i="1" dirty="0" smtClean="0"/>
              <a:t>Data Structures and Algorithms</a:t>
            </a:r>
            <a:endParaRPr lang="en-US" dirty="0" smtClean="0"/>
          </a:p>
          <a:p>
            <a:pPr algn="r"/>
            <a:r>
              <a:rPr lang="en-US" dirty="0" smtClean="0"/>
              <a:t>School of Electrical and Electronic Engineering</a:t>
            </a:r>
            <a:endParaRPr lang="en-US" dirty="0"/>
          </a:p>
        </p:txBody>
      </p:sp>
      <p:sp>
        <p:nvSpPr>
          <p:cNvPr id="5" name="Title Placeholder 21"/>
          <p:cNvSpPr>
            <a:spLocks noGrp="1"/>
          </p:cNvSpPr>
          <p:nvPr>
            <p:ph type="title"/>
          </p:nvPr>
        </p:nvSpPr>
        <p:spPr bwMode="auto">
          <a:xfrm>
            <a:off x="457200" y="152400"/>
            <a:ext cx="8229600" cy="990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smtClean="0"/>
              <a:t>Click to edit Master title style</a:t>
            </a:r>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C764DE79-268F-4C1A-8933-263129D2AF90}" type="datetimeFigureOut">
              <a:rPr lang="en-US" dirty="0"/>
              <a:t>5/31/2024</a:t>
            </a:fld>
            <a:endParaRPr 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lgn="r"/>
            <a:r>
              <a:rPr lang="fr-FR" smtClean="0"/>
              <a:t>ET2100 </a:t>
            </a:r>
            <a:r>
              <a:rPr lang="en-US" i="1" smtClean="0"/>
              <a:t>- </a:t>
            </a:r>
            <a:r>
              <a:rPr lang="en-US" b="1" i="1" smtClean="0"/>
              <a:t>Data Structures and Algorithms</a:t>
            </a:r>
            <a:endParaRPr lang="en-US" smtClean="0"/>
          </a:p>
          <a:p>
            <a:pPr algn="r"/>
            <a:r>
              <a:rPr lang="en-US" smtClean="0"/>
              <a:t>School of Electrical and Electronic Engineering</a:t>
            </a:r>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C24317B-5122-4A99-A6E9-FA23C146A7E0}" type="slidenum">
              <a:rPr lang="en-US" smtClean="0"/>
              <a:pPr/>
              <a:t>‹#›</a:t>
            </a:fld>
            <a:endParaRPr lang="en-US"/>
          </a:p>
        </p:txBody>
      </p:sp>
      <p:pic>
        <p:nvPicPr>
          <p:cNvPr id="7" name="Picture 2" descr="D:\lo go dhbk100957AM.jpg"/>
          <p:cNvPicPr>
            <a:picLocks noChangeAspect="1" noChangeArrowheads="1"/>
          </p:cNvPicPr>
          <p:nvPr userDrawn="1"/>
        </p:nvPicPr>
        <p:blipFill>
          <a:blip r:embed="rId22" cstate="print"/>
          <a:srcRect/>
          <a:stretch>
            <a:fillRect/>
          </a:stretch>
        </p:blipFill>
        <p:spPr bwMode="auto">
          <a:xfrm>
            <a:off x="8766174" y="6372320"/>
            <a:ext cx="225425" cy="336455"/>
          </a:xfrm>
          <a:prstGeom prst="rect">
            <a:avLst/>
          </a:prstGeom>
          <a:noFill/>
        </p:spPr>
      </p:pic>
    </p:spTree>
    <p:extLst>
      <p:ext uri="{BB962C8B-B14F-4D97-AF65-F5344CB8AC3E}">
        <p14:creationId xmlns:p14="http://schemas.microsoft.com/office/powerpoint/2010/main" val="909049491"/>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72" r:id="rId14"/>
    <p:sldLayoutId id="2147483774" r:id="rId15"/>
    <p:sldLayoutId id="2147483775" r:id="rId16"/>
    <p:sldLayoutId id="2147483776" r:id="rId17"/>
    <p:sldLayoutId id="2147483777" r:id="rId18"/>
    <p:sldLayoutId id="2147483778" r:id="rId19"/>
    <p:sldLayoutId id="2147483751" r:id="rId20"/>
  </p:sldLayoutIdLst>
  <p:hf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6.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6.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6.xm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18.xml"/><Relationship Id="rId1" Type="http://schemas.openxmlformats.org/officeDocument/2006/relationships/slideLayout" Target="../slideLayouts/slideLayout16.xml"/><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6.xml"/></Relationships>
</file>

<file path=ppt/slides/_rels/slide3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16.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6.xml"/></Relationships>
</file>

<file path=ppt/slides/_rels/slide3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0.png"/><Relationship Id="rId1" Type="http://schemas.openxmlformats.org/officeDocument/2006/relationships/slideLayout" Target="../slideLayouts/slideLayout16.xml"/><Relationship Id="rId4" Type="http://schemas.openxmlformats.org/officeDocument/2006/relationships/image" Target="../media/image23.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143000" y="4120243"/>
            <a:ext cx="7315200" cy="1066800"/>
          </a:xfrm>
        </p:spPr>
        <p:txBody>
          <a:bodyPr>
            <a:normAutofit/>
          </a:bodyPr>
          <a:lstStyle/>
          <a:p>
            <a:pPr algn="ctr"/>
            <a:r>
              <a:rPr lang="en-US" dirty="0">
                <a:solidFill>
                  <a:schemeClr val="bg1"/>
                </a:solidFill>
              </a:rPr>
              <a:t>CẤU TRÚC DỮ LIỆU VÀ GIẢI THUẬT</a:t>
            </a:r>
          </a:p>
        </p:txBody>
      </p:sp>
      <p:sp>
        <p:nvSpPr>
          <p:cNvPr id="3" name="Text Placeholder 2"/>
          <p:cNvSpPr>
            <a:spLocks noGrp="1"/>
          </p:cNvSpPr>
          <p:nvPr>
            <p:ph type="body" idx="4294967295"/>
          </p:nvPr>
        </p:nvSpPr>
        <p:spPr>
          <a:xfrm>
            <a:off x="3886200" y="4876800"/>
            <a:ext cx="6781800" cy="1143000"/>
          </a:xfrm>
        </p:spPr>
        <p:txBody>
          <a:bodyPr>
            <a:normAutofit/>
          </a:bodyPr>
          <a:lstStyle/>
          <a:p>
            <a:pPr marL="0" indent="0">
              <a:buNone/>
            </a:pPr>
            <a:r>
              <a:rPr lang="fr-FR" sz="2800" dirty="0" smtClean="0">
                <a:solidFill>
                  <a:schemeClr val="bg1"/>
                </a:solidFill>
              </a:rPr>
              <a:t>ET2100</a:t>
            </a:r>
          </a:p>
          <a:p>
            <a:pPr marL="0" indent="0">
              <a:buNone/>
            </a:pPr>
            <a:endParaRPr lang="en-US" sz="2800" dirty="0">
              <a:solidFill>
                <a:schemeClr val="bg1"/>
              </a:solidFill>
            </a:endParaRPr>
          </a:p>
        </p:txBody>
      </p:sp>
      <p:sp>
        <p:nvSpPr>
          <p:cNvPr id="4" name="Slide Number Placeholder 3"/>
          <p:cNvSpPr>
            <a:spLocks noGrp="1"/>
          </p:cNvSpPr>
          <p:nvPr>
            <p:ph type="sldNum" sz="quarter" idx="4294967295"/>
          </p:nvPr>
        </p:nvSpPr>
        <p:spPr>
          <a:xfrm>
            <a:off x="7086600" y="6356350"/>
            <a:ext cx="2057400" cy="365125"/>
          </a:xfrm>
        </p:spPr>
        <p:txBody>
          <a:bodyPr/>
          <a:lstStyle/>
          <a:p>
            <a:fld id="{26B269CE-12F4-4F4F-BF2F-21E0A343DA44}" type="slidenum">
              <a:rPr lang="en-US" smtClean="0"/>
              <a:pPr/>
              <a:t>1</a:t>
            </a:fld>
            <a:endParaRPr lang="en-US"/>
          </a:p>
        </p:txBody>
      </p:sp>
    </p:spTree>
    <p:extLst>
      <p:ext uri="{BB962C8B-B14F-4D97-AF65-F5344CB8AC3E}">
        <p14:creationId xmlns:p14="http://schemas.microsoft.com/office/powerpoint/2010/main" val="48972004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971800" y="2819400"/>
            <a:ext cx="4876800" cy="1066800"/>
          </a:xfrm>
        </p:spPr>
        <p:txBody>
          <a:bodyPr>
            <a:normAutofit/>
          </a:bodyPr>
          <a:lstStyle/>
          <a:p>
            <a:pPr algn="r"/>
            <a:r>
              <a:rPr lang="vi-VN" i="1" dirty="0">
                <a:latin typeface="Lato"/>
              </a:rPr>
              <a:t>Chương VI : </a:t>
            </a:r>
            <a:r>
              <a:rPr lang="en-US" i="1" dirty="0" smtClean="0">
                <a:latin typeface="Lato"/>
              </a:rPr>
              <a:t/>
            </a:r>
            <a:br>
              <a:rPr lang="en-US" i="1" dirty="0" smtClean="0">
                <a:latin typeface="Lato"/>
              </a:rPr>
            </a:br>
            <a:r>
              <a:rPr lang="vi-VN" i="1" dirty="0" smtClean="0">
                <a:latin typeface="Lato"/>
              </a:rPr>
              <a:t>Các </a:t>
            </a:r>
            <a:r>
              <a:rPr lang="vi-VN" i="1" dirty="0">
                <a:latin typeface="Lato"/>
              </a:rPr>
              <a:t>giải thuật tìm kiếm</a:t>
            </a:r>
          </a:p>
        </p:txBody>
      </p:sp>
      <p:sp>
        <p:nvSpPr>
          <p:cNvPr id="3" name="Title 6">
            <a:extLst>
              <a:ext uri="{FF2B5EF4-FFF2-40B4-BE49-F238E27FC236}">
                <a16:creationId xmlns:a16="http://schemas.microsoft.com/office/drawing/2014/main" id="{A4ACF486-B7D8-4A5A-B633-83527A2F99E2}"/>
              </a:ext>
            </a:extLst>
          </p:cNvPr>
          <p:cNvSpPr txBox="1">
            <a:spLocks/>
          </p:cNvSpPr>
          <p:nvPr/>
        </p:nvSpPr>
        <p:spPr>
          <a:xfrm>
            <a:off x="3733800" y="4572000"/>
            <a:ext cx="7351077" cy="1119250"/>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1400" dirty="0" err="1"/>
              <a:t>Giảng</a:t>
            </a:r>
            <a:r>
              <a:rPr lang="en-US" sz="1400" dirty="0"/>
              <a:t> </a:t>
            </a:r>
            <a:r>
              <a:rPr lang="en-US" sz="1400" dirty="0" err="1"/>
              <a:t>viên</a:t>
            </a:r>
            <a:r>
              <a:rPr lang="en-US" sz="1400" dirty="0"/>
              <a:t>: TS. </a:t>
            </a:r>
            <a:r>
              <a:rPr lang="en-US" sz="1400" dirty="0" err="1"/>
              <a:t>Đỗ</a:t>
            </a:r>
            <a:r>
              <a:rPr lang="en-US" sz="1400" dirty="0"/>
              <a:t> </a:t>
            </a:r>
            <a:r>
              <a:rPr lang="en-US" sz="1400" dirty="0" err="1"/>
              <a:t>Thị</a:t>
            </a:r>
            <a:r>
              <a:rPr lang="en-US" sz="1400" dirty="0"/>
              <a:t> </a:t>
            </a:r>
            <a:r>
              <a:rPr lang="en-US" sz="1400" dirty="0" err="1"/>
              <a:t>Ngọc</a:t>
            </a:r>
            <a:r>
              <a:rPr lang="en-US" sz="1400" dirty="0"/>
              <a:t> </a:t>
            </a:r>
            <a:r>
              <a:rPr lang="en-US" sz="1400" dirty="0" err="1"/>
              <a:t>Diệp</a:t>
            </a:r>
            <a:endParaRPr lang="en-US" sz="1400" dirty="0"/>
          </a:p>
          <a:p>
            <a:r>
              <a:rPr lang="en-US" sz="1400" dirty="0" err="1" smtClean="0"/>
              <a:t>Khoa</a:t>
            </a:r>
            <a:r>
              <a:rPr lang="en-US" sz="1400" dirty="0" smtClean="0"/>
              <a:t> </a:t>
            </a:r>
            <a:r>
              <a:rPr lang="en-US" sz="1400" dirty="0" err="1"/>
              <a:t>Kỹ</a:t>
            </a:r>
            <a:r>
              <a:rPr lang="en-US" sz="1400" dirty="0"/>
              <a:t> </a:t>
            </a:r>
            <a:r>
              <a:rPr lang="en-US" sz="1400" dirty="0" err="1"/>
              <a:t>thuật</a:t>
            </a:r>
            <a:r>
              <a:rPr lang="en-US" sz="1400" dirty="0"/>
              <a:t> </a:t>
            </a:r>
            <a:r>
              <a:rPr lang="en-US" sz="1400" dirty="0" err="1"/>
              <a:t>Truyền</a:t>
            </a:r>
            <a:r>
              <a:rPr lang="en-US" sz="1400" dirty="0"/>
              <a:t> </a:t>
            </a:r>
            <a:r>
              <a:rPr lang="en-US" sz="1400" dirty="0" err="1"/>
              <a:t>thông</a:t>
            </a:r>
            <a:r>
              <a:rPr lang="en-US" sz="1400" dirty="0"/>
              <a:t> – </a:t>
            </a:r>
            <a:r>
              <a:rPr lang="en-US" sz="1400" dirty="0" err="1" smtClean="0"/>
              <a:t>Trường</a:t>
            </a:r>
            <a:r>
              <a:rPr lang="en-US" sz="1400" dirty="0" smtClean="0"/>
              <a:t> </a:t>
            </a:r>
            <a:r>
              <a:rPr lang="en-US" sz="1400" dirty="0" err="1" smtClean="0"/>
              <a:t>Điện</a:t>
            </a:r>
            <a:r>
              <a:rPr lang="en-US" sz="1400" dirty="0" smtClean="0"/>
              <a:t> </a:t>
            </a:r>
            <a:r>
              <a:rPr lang="en-US" sz="1400" dirty="0" err="1" smtClean="0"/>
              <a:t>Điện</a:t>
            </a:r>
            <a:r>
              <a:rPr lang="en-US" sz="1400" dirty="0" smtClean="0"/>
              <a:t> </a:t>
            </a:r>
            <a:r>
              <a:rPr lang="en-US" sz="1400" dirty="0" err="1" smtClean="0"/>
              <a:t>Tử</a:t>
            </a:r>
            <a:endParaRPr lang="en-US" sz="1400" dirty="0"/>
          </a:p>
        </p:txBody>
      </p:sp>
    </p:spTree>
    <p:extLst>
      <p:ext uri="{BB962C8B-B14F-4D97-AF65-F5344CB8AC3E}">
        <p14:creationId xmlns:p14="http://schemas.microsoft.com/office/powerpoint/2010/main" val="392873066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5F7B6D9-5450-4FA1-9457-E96809A24814}" type="slidenum">
              <a:rPr lang="en-US" altLang="en-US">
                <a:latin typeface="Garamond" panose="02020404030301010803" pitchFamily="18" charset="0"/>
              </a:rPr>
              <a:pPr eaLnBrk="1" hangingPunct="1"/>
              <a:t>3</a:t>
            </a:fld>
            <a:endParaRPr lang="en-US" altLang="en-US">
              <a:latin typeface="Garamond" panose="02020404030301010803" pitchFamily="18" charset="0"/>
            </a:endParaRPr>
          </a:p>
        </p:txBody>
      </p:sp>
      <p:sp>
        <p:nvSpPr>
          <p:cNvPr id="4101" name="Rectangle 2"/>
          <p:cNvSpPr>
            <a:spLocks noGrp="1" noChangeArrowheads="1"/>
          </p:cNvSpPr>
          <p:nvPr>
            <p:ph type="title"/>
          </p:nvPr>
        </p:nvSpPr>
        <p:spPr/>
        <p:txBody>
          <a:bodyPr>
            <a:normAutofit/>
          </a:bodyPr>
          <a:lstStyle/>
          <a:p>
            <a:pPr eaLnBrk="1" hangingPunct="1"/>
            <a:r>
              <a:rPr lang="en-US" altLang="en-US" sz="2400" dirty="0" err="1" smtClean="0"/>
              <a:t>Nội</a:t>
            </a:r>
            <a:r>
              <a:rPr lang="en-US" altLang="en-US" sz="2400" dirty="0" smtClean="0"/>
              <a:t> dung </a:t>
            </a:r>
            <a:r>
              <a:rPr lang="en-US" altLang="en-US" sz="2400" dirty="0" err="1" smtClean="0"/>
              <a:t>chính</a:t>
            </a:r>
            <a:endParaRPr lang="en-US" altLang="en-US" sz="2400" dirty="0" smtClean="0"/>
          </a:p>
        </p:txBody>
      </p:sp>
      <p:sp>
        <p:nvSpPr>
          <p:cNvPr id="4102" name="Rectangle 3"/>
          <p:cNvSpPr>
            <a:spLocks noGrp="1" noChangeArrowheads="1"/>
          </p:cNvSpPr>
          <p:nvPr>
            <p:ph type="body" sz="quarter" idx="13"/>
          </p:nvPr>
        </p:nvSpPr>
        <p:spPr/>
        <p:txBody>
          <a:bodyPr>
            <a:normAutofit/>
          </a:bodyPr>
          <a:lstStyle/>
          <a:p>
            <a:pPr marL="571500" indent="-571500" eaLnBrk="1" hangingPunct="1">
              <a:buFont typeface="Wingdings" panose="05000000000000000000" pitchFamily="2" charset="2"/>
              <a:buAutoNum type="arabicPeriod"/>
            </a:pPr>
            <a:r>
              <a:rPr lang="en-US" altLang="en-US" sz="2400" dirty="0" err="1" smtClean="0"/>
              <a:t>Bài</a:t>
            </a:r>
            <a:r>
              <a:rPr lang="en-US" altLang="en-US" sz="2400" dirty="0" smtClean="0"/>
              <a:t> </a:t>
            </a:r>
            <a:r>
              <a:rPr lang="en-US" altLang="en-US" sz="2400" dirty="0" err="1" smtClean="0"/>
              <a:t>toán</a:t>
            </a:r>
            <a:r>
              <a:rPr lang="en-US" altLang="en-US" sz="2400" dirty="0" smtClean="0"/>
              <a:t> </a:t>
            </a:r>
            <a:r>
              <a:rPr lang="en-US" altLang="en-US" sz="2400" dirty="0" err="1" smtClean="0"/>
              <a:t>tìm</a:t>
            </a:r>
            <a:r>
              <a:rPr lang="en-US" altLang="en-US" sz="2400" dirty="0" smtClean="0"/>
              <a:t> </a:t>
            </a:r>
            <a:r>
              <a:rPr lang="en-US" altLang="en-US" sz="2400" dirty="0" err="1" smtClean="0"/>
              <a:t>kiếm</a:t>
            </a:r>
            <a:endParaRPr lang="en-US" altLang="en-US" sz="2400" dirty="0" smtClean="0"/>
          </a:p>
          <a:p>
            <a:pPr marL="571500" indent="-571500">
              <a:buFont typeface="Wingdings" panose="05000000000000000000" pitchFamily="2" charset="2"/>
              <a:buAutoNum type="arabicPeriod"/>
            </a:pPr>
            <a:r>
              <a:rPr lang="en-US" altLang="en-US" sz="2400" dirty="0" err="1"/>
              <a:t>Các</a:t>
            </a:r>
            <a:r>
              <a:rPr lang="en-US" altLang="en-US" sz="2400" dirty="0"/>
              <a:t> </a:t>
            </a:r>
            <a:r>
              <a:rPr lang="en-US" altLang="en-US" sz="2400" dirty="0" err="1"/>
              <a:t>giải</a:t>
            </a:r>
            <a:r>
              <a:rPr lang="en-US" altLang="en-US" sz="2400" dirty="0"/>
              <a:t> </a:t>
            </a:r>
            <a:r>
              <a:rPr lang="en-US" altLang="en-US" sz="2400" dirty="0" err="1"/>
              <a:t>thuật</a:t>
            </a:r>
            <a:r>
              <a:rPr lang="en-US" altLang="en-US" sz="2400" dirty="0"/>
              <a:t> </a:t>
            </a:r>
            <a:r>
              <a:rPr lang="en-US" altLang="en-US" sz="2400" dirty="0" err="1"/>
              <a:t>tìm</a:t>
            </a:r>
            <a:r>
              <a:rPr lang="en-US" altLang="en-US" sz="2400" dirty="0"/>
              <a:t> </a:t>
            </a:r>
            <a:r>
              <a:rPr lang="en-US" altLang="en-US" sz="2400" dirty="0" err="1"/>
              <a:t>kiếm</a:t>
            </a:r>
            <a:r>
              <a:rPr lang="en-US" altLang="en-US" sz="2400" dirty="0"/>
              <a:t> </a:t>
            </a:r>
            <a:r>
              <a:rPr lang="en-US" altLang="en-US" sz="2400" dirty="0" err="1" smtClean="0"/>
              <a:t>phần</a:t>
            </a:r>
            <a:r>
              <a:rPr lang="en-US" altLang="en-US" sz="2400" dirty="0" smtClean="0"/>
              <a:t> </a:t>
            </a:r>
            <a:r>
              <a:rPr lang="en-US" altLang="en-US" sz="2400" dirty="0" err="1" smtClean="0"/>
              <a:t>tử</a:t>
            </a:r>
            <a:r>
              <a:rPr lang="en-US" altLang="en-US" sz="2400" dirty="0" smtClean="0"/>
              <a:t> </a:t>
            </a:r>
            <a:r>
              <a:rPr lang="en-US" altLang="en-US" sz="2400" dirty="0" err="1" smtClean="0"/>
              <a:t>bằng</a:t>
            </a:r>
            <a:r>
              <a:rPr lang="en-US" altLang="en-US" sz="2400" dirty="0" smtClean="0"/>
              <a:t> </a:t>
            </a:r>
            <a:r>
              <a:rPr lang="en-US" altLang="en-US" sz="2400" dirty="0"/>
              <a:t>so </a:t>
            </a:r>
            <a:r>
              <a:rPr lang="en-US" altLang="en-US" sz="2400" dirty="0" err="1"/>
              <a:t>sánh</a:t>
            </a:r>
            <a:endParaRPr lang="en-US" altLang="en-US" sz="2400" dirty="0" smtClean="0"/>
          </a:p>
          <a:p>
            <a:pPr marL="839788" lvl="1" indent="-495300"/>
            <a:r>
              <a:rPr lang="en-US" altLang="en-US" sz="2000" dirty="0" err="1"/>
              <a:t>Giải</a:t>
            </a:r>
            <a:r>
              <a:rPr lang="en-US" altLang="en-US" sz="2000" dirty="0"/>
              <a:t> </a:t>
            </a:r>
            <a:r>
              <a:rPr lang="en-US" altLang="en-US" sz="2000" dirty="0" err="1"/>
              <a:t>thuật</a:t>
            </a:r>
            <a:r>
              <a:rPr lang="en-US" altLang="en-US" sz="2000" dirty="0"/>
              <a:t> </a:t>
            </a:r>
            <a:r>
              <a:rPr lang="en-US" altLang="en-US" sz="2000" dirty="0" err="1"/>
              <a:t>tìm</a:t>
            </a:r>
            <a:r>
              <a:rPr lang="en-US" altLang="en-US" sz="2000" dirty="0"/>
              <a:t> </a:t>
            </a:r>
            <a:r>
              <a:rPr lang="en-US" altLang="en-US" sz="2000" dirty="0" err="1"/>
              <a:t>kiếm</a:t>
            </a:r>
            <a:r>
              <a:rPr lang="en-US" altLang="en-US" sz="2000" dirty="0"/>
              <a:t> </a:t>
            </a:r>
            <a:r>
              <a:rPr lang="en-US" altLang="en-US" sz="2000" dirty="0" err="1"/>
              <a:t>tuần</a:t>
            </a:r>
            <a:r>
              <a:rPr lang="en-US" altLang="en-US" sz="2000" dirty="0"/>
              <a:t> </a:t>
            </a:r>
            <a:r>
              <a:rPr lang="en-US" altLang="en-US" sz="2000" dirty="0" err="1"/>
              <a:t>tự</a:t>
            </a:r>
            <a:r>
              <a:rPr lang="en-US" altLang="en-US" sz="2000" dirty="0"/>
              <a:t> (Sequential searching algorithm</a:t>
            </a:r>
            <a:r>
              <a:rPr lang="en-US" altLang="en-US" sz="2000" dirty="0" smtClean="0"/>
              <a:t>)</a:t>
            </a:r>
          </a:p>
          <a:p>
            <a:pPr marL="839788" lvl="1" indent="-495300"/>
            <a:r>
              <a:rPr lang="en-US" altLang="en-US" sz="2000" dirty="0" err="1"/>
              <a:t>Giải</a:t>
            </a:r>
            <a:r>
              <a:rPr lang="en-US" altLang="en-US" sz="2000" dirty="0"/>
              <a:t> </a:t>
            </a:r>
            <a:r>
              <a:rPr lang="en-US" altLang="en-US" sz="2000" dirty="0" err="1"/>
              <a:t>thuật</a:t>
            </a:r>
            <a:r>
              <a:rPr lang="en-US" altLang="en-US" sz="2000" dirty="0"/>
              <a:t> </a:t>
            </a:r>
            <a:r>
              <a:rPr lang="en-US" altLang="en-US" sz="2000" dirty="0" err="1"/>
              <a:t>tìm</a:t>
            </a:r>
            <a:r>
              <a:rPr lang="en-US" altLang="en-US" sz="2000" dirty="0"/>
              <a:t> </a:t>
            </a:r>
            <a:r>
              <a:rPr lang="en-US" altLang="en-US" sz="2000" dirty="0" err="1"/>
              <a:t>kiếm</a:t>
            </a:r>
            <a:r>
              <a:rPr lang="en-US" altLang="en-US" sz="2000" dirty="0"/>
              <a:t> </a:t>
            </a:r>
            <a:r>
              <a:rPr lang="en-US" altLang="en-US" sz="2000" dirty="0" err="1"/>
              <a:t>nhị</a:t>
            </a:r>
            <a:r>
              <a:rPr lang="en-US" altLang="en-US" sz="2000" dirty="0"/>
              <a:t> </a:t>
            </a:r>
            <a:r>
              <a:rPr lang="en-US" altLang="en-US" sz="2000" dirty="0" err="1"/>
              <a:t>phân</a:t>
            </a:r>
            <a:r>
              <a:rPr lang="en-US" altLang="en-US" sz="2000" dirty="0"/>
              <a:t> (Binary searching algorithm)</a:t>
            </a:r>
            <a:endParaRPr lang="en-US" altLang="en-US" sz="2000" dirty="0" smtClean="0"/>
          </a:p>
          <a:p>
            <a:pPr marL="571500" indent="-571500">
              <a:buFont typeface="Wingdings" panose="05000000000000000000" pitchFamily="2" charset="2"/>
              <a:buAutoNum type="arabicPeriod"/>
            </a:pPr>
            <a:r>
              <a:rPr lang="en-US" sz="2400" dirty="0" err="1" smtClean="0"/>
              <a:t>Tìm</a:t>
            </a:r>
            <a:r>
              <a:rPr lang="en-US" sz="2400" dirty="0" smtClean="0"/>
              <a:t> </a:t>
            </a:r>
            <a:r>
              <a:rPr lang="en-US" sz="2400" dirty="0" err="1"/>
              <a:t>kiếm</a:t>
            </a:r>
            <a:r>
              <a:rPr lang="en-US" sz="2400" dirty="0"/>
              <a:t> </a:t>
            </a:r>
            <a:r>
              <a:rPr lang="en-US" sz="2400" dirty="0" err="1"/>
              <a:t>chuỗi</a:t>
            </a:r>
            <a:r>
              <a:rPr lang="en-US" sz="2400" dirty="0"/>
              <a:t> </a:t>
            </a:r>
            <a:r>
              <a:rPr lang="en-US" sz="2400" dirty="0" smtClean="0"/>
              <a:t>con</a:t>
            </a:r>
          </a:p>
          <a:p>
            <a:pPr marL="571500" indent="-571500">
              <a:buFont typeface="Wingdings" panose="05000000000000000000" pitchFamily="2" charset="2"/>
              <a:buAutoNum type="arabicPeriod"/>
            </a:pPr>
            <a:r>
              <a:rPr lang="en-US" altLang="en-US" sz="2400" dirty="0" err="1"/>
              <a:t>Các</a:t>
            </a:r>
            <a:r>
              <a:rPr lang="en-US" altLang="en-US" sz="2400" dirty="0"/>
              <a:t> </a:t>
            </a:r>
            <a:r>
              <a:rPr lang="en-US" altLang="en-US" sz="2400" dirty="0" err="1"/>
              <a:t>giải</a:t>
            </a:r>
            <a:r>
              <a:rPr lang="en-US" altLang="en-US" sz="2400" dirty="0"/>
              <a:t> </a:t>
            </a:r>
            <a:r>
              <a:rPr lang="en-US" altLang="en-US" sz="2400" dirty="0" err="1"/>
              <a:t>thuật</a:t>
            </a:r>
            <a:r>
              <a:rPr lang="en-US" altLang="en-US" sz="2400" dirty="0"/>
              <a:t> </a:t>
            </a:r>
            <a:r>
              <a:rPr lang="en-US" altLang="en-US" sz="2400" dirty="0" err="1"/>
              <a:t>tìm</a:t>
            </a:r>
            <a:r>
              <a:rPr lang="en-US" altLang="en-US" sz="2400" dirty="0"/>
              <a:t> </a:t>
            </a:r>
            <a:r>
              <a:rPr lang="en-US" altLang="en-US" sz="2400" dirty="0" err="1"/>
              <a:t>kiếm</a:t>
            </a:r>
            <a:r>
              <a:rPr lang="en-US" altLang="en-US" sz="2400" dirty="0"/>
              <a:t> </a:t>
            </a:r>
            <a:r>
              <a:rPr lang="en-US" altLang="en-US" sz="2400" dirty="0" err="1"/>
              <a:t>phần</a:t>
            </a:r>
            <a:r>
              <a:rPr lang="en-US" altLang="en-US" sz="2400" dirty="0"/>
              <a:t> </a:t>
            </a:r>
            <a:r>
              <a:rPr lang="en-US" altLang="en-US" sz="2400" dirty="0" err="1"/>
              <a:t>tử</a:t>
            </a:r>
            <a:r>
              <a:rPr lang="en-US" altLang="en-US" sz="2400" dirty="0"/>
              <a:t> </a:t>
            </a:r>
            <a:r>
              <a:rPr lang="en-US" altLang="en-US" sz="2400" dirty="0" err="1"/>
              <a:t>trực</a:t>
            </a:r>
            <a:r>
              <a:rPr lang="en-US" altLang="en-US" sz="2400" dirty="0"/>
              <a:t> </a:t>
            </a:r>
            <a:r>
              <a:rPr lang="en-US" altLang="en-US" sz="2400" dirty="0" err="1"/>
              <a:t>tiếp</a:t>
            </a:r>
            <a:r>
              <a:rPr lang="en-US" altLang="en-US" sz="2400" dirty="0"/>
              <a:t> (Direct searching)</a:t>
            </a:r>
          </a:p>
          <a:p>
            <a:pPr marL="839788" lvl="1" indent="-495300"/>
            <a:r>
              <a:rPr lang="en-US" altLang="en-US" sz="2000" dirty="0" err="1"/>
              <a:t>Đặt</a:t>
            </a:r>
            <a:r>
              <a:rPr lang="en-US" altLang="en-US" sz="2000" dirty="0"/>
              <a:t> </a:t>
            </a:r>
            <a:r>
              <a:rPr lang="en-US" altLang="en-US" sz="2000" dirty="0" err="1"/>
              <a:t>vấn</a:t>
            </a:r>
            <a:r>
              <a:rPr lang="en-US" altLang="en-US" sz="2000" dirty="0"/>
              <a:t> </a:t>
            </a:r>
            <a:r>
              <a:rPr lang="en-US" altLang="en-US" sz="2000" dirty="0" err="1"/>
              <a:t>đề</a:t>
            </a:r>
            <a:r>
              <a:rPr lang="en-US" altLang="en-US" sz="2000" dirty="0"/>
              <a:t> </a:t>
            </a:r>
          </a:p>
          <a:p>
            <a:pPr marL="839788" lvl="1" indent="-495300"/>
            <a:r>
              <a:rPr lang="en-US" altLang="en-US" sz="2000" dirty="0" err="1"/>
              <a:t>Hàm</a:t>
            </a:r>
            <a:r>
              <a:rPr lang="en-US" altLang="en-US" sz="2000" dirty="0"/>
              <a:t> </a:t>
            </a:r>
            <a:r>
              <a:rPr lang="en-US" altLang="en-US" sz="2000" dirty="0" err="1"/>
              <a:t>băm</a:t>
            </a:r>
            <a:r>
              <a:rPr lang="en-US" altLang="en-US" sz="2000" dirty="0"/>
              <a:t> (Hash functions)</a:t>
            </a:r>
          </a:p>
          <a:p>
            <a:pPr marL="839788" lvl="1" indent="-495300"/>
            <a:r>
              <a:rPr lang="en-US" altLang="en-US" sz="2000" dirty="0" err="1"/>
              <a:t>Các</a:t>
            </a:r>
            <a:r>
              <a:rPr lang="en-US" altLang="en-US" sz="2000" dirty="0"/>
              <a:t> </a:t>
            </a:r>
            <a:r>
              <a:rPr lang="en-US" altLang="en-US" sz="2000" dirty="0" err="1"/>
              <a:t>biện</a:t>
            </a:r>
            <a:r>
              <a:rPr lang="en-US" altLang="en-US" sz="2000" dirty="0"/>
              <a:t> </a:t>
            </a:r>
            <a:r>
              <a:rPr lang="en-US" altLang="en-US" sz="2000" dirty="0" err="1"/>
              <a:t>pháp</a:t>
            </a:r>
            <a:r>
              <a:rPr lang="en-US" altLang="en-US" sz="2000" dirty="0"/>
              <a:t> </a:t>
            </a:r>
            <a:r>
              <a:rPr lang="en-US" altLang="en-US" sz="2000" dirty="0" err="1"/>
              <a:t>khắc</a:t>
            </a:r>
            <a:r>
              <a:rPr lang="en-US" altLang="en-US" sz="2000" dirty="0"/>
              <a:t> </a:t>
            </a:r>
            <a:r>
              <a:rPr lang="en-US" altLang="en-US" sz="2000" dirty="0" err="1"/>
              <a:t>phục</a:t>
            </a:r>
            <a:r>
              <a:rPr lang="en-US" altLang="en-US" sz="2000" dirty="0"/>
              <a:t> </a:t>
            </a:r>
            <a:r>
              <a:rPr lang="en-US" altLang="en-US" sz="2000" dirty="0" err="1"/>
              <a:t>đụng</a:t>
            </a:r>
            <a:r>
              <a:rPr lang="en-US" altLang="en-US" sz="2000" dirty="0"/>
              <a:t> </a:t>
            </a:r>
            <a:r>
              <a:rPr lang="en-US" altLang="en-US" sz="2000" dirty="0" err="1"/>
              <a:t>độ</a:t>
            </a:r>
            <a:endParaRPr lang="en-US" altLang="en-US" sz="2400" dirty="0"/>
          </a:p>
        </p:txBody>
      </p:sp>
    </p:spTree>
    <p:extLst>
      <p:ext uri="{BB962C8B-B14F-4D97-AF65-F5344CB8AC3E}">
        <p14:creationId xmlns:p14="http://schemas.microsoft.com/office/powerpoint/2010/main" val="259967766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A7BDBC3-8EE5-45F5-8261-D8EFD6B9AE1D}" type="slidenum">
              <a:rPr lang="en-US" altLang="en-US">
                <a:latin typeface="Garamond" panose="02020404030301010803" pitchFamily="18" charset="0"/>
              </a:rPr>
              <a:pPr eaLnBrk="1" hangingPunct="1"/>
              <a:t>4</a:t>
            </a:fld>
            <a:endParaRPr lang="en-US" altLang="en-US">
              <a:latin typeface="Garamond" panose="02020404030301010803" pitchFamily="18" charset="0"/>
            </a:endParaRPr>
          </a:p>
        </p:txBody>
      </p:sp>
      <p:sp>
        <p:nvSpPr>
          <p:cNvPr id="5125" name="Rectangle 2"/>
          <p:cNvSpPr>
            <a:spLocks noGrp="1" noChangeArrowheads="1"/>
          </p:cNvSpPr>
          <p:nvPr>
            <p:ph type="title"/>
          </p:nvPr>
        </p:nvSpPr>
        <p:spPr/>
        <p:txBody>
          <a:bodyPr>
            <a:normAutofit/>
          </a:bodyPr>
          <a:lstStyle/>
          <a:p>
            <a:pPr eaLnBrk="1" hangingPunct="1"/>
            <a:r>
              <a:rPr lang="en-US" altLang="en-US" sz="2400" dirty="0" smtClean="0"/>
              <a:t>1. </a:t>
            </a:r>
            <a:r>
              <a:rPr lang="en-US" altLang="en-US" sz="2400" dirty="0" err="1" smtClean="0"/>
              <a:t>Đặt</a:t>
            </a:r>
            <a:r>
              <a:rPr lang="en-US" altLang="en-US" sz="2400" dirty="0" smtClean="0"/>
              <a:t> </a:t>
            </a:r>
            <a:r>
              <a:rPr lang="en-US" altLang="en-US" sz="2400" dirty="0" err="1" smtClean="0"/>
              <a:t>vấn</a:t>
            </a:r>
            <a:r>
              <a:rPr lang="en-US" altLang="en-US" sz="2400" dirty="0" smtClean="0"/>
              <a:t> </a:t>
            </a:r>
            <a:r>
              <a:rPr lang="en-US" altLang="en-US" sz="2400" dirty="0" err="1" smtClean="0"/>
              <a:t>đề</a:t>
            </a:r>
            <a:endParaRPr lang="en-US" altLang="en-US" sz="2400" dirty="0" smtClean="0"/>
          </a:p>
        </p:txBody>
      </p:sp>
      <p:sp>
        <p:nvSpPr>
          <p:cNvPr id="5126" name="Rectangle 3"/>
          <p:cNvSpPr>
            <a:spLocks noGrp="1" noChangeArrowheads="1"/>
          </p:cNvSpPr>
          <p:nvPr>
            <p:ph type="body" sz="quarter" idx="13"/>
          </p:nvPr>
        </p:nvSpPr>
        <p:spPr/>
        <p:txBody>
          <a:bodyPr>
            <a:normAutofit/>
          </a:bodyPr>
          <a:lstStyle/>
          <a:p>
            <a:r>
              <a:rPr lang="en-US" altLang="en-US" sz="2400" b="1" dirty="0" err="1" smtClean="0"/>
              <a:t>Bài</a:t>
            </a:r>
            <a:r>
              <a:rPr lang="en-US" altLang="en-US" sz="2400" b="1" dirty="0" smtClean="0"/>
              <a:t> </a:t>
            </a:r>
            <a:r>
              <a:rPr lang="en-US" altLang="en-US" sz="2400" b="1" dirty="0" err="1" smtClean="0"/>
              <a:t>toán</a:t>
            </a:r>
            <a:r>
              <a:rPr lang="en-US" altLang="en-US" sz="2400" b="1" dirty="0" smtClean="0"/>
              <a:t> </a:t>
            </a:r>
            <a:r>
              <a:rPr lang="en-US" altLang="en-US" sz="2400" b="1" dirty="0" err="1" smtClean="0"/>
              <a:t>tìm</a:t>
            </a:r>
            <a:r>
              <a:rPr lang="en-US" altLang="en-US" sz="2400" b="1" dirty="0" smtClean="0"/>
              <a:t> </a:t>
            </a:r>
            <a:r>
              <a:rPr lang="en-US" altLang="en-US" sz="2400" b="1" dirty="0" err="1" smtClean="0"/>
              <a:t>kiếm</a:t>
            </a:r>
            <a:r>
              <a:rPr lang="en-US" altLang="en-US" sz="2400" dirty="0" smtClean="0"/>
              <a:t>: 2</a:t>
            </a:r>
            <a:r>
              <a:rPr lang="vi-VN" altLang="en-US" sz="2400" dirty="0" smtClean="0"/>
              <a:t> </a:t>
            </a:r>
            <a:r>
              <a:rPr lang="vi-VN" altLang="en-US" sz="2400" dirty="0"/>
              <a:t>bài toán tìm kiếm cơ bản: </a:t>
            </a:r>
          </a:p>
          <a:p>
            <a:pPr lvl="1"/>
            <a:r>
              <a:rPr lang="en-US" altLang="en-US" sz="2100" dirty="0" smtClean="0"/>
              <a:t>T</a:t>
            </a:r>
            <a:r>
              <a:rPr lang="vi-VN" altLang="en-US" sz="2100" dirty="0" smtClean="0"/>
              <a:t>ìm </a:t>
            </a:r>
            <a:r>
              <a:rPr lang="vi-VN" altLang="en-US" sz="2100" dirty="0"/>
              <a:t>một phần tử trong một dãy phần tử cho trước </a:t>
            </a:r>
            <a:r>
              <a:rPr lang="en-US" altLang="en-US" sz="2100" dirty="0" smtClean="0"/>
              <a:t>:</a:t>
            </a:r>
          </a:p>
          <a:p>
            <a:pPr lvl="2"/>
            <a:r>
              <a:rPr lang="en-US" sz="2100" dirty="0" err="1" smtClean="0"/>
              <a:t>Tìm</a:t>
            </a:r>
            <a:r>
              <a:rPr lang="en-US" sz="2100" dirty="0" smtClean="0"/>
              <a:t> </a:t>
            </a:r>
            <a:r>
              <a:rPr lang="en-US" sz="2100" dirty="0" err="1"/>
              <a:t>kiếm</a:t>
            </a:r>
            <a:r>
              <a:rPr lang="en-US" sz="2100" dirty="0"/>
              <a:t> </a:t>
            </a:r>
            <a:r>
              <a:rPr lang="en-US" sz="2100" dirty="0" err="1"/>
              <a:t>bằng</a:t>
            </a:r>
            <a:r>
              <a:rPr lang="en-US" sz="2100" dirty="0"/>
              <a:t> </a:t>
            </a:r>
            <a:r>
              <a:rPr lang="en-US" sz="2100" dirty="0" err="1"/>
              <a:t>cách</a:t>
            </a:r>
            <a:r>
              <a:rPr lang="en-US" sz="2100" dirty="0"/>
              <a:t> so </a:t>
            </a:r>
            <a:r>
              <a:rPr lang="en-US" sz="2100" dirty="0" err="1"/>
              <a:t>sánh</a:t>
            </a:r>
            <a:r>
              <a:rPr lang="en-US" sz="2100" dirty="0"/>
              <a:t> </a:t>
            </a:r>
            <a:endParaRPr lang="en-US" sz="2100" dirty="0" smtClean="0"/>
          </a:p>
          <a:p>
            <a:pPr lvl="2"/>
            <a:r>
              <a:rPr lang="en-US" sz="2100" dirty="0" err="1" smtClean="0"/>
              <a:t>Tìm</a:t>
            </a:r>
            <a:r>
              <a:rPr lang="en-US" sz="2100" dirty="0" smtClean="0"/>
              <a:t> </a:t>
            </a:r>
            <a:r>
              <a:rPr lang="en-US" sz="2100" dirty="0" err="1"/>
              <a:t>kiếm</a:t>
            </a:r>
            <a:r>
              <a:rPr lang="en-US" sz="2100" dirty="0"/>
              <a:t> </a:t>
            </a:r>
            <a:r>
              <a:rPr lang="en-US" sz="2100" dirty="0" err="1"/>
              <a:t>trực</a:t>
            </a:r>
            <a:r>
              <a:rPr lang="en-US" sz="2100" dirty="0"/>
              <a:t> </a:t>
            </a:r>
            <a:r>
              <a:rPr lang="en-US" sz="2100" dirty="0" err="1"/>
              <a:t>tiếp</a:t>
            </a:r>
            <a:r>
              <a:rPr lang="en-US" sz="2100" dirty="0"/>
              <a:t> </a:t>
            </a:r>
            <a:r>
              <a:rPr lang="en-US" sz="2100" dirty="0" err="1" smtClean="0"/>
              <a:t>từ</a:t>
            </a:r>
            <a:r>
              <a:rPr lang="en-US" sz="2100" dirty="0" smtClean="0"/>
              <a:t> </a:t>
            </a:r>
            <a:r>
              <a:rPr lang="en-US" sz="2100" dirty="0" err="1" smtClean="0"/>
              <a:t>giá</a:t>
            </a:r>
            <a:r>
              <a:rPr lang="en-US" sz="2100" dirty="0" smtClean="0"/>
              <a:t> </a:t>
            </a:r>
            <a:r>
              <a:rPr lang="en-US" sz="2100" dirty="0" err="1"/>
              <a:t>trị</a:t>
            </a:r>
            <a:r>
              <a:rPr lang="en-US" sz="2100" dirty="0"/>
              <a:t> </a:t>
            </a:r>
            <a:r>
              <a:rPr lang="en-US" sz="2100" dirty="0" err="1" smtClean="0"/>
              <a:t>khoá</a:t>
            </a:r>
            <a:endParaRPr lang="vi-VN" altLang="en-US" sz="2100" dirty="0"/>
          </a:p>
          <a:p>
            <a:pPr lvl="1"/>
            <a:r>
              <a:rPr lang="en-US" altLang="en-US" sz="2100" dirty="0" smtClean="0"/>
              <a:t>T</a:t>
            </a:r>
            <a:r>
              <a:rPr lang="vi-VN" altLang="en-US" sz="2100" dirty="0" smtClean="0"/>
              <a:t>ìm </a:t>
            </a:r>
            <a:r>
              <a:rPr lang="vi-VN" altLang="en-US" sz="2100" dirty="0"/>
              <a:t>sự xuất hiện của một chuỗi con trong một chuỗi cho </a:t>
            </a:r>
            <a:r>
              <a:rPr lang="vi-VN" altLang="en-US" sz="2100" dirty="0" smtClean="0"/>
              <a:t>trước</a:t>
            </a:r>
            <a:endParaRPr lang="en-US" altLang="en-US" sz="2100" dirty="0" smtClean="0"/>
          </a:p>
          <a:p>
            <a:pPr lvl="2"/>
            <a:r>
              <a:rPr lang="en-US" sz="2100" dirty="0" err="1" smtClean="0"/>
              <a:t>Giải</a:t>
            </a:r>
            <a:r>
              <a:rPr lang="en-US" sz="2100" dirty="0" smtClean="0"/>
              <a:t> </a:t>
            </a:r>
            <a:r>
              <a:rPr lang="en-US" sz="2100" dirty="0" err="1"/>
              <a:t>thuật</a:t>
            </a:r>
            <a:r>
              <a:rPr lang="en-US" sz="2100" dirty="0"/>
              <a:t> </a:t>
            </a:r>
            <a:r>
              <a:rPr lang="en-US" sz="2100" dirty="0" err="1"/>
              <a:t>tìm</a:t>
            </a:r>
            <a:r>
              <a:rPr lang="en-US" sz="2100" dirty="0"/>
              <a:t> </a:t>
            </a:r>
            <a:r>
              <a:rPr lang="en-US" sz="2100" dirty="0" err="1"/>
              <a:t>kiếm</a:t>
            </a:r>
            <a:r>
              <a:rPr lang="en-US" sz="2100" dirty="0"/>
              <a:t> </a:t>
            </a:r>
            <a:r>
              <a:rPr lang="en-US" sz="2100" dirty="0" err="1"/>
              <a:t>đơn</a:t>
            </a:r>
            <a:r>
              <a:rPr lang="en-US" sz="2100" dirty="0"/>
              <a:t> </a:t>
            </a:r>
            <a:r>
              <a:rPr lang="en-US" sz="2100" dirty="0" err="1" smtClean="0"/>
              <a:t>giản</a:t>
            </a:r>
            <a:r>
              <a:rPr lang="en-US" sz="2100" dirty="0" smtClean="0"/>
              <a:t> (</a:t>
            </a:r>
            <a:r>
              <a:rPr lang="en-US" sz="2100" dirty="0" err="1" smtClean="0"/>
              <a:t>còn</a:t>
            </a:r>
            <a:r>
              <a:rPr lang="en-US" sz="2100" dirty="0" smtClean="0"/>
              <a:t> </a:t>
            </a:r>
            <a:r>
              <a:rPr lang="en-US" sz="2100" dirty="0" err="1"/>
              <a:t>gọi</a:t>
            </a:r>
            <a:r>
              <a:rPr lang="en-US" sz="2100" dirty="0"/>
              <a:t> </a:t>
            </a:r>
            <a:r>
              <a:rPr lang="en-US" sz="2100" dirty="0" err="1"/>
              <a:t>là</a:t>
            </a:r>
            <a:r>
              <a:rPr lang="en-US" sz="2100" dirty="0"/>
              <a:t> </a:t>
            </a:r>
            <a:r>
              <a:rPr lang="en-US" sz="2100" dirty="0" err="1"/>
              <a:t>tìm</a:t>
            </a:r>
            <a:r>
              <a:rPr lang="en-US" sz="2100" dirty="0"/>
              <a:t> </a:t>
            </a:r>
            <a:r>
              <a:rPr lang="en-US" sz="2100" dirty="0" err="1"/>
              <a:t>kiếm</a:t>
            </a:r>
            <a:r>
              <a:rPr lang="en-US" sz="2100" dirty="0"/>
              <a:t> </a:t>
            </a:r>
            <a:r>
              <a:rPr lang="en-US" sz="2100" dirty="0" err="1"/>
              <a:t>thô</a:t>
            </a:r>
            <a:r>
              <a:rPr lang="en-US" sz="2100" dirty="0" smtClean="0"/>
              <a:t>)</a:t>
            </a:r>
          </a:p>
          <a:p>
            <a:pPr lvl="2"/>
            <a:r>
              <a:rPr lang="en-US" sz="2100" dirty="0" err="1" smtClean="0"/>
              <a:t>Giải</a:t>
            </a:r>
            <a:r>
              <a:rPr lang="en-US" sz="2100" dirty="0" smtClean="0"/>
              <a:t> </a:t>
            </a:r>
            <a:r>
              <a:rPr lang="en-US" sz="2100" dirty="0" err="1"/>
              <a:t>thuật</a:t>
            </a:r>
            <a:r>
              <a:rPr lang="en-US" sz="2100" dirty="0"/>
              <a:t> </a:t>
            </a:r>
            <a:r>
              <a:rPr lang="en-US" sz="2100" dirty="0" err="1" smtClean="0"/>
              <a:t>phức</a:t>
            </a:r>
            <a:r>
              <a:rPr lang="en-US" sz="2100" dirty="0" smtClean="0"/>
              <a:t> </a:t>
            </a:r>
            <a:r>
              <a:rPr lang="en-US" sz="2100" dirty="0" err="1" smtClean="0"/>
              <a:t>tạp</a:t>
            </a:r>
            <a:r>
              <a:rPr lang="en-US" sz="2100" dirty="0" smtClean="0"/>
              <a:t>: Knuth-Morris-Pratt, Boyer-Moore, etc.</a:t>
            </a:r>
            <a:endParaRPr lang="vi-VN" altLang="en-US" sz="1800" dirty="0"/>
          </a:p>
          <a:p>
            <a:endParaRPr lang="en-US" altLang="en-US" sz="2400" dirty="0" smtClean="0"/>
          </a:p>
        </p:txBody>
      </p:sp>
    </p:spTree>
    <p:extLst>
      <p:ext uri="{BB962C8B-B14F-4D97-AF65-F5344CB8AC3E}">
        <p14:creationId xmlns:p14="http://schemas.microsoft.com/office/powerpoint/2010/main" val="45675113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C24317B-5122-4A99-A6E9-FA23C146A7E0}" type="slidenum">
              <a:rPr lang="en-US" smtClean="0"/>
              <a:pPr/>
              <a:t>5</a:t>
            </a:fld>
            <a:endParaRPr lang="en-US"/>
          </a:p>
        </p:txBody>
      </p:sp>
      <p:sp>
        <p:nvSpPr>
          <p:cNvPr id="4" name="Title 3"/>
          <p:cNvSpPr>
            <a:spLocks noGrp="1"/>
          </p:cNvSpPr>
          <p:nvPr>
            <p:ph type="title"/>
          </p:nvPr>
        </p:nvSpPr>
        <p:spPr/>
        <p:txBody>
          <a:bodyPr>
            <a:normAutofit/>
          </a:bodyPr>
          <a:lstStyle/>
          <a:p>
            <a:r>
              <a:rPr lang="en-US" sz="2400" dirty="0" err="1" smtClean="0"/>
              <a:t>Giải</a:t>
            </a:r>
            <a:r>
              <a:rPr lang="en-US" sz="2400" dirty="0" smtClean="0"/>
              <a:t> </a:t>
            </a:r>
            <a:r>
              <a:rPr lang="en-US" sz="2400" dirty="0" err="1"/>
              <a:t>thuật</a:t>
            </a:r>
            <a:r>
              <a:rPr lang="en-US" sz="2400" dirty="0"/>
              <a:t> </a:t>
            </a:r>
            <a:r>
              <a:rPr lang="en-US" sz="2400" dirty="0" err="1"/>
              <a:t>tìm</a:t>
            </a:r>
            <a:r>
              <a:rPr lang="en-US" sz="2400" dirty="0"/>
              <a:t> </a:t>
            </a:r>
            <a:r>
              <a:rPr lang="en-US" sz="2400" dirty="0" err="1"/>
              <a:t>kiếm</a:t>
            </a:r>
            <a:r>
              <a:rPr lang="en-US" sz="2400" dirty="0"/>
              <a:t> </a:t>
            </a:r>
            <a:r>
              <a:rPr lang="en-US" sz="2400" dirty="0" err="1"/>
              <a:t>phần</a:t>
            </a:r>
            <a:r>
              <a:rPr lang="en-US" sz="2400" dirty="0"/>
              <a:t> </a:t>
            </a:r>
            <a:r>
              <a:rPr lang="en-US" sz="2400" dirty="0" err="1"/>
              <a:t>tử</a:t>
            </a:r>
            <a:endParaRPr lang="en-US" sz="2400" dirty="0"/>
          </a:p>
        </p:txBody>
      </p:sp>
      <p:sp>
        <p:nvSpPr>
          <p:cNvPr id="5" name="Text Placeholder 4"/>
          <p:cNvSpPr>
            <a:spLocks noGrp="1"/>
          </p:cNvSpPr>
          <p:nvPr>
            <p:ph type="body" sz="quarter" idx="13"/>
          </p:nvPr>
        </p:nvSpPr>
        <p:spPr/>
        <p:txBody>
          <a:bodyPr/>
          <a:lstStyle/>
          <a:p>
            <a:r>
              <a:rPr lang="en-US" sz="2400" dirty="0" err="1" smtClean="0"/>
              <a:t>Bài</a:t>
            </a:r>
            <a:r>
              <a:rPr lang="en-US" sz="2400" dirty="0" smtClean="0"/>
              <a:t> </a:t>
            </a:r>
            <a:r>
              <a:rPr lang="en-US" sz="2400" dirty="0" err="1" smtClean="0"/>
              <a:t>toán</a:t>
            </a:r>
            <a:r>
              <a:rPr lang="en-US" sz="2400" dirty="0" smtClean="0"/>
              <a:t> </a:t>
            </a:r>
            <a:r>
              <a:rPr lang="en-US" sz="2400" dirty="0" err="1" smtClean="0"/>
              <a:t>cơ</a:t>
            </a:r>
            <a:r>
              <a:rPr lang="en-US" sz="2400" dirty="0" smtClean="0"/>
              <a:t> </a:t>
            </a:r>
            <a:r>
              <a:rPr lang="en-US" sz="2400" dirty="0" err="1" smtClean="0"/>
              <a:t>sở</a:t>
            </a:r>
            <a:r>
              <a:rPr lang="en-US" sz="2400" dirty="0" smtClean="0"/>
              <a:t>:</a:t>
            </a:r>
            <a:endParaRPr lang="en-US" sz="2400" dirty="0"/>
          </a:p>
          <a:p>
            <a:pPr lvl="1"/>
            <a:r>
              <a:rPr lang="en-US" sz="2000" dirty="0" smtClean="0"/>
              <a:t>Cho </a:t>
            </a:r>
            <a:r>
              <a:rPr lang="en-US" sz="2000" dirty="0" err="1"/>
              <a:t>một</a:t>
            </a:r>
            <a:r>
              <a:rPr lang="en-US" sz="2000" dirty="0"/>
              <a:t> </a:t>
            </a:r>
            <a:r>
              <a:rPr lang="en-US" sz="2000" dirty="0" err="1"/>
              <a:t>dãy</a:t>
            </a:r>
            <a:r>
              <a:rPr lang="en-US" sz="2000" dirty="0"/>
              <a:t> N </a:t>
            </a:r>
            <a:r>
              <a:rPr lang="en-US" sz="2000" dirty="0" err="1" smtClean="0"/>
              <a:t>số</a:t>
            </a:r>
            <a:r>
              <a:rPr lang="en-US" sz="2000" dirty="0" smtClean="0"/>
              <a:t>: </a:t>
            </a:r>
            <a:r>
              <a:rPr lang="en-US" sz="2000" dirty="0"/>
              <a:t>A = (a</a:t>
            </a:r>
            <a:r>
              <a:rPr lang="en-US" sz="2000" baseline="-25000" dirty="0"/>
              <a:t>0</a:t>
            </a:r>
            <a:r>
              <a:rPr lang="en-US" sz="2000" dirty="0"/>
              <a:t>, a</a:t>
            </a:r>
            <a:r>
              <a:rPr lang="en-US" sz="2000" baseline="-25000" dirty="0"/>
              <a:t>1</a:t>
            </a:r>
            <a:r>
              <a:rPr lang="en-US" sz="2000" dirty="0"/>
              <a:t>,…, a</a:t>
            </a:r>
            <a:r>
              <a:rPr lang="en-US" sz="2000" baseline="-25000" dirty="0"/>
              <a:t>N-1</a:t>
            </a:r>
            <a:r>
              <a:rPr lang="en-US" sz="2000" dirty="0"/>
              <a:t>) </a:t>
            </a:r>
            <a:r>
              <a:rPr lang="en-US" sz="2000" dirty="0" err="1"/>
              <a:t>và</a:t>
            </a:r>
            <a:r>
              <a:rPr lang="en-US" sz="2000" dirty="0"/>
              <a:t> </a:t>
            </a:r>
            <a:r>
              <a:rPr lang="en-US" sz="2000" dirty="0" err="1"/>
              <a:t>giá</a:t>
            </a:r>
            <a:r>
              <a:rPr lang="en-US" sz="2000" dirty="0"/>
              <a:t> </a:t>
            </a:r>
            <a:r>
              <a:rPr lang="en-US" sz="2000" dirty="0" err="1"/>
              <a:t>trị</a:t>
            </a:r>
            <a:r>
              <a:rPr lang="en-US" sz="2000" dirty="0"/>
              <a:t> </a:t>
            </a:r>
            <a:r>
              <a:rPr lang="en-US" sz="2000" dirty="0" err="1"/>
              <a:t>cần</a:t>
            </a:r>
            <a:r>
              <a:rPr lang="en-US" sz="2000" dirty="0"/>
              <a:t> </a:t>
            </a:r>
            <a:r>
              <a:rPr lang="en-US" sz="2000" dirty="0" err="1"/>
              <a:t>tìm</a:t>
            </a:r>
            <a:r>
              <a:rPr lang="en-US" sz="2000" dirty="0"/>
              <a:t> K (</a:t>
            </a:r>
            <a:r>
              <a:rPr lang="en-US" sz="2000" dirty="0" err="1"/>
              <a:t>khoá</a:t>
            </a:r>
            <a:r>
              <a:rPr lang="en-US" sz="2000" dirty="0"/>
              <a:t> </a:t>
            </a:r>
            <a:r>
              <a:rPr lang="en-US" sz="2000" dirty="0" err="1"/>
              <a:t>tìm</a:t>
            </a:r>
            <a:r>
              <a:rPr lang="en-US" sz="2000" dirty="0"/>
              <a:t> </a:t>
            </a:r>
            <a:r>
              <a:rPr lang="en-US" sz="2000" dirty="0" err="1"/>
              <a:t>kiếm</a:t>
            </a:r>
            <a:r>
              <a:rPr lang="en-US" sz="2000" dirty="0"/>
              <a:t>). </a:t>
            </a:r>
            <a:endParaRPr lang="en-US" sz="2000" dirty="0" smtClean="0"/>
          </a:p>
          <a:p>
            <a:pPr lvl="1"/>
            <a:r>
              <a:rPr lang="en-US" sz="2000" dirty="0" err="1" smtClean="0"/>
              <a:t>Yêu</a:t>
            </a:r>
            <a:r>
              <a:rPr lang="en-US" sz="2000" dirty="0" smtClean="0"/>
              <a:t> </a:t>
            </a:r>
            <a:r>
              <a:rPr lang="en-US" sz="2000" dirty="0" err="1"/>
              <a:t>cầu</a:t>
            </a:r>
            <a:r>
              <a:rPr lang="en-US" sz="2000" dirty="0"/>
              <a:t> </a:t>
            </a:r>
            <a:r>
              <a:rPr lang="en-US" sz="2000" dirty="0" err="1"/>
              <a:t>tìm</a:t>
            </a:r>
            <a:r>
              <a:rPr lang="en-US" sz="2000" dirty="0"/>
              <a:t> </a:t>
            </a:r>
            <a:r>
              <a:rPr lang="en-US" sz="2000" dirty="0" err="1"/>
              <a:t>vị</a:t>
            </a:r>
            <a:r>
              <a:rPr lang="en-US" sz="2000" dirty="0"/>
              <a:t> </a:t>
            </a:r>
            <a:r>
              <a:rPr lang="en-US" sz="2000" dirty="0" err="1"/>
              <a:t>trí</a:t>
            </a:r>
            <a:r>
              <a:rPr lang="en-US" sz="2000" dirty="0"/>
              <a:t> </a:t>
            </a:r>
            <a:r>
              <a:rPr lang="en-US" sz="2000" dirty="0" err="1" smtClean="0"/>
              <a:t>của</a:t>
            </a:r>
            <a:r>
              <a:rPr lang="en-US" sz="2000" dirty="0" smtClean="0"/>
              <a:t> </a:t>
            </a:r>
            <a:r>
              <a:rPr lang="en-US" sz="2000" dirty="0" err="1"/>
              <a:t>phần</a:t>
            </a:r>
            <a:r>
              <a:rPr lang="en-US" sz="2000" dirty="0"/>
              <a:t> </a:t>
            </a:r>
            <a:r>
              <a:rPr lang="en-US" sz="2000" dirty="0" err="1"/>
              <a:t>tử</a:t>
            </a:r>
            <a:r>
              <a:rPr lang="en-US" sz="2000" dirty="0"/>
              <a:t> </a:t>
            </a:r>
            <a:r>
              <a:rPr lang="en-US" sz="2000" dirty="0" err="1"/>
              <a:t>có</a:t>
            </a:r>
            <a:r>
              <a:rPr lang="en-US" sz="2000" dirty="0"/>
              <a:t> </a:t>
            </a:r>
            <a:r>
              <a:rPr lang="en-US" sz="2000" dirty="0" err="1"/>
              <a:t>giá</a:t>
            </a:r>
            <a:r>
              <a:rPr lang="en-US" sz="2000" dirty="0"/>
              <a:t> </a:t>
            </a:r>
            <a:r>
              <a:rPr lang="en-US" sz="2000" dirty="0" err="1"/>
              <a:t>trị</a:t>
            </a:r>
            <a:r>
              <a:rPr lang="en-US" sz="2000" dirty="0"/>
              <a:t> </a:t>
            </a:r>
            <a:r>
              <a:rPr lang="en-US" sz="2000" dirty="0" err="1"/>
              <a:t>bằng</a:t>
            </a:r>
            <a:r>
              <a:rPr lang="en-US" sz="2000" dirty="0"/>
              <a:t> K</a:t>
            </a:r>
            <a:r>
              <a:rPr lang="en-US" sz="2000" dirty="0" smtClean="0"/>
              <a:t>.</a:t>
            </a:r>
          </a:p>
          <a:p>
            <a:r>
              <a:rPr lang="en-US" sz="2400" dirty="0" err="1"/>
              <a:t>Tìm</a:t>
            </a:r>
            <a:r>
              <a:rPr lang="en-US" sz="2400" dirty="0"/>
              <a:t> </a:t>
            </a:r>
            <a:r>
              <a:rPr lang="en-US" sz="2400" dirty="0" err="1"/>
              <a:t>kiếm</a:t>
            </a:r>
            <a:r>
              <a:rPr lang="en-US" sz="2400" dirty="0"/>
              <a:t> </a:t>
            </a:r>
            <a:r>
              <a:rPr lang="en-US" sz="2400" dirty="0" err="1"/>
              <a:t>bằng</a:t>
            </a:r>
            <a:r>
              <a:rPr lang="en-US" sz="2400" dirty="0"/>
              <a:t> so </a:t>
            </a:r>
            <a:r>
              <a:rPr lang="en-US" sz="2400" dirty="0" err="1" smtClean="0"/>
              <a:t>sánh</a:t>
            </a:r>
            <a:endParaRPr lang="en-US" sz="2400" dirty="0" smtClean="0"/>
          </a:p>
          <a:p>
            <a:pPr lvl="1"/>
            <a:r>
              <a:rPr lang="en-US" sz="2100" dirty="0" smtClean="0"/>
              <a:t>So </a:t>
            </a:r>
            <a:r>
              <a:rPr lang="en-US" sz="2100" dirty="0" err="1"/>
              <a:t>sánh</a:t>
            </a:r>
            <a:r>
              <a:rPr lang="en-US" sz="2100" dirty="0"/>
              <a:t> K </a:t>
            </a:r>
            <a:r>
              <a:rPr lang="en-US" sz="2100" dirty="0" err="1"/>
              <a:t>với</a:t>
            </a:r>
            <a:r>
              <a:rPr lang="en-US" sz="2100" dirty="0"/>
              <a:t> </a:t>
            </a:r>
            <a:r>
              <a:rPr lang="en-US" sz="2100" dirty="0" err="1"/>
              <a:t>lần</a:t>
            </a:r>
            <a:r>
              <a:rPr lang="en-US" sz="2100" dirty="0"/>
              <a:t> </a:t>
            </a:r>
            <a:r>
              <a:rPr lang="en-US" sz="2100" dirty="0" err="1"/>
              <a:t>lượt</a:t>
            </a:r>
            <a:r>
              <a:rPr lang="en-US" sz="2100" dirty="0"/>
              <a:t> </a:t>
            </a:r>
            <a:r>
              <a:rPr lang="en-US" sz="2100" dirty="0" err="1"/>
              <a:t>các</a:t>
            </a:r>
            <a:r>
              <a:rPr lang="en-US" sz="2100" dirty="0"/>
              <a:t> </a:t>
            </a:r>
            <a:r>
              <a:rPr lang="en-US" sz="2100" dirty="0" err="1"/>
              <a:t>phần</a:t>
            </a:r>
            <a:r>
              <a:rPr lang="en-US" sz="2100" dirty="0"/>
              <a:t> </a:t>
            </a:r>
            <a:r>
              <a:rPr lang="en-US" sz="2100" dirty="0" err="1"/>
              <a:t>tử</a:t>
            </a:r>
            <a:r>
              <a:rPr lang="en-US" sz="2100" dirty="0"/>
              <a:t> </a:t>
            </a:r>
            <a:r>
              <a:rPr lang="en-US" sz="2100" dirty="0" err="1"/>
              <a:t>trong</a:t>
            </a:r>
            <a:r>
              <a:rPr lang="en-US" sz="2100" dirty="0"/>
              <a:t> </a:t>
            </a:r>
            <a:r>
              <a:rPr lang="en-US" sz="2100" dirty="0" err="1"/>
              <a:t>dãy</a:t>
            </a:r>
            <a:r>
              <a:rPr lang="en-US" sz="2100" dirty="0"/>
              <a:t> </a:t>
            </a:r>
            <a:r>
              <a:rPr lang="en-US" sz="2100" dirty="0" err="1"/>
              <a:t>cần</a:t>
            </a:r>
            <a:r>
              <a:rPr lang="en-US" sz="2100" dirty="0"/>
              <a:t> </a:t>
            </a:r>
            <a:r>
              <a:rPr lang="en-US" sz="2100" dirty="0" err="1"/>
              <a:t>tìm</a:t>
            </a:r>
            <a:r>
              <a:rPr lang="en-US" sz="2100" dirty="0"/>
              <a:t> </a:t>
            </a:r>
            <a:r>
              <a:rPr lang="en-US" sz="2100" dirty="0" err="1"/>
              <a:t>cho</a:t>
            </a:r>
            <a:r>
              <a:rPr lang="en-US" sz="2100" dirty="0"/>
              <a:t> </a:t>
            </a:r>
            <a:r>
              <a:rPr lang="en-US" sz="2100" dirty="0" err="1"/>
              <a:t>đến</a:t>
            </a:r>
            <a:r>
              <a:rPr lang="en-US" sz="2100" dirty="0"/>
              <a:t> </a:t>
            </a:r>
            <a:r>
              <a:rPr lang="en-US" sz="2100" dirty="0" err="1"/>
              <a:t>khi</a:t>
            </a:r>
            <a:r>
              <a:rPr lang="en-US" sz="2100" dirty="0"/>
              <a:t> </a:t>
            </a:r>
            <a:r>
              <a:rPr lang="en-US" sz="2100" dirty="0" err="1"/>
              <a:t>ra</a:t>
            </a:r>
            <a:r>
              <a:rPr lang="en-US" sz="2100" dirty="0"/>
              <a:t> </a:t>
            </a:r>
            <a:r>
              <a:rPr lang="en-US" sz="2100" dirty="0" err="1"/>
              <a:t>kết</a:t>
            </a:r>
            <a:r>
              <a:rPr lang="en-US" sz="2100" dirty="0"/>
              <a:t> </a:t>
            </a:r>
            <a:r>
              <a:rPr lang="en-US" sz="2100" dirty="0" err="1"/>
              <a:t>quả</a:t>
            </a:r>
            <a:r>
              <a:rPr lang="en-US" sz="2100" dirty="0"/>
              <a:t> (</a:t>
            </a:r>
            <a:r>
              <a:rPr lang="en-US" sz="2100" dirty="0" err="1"/>
              <a:t>hoặc</a:t>
            </a:r>
            <a:r>
              <a:rPr lang="en-US" sz="2100" dirty="0"/>
              <a:t> </a:t>
            </a:r>
            <a:r>
              <a:rPr lang="en-US" sz="2100" dirty="0" err="1"/>
              <a:t>tìm</a:t>
            </a:r>
            <a:r>
              <a:rPr lang="en-US" sz="2100" dirty="0"/>
              <a:t> </a:t>
            </a:r>
            <a:r>
              <a:rPr lang="en-US" sz="2100" dirty="0" err="1"/>
              <a:t>thấy</a:t>
            </a:r>
            <a:r>
              <a:rPr lang="en-US" sz="2100" dirty="0"/>
              <a:t> </a:t>
            </a:r>
            <a:r>
              <a:rPr lang="en-US" sz="2100" dirty="0" err="1"/>
              <a:t>hoặc</a:t>
            </a:r>
            <a:r>
              <a:rPr lang="en-US" sz="2100" dirty="0"/>
              <a:t> </a:t>
            </a:r>
            <a:r>
              <a:rPr lang="en-US" sz="2100" dirty="0" err="1"/>
              <a:t>không</a:t>
            </a:r>
            <a:r>
              <a:rPr lang="en-US" sz="2100" dirty="0"/>
              <a:t> </a:t>
            </a:r>
            <a:r>
              <a:rPr lang="en-US" sz="2100" dirty="0" err="1"/>
              <a:t>tìm</a:t>
            </a:r>
            <a:r>
              <a:rPr lang="en-US" sz="2100" dirty="0"/>
              <a:t> </a:t>
            </a:r>
            <a:r>
              <a:rPr lang="en-US" sz="2100" dirty="0" err="1"/>
              <a:t>thấy</a:t>
            </a:r>
            <a:r>
              <a:rPr lang="en-US" sz="2100" dirty="0" smtClean="0"/>
              <a:t>)</a:t>
            </a:r>
          </a:p>
          <a:p>
            <a:pPr lvl="1"/>
            <a:r>
              <a:rPr lang="en-US" sz="2100" dirty="0"/>
              <a:t>2 </a:t>
            </a:r>
            <a:r>
              <a:rPr lang="en-US" sz="2100" dirty="0" err="1"/>
              <a:t>loại</a:t>
            </a:r>
            <a:r>
              <a:rPr lang="en-US" sz="2100" dirty="0"/>
              <a:t> </a:t>
            </a:r>
            <a:r>
              <a:rPr lang="en-US" sz="2100" dirty="0" err="1"/>
              <a:t>giải</a:t>
            </a:r>
            <a:r>
              <a:rPr lang="en-US" sz="2100" dirty="0"/>
              <a:t> </a:t>
            </a:r>
            <a:r>
              <a:rPr lang="en-US" sz="2100" dirty="0" err="1"/>
              <a:t>thuật</a:t>
            </a:r>
            <a:r>
              <a:rPr lang="en-US" sz="2100" dirty="0"/>
              <a:t> </a:t>
            </a:r>
            <a:r>
              <a:rPr lang="en-US" sz="2100" dirty="0" err="1"/>
              <a:t>tìm</a:t>
            </a:r>
            <a:r>
              <a:rPr lang="en-US" sz="2100" dirty="0"/>
              <a:t> </a:t>
            </a:r>
            <a:r>
              <a:rPr lang="en-US" sz="2100" dirty="0" err="1"/>
              <a:t>kiếm</a:t>
            </a:r>
            <a:r>
              <a:rPr lang="en-US" sz="2100" dirty="0"/>
              <a:t> </a:t>
            </a:r>
            <a:r>
              <a:rPr lang="en-US" sz="2100" dirty="0" err="1"/>
              <a:t>theo</a:t>
            </a:r>
            <a:r>
              <a:rPr lang="en-US" sz="2100" dirty="0"/>
              <a:t> </a:t>
            </a:r>
            <a:r>
              <a:rPr lang="en-US" sz="2100" dirty="0" err="1"/>
              <a:t>cách</a:t>
            </a:r>
            <a:r>
              <a:rPr lang="en-US" sz="2100" dirty="0"/>
              <a:t> </a:t>
            </a:r>
            <a:r>
              <a:rPr lang="en-US" sz="2100" dirty="0" err="1"/>
              <a:t>này</a:t>
            </a:r>
            <a:r>
              <a:rPr lang="en-US" sz="2100" dirty="0"/>
              <a:t>:</a:t>
            </a:r>
          </a:p>
          <a:p>
            <a:pPr lvl="2"/>
            <a:r>
              <a:rPr lang="en-US" sz="2000" dirty="0" err="1"/>
              <a:t>Tìm</a:t>
            </a:r>
            <a:r>
              <a:rPr lang="en-US" sz="2000" dirty="0"/>
              <a:t> </a:t>
            </a:r>
            <a:r>
              <a:rPr lang="en-US" sz="2000" dirty="0" err="1"/>
              <a:t>kiếm</a:t>
            </a:r>
            <a:r>
              <a:rPr lang="en-US" sz="2000" dirty="0"/>
              <a:t> </a:t>
            </a:r>
            <a:r>
              <a:rPr lang="en-US" sz="2000" dirty="0" err="1"/>
              <a:t>tuần</a:t>
            </a:r>
            <a:r>
              <a:rPr lang="en-US" sz="2000" dirty="0"/>
              <a:t> </a:t>
            </a:r>
            <a:r>
              <a:rPr lang="en-US" sz="2000" dirty="0" err="1"/>
              <a:t>tự</a:t>
            </a:r>
            <a:r>
              <a:rPr lang="en-US" sz="2000" dirty="0"/>
              <a:t> (Sequential Search)</a:t>
            </a:r>
          </a:p>
          <a:p>
            <a:pPr lvl="2"/>
            <a:r>
              <a:rPr lang="en-US" sz="2000" dirty="0" err="1"/>
              <a:t>Tìm</a:t>
            </a:r>
            <a:r>
              <a:rPr lang="en-US" sz="2000" dirty="0"/>
              <a:t> </a:t>
            </a:r>
            <a:r>
              <a:rPr lang="en-US" sz="2000" dirty="0" err="1" smtClean="0"/>
              <a:t>kiếm</a:t>
            </a:r>
            <a:r>
              <a:rPr lang="en-US" sz="2000" dirty="0" smtClean="0"/>
              <a:t> </a:t>
            </a:r>
            <a:r>
              <a:rPr lang="en-US" sz="2000" dirty="0" err="1"/>
              <a:t>nhị</a:t>
            </a:r>
            <a:r>
              <a:rPr lang="en-US" sz="2000" dirty="0"/>
              <a:t> </a:t>
            </a:r>
            <a:r>
              <a:rPr lang="en-US" sz="2000" dirty="0" err="1"/>
              <a:t>phân</a:t>
            </a:r>
            <a:r>
              <a:rPr lang="en-US" sz="2000" dirty="0"/>
              <a:t> (Binary Search</a:t>
            </a:r>
            <a:r>
              <a:rPr lang="en-US" sz="2000" dirty="0" smtClean="0"/>
              <a:t>)</a:t>
            </a:r>
          </a:p>
          <a:p>
            <a:r>
              <a:rPr lang="en-US" sz="2400" dirty="0" err="1"/>
              <a:t>Tìm</a:t>
            </a:r>
            <a:r>
              <a:rPr lang="en-US" sz="2400" dirty="0"/>
              <a:t> </a:t>
            </a:r>
            <a:r>
              <a:rPr lang="en-US" sz="2400" dirty="0" err="1"/>
              <a:t>kiếm</a:t>
            </a:r>
            <a:r>
              <a:rPr lang="en-US" sz="2400" dirty="0"/>
              <a:t> </a:t>
            </a:r>
            <a:r>
              <a:rPr lang="en-US" sz="2400" dirty="0" err="1"/>
              <a:t>trực</a:t>
            </a:r>
            <a:r>
              <a:rPr lang="en-US" sz="2400" dirty="0"/>
              <a:t> </a:t>
            </a:r>
            <a:r>
              <a:rPr lang="en-US" sz="2400" dirty="0" err="1" smtClean="0"/>
              <a:t>tiếp</a:t>
            </a:r>
            <a:endParaRPr lang="en-US" sz="2400" dirty="0" smtClean="0"/>
          </a:p>
          <a:p>
            <a:pPr lvl="1"/>
            <a:r>
              <a:rPr lang="en-US" sz="2100" dirty="0" err="1" smtClean="0"/>
              <a:t>Sử</a:t>
            </a:r>
            <a:r>
              <a:rPr lang="en-US" sz="2100" dirty="0" smtClean="0"/>
              <a:t> </a:t>
            </a:r>
            <a:r>
              <a:rPr lang="en-US" sz="2100" dirty="0" err="1"/>
              <a:t>dụng</a:t>
            </a:r>
            <a:r>
              <a:rPr lang="en-US" sz="2100" dirty="0"/>
              <a:t> </a:t>
            </a:r>
            <a:r>
              <a:rPr lang="en-US" sz="2100" dirty="0" err="1"/>
              <a:t>hàm</a:t>
            </a:r>
            <a:r>
              <a:rPr lang="en-US" sz="2100" dirty="0"/>
              <a:t> </a:t>
            </a:r>
            <a:r>
              <a:rPr lang="en-US" sz="2100" dirty="0" err="1"/>
              <a:t>băm</a:t>
            </a:r>
            <a:r>
              <a:rPr lang="en-US" sz="2100" dirty="0"/>
              <a:t>: </a:t>
            </a:r>
            <a:r>
              <a:rPr lang="en-US" sz="2100" dirty="0" err="1"/>
              <a:t>giúp</a:t>
            </a:r>
            <a:r>
              <a:rPr lang="en-US" sz="2100" dirty="0"/>
              <a:t> </a:t>
            </a:r>
            <a:r>
              <a:rPr lang="en-US" sz="2100" dirty="0" err="1"/>
              <a:t>tính</a:t>
            </a:r>
            <a:r>
              <a:rPr lang="en-US" sz="2100" dirty="0"/>
              <a:t> </a:t>
            </a:r>
            <a:r>
              <a:rPr lang="en-US" sz="2100" dirty="0" err="1" smtClean="0"/>
              <a:t>trực</a:t>
            </a:r>
            <a:r>
              <a:rPr lang="en-US" sz="2100" dirty="0" smtClean="0"/>
              <a:t> </a:t>
            </a:r>
            <a:r>
              <a:rPr lang="en-US" sz="2100" dirty="0" err="1" smtClean="0"/>
              <a:t>tiếp</a:t>
            </a:r>
            <a:r>
              <a:rPr lang="en-US" sz="2100" dirty="0" smtClean="0"/>
              <a:t> </a:t>
            </a:r>
            <a:r>
              <a:rPr lang="en-US" sz="2100" dirty="0" err="1"/>
              <a:t>địa</a:t>
            </a:r>
            <a:r>
              <a:rPr lang="en-US" sz="2100" dirty="0"/>
              <a:t> </a:t>
            </a:r>
            <a:r>
              <a:rPr lang="en-US" sz="2100" dirty="0" err="1"/>
              <a:t>chỉ</a:t>
            </a:r>
            <a:r>
              <a:rPr lang="en-US" sz="2100" dirty="0"/>
              <a:t> </a:t>
            </a:r>
            <a:r>
              <a:rPr lang="en-US" sz="2100" dirty="0" err="1"/>
              <a:t>của</a:t>
            </a:r>
            <a:r>
              <a:rPr lang="en-US" sz="2100" dirty="0"/>
              <a:t> </a:t>
            </a:r>
            <a:r>
              <a:rPr lang="en-US" sz="2100" dirty="0" err="1"/>
              <a:t>phần</a:t>
            </a:r>
            <a:r>
              <a:rPr lang="en-US" sz="2100" dirty="0"/>
              <a:t> </a:t>
            </a:r>
            <a:r>
              <a:rPr lang="en-US" sz="2100" dirty="0" err="1"/>
              <a:t>tử</a:t>
            </a:r>
            <a:r>
              <a:rPr lang="en-US" sz="2100" dirty="0"/>
              <a:t> </a:t>
            </a:r>
            <a:r>
              <a:rPr lang="en-US" sz="2100" dirty="0" err="1"/>
              <a:t>cần</a:t>
            </a:r>
            <a:r>
              <a:rPr lang="en-US" sz="2100" dirty="0"/>
              <a:t> </a:t>
            </a:r>
            <a:r>
              <a:rPr lang="en-US" sz="2100" dirty="0" err="1"/>
              <a:t>tìm</a:t>
            </a:r>
            <a:r>
              <a:rPr lang="en-US" sz="2100" dirty="0"/>
              <a:t> </a:t>
            </a:r>
            <a:r>
              <a:rPr lang="en-US" sz="2100" dirty="0" err="1"/>
              <a:t>từ</a:t>
            </a:r>
            <a:r>
              <a:rPr lang="en-US" sz="2100" dirty="0"/>
              <a:t> </a:t>
            </a:r>
            <a:r>
              <a:rPr lang="en-US" sz="2100" dirty="0" err="1"/>
              <a:t>giá</a:t>
            </a:r>
            <a:r>
              <a:rPr lang="en-US" sz="2100" dirty="0"/>
              <a:t> </a:t>
            </a:r>
            <a:r>
              <a:rPr lang="en-US" sz="2100" dirty="0" err="1"/>
              <a:t>trị</a:t>
            </a:r>
            <a:r>
              <a:rPr lang="en-US" sz="2100" dirty="0"/>
              <a:t> </a:t>
            </a:r>
            <a:r>
              <a:rPr lang="en-US" sz="2100" dirty="0" err="1"/>
              <a:t>của</a:t>
            </a:r>
            <a:r>
              <a:rPr lang="en-US" sz="2100" dirty="0"/>
              <a:t> </a:t>
            </a:r>
            <a:r>
              <a:rPr lang="en-US" sz="2100" dirty="0" err="1" smtClean="0"/>
              <a:t>phần</a:t>
            </a:r>
            <a:r>
              <a:rPr lang="en-US" sz="2100" dirty="0" smtClean="0"/>
              <a:t> </a:t>
            </a:r>
            <a:r>
              <a:rPr lang="en-US" sz="2100" dirty="0" err="1" smtClean="0"/>
              <a:t>tử</a:t>
            </a:r>
            <a:endParaRPr lang="en-US" sz="2100" dirty="0"/>
          </a:p>
        </p:txBody>
      </p:sp>
    </p:spTree>
    <p:extLst>
      <p:ext uri="{BB962C8B-B14F-4D97-AF65-F5344CB8AC3E}">
        <p14:creationId xmlns:p14="http://schemas.microsoft.com/office/powerpoint/2010/main" val="3857575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C24317B-5122-4A99-A6E9-FA23C146A7E0}" type="slidenum">
              <a:rPr lang="en-US" smtClean="0"/>
              <a:pPr/>
              <a:t>6</a:t>
            </a:fld>
            <a:endParaRPr lang="en-US"/>
          </a:p>
        </p:txBody>
      </p:sp>
      <p:sp>
        <p:nvSpPr>
          <p:cNvPr id="4" name="Title 3"/>
          <p:cNvSpPr>
            <a:spLocks noGrp="1"/>
          </p:cNvSpPr>
          <p:nvPr>
            <p:ph type="title"/>
          </p:nvPr>
        </p:nvSpPr>
        <p:spPr/>
        <p:txBody>
          <a:bodyPr>
            <a:normAutofit/>
          </a:bodyPr>
          <a:lstStyle/>
          <a:p>
            <a:r>
              <a:rPr lang="en-US" altLang="en-US" sz="2400" dirty="0" smtClean="0"/>
              <a:t>2. </a:t>
            </a:r>
            <a:r>
              <a:rPr lang="en-US" altLang="en-US" sz="2400" dirty="0" err="1" smtClean="0"/>
              <a:t>Các</a:t>
            </a:r>
            <a:r>
              <a:rPr lang="en-US" altLang="en-US" sz="2400" dirty="0" smtClean="0"/>
              <a:t> </a:t>
            </a:r>
            <a:r>
              <a:rPr lang="en-US" altLang="en-US" sz="2400" dirty="0" err="1"/>
              <a:t>giải</a:t>
            </a:r>
            <a:r>
              <a:rPr lang="en-US" altLang="en-US" sz="2400" dirty="0"/>
              <a:t> </a:t>
            </a:r>
            <a:r>
              <a:rPr lang="en-US" altLang="en-US" sz="2400" dirty="0" err="1"/>
              <a:t>thuật</a:t>
            </a:r>
            <a:r>
              <a:rPr lang="en-US" altLang="en-US" sz="2400" dirty="0"/>
              <a:t> </a:t>
            </a:r>
            <a:r>
              <a:rPr lang="en-US" altLang="en-US" sz="2400" dirty="0" err="1"/>
              <a:t>tìm</a:t>
            </a:r>
            <a:r>
              <a:rPr lang="en-US" altLang="en-US" sz="2400" dirty="0"/>
              <a:t> </a:t>
            </a:r>
            <a:r>
              <a:rPr lang="en-US" altLang="en-US" sz="2400" dirty="0" err="1"/>
              <a:t>kiếm</a:t>
            </a:r>
            <a:r>
              <a:rPr lang="en-US" altLang="en-US" sz="2400" dirty="0"/>
              <a:t> </a:t>
            </a:r>
            <a:r>
              <a:rPr lang="en-US" altLang="en-US" sz="2400" dirty="0" err="1"/>
              <a:t>bằng</a:t>
            </a:r>
            <a:r>
              <a:rPr lang="en-US" altLang="en-US" sz="2400" dirty="0"/>
              <a:t> so </a:t>
            </a:r>
            <a:r>
              <a:rPr lang="en-US" altLang="en-US" sz="2400" dirty="0" err="1" smtClean="0"/>
              <a:t>sánh</a:t>
            </a:r>
            <a:endParaRPr lang="en-US" dirty="0"/>
          </a:p>
        </p:txBody>
      </p:sp>
      <p:sp>
        <p:nvSpPr>
          <p:cNvPr id="5" name="Text Placeholder 4"/>
          <p:cNvSpPr>
            <a:spLocks noGrp="1"/>
          </p:cNvSpPr>
          <p:nvPr>
            <p:ph type="body" sz="quarter" idx="13"/>
          </p:nvPr>
        </p:nvSpPr>
        <p:spPr/>
        <p:txBody>
          <a:bodyPr/>
          <a:lstStyle/>
          <a:p>
            <a:pPr marL="0" indent="0">
              <a:buNone/>
            </a:pPr>
            <a:r>
              <a:rPr lang="en-US" sz="2400" dirty="0" smtClean="0"/>
              <a:t>(1) </a:t>
            </a:r>
            <a:r>
              <a:rPr lang="en-US" sz="2400" dirty="0" err="1" smtClean="0"/>
              <a:t>Tìm</a:t>
            </a:r>
            <a:r>
              <a:rPr lang="en-US" sz="2400" dirty="0" smtClean="0"/>
              <a:t> </a:t>
            </a:r>
            <a:r>
              <a:rPr lang="en-US" sz="2400" dirty="0" err="1"/>
              <a:t>kiếm</a:t>
            </a:r>
            <a:r>
              <a:rPr lang="en-US" sz="2400" dirty="0"/>
              <a:t> </a:t>
            </a:r>
            <a:r>
              <a:rPr lang="en-US" sz="2400" dirty="0" err="1"/>
              <a:t>tuần</a:t>
            </a:r>
            <a:r>
              <a:rPr lang="en-US" sz="2400" dirty="0"/>
              <a:t> </a:t>
            </a:r>
            <a:r>
              <a:rPr lang="en-US" sz="2400" dirty="0" err="1" smtClean="0"/>
              <a:t>tự</a:t>
            </a:r>
            <a:endParaRPr lang="en-US" sz="2400" dirty="0" smtClean="0"/>
          </a:p>
          <a:p>
            <a:r>
              <a:rPr lang="en-US" sz="2400" dirty="0"/>
              <a:t>Ý </a:t>
            </a:r>
            <a:r>
              <a:rPr lang="en-US" sz="2400" dirty="0" err="1"/>
              <a:t>tưởng</a:t>
            </a:r>
            <a:r>
              <a:rPr lang="en-US" sz="2400" dirty="0"/>
              <a:t> </a:t>
            </a:r>
            <a:r>
              <a:rPr lang="en-US" sz="2400" dirty="0" err="1"/>
              <a:t>giải</a:t>
            </a:r>
            <a:r>
              <a:rPr lang="en-US" sz="2400" dirty="0"/>
              <a:t> </a:t>
            </a:r>
            <a:r>
              <a:rPr lang="en-US" sz="2400" dirty="0" err="1"/>
              <a:t>thuật</a:t>
            </a:r>
            <a:r>
              <a:rPr lang="en-US" sz="2400" dirty="0"/>
              <a:t>:</a:t>
            </a:r>
          </a:p>
          <a:p>
            <a:pPr lvl="1"/>
            <a:r>
              <a:rPr lang="en-US" sz="2000" dirty="0" err="1"/>
              <a:t>Để</a:t>
            </a:r>
            <a:r>
              <a:rPr lang="en-US" sz="2000" dirty="0"/>
              <a:t> </a:t>
            </a:r>
            <a:r>
              <a:rPr lang="en-US" sz="2000" dirty="0" err="1"/>
              <a:t>tìm</a:t>
            </a:r>
            <a:r>
              <a:rPr lang="en-US" sz="2000" dirty="0"/>
              <a:t> </a:t>
            </a:r>
            <a:r>
              <a:rPr lang="en-US" sz="2000" dirty="0" err="1"/>
              <a:t>phần</a:t>
            </a:r>
            <a:r>
              <a:rPr lang="en-US" sz="2000" dirty="0"/>
              <a:t> </a:t>
            </a:r>
            <a:r>
              <a:rPr lang="en-US" sz="2000" dirty="0" err="1"/>
              <a:t>tử</a:t>
            </a:r>
            <a:r>
              <a:rPr lang="en-US" sz="2000" dirty="0"/>
              <a:t> </a:t>
            </a:r>
            <a:r>
              <a:rPr lang="en-US" sz="2000" dirty="0" err="1"/>
              <a:t>bằng</a:t>
            </a:r>
            <a:r>
              <a:rPr lang="en-US" sz="2000" dirty="0"/>
              <a:t> K </a:t>
            </a:r>
            <a:r>
              <a:rPr lang="en-US" sz="2000" dirty="0" err="1"/>
              <a:t>trong</a:t>
            </a:r>
            <a:r>
              <a:rPr lang="en-US" sz="2000" dirty="0"/>
              <a:t> </a:t>
            </a:r>
            <a:r>
              <a:rPr lang="en-US" sz="2000" dirty="0" err="1"/>
              <a:t>dãy</a:t>
            </a:r>
            <a:r>
              <a:rPr lang="en-US" sz="2000" dirty="0"/>
              <a:t> N </a:t>
            </a:r>
            <a:r>
              <a:rPr lang="en-US" sz="2000" dirty="0" err="1" smtClean="0"/>
              <a:t>số</a:t>
            </a:r>
            <a:r>
              <a:rPr lang="en-US" sz="2000" dirty="0" smtClean="0"/>
              <a:t>: </a:t>
            </a:r>
            <a:r>
              <a:rPr lang="en-US" sz="2000" dirty="0"/>
              <a:t>A = (a</a:t>
            </a:r>
            <a:r>
              <a:rPr lang="en-US" sz="2000" baseline="-25000" dirty="0"/>
              <a:t>0</a:t>
            </a:r>
            <a:r>
              <a:rPr lang="en-US" sz="2000" dirty="0"/>
              <a:t>, a</a:t>
            </a:r>
            <a:r>
              <a:rPr lang="en-US" sz="2000" baseline="-25000" dirty="0"/>
              <a:t>1</a:t>
            </a:r>
            <a:r>
              <a:rPr lang="en-US" sz="2000" dirty="0"/>
              <a:t>,…, a</a:t>
            </a:r>
            <a:r>
              <a:rPr lang="en-US" sz="2000" baseline="-25000" dirty="0"/>
              <a:t>N-1</a:t>
            </a:r>
            <a:r>
              <a:rPr lang="en-US" sz="2000" dirty="0"/>
              <a:t>), </a:t>
            </a:r>
            <a:r>
              <a:rPr lang="en-US" sz="2000" dirty="0" err="1"/>
              <a:t>tiến</a:t>
            </a:r>
            <a:r>
              <a:rPr lang="en-US" sz="2000" dirty="0"/>
              <a:t> </a:t>
            </a:r>
            <a:r>
              <a:rPr lang="en-US" sz="2000" dirty="0" err="1"/>
              <a:t>hành</a:t>
            </a:r>
            <a:r>
              <a:rPr lang="en-US" sz="2000" dirty="0"/>
              <a:t> so </a:t>
            </a:r>
            <a:r>
              <a:rPr lang="en-US" sz="2000" dirty="0" err="1"/>
              <a:t>sánh</a:t>
            </a:r>
            <a:r>
              <a:rPr lang="en-US" sz="2000" dirty="0"/>
              <a:t> K </a:t>
            </a:r>
            <a:r>
              <a:rPr lang="en-US" sz="2000" dirty="0" err="1"/>
              <a:t>với</a:t>
            </a:r>
            <a:r>
              <a:rPr lang="en-US" sz="2000" dirty="0"/>
              <a:t> </a:t>
            </a:r>
            <a:r>
              <a:rPr lang="en-US" sz="2000" b="1" dirty="0" err="1"/>
              <a:t>lần</a:t>
            </a:r>
            <a:r>
              <a:rPr lang="en-US" sz="2000" b="1" dirty="0"/>
              <a:t> </a:t>
            </a:r>
            <a:r>
              <a:rPr lang="en-US" sz="2000" b="1" dirty="0" err="1"/>
              <a:t>lượt</a:t>
            </a:r>
            <a:r>
              <a:rPr lang="en-US" sz="2000" b="1" dirty="0"/>
              <a:t> </a:t>
            </a:r>
            <a:r>
              <a:rPr lang="en-US" sz="2000" b="1" dirty="0" err="1"/>
              <a:t>các</a:t>
            </a:r>
            <a:r>
              <a:rPr lang="en-US" sz="2000" b="1" dirty="0"/>
              <a:t> </a:t>
            </a:r>
            <a:r>
              <a:rPr lang="en-US" sz="2000" b="1" dirty="0" err="1"/>
              <a:t>phần</a:t>
            </a:r>
            <a:r>
              <a:rPr lang="en-US" sz="2000" b="1" dirty="0"/>
              <a:t> </a:t>
            </a:r>
            <a:r>
              <a:rPr lang="en-US" sz="2000" b="1" dirty="0" err="1"/>
              <a:t>tử</a:t>
            </a:r>
            <a:r>
              <a:rPr lang="en-US" sz="2000" b="1" dirty="0"/>
              <a:t> </a:t>
            </a:r>
            <a:r>
              <a:rPr lang="en-US" sz="2000" dirty="0" err="1"/>
              <a:t>trong</a:t>
            </a:r>
            <a:r>
              <a:rPr lang="en-US" sz="2000" dirty="0"/>
              <a:t> </a:t>
            </a:r>
            <a:r>
              <a:rPr lang="en-US" sz="2000" dirty="0" err="1"/>
              <a:t>dãy</a:t>
            </a:r>
            <a:r>
              <a:rPr lang="en-US" sz="2000" dirty="0"/>
              <a:t>, </a:t>
            </a:r>
            <a:r>
              <a:rPr lang="en-US" sz="2000" dirty="0" err="1"/>
              <a:t>cho</a:t>
            </a:r>
            <a:r>
              <a:rPr lang="en-US" sz="2000" dirty="0"/>
              <a:t> </a:t>
            </a:r>
            <a:r>
              <a:rPr lang="en-US" sz="2000" dirty="0" err="1"/>
              <a:t>đến</a:t>
            </a:r>
            <a:r>
              <a:rPr lang="en-US" sz="2000" dirty="0"/>
              <a:t> </a:t>
            </a:r>
            <a:r>
              <a:rPr lang="en-US" sz="2000" dirty="0" err="1"/>
              <a:t>khi</a:t>
            </a:r>
            <a:r>
              <a:rPr lang="en-US" sz="2000" dirty="0"/>
              <a:t>:</a:t>
            </a:r>
          </a:p>
          <a:p>
            <a:pPr lvl="2"/>
            <a:r>
              <a:rPr lang="en-US" sz="1800" dirty="0" err="1"/>
              <a:t>Hoặc</a:t>
            </a:r>
            <a:r>
              <a:rPr lang="en-US" sz="1800" dirty="0"/>
              <a:t> </a:t>
            </a:r>
            <a:r>
              <a:rPr lang="en-US" sz="1800" dirty="0" err="1"/>
              <a:t>tìm</a:t>
            </a:r>
            <a:r>
              <a:rPr lang="en-US" sz="1800" dirty="0"/>
              <a:t> </a:t>
            </a:r>
            <a:r>
              <a:rPr lang="en-US" sz="1800" dirty="0" err="1"/>
              <a:t>thấy</a:t>
            </a:r>
            <a:r>
              <a:rPr lang="en-US" sz="1800" dirty="0"/>
              <a:t> </a:t>
            </a:r>
            <a:r>
              <a:rPr lang="en-US" sz="1800" dirty="0" err="1"/>
              <a:t>phần</a:t>
            </a:r>
            <a:r>
              <a:rPr lang="en-US" sz="1800" dirty="0"/>
              <a:t> </a:t>
            </a:r>
            <a:r>
              <a:rPr lang="en-US" sz="1800" dirty="0" err="1"/>
              <a:t>tử</a:t>
            </a:r>
            <a:r>
              <a:rPr lang="en-US" sz="1800" dirty="0"/>
              <a:t> </a:t>
            </a:r>
            <a:r>
              <a:rPr lang="en-US" sz="1800" dirty="0" err="1"/>
              <a:t>a</a:t>
            </a:r>
            <a:r>
              <a:rPr lang="en-US" sz="1800" baseline="-25000" dirty="0" err="1"/>
              <a:t>i</a:t>
            </a:r>
            <a:r>
              <a:rPr lang="en-US" sz="1800" dirty="0"/>
              <a:t> = K, </a:t>
            </a:r>
            <a:r>
              <a:rPr lang="en-US" sz="1800" dirty="0" err="1"/>
              <a:t>thì</a:t>
            </a:r>
            <a:r>
              <a:rPr lang="en-US" sz="1800" dirty="0"/>
              <a:t> </a:t>
            </a:r>
            <a:r>
              <a:rPr lang="en-US" sz="1800" dirty="0" err="1"/>
              <a:t>trả</a:t>
            </a:r>
            <a:r>
              <a:rPr lang="en-US" sz="1800" dirty="0"/>
              <a:t> </a:t>
            </a:r>
            <a:r>
              <a:rPr lang="en-US" sz="1800" dirty="0" err="1"/>
              <a:t>về</a:t>
            </a:r>
            <a:r>
              <a:rPr lang="en-US" sz="1800" dirty="0"/>
              <a:t> </a:t>
            </a:r>
            <a:r>
              <a:rPr lang="en-US" sz="1800" dirty="0" err="1"/>
              <a:t>vị</a:t>
            </a:r>
            <a:r>
              <a:rPr lang="en-US" sz="1800" dirty="0"/>
              <a:t> </a:t>
            </a:r>
            <a:r>
              <a:rPr lang="en-US" sz="1800" dirty="0" err="1"/>
              <a:t>trí</a:t>
            </a:r>
            <a:r>
              <a:rPr lang="en-US" sz="1800" dirty="0"/>
              <a:t> </a:t>
            </a:r>
            <a:r>
              <a:rPr lang="en-US" sz="1800" dirty="0" err="1"/>
              <a:t>i</a:t>
            </a:r>
            <a:r>
              <a:rPr lang="en-US" sz="1800" dirty="0"/>
              <a:t> </a:t>
            </a:r>
            <a:r>
              <a:rPr lang="en-US" sz="1800" dirty="0" err="1"/>
              <a:t>cần</a:t>
            </a:r>
            <a:r>
              <a:rPr lang="en-US" sz="1800" dirty="0"/>
              <a:t> </a:t>
            </a:r>
            <a:r>
              <a:rPr lang="en-US" sz="1800" dirty="0" err="1"/>
              <a:t>tìm</a:t>
            </a:r>
            <a:endParaRPr lang="en-US" sz="1800" dirty="0"/>
          </a:p>
          <a:p>
            <a:pPr lvl="2"/>
            <a:r>
              <a:rPr lang="en-US" sz="1800" dirty="0" err="1"/>
              <a:t>Hoặc</a:t>
            </a:r>
            <a:r>
              <a:rPr lang="en-US" sz="1800" dirty="0"/>
              <a:t> </a:t>
            </a:r>
            <a:r>
              <a:rPr lang="en-US" sz="1800" dirty="0" err="1"/>
              <a:t>đã</a:t>
            </a:r>
            <a:r>
              <a:rPr lang="en-US" sz="1800" dirty="0"/>
              <a:t> so </a:t>
            </a:r>
            <a:r>
              <a:rPr lang="en-US" sz="1800" dirty="0" err="1"/>
              <a:t>sánh</a:t>
            </a:r>
            <a:r>
              <a:rPr lang="en-US" sz="1800" dirty="0"/>
              <a:t> </a:t>
            </a:r>
            <a:r>
              <a:rPr lang="en-US" sz="1800" dirty="0" err="1"/>
              <a:t>với</a:t>
            </a:r>
            <a:r>
              <a:rPr lang="en-US" sz="1800" dirty="0"/>
              <a:t> </a:t>
            </a:r>
            <a:r>
              <a:rPr lang="en-US" sz="1800" dirty="0" err="1"/>
              <a:t>toàn</a:t>
            </a:r>
            <a:r>
              <a:rPr lang="en-US" sz="1800" dirty="0"/>
              <a:t> </a:t>
            </a:r>
            <a:r>
              <a:rPr lang="en-US" sz="1800" dirty="0" err="1"/>
              <a:t>bộ</a:t>
            </a:r>
            <a:r>
              <a:rPr lang="en-US" sz="1800" dirty="0"/>
              <a:t> </a:t>
            </a:r>
            <a:r>
              <a:rPr lang="en-US" sz="1800" dirty="0" err="1"/>
              <a:t>các</a:t>
            </a:r>
            <a:r>
              <a:rPr lang="en-US" sz="1800" dirty="0"/>
              <a:t> </a:t>
            </a:r>
            <a:r>
              <a:rPr lang="en-US" sz="1800" dirty="0" err="1"/>
              <a:t>phần</a:t>
            </a:r>
            <a:r>
              <a:rPr lang="en-US" sz="1800" dirty="0"/>
              <a:t> </a:t>
            </a:r>
            <a:r>
              <a:rPr lang="en-US" sz="1800" dirty="0" err="1"/>
              <a:t>tử</a:t>
            </a:r>
            <a:r>
              <a:rPr lang="en-US" sz="1800" dirty="0"/>
              <a:t> </a:t>
            </a:r>
            <a:r>
              <a:rPr lang="en-US" sz="1800" dirty="0" err="1"/>
              <a:t>của</a:t>
            </a:r>
            <a:r>
              <a:rPr lang="en-US" sz="1800" dirty="0"/>
              <a:t> </a:t>
            </a:r>
            <a:r>
              <a:rPr lang="en-US" sz="1800" dirty="0" err="1"/>
              <a:t>dãy</a:t>
            </a:r>
            <a:r>
              <a:rPr lang="en-US" sz="1800" dirty="0"/>
              <a:t> </a:t>
            </a:r>
            <a:r>
              <a:rPr lang="en-US" sz="1800" dirty="0" err="1"/>
              <a:t>nhưng</a:t>
            </a:r>
            <a:r>
              <a:rPr lang="en-US" sz="1800" dirty="0"/>
              <a:t> </a:t>
            </a:r>
            <a:r>
              <a:rPr lang="en-US" sz="1800" dirty="0" err="1"/>
              <a:t>vẫn</a:t>
            </a:r>
            <a:r>
              <a:rPr lang="en-US" sz="1800" dirty="0"/>
              <a:t> </a:t>
            </a:r>
            <a:r>
              <a:rPr lang="en-US" sz="1800" dirty="0" err="1"/>
              <a:t>không</a:t>
            </a:r>
            <a:r>
              <a:rPr lang="en-US" sz="1800" dirty="0"/>
              <a:t> </a:t>
            </a:r>
            <a:r>
              <a:rPr lang="en-US" sz="1800" dirty="0" err="1"/>
              <a:t>thấy</a:t>
            </a:r>
            <a:r>
              <a:rPr lang="en-US" sz="1800" dirty="0"/>
              <a:t>, </a:t>
            </a:r>
            <a:r>
              <a:rPr lang="en-US" sz="1800" dirty="0" err="1"/>
              <a:t>thì</a:t>
            </a:r>
            <a:r>
              <a:rPr lang="en-US" sz="1800" dirty="0"/>
              <a:t> </a:t>
            </a:r>
            <a:r>
              <a:rPr lang="en-US" sz="1800" dirty="0" err="1"/>
              <a:t>trả</a:t>
            </a:r>
            <a:r>
              <a:rPr lang="en-US" sz="1800" dirty="0"/>
              <a:t> </a:t>
            </a:r>
            <a:r>
              <a:rPr lang="en-US" sz="1800" dirty="0" err="1"/>
              <a:t>về</a:t>
            </a:r>
            <a:r>
              <a:rPr lang="en-US" sz="1800" dirty="0"/>
              <a:t> </a:t>
            </a:r>
            <a:r>
              <a:rPr lang="en-US" sz="1800" dirty="0" err="1"/>
              <a:t>kết</a:t>
            </a:r>
            <a:r>
              <a:rPr lang="en-US" sz="1800" dirty="0"/>
              <a:t> </a:t>
            </a:r>
            <a:r>
              <a:rPr lang="en-US" sz="1800" dirty="0" err="1"/>
              <a:t>quả</a:t>
            </a:r>
            <a:r>
              <a:rPr lang="en-US" sz="1800" dirty="0"/>
              <a:t> </a:t>
            </a:r>
            <a:r>
              <a:rPr lang="en-US" sz="1800" dirty="0" err="1"/>
              <a:t>không</a:t>
            </a:r>
            <a:r>
              <a:rPr lang="en-US" sz="1800" dirty="0"/>
              <a:t> </a:t>
            </a:r>
            <a:r>
              <a:rPr lang="en-US" sz="1800" dirty="0" err="1"/>
              <a:t>tìm</a:t>
            </a:r>
            <a:r>
              <a:rPr lang="en-US" sz="1800" dirty="0"/>
              <a:t> </a:t>
            </a:r>
            <a:r>
              <a:rPr lang="en-US" sz="1800" dirty="0" err="1"/>
              <a:t>thấy</a:t>
            </a:r>
            <a:r>
              <a:rPr lang="en-US" sz="1800" dirty="0"/>
              <a:t>.</a:t>
            </a:r>
          </a:p>
          <a:p>
            <a:endParaRPr lang="en-US" dirty="0"/>
          </a:p>
        </p:txBody>
      </p:sp>
      <p:sp>
        <p:nvSpPr>
          <p:cNvPr id="6" name="Rectangle 5"/>
          <p:cNvSpPr/>
          <p:nvPr/>
        </p:nvSpPr>
        <p:spPr>
          <a:xfrm>
            <a:off x="1752600" y="3429000"/>
            <a:ext cx="6629400" cy="2308324"/>
          </a:xfrm>
          <a:prstGeom prst="rect">
            <a:avLst/>
          </a:prstGeom>
        </p:spPr>
        <p:txBody>
          <a:bodyPr wrap="square">
            <a:spAutoFit/>
          </a:bodyPr>
          <a:lstStyle/>
          <a:p>
            <a:r>
              <a:rPr lang="en-US" b="1" dirty="0" err="1" smtClean="0">
                <a:latin typeface="Courier New" pitchFamily="49" charset="0"/>
                <a:cs typeface="Courier New" pitchFamily="49" charset="0"/>
              </a:rPr>
              <a:t>typedef</a:t>
            </a:r>
            <a:r>
              <a:rPr lang="en-US" b="1" dirty="0" smtClean="0">
                <a:latin typeface="Courier New" pitchFamily="49" charset="0"/>
                <a:cs typeface="Courier New" pitchFamily="49" charset="0"/>
              </a:rPr>
              <a:t> </a:t>
            </a:r>
            <a:r>
              <a:rPr lang="en-US" b="1" dirty="0" err="1" smtClean="0">
                <a:latin typeface="Courier New" pitchFamily="49" charset="0"/>
                <a:cs typeface="Courier New" pitchFamily="49" charset="0"/>
              </a:rPr>
              <a:t>int</a:t>
            </a:r>
            <a:r>
              <a:rPr lang="en-US" b="1" dirty="0" smtClean="0">
                <a:latin typeface="Courier New" pitchFamily="49" charset="0"/>
                <a:cs typeface="Courier New" pitchFamily="49" charset="0"/>
              </a:rPr>
              <a:t> </a:t>
            </a:r>
            <a:r>
              <a:rPr lang="en-US" b="1" dirty="0" err="1">
                <a:latin typeface="Courier New" pitchFamily="49" charset="0"/>
                <a:cs typeface="Courier New" pitchFamily="49" charset="0"/>
              </a:rPr>
              <a:t>DaySo</a:t>
            </a:r>
            <a:r>
              <a:rPr lang="en-US" b="1" dirty="0">
                <a:latin typeface="Courier New" pitchFamily="49" charset="0"/>
                <a:cs typeface="Courier New" pitchFamily="49" charset="0"/>
              </a:rPr>
              <a:t>[N</a:t>
            </a:r>
            <a:r>
              <a:rPr lang="en-US" b="1" dirty="0" smtClean="0">
                <a:latin typeface="Courier New" pitchFamily="49" charset="0"/>
                <a:cs typeface="Courier New" pitchFamily="49" charset="0"/>
              </a:rPr>
              <a:t>];</a:t>
            </a:r>
          </a:p>
          <a:p>
            <a:endParaRPr lang="en-US" b="1" dirty="0">
              <a:latin typeface="Courier New" pitchFamily="49" charset="0"/>
              <a:cs typeface="Courier New" pitchFamily="49" charset="0"/>
            </a:endParaRPr>
          </a:p>
          <a:p>
            <a:r>
              <a:rPr lang="en-US" b="1" dirty="0" err="1" smtClean="0">
                <a:latin typeface="Courier New" pitchFamily="49" charset="0"/>
                <a:cs typeface="Courier New" pitchFamily="49" charset="0"/>
              </a:rPr>
              <a:t>int</a:t>
            </a:r>
            <a:r>
              <a:rPr lang="en-US" b="1" dirty="0" smtClean="0">
                <a:latin typeface="Courier New" pitchFamily="49" charset="0"/>
                <a:cs typeface="Courier New" pitchFamily="49" charset="0"/>
              </a:rPr>
              <a:t> </a:t>
            </a:r>
            <a:r>
              <a:rPr lang="en-US" b="1" dirty="0" err="1" smtClean="0">
                <a:latin typeface="Courier New" pitchFamily="49" charset="0"/>
                <a:cs typeface="Courier New" pitchFamily="49" charset="0"/>
              </a:rPr>
              <a:t>TKTuanTu</a:t>
            </a:r>
            <a:r>
              <a:rPr lang="en-US" b="1" dirty="0" smtClean="0">
                <a:latin typeface="Courier New" pitchFamily="49" charset="0"/>
                <a:cs typeface="Courier New" pitchFamily="49" charset="0"/>
              </a:rPr>
              <a:t>(</a:t>
            </a:r>
            <a:r>
              <a:rPr lang="en-US" b="1" dirty="0" err="1" smtClean="0">
                <a:latin typeface="Courier New" pitchFamily="49" charset="0"/>
                <a:cs typeface="Courier New" pitchFamily="49" charset="0"/>
              </a:rPr>
              <a:t>DaySo</a:t>
            </a:r>
            <a:r>
              <a:rPr lang="en-US" b="1" dirty="0" smtClean="0">
                <a:latin typeface="Courier New" pitchFamily="49" charset="0"/>
                <a:cs typeface="Courier New" pitchFamily="49" charset="0"/>
              </a:rPr>
              <a:t> a, </a:t>
            </a:r>
            <a:r>
              <a:rPr lang="en-US" b="1" dirty="0" err="1" smtClean="0">
                <a:latin typeface="Courier New" pitchFamily="49" charset="0"/>
                <a:cs typeface="Courier New" pitchFamily="49" charset="0"/>
              </a:rPr>
              <a:t>int</a:t>
            </a:r>
            <a:r>
              <a:rPr lang="en-US" b="1" dirty="0" smtClean="0">
                <a:latin typeface="Courier New" pitchFamily="49" charset="0"/>
                <a:cs typeface="Courier New" pitchFamily="49" charset="0"/>
              </a:rPr>
              <a:t> </a:t>
            </a:r>
            <a:r>
              <a:rPr lang="en-US" b="1" dirty="0">
                <a:latin typeface="Courier New" pitchFamily="49" charset="0"/>
                <a:cs typeface="Courier New" pitchFamily="49" charset="0"/>
              </a:rPr>
              <a:t>K)</a:t>
            </a:r>
            <a:r>
              <a:rPr lang="en-US" dirty="0">
                <a:latin typeface="Courier New" pitchFamily="49" charset="0"/>
                <a:cs typeface="Courier New" pitchFamily="49" charset="0"/>
              </a:rPr>
              <a:t> {</a:t>
            </a:r>
          </a:p>
          <a:p>
            <a:r>
              <a:rPr lang="en-US" dirty="0">
                <a:latin typeface="Courier New" pitchFamily="49" charset="0"/>
                <a:cs typeface="Courier New" pitchFamily="49" charset="0"/>
              </a:rPr>
              <a:t>    </a:t>
            </a:r>
            <a:r>
              <a:rPr lang="en-US" dirty="0" err="1">
                <a:latin typeface="Courier New" pitchFamily="49" charset="0"/>
                <a:cs typeface="Courier New" pitchFamily="49" charset="0"/>
              </a:rPr>
              <a:t>int</a:t>
            </a:r>
            <a:r>
              <a:rPr lang="en-US" dirty="0">
                <a:latin typeface="Courier New" pitchFamily="49" charset="0"/>
                <a:cs typeface="Courier New" pitchFamily="49" charset="0"/>
              </a:rPr>
              <a:t> </a:t>
            </a:r>
            <a:r>
              <a:rPr lang="en-US" dirty="0" err="1">
                <a:latin typeface="Courier New" pitchFamily="49" charset="0"/>
                <a:cs typeface="Courier New" pitchFamily="49" charset="0"/>
              </a:rPr>
              <a:t>i</a:t>
            </a:r>
            <a:r>
              <a:rPr lang="en-US" dirty="0">
                <a:latin typeface="Courier New" pitchFamily="49" charset="0"/>
                <a:cs typeface="Courier New" pitchFamily="49" charset="0"/>
              </a:rPr>
              <a:t>=0;</a:t>
            </a:r>
          </a:p>
          <a:p>
            <a:r>
              <a:rPr lang="en-US" dirty="0">
                <a:latin typeface="Courier New" pitchFamily="49" charset="0"/>
                <a:cs typeface="Courier New" pitchFamily="49" charset="0"/>
              </a:rPr>
              <a:t>    while (</a:t>
            </a:r>
            <a:r>
              <a:rPr lang="en-US" dirty="0" err="1">
                <a:latin typeface="Courier New" pitchFamily="49" charset="0"/>
                <a:cs typeface="Courier New" pitchFamily="49" charset="0"/>
              </a:rPr>
              <a:t>i</a:t>
            </a:r>
            <a:r>
              <a:rPr lang="en-US" dirty="0">
                <a:latin typeface="Courier New" pitchFamily="49" charset="0"/>
                <a:cs typeface="Courier New" pitchFamily="49" charset="0"/>
              </a:rPr>
              <a:t>&lt;N &amp;&amp; </a:t>
            </a:r>
            <a:r>
              <a:rPr lang="en-US" dirty="0" smtClean="0">
                <a:latin typeface="Courier New" pitchFamily="49" charset="0"/>
                <a:cs typeface="Courier New" pitchFamily="49" charset="0"/>
              </a:rPr>
              <a:t>a[</a:t>
            </a:r>
            <a:r>
              <a:rPr lang="en-US" dirty="0" err="1" smtClean="0">
                <a:latin typeface="Courier New" pitchFamily="49" charset="0"/>
                <a:cs typeface="Courier New" pitchFamily="49" charset="0"/>
              </a:rPr>
              <a:t>i</a:t>
            </a:r>
            <a:r>
              <a:rPr lang="en-US" dirty="0">
                <a:latin typeface="Courier New" pitchFamily="49" charset="0"/>
                <a:cs typeface="Courier New" pitchFamily="49" charset="0"/>
              </a:rPr>
              <a:t>] </a:t>
            </a:r>
            <a:r>
              <a:rPr lang="en-US" dirty="0" smtClean="0">
                <a:latin typeface="Courier New" pitchFamily="49" charset="0"/>
                <a:cs typeface="Courier New" pitchFamily="49" charset="0"/>
              </a:rPr>
              <a:t>!= </a:t>
            </a:r>
            <a:r>
              <a:rPr lang="en-US" dirty="0">
                <a:latin typeface="Courier New" pitchFamily="49" charset="0"/>
                <a:cs typeface="Courier New" pitchFamily="49" charset="0"/>
              </a:rPr>
              <a:t>K) </a:t>
            </a:r>
            <a:r>
              <a:rPr lang="en-US" dirty="0" err="1">
                <a:latin typeface="Courier New" pitchFamily="49" charset="0"/>
                <a:cs typeface="Courier New" pitchFamily="49" charset="0"/>
              </a:rPr>
              <a:t>i</a:t>
            </a:r>
            <a:r>
              <a:rPr lang="en-US" dirty="0">
                <a:latin typeface="Courier New" pitchFamily="49" charset="0"/>
                <a:cs typeface="Courier New" pitchFamily="49" charset="0"/>
              </a:rPr>
              <a:t>++;</a:t>
            </a:r>
          </a:p>
          <a:p>
            <a:r>
              <a:rPr lang="en-US" dirty="0">
                <a:latin typeface="Courier New" pitchFamily="49" charset="0"/>
                <a:cs typeface="Courier New" pitchFamily="49" charset="0"/>
              </a:rPr>
              <a:t>    if (</a:t>
            </a:r>
            <a:r>
              <a:rPr lang="en-US" dirty="0" err="1">
                <a:latin typeface="Courier New" pitchFamily="49" charset="0"/>
                <a:cs typeface="Courier New" pitchFamily="49" charset="0"/>
              </a:rPr>
              <a:t>i</a:t>
            </a:r>
            <a:r>
              <a:rPr lang="en-US" dirty="0">
                <a:latin typeface="Courier New" pitchFamily="49" charset="0"/>
                <a:cs typeface="Courier New" pitchFamily="49" charset="0"/>
              </a:rPr>
              <a:t>&lt;N) return </a:t>
            </a:r>
            <a:r>
              <a:rPr lang="en-US" dirty="0" err="1">
                <a:latin typeface="Courier New" pitchFamily="49" charset="0"/>
                <a:cs typeface="Courier New" pitchFamily="49" charset="0"/>
              </a:rPr>
              <a:t>i</a:t>
            </a:r>
            <a:r>
              <a:rPr lang="en-US" dirty="0">
                <a:latin typeface="Courier New" pitchFamily="49" charset="0"/>
                <a:cs typeface="Courier New" pitchFamily="49" charset="0"/>
              </a:rPr>
              <a:t>;  //</a:t>
            </a:r>
            <a:r>
              <a:rPr lang="en-US" dirty="0" err="1">
                <a:latin typeface="Courier New" pitchFamily="49" charset="0"/>
                <a:cs typeface="Courier New" pitchFamily="49" charset="0"/>
              </a:rPr>
              <a:t>Tìm</a:t>
            </a:r>
            <a:r>
              <a:rPr lang="en-US" dirty="0">
                <a:latin typeface="Courier New" pitchFamily="49" charset="0"/>
                <a:cs typeface="Courier New" pitchFamily="49" charset="0"/>
              </a:rPr>
              <a:t> </a:t>
            </a:r>
            <a:r>
              <a:rPr lang="en-US" dirty="0" err="1">
                <a:latin typeface="Courier New" pitchFamily="49" charset="0"/>
                <a:cs typeface="Courier New" pitchFamily="49" charset="0"/>
              </a:rPr>
              <a:t>thấy</a:t>
            </a:r>
            <a:endParaRPr lang="en-US" dirty="0">
              <a:latin typeface="Courier New" pitchFamily="49" charset="0"/>
              <a:cs typeface="Courier New" pitchFamily="49" charset="0"/>
            </a:endParaRPr>
          </a:p>
          <a:p>
            <a:r>
              <a:rPr lang="en-US" dirty="0">
                <a:latin typeface="Courier New" pitchFamily="49" charset="0"/>
                <a:cs typeface="Courier New" pitchFamily="49" charset="0"/>
              </a:rPr>
              <a:t>    return -1; 	</a:t>
            </a:r>
            <a:r>
              <a:rPr lang="en-US" dirty="0" smtClean="0">
                <a:latin typeface="Courier New" pitchFamily="49" charset="0"/>
                <a:cs typeface="Courier New" pitchFamily="49" charset="0"/>
              </a:rPr>
              <a:t>     </a:t>
            </a:r>
            <a:r>
              <a:rPr lang="en-US" dirty="0">
                <a:latin typeface="Courier New" pitchFamily="49" charset="0"/>
                <a:cs typeface="Courier New" pitchFamily="49" charset="0"/>
              </a:rPr>
              <a:t>	//</a:t>
            </a:r>
            <a:r>
              <a:rPr lang="en-US" dirty="0" err="1">
                <a:latin typeface="Courier New" pitchFamily="49" charset="0"/>
                <a:cs typeface="Courier New" pitchFamily="49" charset="0"/>
              </a:rPr>
              <a:t>Không</a:t>
            </a:r>
            <a:r>
              <a:rPr lang="en-US" dirty="0">
                <a:latin typeface="Courier New" pitchFamily="49" charset="0"/>
                <a:cs typeface="Courier New" pitchFamily="49" charset="0"/>
              </a:rPr>
              <a:t> </a:t>
            </a:r>
            <a:r>
              <a:rPr lang="en-US" dirty="0" err="1">
                <a:latin typeface="Courier New" pitchFamily="49" charset="0"/>
                <a:cs typeface="Courier New" pitchFamily="49" charset="0"/>
              </a:rPr>
              <a:t>tìm</a:t>
            </a:r>
            <a:r>
              <a:rPr lang="en-US" dirty="0">
                <a:latin typeface="Courier New" pitchFamily="49" charset="0"/>
                <a:cs typeface="Courier New" pitchFamily="49" charset="0"/>
              </a:rPr>
              <a:t> </a:t>
            </a:r>
            <a:r>
              <a:rPr lang="en-US" dirty="0" err="1">
                <a:latin typeface="Courier New" pitchFamily="49" charset="0"/>
                <a:cs typeface="Courier New" pitchFamily="49" charset="0"/>
              </a:rPr>
              <a:t>thấy</a:t>
            </a:r>
            <a:endParaRPr lang="en-US" dirty="0">
              <a:latin typeface="Courier New" pitchFamily="49" charset="0"/>
              <a:cs typeface="Courier New" pitchFamily="49" charset="0"/>
            </a:endParaRPr>
          </a:p>
          <a:p>
            <a:r>
              <a:rPr lang="en-US" dirty="0">
                <a:latin typeface="Courier New" pitchFamily="49" charset="0"/>
                <a:cs typeface="Courier New" pitchFamily="49" charset="0"/>
              </a:rPr>
              <a:t>}</a:t>
            </a:r>
          </a:p>
        </p:txBody>
      </p:sp>
    </p:spTree>
    <p:extLst>
      <p:ext uri="{BB962C8B-B14F-4D97-AF65-F5344CB8AC3E}">
        <p14:creationId xmlns:p14="http://schemas.microsoft.com/office/powerpoint/2010/main" val="486287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3" end="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4" end="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C24317B-5122-4A99-A6E9-FA23C146A7E0}" type="slidenum">
              <a:rPr lang="en-US" smtClean="0"/>
              <a:pPr/>
              <a:t>7</a:t>
            </a:fld>
            <a:endParaRPr lang="en-US"/>
          </a:p>
        </p:txBody>
      </p:sp>
      <p:sp>
        <p:nvSpPr>
          <p:cNvPr id="4" name="Title 3"/>
          <p:cNvSpPr>
            <a:spLocks noGrp="1"/>
          </p:cNvSpPr>
          <p:nvPr>
            <p:ph type="title"/>
          </p:nvPr>
        </p:nvSpPr>
        <p:spPr/>
        <p:txBody>
          <a:bodyPr>
            <a:normAutofit/>
          </a:bodyPr>
          <a:lstStyle/>
          <a:p>
            <a:r>
              <a:rPr lang="en-US" altLang="en-US" sz="2400" dirty="0" smtClean="0"/>
              <a:t>2. </a:t>
            </a:r>
            <a:r>
              <a:rPr lang="en-US" altLang="en-US" sz="2400" dirty="0" err="1" smtClean="0"/>
              <a:t>Các</a:t>
            </a:r>
            <a:r>
              <a:rPr lang="en-US" altLang="en-US" sz="2400" dirty="0" smtClean="0"/>
              <a:t> </a:t>
            </a:r>
            <a:r>
              <a:rPr lang="en-US" altLang="en-US" sz="2400" dirty="0" err="1"/>
              <a:t>giải</a:t>
            </a:r>
            <a:r>
              <a:rPr lang="en-US" altLang="en-US" sz="2400" dirty="0"/>
              <a:t> </a:t>
            </a:r>
            <a:r>
              <a:rPr lang="en-US" altLang="en-US" sz="2400" dirty="0" err="1"/>
              <a:t>thuật</a:t>
            </a:r>
            <a:r>
              <a:rPr lang="en-US" altLang="en-US" sz="2400" dirty="0"/>
              <a:t> </a:t>
            </a:r>
            <a:r>
              <a:rPr lang="en-US" altLang="en-US" sz="2400" dirty="0" err="1"/>
              <a:t>tìm</a:t>
            </a:r>
            <a:r>
              <a:rPr lang="en-US" altLang="en-US" sz="2400" dirty="0"/>
              <a:t> </a:t>
            </a:r>
            <a:r>
              <a:rPr lang="en-US" altLang="en-US" sz="2400" dirty="0" err="1"/>
              <a:t>kiếm</a:t>
            </a:r>
            <a:r>
              <a:rPr lang="en-US" altLang="en-US" sz="2400" dirty="0"/>
              <a:t> </a:t>
            </a:r>
            <a:r>
              <a:rPr lang="en-US" altLang="en-US" sz="2400" dirty="0" err="1"/>
              <a:t>bằng</a:t>
            </a:r>
            <a:r>
              <a:rPr lang="en-US" altLang="en-US" sz="2400" dirty="0"/>
              <a:t> so </a:t>
            </a:r>
            <a:r>
              <a:rPr lang="en-US" altLang="en-US" sz="2400" dirty="0" err="1" smtClean="0"/>
              <a:t>sánh</a:t>
            </a:r>
            <a:endParaRPr lang="en-US" dirty="0"/>
          </a:p>
        </p:txBody>
      </p:sp>
      <p:sp>
        <p:nvSpPr>
          <p:cNvPr id="5" name="Text Placeholder 4"/>
          <p:cNvSpPr>
            <a:spLocks noGrp="1"/>
          </p:cNvSpPr>
          <p:nvPr>
            <p:ph type="body" sz="quarter" idx="13"/>
          </p:nvPr>
        </p:nvSpPr>
        <p:spPr/>
        <p:txBody>
          <a:bodyPr/>
          <a:lstStyle/>
          <a:p>
            <a:pPr marL="0" indent="0">
              <a:buNone/>
            </a:pPr>
            <a:r>
              <a:rPr lang="en-US" sz="2400" dirty="0"/>
              <a:t>(1) </a:t>
            </a:r>
            <a:r>
              <a:rPr lang="en-US" sz="2400" dirty="0" err="1"/>
              <a:t>Tìm</a:t>
            </a:r>
            <a:r>
              <a:rPr lang="en-US" sz="2400" dirty="0"/>
              <a:t> </a:t>
            </a:r>
            <a:r>
              <a:rPr lang="en-US" sz="2400" dirty="0" err="1"/>
              <a:t>kiếm</a:t>
            </a:r>
            <a:r>
              <a:rPr lang="en-US" sz="2400" dirty="0"/>
              <a:t> </a:t>
            </a:r>
            <a:r>
              <a:rPr lang="en-US" sz="2400" dirty="0" err="1"/>
              <a:t>tuần</a:t>
            </a:r>
            <a:r>
              <a:rPr lang="en-US" sz="2400" dirty="0"/>
              <a:t> </a:t>
            </a:r>
            <a:r>
              <a:rPr lang="en-US" sz="2400" dirty="0" err="1" smtClean="0"/>
              <a:t>tự</a:t>
            </a:r>
            <a:endParaRPr lang="en-US" sz="2400" dirty="0" smtClean="0"/>
          </a:p>
          <a:p>
            <a:r>
              <a:rPr lang="en-US" sz="2400" dirty="0" err="1" smtClean="0"/>
              <a:t>Đánh</a:t>
            </a:r>
            <a:r>
              <a:rPr lang="en-US" sz="2400" dirty="0" smtClean="0"/>
              <a:t> </a:t>
            </a:r>
            <a:r>
              <a:rPr lang="en-US" sz="2400" dirty="0" err="1" smtClean="0"/>
              <a:t>giá</a:t>
            </a:r>
            <a:r>
              <a:rPr lang="en-US" sz="2400" dirty="0" smtClean="0"/>
              <a:t> </a:t>
            </a:r>
            <a:r>
              <a:rPr lang="en-US" sz="2400" dirty="0" err="1" smtClean="0"/>
              <a:t>giải</a:t>
            </a:r>
            <a:r>
              <a:rPr lang="en-US" sz="2400" dirty="0" smtClean="0"/>
              <a:t> </a:t>
            </a:r>
            <a:r>
              <a:rPr lang="en-US" sz="2400" dirty="0" err="1" smtClean="0"/>
              <a:t>thuật</a:t>
            </a:r>
            <a:endParaRPr lang="en-US" sz="2400" dirty="0" smtClean="0"/>
          </a:p>
          <a:p>
            <a:pPr lvl="1"/>
            <a:r>
              <a:rPr lang="en-US" sz="2000" dirty="0" err="1" smtClean="0"/>
              <a:t>Trường</a:t>
            </a:r>
            <a:r>
              <a:rPr lang="en-US" sz="2000" dirty="0" smtClean="0"/>
              <a:t> </a:t>
            </a:r>
            <a:r>
              <a:rPr lang="en-US" sz="2000" dirty="0" err="1" smtClean="0"/>
              <a:t>hợp</a:t>
            </a:r>
            <a:r>
              <a:rPr lang="en-US" sz="2000" dirty="0" smtClean="0"/>
              <a:t> </a:t>
            </a:r>
            <a:r>
              <a:rPr lang="en-US" sz="2000" dirty="0" err="1" smtClean="0"/>
              <a:t>tốt</a:t>
            </a:r>
            <a:r>
              <a:rPr lang="en-US" sz="2000" dirty="0" smtClean="0"/>
              <a:t> </a:t>
            </a:r>
            <a:r>
              <a:rPr lang="en-US" sz="2000" dirty="0" err="1" smtClean="0"/>
              <a:t>nhất</a:t>
            </a:r>
            <a:r>
              <a:rPr lang="en-US" sz="2000" dirty="0" smtClean="0"/>
              <a:t>: O(1)</a:t>
            </a:r>
          </a:p>
          <a:p>
            <a:pPr lvl="1"/>
            <a:r>
              <a:rPr lang="en-US" sz="2000" dirty="0" err="1" smtClean="0"/>
              <a:t>Trường</a:t>
            </a:r>
            <a:r>
              <a:rPr lang="en-US" sz="2000" dirty="0" smtClean="0"/>
              <a:t> </a:t>
            </a:r>
            <a:r>
              <a:rPr lang="en-US" sz="2000" dirty="0" err="1" smtClean="0"/>
              <a:t>hợp</a:t>
            </a:r>
            <a:r>
              <a:rPr lang="en-US" sz="2000" dirty="0" smtClean="0"/>
              <a:t> </a:t>
            </a:r>
            <a:r>
              <a:rPr lang="en-US" sz="2000" dirty="0" err="1" smtClean="0"/>
              <a:t>xấu</a:t>
            </a:r>
            <a:r>
              <a:rPr lang="en-US" sz="2000" dirty="0" smtClean="0"/>
              <a:t> </a:t>
            </a:r>
            <a:r>
              <a:rPr lang="en-US" sz="2000" dirty="0" err="1" smtClean="0"/>
              <a:t>nhất</a:t>
            </a:r>
            <a:r>
              <a:rPr lang="en-US" sz="2000" dirty="0" smtClean="0"/>
              <a:t>: O(n)</a:t>
            </a:r>
          </a:p>
          <a:p>
            <a:pPr lvl="1"/>
            <a:r>
              <a:rPr lang="en-US" sz="2000" dirty="0" err="1" smtClean="0"/>
              <a:t>Trường</a:t>
            </a:r>
            <a:r>
              <a:rPr lang="en-US" sz="2000" dirty="0" smtClean="0"/>
              <a:t> </a:t>
            </a:r>
            <a:r>
              <a:rPr lang="en-US" sz="2000" dirty="0" err="1" smtClean="0"/>
              <a:t>hợp</a:t>
            </a:r>
            <a:r>
              <a:rPr lang="en-US" sz="2000" dirty="0" smtClean="0"/>
              <a:t> </a:t>
            </a:r>
            <a:r>
              <a:rPr lang="en-US" sz="2000" dirty="0" err="1" smtClean="0"/>
              <a:t>trung</a:t>
            </a:r>
            <a:r>
              <a:rPr lang="en-US" sz="2000" dirty="0" smtClean="0"/>
              <a:t> </a:t>
            </a:r>
            <a:r>
              <a:rPr lang="en-US" sz="2000" dirty="0" err="1" smtClean="0"/>
              <a:t>bình</a:t>
            </a:r>
            <a:r>
              <a:rPr lang="en-US" sz="2000" dirty="0" smtClean="0"/>
              <a:t>: O(n)</a:t>
            </a:r>
            <a:endParaRPr lang="en-US" sz="2000" dirty="0"/>
          </a:p>
          <a:p>
            <a:endParaRPr lang="en-US" sz="3600" dirty="0"/>
          </a:p>
        </p:txBody>
      </p:sp>
    </p:spTree>
    <p:extLst>
      <p:ext uri="{BB962C8B-B14F-4D97-AF65-F5344CB8AC3E}">
        <p14:creationId xmlns:p14="http://schemas.microsoft.com/office/powerpoint/2010/main" val="782908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C24317B-5122-4A99-A6E9-FA23C146A7E0}" type="slidenum">
              <a:rPr lang="en-US" smtClean="0"/>
              <a:pPr/>
              <a:t>8</a:t>
            </a:fld>
            <a:endParaRPr lang="en-US"/>
          </a:p>
        </p:txBody>
      </p:sp>
      <p:sp>
        <p:nvSpPr>
          <p:cNvPr id="4" name="Title 3"/>
          <p:cNvSpPr>
            <a:spLocks noGrp="1"/>
          </p:cNvSpPr>
          <p:nvPr>
            <p:ph type="title"/>
          </p:nvPr>
        </p:nvSpPr>
        <p:spPr/>
        <p:txBody>
          <a:bodyPr>
            <a:normAutofit/>
          </a:bodyPr>
          <a:lstStyle/>
          <a:p>
            <a:r>
              <a:rPr lang="en-US" altLang="en-US" sz="2400" dirty="0" smtClean="0"/>
              <a:t>2. </a:t>
            </a:r>
            <a:r>
              <a:rPr lang="en-US" altLang="en-US" sz="2400" dirty="0" err="1" smtClean="0"/>
              <a:t>Các</a:t>
            </a:r>
            <a:r>
              <a:rPr lang="en-US" altLang="en-US" sz="2400" dirty="0" smtClean="0"/>
              <a:t> </a:t>
            </a:r>
            <a:r>
              <a:rPr lang="en-US" altLang="en-US" sz="2400" dirty="0" err="1"/>
              <a:t>giải</a:t>
            </a:r>
            <a:r>
              <a:rPr lang="en-US" altLang="en-US" sz="2400" dirty="0"/>
              <a:t> </a:t>
            </a:r>
            <a:r>
              <a:rPr lang="en-US" altLang="en-US" sz="2400" dirty="0" err="1"/>
              <a:t>thuật</a:t>
            </a:r>
            <a:r>
              <a:rPr lang="en-US" altLang="en-US" sz="2400" dirty="0"/>
              <a:t> </a:t>
            </a:r>
            <a:r>
              <a:rPr lang="en-US" altLang="en-US" sz="2400" dirty="0" err="1"/>
              <a:t>tìm</a:t>
            </a:r>
            <a:r>
              <a:rPr lang="en-US" altLang="en-US" sz="2400" dirty="0"/>
              <a:t> </a:t>
            </a:r>
            <a:r>
              <a:rPr lang="en-US" altLang="en-US" sz="2400" dirty="0" err="1"/>
              <a:t>kiếm</a:t>
            </a:r>
            <a:r>
              <a:rPr lang="en-US" altLang="en-US" sz="2400" dirty="0"/>
              <a:t> </a:t>
            </a:r>
            <a:r>
              <a:rPr lang="en-US" altLang="en-US" sz="2400" dirty="0" err="1"/>
              <a:t>bằng</a:t>
            </a:r>
            <a:r>
              <a:rPr lang="en-US" altLang="en-US" sz="2400" dirty="0"/>
              <a:t> so </a:t>
            </a:r>
            <a:r>
              <a:rPr lang="en-US" altLang="en-US" sz="2400" dirty="0" err="1" smtClean="0"/>
              <a:t>sánh</a:t>
            </a:r>
            <a:endParaRPr lang="en-US" dirty="0"/>
          </a:p>
        </p:txBody>
      </p:sp>
      <mc:AlternateContent xmlns:mc="http://schemas.openxmlformats.org/markup-compatibility/2006" xmlns:a14="http://schemas.microsoft.com/office/drawing/2010/main">
        <mc:Choice Requires="a14">
          <p:sp>
            <p:nvSpPr>
              <p:cNvPr id="5" name="Text Placeholder 4"/>
              <p:cNvSpPr>
                <a:spLocks noGrp="1"/>
              </p:cNvSpPr>
              <p:nvPr>
                <p:ph type="body" sz="quarter" idx="13"/>
              </p:nvPr>
            </p:nvSpPr>
            <p:spPr/>
            <p:txBody>
              <a:bodyPr/>
              <a:lstStyle/>
              <a:p>
                <a:pPr marL="0" indent="0">
                  <a:buNone/>
                </a:pPr>
                <a:r>
                  <a:rPr lang="en-US" sz="2400" dirty="0" smtClean="0"/>
                  <a:t>(2) </a:t>
                </a:r>
                <a:r>
                  <a:rPr lang="en-US" sz="2400" dirty="0" err="1"/>
                  <a:t>Tìm</a:t>
                </a:r>
                <a:r>
                  <a:rPr lang="en-US" sz="2400" dirty="0"/>
                  <a:t> </a:t>
                </a:r>
                <a:r>
                  <a:rPr lang="en-US" sz="2400" dirty="0" err="1"/>
                  <a:t>kiếm</a:t>
                </a:r>
                <a:r>
                  <a:rPr lang="en-US" sz="2400" dirty="0"/>
                  <a:t> </a:t>
                </a:r>
                <a:r>
                  <a:rPr lang="en-US" sz="2400" dirty="0" err="1"/>
                  <a:t>nhị</a:t>
                </a:r>
                <a:r>
                  <a:rPr lang="en-US" sz="2400" dirty="0"/>
                  <a:t> </a:t>
                </a:r>
                <a:r>
                  <a:rPr lang="en-US" sz="2400" dirty="0" err="1"/>
                  <a:t>phân</a:t>
                </a:r>
                <a:endParaRPr lang="en-US" dirty="0" smtClean="0"/>
              </a:p>
              <a:p>
                <a:r>
                  <a:rPr lang="en-US" sz="2400" dirty="0" smtClean="0"/>
                  <a:t>Ý </a:t>
                </a:r>
                <a:r>
                  <a:rPr lang="en-US" sz="2400" dirty="0" err="1" smtClean="0"/>
                  <a:t>tưởng</a:t>
                </a:r>
                <a:r>
                  <a:rPr lang="en-US" sz="2400" dirty="0" smtClean="0"/>
                  <a:t> </a:t>
                </a:r>
                <a:r>
                  <a:rPr lang="en-US" sz="2400" dirty="0" err="1" smtClean="0"/>
                  <a:t>giải</a:t>
                </a:r>
                <a:r>
                  <a:rPr lang="en-US" sz="2400" dirty="0" smtClean="0"/>
                  <a:t> </a:t>
                </a:r>
                <a:r>
                  <a:rPr lang="en-US" sz="2400" dirty="0" err="1" smtClean="0"/>
                  <a:t>thuật</a:t>
                </a:r>
                <a:r>
                  <a:rPr lang="en-US" sz="2400" dirty="0" smtClean="0"/>
                  <a:t> </a:t>
                </a:r>
                <a:r>
                  <a:rPr lang="en-US" sz="2400" dirty="0" err="1" smtClean="0"/>
                  <a:t>đệ</a:t>
                </a:r>
                <a:r>
                  <a:rPr lang="en-US" sz="2400" dirty="0" smtClean="0"/>
                  <a:t> </a:t>
                </a:r>
                <a:r>
                  <a:rPr lang="en-US" sz="2400" dirty="0" err="1" smtClean="0"/>
                  <a:t>quy</a:t>
                </a:r>
                <a:r>
                  <a:rPr lang="en-US" sz="2400" dirty="0" smtClean="0"/>
                  <a:t>:</a:t>
                </a:r>
              </a:p>
              <a:p>
                <a:pPr lvl="1"/>
                <a:r>
                  <a:rPr lang="en-US" sz="2000" dirty="0" err="1" smtClean="0"/>
                  <a:t>Để</a:t>
                </a:r>
                <a:r>
                  <a:rPr lang="en-US" sz="2000" dirty="0" smtClean="0"/>
                  <a:t> </a:t>
                </a:r>
                <a:r>
                  <a:rPr lang="en-US" sz="2000" dirty="0" err="1"/>
                  <a:t>tìm</a:t>
                </a:r>
                <a:r>
                  <a:rPr lang="en-US" sz="2000" dirty="0"/>
                  <a:t> </a:t>
                </a:r>
                <a:r>
                  <a:rPr lang="en-US" sz="2000" dirty="0" err="1"/>
                  <a:t>phần</a:t>
                </a:r>
                <a:r>
                  <a:rPr lang="en-US" sz="2000" dirty="0"/>
                  <a:t> </a:t>
                </a:r>
                <a:r>
                  <a:rPr lang="en-US" sz="2000" dirty="0" err="1"/>
                  <a:t>tử</a:t>
                </a:r>
                <a:r>
                  <a:rPr lang="en-US" sz="2000" dirty="0"/>
                  <a:t> </a:t>
                </a:r>
                <a:r>
                  <a:rPr lang="en-US" sz="2000" dirty="0" err="1"/>
                  <a:t>bằng</a:t>
                </a:r>
                <a:r>
                  <a:rPr lang="en-US" sz="2000" dirty="0"/>
                  <a:t> K </a:t>
                </a:r>
                <a:r>
                  <a:rPr lang="en-US" sz="2000" dirty="0" err="1"/>
                  <a:t>trong</a:t>
                </a:r>
                <a:r>
                  <a:rPr lang="en-US" sz="2000" dirty="0"/>
                  <a:t> </a:t>
                </a:r>
                <a:r>
                  <a:rPr lang="en-US" sz="2000" dirty="0" err="1"/>
                  <a:t>dãy</a:t>
                </a:r>
                <a:r>
                  <a:rPr lang="en-US" sz="2000" dirty="0"/>
                  <a:t> N </a:t>
                </a:r>
                <a:r>
                  <a:rPr lang="en-US" sz="2000" dirty="0" err="1"/>
                  <a:t>số</a:t>
                </a:r>
                <a:r>
                  <a:rPr lang="en-US" sz="2000" dirty="0"/>
                  <a:t> A = (a</a:t>
                </a:r>
                <a:r>
                  <a:rPr lang="en-US" sz="2000" baseline="-25000" dirty="0"/>
                  <a:t>0</a:t>
                </a:r>
                <a:r>
                  <a:rPr lang="en-US" sz="2000" dirty="0"/>
                  <a:t>, a</a:t>
                </a:r>
                <a:r>
                  <a:rPr lang="en-US" sz="2000" baseline="-25000" dirty="0"/>
                  <a:t>1</a:t>
                </a:r>
                <a:r>
                  <a:rPr lang="en-US" sz="2000" dirty="0"/>
                  <a:t>,…, a</a:t>
                </a:r>
                <a:r>
                  <a:rPr lang="en-US" sz="2000" baseline="-25000" dirty="0"/>
                  <a:t>N-1</a:t>
                </a:r>
                <a:r>
                  <a:rPr lang="en-US" sz="2000" dirty="0"/>
                  <a:t>), </a:t>
                </a:r>
                <a:r>
                  <a:rPr lang="en-US" sz="2000" dirty="0" err="1" smtClean="0"/>
                  <a:t>với</a:t>
                </a:r>
                <a:r>
                  <a:rPr lang="en-US" sz="2000" dirty="0" smtClean="0"/>
                  <a:t> </a:t>
                </a:r>
                <a:r>
                  <a:rPr lang="en-US" sz="2000" dirty="0" err="1" smtClean="0"/>
                  <a:t>điều</a:t>
                </a:r>
                <a:r>
                  <a:rPr lang="en-US" sz="2000" dirty="0" smtClean="0"/>
                  <a:t> </a:t>
                </a:r>
                <a:r>
                  <a:rPr lang="en-US" sz="2000" dirty="0" err="1" smtClean="0"/>
                  <a:t>kiện</a:t>
                </a:r>
                <a:r>
                  <a:rPr lang="en-US" sz="2000" dirty="0" smtClean="0"/>
                  <a:t> </a:t>
                </a:r>
                <a:r>
                  <a:rPr lang="vi-VN" sz="2000" dirty="0" smtClean="0"/>
                  <a:t>dãy </a:t>
                </a:r>
                <a:r>
                  <a:rPr lang="vi-VN" sz="2000" dirty="0"/>
                  <a:t>A đã được sắp </a:t>
                </a:r>
                <a:r>
                  <a:rPr lang="vi-VN" sz="2000" dirty="0" smtClean="0"/>
                  <a:t>xếp</a:t>
                </a:r>
                <a:r>
                  <a:rPr lang="en-US" sz="2000" dirty="0" smtClean="0"/>
                  <a:t> (</a:t>
                </a:r>
                <a:r>
                  <a:rPr lang="vi-VN" sz="2000" dirty="0" smtClean="0"/>
                  <a:t>giả </a:t>
                </a:r>
                <a:r>
                  <a:rPr lang="vi-VN" sz="2000" dirty="0"/>
                  <a:t>sử </a:t>
                </a:r>
                <a:r>
                  <a:rPr lang="vi-VN" sz="2000" dirty="0" smtClean="0"/>
                  <a:t>theo </a:t>
                </a:r>
                <a:r>
                  <a:rPr lang="vi-VN" sz="2000" dirty="0"/>
                  <a:t>chiều tăng </a:t>
                </a:r>
                <a:r>
                  <a:rPr lang="vi-VN" sz="2000" dirty="0" smtClean="0"/>
                  <a:t>dần</a:t>
                </a:r>
                <a:r>
                  <a:rPr lang="en-US" sz="2000" dirty="0" smtClean="0"/>
                  <a:t>):</a:t>
                </a:r>
                <a:endParaRPr lang="en-US" sz="2000" dirty="0"/>
              </a:p>
              <a:p>
                <a:pPr lvl="2"/>
                <a:r>
                  <a:rPr lang="en-US" sz="2000" dirty="0"/>
                  <a:t>So </a:t>
                </a:r>
                <a:r>
                  <a:rPr lang="en-US" sz="2000" dirty="0" err="1"/>
                  <a:t>sánh</a:t>
                </a:r>
                <a:r>
                  <a:rPr lang="en-US" sz="2000" dirty="0"/>
                  <a:t> K </a:t>
                </a:r>
                <a:r>
                  <a:rPr lang="en-US" sz="2000" dirty="0" err="1"/>
                  <a:t>với</a:t>
                </a:r>
                <a:r>
                  <a:rPr lang="en-US" sz="2000" dirty="0"/>
                  <a:t> </a:t>
                </a:r>
                <a:r>
                  <a:rPr lang="en-US" sz="2000" dirty="0" err="1"/>
                  <a:t>phần</a:t>
                </a:r>
                <a:r>
                  <a:rPr lang="en-US" sz="2000" dirty="0"/>
                  <a:t> </a:t>
                </a:r>
                <a:r>
                  <a:rPr lang="en-US" sz="2000" dirty="0" err="1"/>
                  <a:t>tử</a:t>
                </a:r>
                <a:r>
                  <a:rPr lang="en-US" sz="2000" dirty="0"/>
                  <a:t> a</a:t>
                </a:r>
                <a:r>
                  <a:rPr lang="en-US" sz="2000" baseline="-25000" dirty="0"/>
                  <a:t>m</a:t>
                </a:r>
                <a:r>
                  <a:rPr lang="en-US" sz="2000" dirty="0"/>
                  <a:t> ở </a:t>
                </a:r>
                <a:r>
                  <a:rPr lang="en-US" sz="2000" dirty="0" err="1"/>
                  <a:t>giữa</a:t>
                </a:r>
                <a:r>
                  <a:rPr lang="en-US" sz="2000" dirty="0"/>
                  <a:t> </a:t>
                </a:r>
                <a:r>
                  <a:rPr lang="en-US" sz="2000" dirty="0" err="1"/>
                  <a:t>dãy</a:t>
                </a:r>
                <a:r>
                  <a:rPr lang="en-US" sz="2000" dirty="0"/>
                  <a:t> (</a:t>
                </a:r>
                <a:r>
                  <a:rPr lang="en-US" sz="2000" dirty="0" smtClean="0"/>
                  <a:t>m=</a:t>
                </a:r>
                <a14:m>
                  <m:oMath xmlns:m="http://schemas.openxmlformats.org/officeDocument/2006/math">
                    <m:d>
                      <m:dPr>
                        <m:begChr m:val="⌊"/>
                        <m:endChr m:val="⌋"/>
                        <m:ctrlPr>
                          <a:rPr lang="en-US" sz="2000" i="1" smtClean="0">
                            <a:latin typeface="Cambria Math" panose="02040503050406030204" pitchFamily="18" charset="0"/>
                          </a:rPr>
                        </m:ctrlPr>
                      </m:dPr>
                      <m:e>
                        <m:r>
                          <a:rPr lang="en-US" sz="2000" b="0" i="1" smtClean="0">
                            <a:latin typeface="Cambria Math" panose="02040503050406030204" pitchFamily="18" charset="0"/>
                          </a:rPr>
                          <m:t>𝑁</m:t>
                        </m:r>
                        <m:r>
                          <a:rPr lang="en-US" sz="2000" b="0" i="1" smtClean="0">
                            <a:latin typeface="Cambria Math" panose="02040503050406030204" pitchFamily="18" charset="0"/>
                          </a:rPr>
                          <m:t>/2</m:t>
                        </m:r>
                      </m:e>
                    </m:d>
                  </m:oMath>
                </a14:m>
                <a:r>
                  <a:rPr lang="en-US" sz="2000" dirty="0" smtClean="0"/>
                  <a:t>). </a:t>
                </a:r>
                <a:endParaRPr lang="en-US" sz="2000" dirty="0"/>
              </a:p>
              <a:p>
                <a:pPr lvl="3"/>
                <a:r>
                  <a:rPr lang="en-US" sz="1800" dirty="0" err="1"/>
                  <a:t>Nếu</a:t>
                </a:r>
                <a:r>
                  <a:rPr lang="en-US" sz="1800" dirty="0"/>
                  <a:t> K = a</a:t>
                </a:r>
                <a:r>
                  <a:rPr lang="en-US" sz="1800" baseline="-25000" dirty="0"/>
                  <a:t>m</a:t>
                </a:r>
                <a:r>
                  <a:rPr lang="en-US" sz="1800" dirty="0"/>
                  <a:t> </a:t>
                </a:r>
                <a:r>
                  <a:rPr lang="en-US" sz="1800" dirty="0" smtClean="0">
                    <a:sym typeface="Wingdings" panose="05000000000000000000" pitchFamily="2" charset="2"/>
                  </a:rPr>
                  <a:t> </a:t>
                </a:r>
                <a:r>
                  <a:rPr lang="en-US" sz="1800" dirty="0" err="1" smtClean="0"/>
                  <a:t>vị</a:t>
                </a:r>
                <a:r>
                  <a:rPr lang="en-US" sz="1800" dirty="0" smtClean="0"/>
                  <a:t> </a:t>
                </a:r>
                <a:r>
                  <a:rPr lang="en-US" sz="1800" dirty="0" err="1"/>
                  <a:t>trí</a:t>
                </a:r>
                <a:r>
                  <a:rPr lang="en-US" sz="1800" dirty="0"/>
                  <a:t> </a:t>
                </a:r>
                <a:r>
                  <a:rPr lang="en-US" sz="1800" dirty="0" err="1"/>
                  <a:t>tìm</a:t>
                </a:r>
                <a:r>
                  <a:rPr lang="en-US" sz="1800" dirty="0"/>
                  <a:t> </a:t>
                </a:r>
                <a:r>
                  <a:rPr lang="en-US" sz="1800" dirty="0" err="1"/>
                  <a:t>thấy</a:t>
                </a:r>
                <a:r>
                  <a:rPr lang="en-US" sz="1800" dirty="0"/>
                  <a:t> m</a:t>
                </a:r>
              </a:p>
              <a:p>
                <a:pPr lvl="3"/>
                <a:r>
                  <a:rPr lang="en-US" sz="1800" dirty="0" err="1"/>
                  <a:t>Nếu</a:t>
                </a:r>
                <a:r>
                  <a:rPr lang="en-US" sz="1800" dirty="0"/>
                  <a:t> K &lt; a</a:t>
                </a:r>
                <a:r>
                  <a:rPr lang="en-US" sz="1800" baseline="-25000" dirty="0"/>
                  <a:t>m</a:t>
                </a:r>
                <a:r>
                  <a:rPr lang="en-US" sz="1800" dirty="0"/>
                  <a:t> </a:t>
                </a:r>
                <a:r>
                  <a:rPr lang="en-US" sz="1800" dirty="0" smtClean="0">
                    <a:sym typeface="Wingdings" panose="05000000000000000000" pitchFamily="2" charset="2"/>
                  </a:rPr>
                  <a:t> </a:t>
                </a:r>
                <a:r>
                  <a:rPr lang="en-US" sz="1800" dirty="0" err="1" smtClean="0">
                    <a:sym typeface="Wingdings" panose="05000000000000000000" pitchFamily="2" charset="2"/>
                  </a:rPr>
                  <a:t>T</a:t>
                </a:r>
                <a:r>
                  <a:rPr lang="en-US" sz="1800" dirty="0" err="1" smtClean="0"/>
                  <a:t>ìm</a:t>
                </a:r>
                <a:r>
                  <a:rPr lang="en-US" sz="1800" dirty="0" smtClean="0"/>
                  <a:t> </a:t>
                </a:r>
                <a:r>
                  <a:rPr lang="en-US" sz="1800" dirty="0"/>
                  <a:t>K </a:t>
                </a:r>
                <a:r>
                  <a:rPr lang="en-US" sz="1800" dirty="0" err="1"/>
                  <a:t>trong</a:t>
                </a:r>
                <a:r>
                  <a:rPr lang="en-US" sz="1800" dirty="0"/>
                  <a:t> </a:t>
                </a:r>
                <a:r>
                  <a:rPr lang="en-US" sz="1800" dirty="0" err="1"/>
                  <a:t>dãy</a:t>
                </a:r>
                <a:r>
                  <a:rPr lang="en-US" sz="1800" dirty="0"/>
                  <a:t> (a</a:t>
                </a:r>
                <a:r>
                  <a:rPr lang="en-US" sz="1800" baseline="-25000" dirty="0"/>
                  <a:t>0</a:t>
                </a:r>
                <a:r>
                  <a:rPr lang="en-US" sz="1800" dirty="0"/>
                  <a:t>,a</a:t>
                </a:r>
                <a:r>
                  <a:rPr lang="en-US" sz="1800" baseline="-25000" dirty="0"/>
                  <a:t>1</a:t>
                </a:r>
                <a:r>
                  <a:rPr lang="en-US" sz="1800" dirty="0"/>
                  <a:t>,…,a</a:t>
                </a:r>
                <a:r>
                  <a:rPr lang="en-US" sz="1800" baseline="-25000" dirty="0"/>
                  <a:t>m-1</a:t>
                </a:r>
                <a:r>
                  <a:rPr lang="en-US" sz="1800" dirty="0"/>
                  <a:t>)</a:t>
                </a:r>
              </a:p>
              <a:p>
                <a:pPr lvl="3"/>
                <a:r>
                  <a:rPr lang="en-US" sz="1800" dirty="0" err="1"/>
                  <a:t>Nếu</a:t>
                </a:r>
                <a:r>
                  <a:rPr lang="en-US" sz="1800" dirty="0"/>
                  <a:t> K </a:t>
                </a:r>
                <a:r>
                  <a:rPr lang="en-US" sz="1800" dirty="0" smtClean="0"/>
                  <a:t>&gt; </a:t>
                </a:r>
                <a:r>
                  <a:rPr lang="en-US" sz="1800" dirty="0"/>
                  <a:t>a</a:t>
                </a:r>
                <a:r>
                  <a:rPr lang="en-US" sz="1800" baseline="-25000" dirty="0"/>
                  <a:t>m</a:t>
                </a:r>
                <a:r>
                  <a:rPr lang="en-US" sz="1800" dirty="0"/>
                  <a:t> </a:t>
                </a:r>
                <a:r>
                  <a:rPr lang="en-US" sz="1800" dirty="0" smtClean="0">
                    <a:sym typeface="Wingdings" panose="05000000000000000000" pitchFamily="2" charset="2"/>
                  </a:rPr>
                  <a:t></a:t>
                </a:r>
                <a:r>
                  <a:rPr lang="en-US" sz="1800" dirty="0" smtClean="0"/>
                  <a:t> </a:t>
                </a:r>
                <a:r>
                  <a:rPr lang="en-US" sz="1800" dirty="0" err="1" smtClean="0"/>
                  <a:t>Tìm</a:t>
                </a:r>
                <a:r>
                  <a:rPr lang="en-US" sz="1800" dirty="0" smtClean="0"/>
                  <a:t> </a:t>
                </a:r>
                <a:r>
                  <a:rPr lang="en-US" sz="1800" dirty="0"/>
                  <a:t>K </a:t>
                </a:r>
                <a:r>
                  <a:rPr lang="en-US" sz="1800" dirty="0" err="1"/>
                  <a:t>trong</a:t>
                </a:r>
                <a:r>
                  <a:rPr lang="en-US" sz="1800" dirty="0"/>
                  <a:t> </a:t>
                </a:r>
                <a:r>
                  <a:rPr lang="en-US" sz="1800" dirty="0" err="1"/>
                  <a:t>dãy</a:t>
                </a:r>
                <a:r>
                  <a:rPr lang="en-US" sz="1800" dirty="0"/>
                  <a:t> (a</a:t>
                </a:r>
                <a:r>
                  <a:rPr lang="en-US" sz="1800" baseline="-25000" dirty="0"/>
                  <a:t>m+1</a:t>
                </a:r>
                <a:r>
                  <a:rPr lang="en-US" sz="1800" dirty="0"/>
                  <a:t>,a</a:t>
                </a:r>
                <a:r>
                  <a:rPr lang="en-US" sz="1800" baseline="-25000" dirty="0"/>
                  <a:t>m+2</a:t>
                </a:r>
                <a:r>
                  <a:rPr lang="en-US" sz="1800" dirty="0"/>
                  <a:t>,…,a</a:t>
                </a:r>
                <a:r>
                  <a:rPr lang="en-US" sz="1800" baseline="-25000" dirty="0"/>
                  <a:t>N-1</a:t>
                </a:r>
                <a:r>
                  <a:rPr lang="en-US" sz="1800" dirty="0"/>
                  <a:t>)</a:t>
                </a:r>
              </a:p>
              <a:p>
                <a:pPr lvl="2"/>
                <a:r>
                  <a:rPr lang="en-US" sz="1800" dirty="0" err="1"/>
                  <a:t>Điểm</a:t>
                </a:r>
                <a:r>
                  <a:rPr lang="en-US" sz="1800" dirty="0"/>
                  <a:t> </a:t>
                </a:r>
                <a:r>
                  <a:rPr lang="en-US" sz="1800" dirty="0" err="1"/>
                  <a:t>dừng</a:t>
                </a:r>
                <a:r>
                  <a:rPr lang="en-US" sz="1800" dirty="0"/>
                  <a:t>: </a:t>
                </a:r>
                <a:r>
                  <a:rPr lang="en-US" sz="1800" dirty="0" err="1"/>
                  <a:t>khi</a:t>
                </a:r>
                <a:r>
                  <a:rPr lang="en-US" sz="1800" dirty="0"/>
                  <a:t> </a:t>
                </a:r>
                <a:r>
                  <a:rPr lang="en-US" sz="1800" dirty="0" err="1"/>
                  <a:t>tìm</a:t>
                </a:r>
                <a:r>
                  <a:rPr lang="en-US" sz="1800" dirty="0"/>
                  <a:t> </a:t>
                </a:r>
                <a:r>
                  <a:rPr lang="en-US" sz="1800" dirty="0" err="1"/>
                  <a:t>thấy</a:t>
                </a:r>
                <a:r>
                  <a:rPr lang="en-US" sz="1800" dirty="0"/>
                  <a:t> </a:t>
                </a:r>
                <a:r>
                  <a:rPr lang="en-US" sz="1800" dirty="0" err="1"/>
                  <a:t>hoặc</a:t>
                </a:r>
                <a:r>
                  <a:rPr lang="en-US" sz="1800" dirty="0"/>
                  <a:t> </a:t>
                </a:r>
                <a:r>
                  <a:rPr lang="en-US" sz="1800" dirty="0" err="1"/>
                  <a:t>khi</a:t>
                </a:r>
                <a:r>
                  <a:rPr lang="en-US" sz="1800" dirty="0"/>
                  <a:t> </a:t>
                </a:r>
                <a:r>
                  <a:rPr lang="en-US" sz="1800" dirty="0" err="1"/>
                  <a:t>dãy</a:t>
                </a:r>
                <a:r>
                  <a:rPr lang="en-US" sz="1800" dirty="0"/>
                  <a:t> </a:t>
                </a:r>
                <a:r>
                  <a:rPr lang="en-US" sz="1800" dirty="0" err="1"/>
                  <a:t>không</a:t>
                </a:r>
                <a:r>
                  <a:rPr lang="en-US" sz="1800" dirty="0"/>
                  <a:t> </a:t>
                </a:r>
                <a:r>
                  <a:rPr lang="en-US" sz="1800" dirty="0" err="1"/>
                  <a:t>còn</a:t>
                </a:r>
                <a:r>
                  <a:rPr lang="en-US" sz="1800" dirty="0"/>
                  <a:t> </a:t>
                </a:r>
                <a:r>
                  <a:rPr lang="en-US" sz="1800" dirty="0" err="1"/>
                  <a:t>phần</a:t>
                </a:r>
                <a:r>
                  <a:rPr lang="en-US" sz="1800" dirty="0"/>
                  <a:t> </a:t>
                </a:r>
                <a:r>
                  <a:rPr lang="en-US" sz="1800" dirty="0" err="1"/>
                  <a:t>tử</a:t>
                </a:r>
                <a:r>
                  <a:rPr lang="en-US" sz="1800" dirty="0"/>
                  <a:t> </a:t>
                </a:r>
                <a:r>
                  <a:rPr lang="en-US" sz="1800" dirty="0" err="1"/>
                  <a:t>nào</a:t>
                </a:r>
                <a:r>
                  <a:rPr lang="en-US" sz="1800" dirty="0"/>
                  <a:t> </a:t>
                </a:r>
                <a:r>
                  <a:rPr lang="en-US" sz="1800" dirty="0" err="1"/>
                  <a:t>thì</a:t>
                </a:r>
                <a:r>
                  <a:rPr lang="en-US" sz="1800" dirty="0"/>
                  <a:t> </a:t>
                </a:r>
                <a:r>
                  <a:rPr lang="en-US" sz="1800" dirty="0" err="1"/>
                  <a:t>trả</a:t>
                </a:r>
                <a:r>
                  <a:rPr lang="en-US" sz="1800" dirty="0"/>
                  <a:t> </a:t>
                </a:r>
                <a:r>
                  <a:rPr lang="en-US" sz="1800" dirty="0" err="1"/>
                  <a:t>về</a:t>
                </a:r>
                <a:r>
                  <a:rPr lang="en-US" sz="1800" dirty="0"/>
                  <a:t> </a:t>
                </a:r>
                <a:r>
                  <a:rPr lang="en-US" sz="1800" dirty="0" err="1"/>
                  <a:t>kết</a:t>
                </a:r>
                <a:r>
                  <a:rPr lang="en-US" sz="1800" dirty="0"/>
                  <a:t> </a:t>
                </a:r>
                <a:r>
                  <a:rPr lang="en-US" sz="1800" dirty="0" err="1"/>
                  <a:t>quả</a:t>
                </a:r>
                <a:r>
                  <a:rPr lang="en-US" sz="1800" dirty="0"/>
                  <a:t> </a:t>
                </a:r>
                <a:r>
                  <a:rPr lang="en-US" sz="1800" dirty="0" err="1"/>
                  <a:t>không</a:t>
                </a:r>
                <a:r>
                  <a:rPr lang="en-US" sz="1800" dirty="0"/>
                  <a:t> </a:t>
                </a:r>
                <a:r>
                  <a:rPr lang="en-US" sz="1800" dirty="0" err="1"/>
                  <a:t>tìm</a:t>
                </a:r>
                <a:r>
                  <a:rPr lang="en-US" sz="1800" dirty="0"/>
                  <a:t> </a:t>
                </a:r>
                <a:r>
                  <a:rPr lang="en-US" sz="1800" dirty="0" err="1"/>
                  <a:t>thấy</a:t>
                </a:r>
                <a:r>
                  <a:rPr lang="en-US" sz="1800" dirty="0" smtClean="0"/>
                  <a:t>.</a:t>
                </a:r>
                <a:endParaRPr lang="en-US" sz="2000" dirty="0"/>
              </a:p>
              <a:p>
                <a:endParaRPr lang="en-US" dirty="0"/>
              </a:p>
            </p:txBody>
          </p:sp>
        </mc:Choice>
        <mc:Fallback xmlns="">
          <p:sp>
            <p:nvSpPr>
              <p:cNvPr id="5" name="Text Placeholder 4"/>
              <p:cNvSpPr>
                <a:spLocks noGrp="1" noRot="1" noChangeAspect="1" noMove="1" noResize="1" noEditPoints="1" noAdjustHandles="1" noChangeArrowheads="1" noChangeShapeType="1" noTextEdit="1"/>
              </p:cNvSpPr>
              <p:nvPr>
                <p:ph type="body" sz="quarter" idx="13"/>
              </p:nvPr>
            </p:nvSpPr>
            <p:spPr>
              <a:blipFill>
                <a:blip r:embed="rId2"/>
                <a:stretch>
                  <a:fillRect l="-1125" t="-1544"/>
                </a:stretch>
              </a:blipFill>
            </p:spPr>
            <p:txBody>
              <a:bodyPr/>
              <a:lstStyle/>
              <a:p>
                <a:r>
                  <a:rPr lang="en-US">
                    <a:noFill/>
                  </a:rPr>
                  <a:t> </a:t>
                </a:r>
              </a:p>
            </p:txBody>
          </p:sp>
        </mc:Fallback>
      </mc:AlternateContent>
    </p:spTree>
    <p:extLst>
      <p:ext uri="{BB962C8B-B14F-4D97-AF65-F5344CB8AC3E}">
        <p14:creationId xmlns:p14="http://schemas.microsoft.com/office/powerpoint/2010/main" val="567112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C24317B-5122-4A99-A6E9-FA23C146A7E0}" type="slidenum">
              <a:rPr lang="en-US" smtClean="0"/>
              <a:pPr/>
              <a:t>9</a:t>
            </a:fld>
            <a:endParaRPr lang="en-US"/>
          </a:p>
        </p:txBody>
      </p:sp>
      <p:sp>
        <p:nvSpPr>
          <p:cNvPr id="4" name="Title 3"/>
          <p:cNvSpPr>
            <a:spLocks noGrp="1"/>
          </p:cNvSpPr>
          <p:nvPr>
            <p:ph type="title"/>
          </p:nvPr>
        </p:nvSpPr>
        <p:spPr/>
        <p:txBody>
          <a:bodyPr>
            <a:normAutofit/>
          </a:bodyPr>
          <a:lstStyle/>
          <a:p>
            <a:r>
              <a:rPr lang="en-US" altLang="en-US" sz="2400" dirty="0" smtClean="0"/>
              <a:t>2. </a:t>
            </a:r>
            <a:r>
              <a:rPr lang="en-US" altLang="en-US" sz="2400" dirty="0" err="1" smtClean="0"/>
              <a:t>Các</a:t>
            </a:r>
            <a:r>
              <a:rPr lang="en-US" altLang="en-US" sz="2400" dirty="0" smtClean="0"/>
              <a:t> </a:t>
            </a:r>
            <a:r>
              <a:rPr lang="en-US" altLang="en-US" sz="2400" dirty="0" err="1"/>
              <a:t>giải</a:t>
            </a:r>
            <a:r>
              <a:rPr lang="en-US" altLang="en-US" sz="2400" dirty="0"/>
              <a:t> </a:t>
            </a:r>
            <a:r>
              <a:rPr lang="en-US" altLang="en-US" sz="2400" dirty="0" err="1"/>
              <a:t>thuật</a:t>
            </a:r>
            <a:r>
              <a:rPr lang="en-US" altLang="en-US" sz="2400" dirty="0"/>
              <a:t> </a:t>
            </a:r>
            <a:r>
              <a:rPr lang="en-US" altLang="en-US" sz="2400" dirty="0" err="1"/>
              <a:t>tìm</a:t>
            </a:r>
            <a:r>
              <a:rPr lang="en-US" altLang="en-US" sz="2400" dirty="0"/>
              <a:t> </a:t>
            </a:r>
            <a:r>
              <a:rPr lang="en-US" altLang="en-US" sz="2400" dirty="0" err="1"/>
              <a:t>kiếm</a:t>
            </a:r>
            <a:r>
              <a:rPr lang="en-US" altLang="en-US" sz="2400" dirty="0"/>
              <a:t> </a:t>
            </a:r>
            <a:r>
              <a:rPr lang="en-US" altLang="en-US" sz="2400" dirty="0" err="1"/>
              <a:t>bằng</a:t>
            </a:r>
            <a:r>
              <a:rPr lang="en-US" altLang="en-US" sz="2400" dirty="0"/>
              <a:t> so </a:t>
            </a:r>
            <a:r>
              <a:rPr lang="en-US" altLang="en-US" sz="2400" dirty="0" err="1" smtClean="0"/>
              <a:t>sánh</a:t>
            </a:r>
            <a:endParaRPr lang="en-US" dirty="0"/>
          </a:p>
        </p:txBody>
      </p:sp>
      <p:sp>
        <p:nvSpPr>
          <p:cNvPr id="5" name="Text Placeholder 4"/>
          <p:cNvSpPr>
            <a:spLocks noGrp="1"/>
          </p:cNvSpPr>
          <p:nvPr>
            <p:ph type="body" sz="quarter" idx="13"/>
          </p:nvPr>
        </p:nvSpPr>
        <p:spPr/>
        <p:txBody>
          <a:bodyPr/>
          <a:lstStyle/>
          <a:p>
            <a:pPr marL="0" indent="0">
              <a:buNone/>
            </a:pPr>
            <a:r>
              <a:rPr lang="en-US" sz="2400" dirty="0"/>
              <a:t>(2) </a:t>
            </a:r>
            <a:r>
              <a:rPr lang="en-US" sz="2400" dirty="0" err="1"/>
              <a:t>Tìm</a:t>
            </a:r>
            <a:r>
              <a:rPr lang="en-US" sz="2400" dirty="0"/>
              <a:t> </a:t>
            </a:r>
            <a:r>
              <a:rPr lang="en-US" sz="2400" dirty="0" err="1"/>
              <a:t>kiếm</a:t>
            </a:r>
            <a:r>
              <a:rPr lang="en-US" sz="2400" dirty="0"/>
              <a:t> </a:t>
            </a:r>
            <a:r>
              <a:rPr lang="en-US" sz="2400" dirty="0" err="1"/>
              <a:t>nhị</a:t>
            </a:r>
            <a:r>
              <a:rPr lang="en-US" sz="2400" dirty="0"/>
              <a:t> </a:t>
            </a:r>
            <a:r>
              <a:rPr lang="en-US" sz="2400" dirty="0" err="1"/>
              <a:t>phân</a:t>
            </a:r>
            <a:endParaRPr lang="en-US" dirty="0" smtClean="0"/>
          </a:p>
          <a:p>
            <a:r>
              <a:rPr lang="en-US" sz="2400" dirty="0" smtClean="0"/>
              <a:t>Ý </a:t>
            </a:r>
            <a:r>
              <a:rPr lang="en-US" sz="2400" dirty="0" err="1" smtClean="0"/>
              <a:t>tưởng</a:t>
            </a:r>
            <a:r>
              <a:rPr lang="en-US" sz="2400" dirty="0" smtClean="0"/>
              <a:t> </a:t>
            </a:r>
            <a:r>
              <a:rPr lang="en-US" sz="2400" dirty="0" err="1" smtClean="0"/>
              <a:t>giải</a:t>
            </a:r>
            <a:r>
              <a:rPr lang="en-US" sz="2400" dirty="0" smtClean="0"/>
              <a:t> </a:t>
            </a:r>
            <a:r>
              <a:rPr lang="en-US" sz="2400" dirty="0" err="1" smtClean="0"/>
              <a:t>thuật</a:t>
            </a:r>
            <a:r>
              <a:rPr lang="en-US" sz="2400" dirty="0" smtClean="0"/>
              <a:t> </a:t>
            </a:r>
            <a:r>
              <a:rPr lang="en-US" sz="2400" dirty="0" err="1" smtClean="0"/>
              <a:t>đệ</a:t>
            </a:r>
            <a:r>
              <a:rPr lang="en-US" sz="2400" dirty="0" smtClean="0"/>
              <a:t> </a:t>
            </a:r>
            <a:r>
              <a:rPr lang="en-US" sz="2400" dirty="0" err="1" smtClean="0"/>
              <a:t>quy</a:t>
            </a:r>
            <a:r>
              <a:rPr lang="en-US" sz="2400" dirty="0" smtClean="0"/>
              <a:t>:</a:t>
            </a:r>
          </a:p>
          <a:p>
            <a:endParaRPr lang="en-US" dirty="0"/>
          </a:p>
        </p:txBody>
      </p:sp>
      <p:sp>
        <p:nvSpPr>
          <p:cNvPr id="2" name="Rectangle 1"/>
          <p:cNvSpPr/>
          <p:nvPr/>
        </p:nvSpPr>
        <p:spPr>
          <a:xfrm>
            <a:off x="1600200" y="1981200"/>
            <a:ext cx="6553200" cy="3539430"/>
          </a:xfrm>
          <a:prstGeom prst="rect">
            <a:avLst/>
          </a:prstGeom>
        </p:spPr>
        <p:txBody>
          <a:bodyPr wrap="square">
            <a:spAutoFit/>
          </a:bodyPr>
          <a:lstStyle/>
          <a:p>
            <a:r>
              <a:rPr lang="en-US" sz="1600" b="1" dirty="0" err="1">
                <a:latin typeface="Courier New" pitchFamily="49" charset="0"/>
                <a:cs typeface="Courier New" pitchFamily="49" charset="0"/>
              </a:rPr>
              <a:t>int</a:t>
            </a:r>
            <a:r>
              <a:rPr lang="en-US" sz="1600" b="1" dirty="0">
                <a:latin typeface="Courier New" pitchFamily="49" charset="0"/>
                <a:cs typeface="Courier New" pitchFamily="49" charset="0"/>
              </a:rPr>
              <a:t> </a:t>
            </a:r>
            <a:r>
              <a:rPr lang="en-US" sz="1600" b="1" dirty="0" err="1">
                <a:latin typeface="Courier New" pitchFamily="49" charset="0"/>
                <a:cs typeface="Courier New" pitchFamily="49" charset="0"/>
              </a:rPr>
              <a:t>BSearch</a:t>
            </a:r>
            <a:r>
              <a:rPr lang="en-US" sz="1600" b="1" dirty="0">
                <a:latin typeface="Courier New" pitchFamily="49" charset="0"/>
                <a:cs typeface="Courier New" pitchFamily="49" charset="0"/>
              </a:rPr>
              <a:t> (</a:t>
            </a:r>
            <a:r>
              <a:rPr lang="en-US" sz="1600" b="1" dirty="0" err="1">
                <a:latin typeface="Courier New" pitchFamily="49" charset="0"/>
                <a:cs typeface="Courier New" pitchFamily="49" charset="0"/>
              </a:rPr>
              <a:t>DaySo</a:t>
            </a:r>
            <a:r>
              <a:rPr lang="en-US" sz="1600" b="1" dirty="0">
                <a:latin typeface="Courier New" pitchFamily="49" charset="0"/>
                <a:cs typeface="Courier New" pitchFamily="49" charset="0"/>
              </a:rPr>
              <a:t> </a:t>
            </a:r>
            <a:r>
              <a:rPr lang="en-US" sz="1600" b="1" dirty="0" smtClean="0">
                <a:latin typeface="Courier New" pitchFamily="49" charset="0"/>
                <a:cs typeface="Courier New" pitchFamily="49" charset="0"/>
              </a:rPr>
              <a:t>a, </a:t>
            </a:r>
            <a:r>
              <a:rPr lang="en-US" sz="1600" b="1" dirty="0" err="1" smtClean="0">
                <a:latin typeface="Courier New" pitchFamily="49" charset="0"/>
                <a:cs typeface="Courier New" pitchFamily="49" charset="0"/>
              </a:rPr>
              <a:t>int</a:t>
            </a:r>
            <a:r>
              <a:rPr lang="en-US" sz="1600" b="1" dirty="0" smtClean="0">
                <a:latin typeface="Courier New" pitchFamily="49" charset="0"/>
                <a:cs typeface="Courier New" pitchFamily="49" charset="0"/>
              </a:rPr>
              <a:t> </a:t>
            </a:r>
            <a:r>
              <a:rPr lang="en-US" sz="1600" b="1" dirty="0">
                <a:latin typeface="Courier New" pitchFamily="49" charset="0"/>
                <a:cs typeface="Courier New" pitchFamily="49" charset="0"/>
              </a:rPr>
              <a:t>K, </a:t>
            </a:r>
            <a:r>
              <a:rPr lang="en-US" sz="1600" b="1" dirty="0" err="1" smtClean="0">
                <a:latin typeface="Courier New" pitchFamily="49" charset="0"/>
                <a:cs typeface="Courier New" pitchFamily="49" charset="0"/>
              </a:rPr>
              <a:t>int</a:t>
            </a:r>
            <a:r>
              <a:rPr lang="en-US" sz="1600" b="1" dirty="0" smtClean="0">
                <a:latin typeface="Courier New" pitchFamily="49" charset="0"/>
                <a:cs typeface="Courier New" pitchFamily="49" charset="0"/>
              </a:rPr>
              <a:t> </a:t>
            </a:r>
            <a:r>
              <a:rPr lang="en-US" sz="1600" b="1" dirty="0">
                <a:latin typeface="Courier New" pitchFamily="49" charset="0"/>
                <a:cs typeface="Courier New" pitchFamily="49" charset="0"/>
              </a:rPr>
              <a:t>b, </a:t>
            </a:r>
            <a:r>
              <a:rPr lang="en-US" sz="1600" b="1" dirty="0" err="1">
                <a:latin typeface="Courier New" pitchFamily="49" charset="0"/>
                <a:cs typeface="Courier New" pitchFamily="49" charset="0"/>
              </a:rPr>
              <a:t>int</a:t>
            </a:r>
            <a:r>
              <a:rPr lang="en-US" sz="1600" b="1" dirty="0">
                <a:latin typeface="Courier New" pitchFamily="49" charset="0"/>
                <a:cs typeface="Courier New" pitchFamily="49" charset="0"/>
              </a:rPr>
              <a:t> e) </a:t>
            </a:r>
            <a:r>
              <a:rPr lang="en-US" sz="1600" dirty="0">
                <a:latin typeface="Courier New" pitchFamily="49" charset="0"/>
                <a:cs typeface="Courier New" pitchFamily="49" charset="0"/>
              </a:rPr>
              <a:t>{</a:t>
            </a:r>
          </a:p>
          <a:p>
            <a:r>
              <a:rPr lang="en-US" sz="1600" dirty="0">
                <a:latin typeface="Courier New" pitchFamily="49" charset="0"/>
                <a:cs typeface="Courier New" pitchFamily="49" charset="0"/>
              </a:rPr>
              <a:t>    if (b&gt;e) return -1;  </a:t>
            </a:r>
          </a:p>
          <a:p>
            <a:r>
              <a:rPr lang="en-US" sz="1600" dirty="0">
                <a:latin typeface="Courier New" pitchFamily="49" charset="0"/>
                <a:cs typeface="Courier New" pitchFamily="49" charset="0"/>
              </a:rPr>
              <a:t>    </a:t>
            </a:r>
            <a:r>
              <a:rPr lang="en-US" sz="1600" dirty="0" err="1">
                <a:latin typeface="Courier New" pitchFamily="49" charset="0"/>
                <a:cs typeface="Courier New" pitchFamily="49" charset="0"/>
              </a:rPr>
              <a:t>int</a:t>
            </a:r>
            <a:r>
              <a:rPr lang="en-US" sz="1600" dirty="0">
                <a:latin typeface="Courier New" pitchFamily="49" charset="0"/>
                <a:cs typeface="Courier New" pitchFamily="49" charset="0"/>
              </a:rPr>
              <a:t> </a:t>
            </a:r>
            <a:r>
              <a:rPr lang="en-US" sz="1600" dirty="0" smtClean="0">
                <a:latin typeface="Courier New" pitchFamily="49" charset="0"/>
                <a:cs typeface="Courier New" pitchFamily="49" charset="0"/>
              </a:rPr>
              <a:t>m = </a:t>
            </a:r>
            <a:r>
              <a:rPr lang="en-US" sz="1600" dirty="0">
                <a:latin typeface="Courier New" pitchFamily="49" charset="0"/>
                <a:cs typeface="Courier New" pitchFamily="49" charset="0"/>
              </a:rPr>
              <a:t>(</a:t>
            </a:r>
            <a:r>
              <a:rPr lang="en-US" sz="1600" dirty="0" err="1">
                <a:latin typeface="Courier New" pitchFamily="49" charset="0"/>
                <a:cs typeface="Courier New" pitchFamily="49" charset="0"/>
              </a:rPr>
              <a:t>b+e</a:t>
            </a:r>
            <a:r>
              <a:rPr lang="en-US" sz="1600" dirty="0">
                <a:latin typeface="Courier New" pitchFamily="49" charset="0"/>
                <a:cs typeface="Courier New" pitchFamily="49" charset="0"/>
              </a:rPr>
              <a:t>)/2;</a:t>
            </a:r>
          </a:p>
          <a:p>
            <a:r>
              <a:rPr lang="en-US" sz="1600" dirty="0">
                <a:latin typeface="Courier New" pitchFamily="49" charset="0"/>
                <a:cs typeface="Courier New" pitchFamily="49" charset="0"/>
              </a:rPr>
              <a:t>    if (K</a:t>
            </a:r>
            <a:r>
              <a:rPr lang="en-US" sz="1600" dirty="0" smtClean="0">
                <a:latin typeface="Courier New" pitchFamily="49" charset="0"/>
                <a:cs typeface="Courier New" pitchFamily="49" charset="0"/>
              </a:rPr>
              <a:t>==a[m</a:t>
            </a:r>
            <a:r>
              <a:rPr lang="en-US" sz="1600" dirty="0">
                <a:latin typeface="Courier New" pitchFamily="49" charset="0"/>
                <a:cs typeface="Courier New" pitchFamily="49" charset="0"/>
              </a:rPr>
              <a:t>]) return m;  </a:t>
            </a:r>
          </a:p>
          <a:p>
            <a:r>
              <a:rPr lang="en-US" sz="1600" dirty="0">
                <a:latin typeface="Courier New" pitchFamily="49" charset="0"/>
                <a:cs typeface="Courier New" pitchFamily="49" charset="0"/>
              </a:rPr>
              <a:t>    else </a:t>
            </a:r>
          </a:p>
          <a:p>
            <a:r>
              <a:rPr lang="en-US" sz="1600" dirty="0">
                <a:latin typeface="Courier New" pitchFamily="49" charset="0"/>
                <a:cs typeface="Courier New" pitchFamily="49" charset="0"/>
              </a:rPr>
              <a:t>        if (</a:t>
            </a:r>
            <a:r>
              <a:rPr lang="en-US" sz="1600" dirty="0" smtClean="0">
                <a:latin typeface="Courier New" pitchFamily="49" charset="0"/>
                <a:cs typeface="Courier New" pitchFamily="49" charset="0"/>
              </a:rPr>
              <a:t>K&lt;a[m</a:t>
            </a:r>
            <a:r>
              <a:rPr lang="en-US" sz="1600" dirty="0">
                <a:latin typeface="Courier New" pitchFamily="49" charset="0"/>
                <a:cs typeface="Courier New" pitchFamily="49" charset="0"/>
              </a:rPr>
              <a:t>]) </a:t>
            </a:r>
          </a:p>
          <a:p>
            <a:r>
              <a:rPr lang="en-US" sz="1600" dirty="0">
                <a:latin typeface="Courier New" pitchFamily="49" charset="0"/>
                <a:cs typeface="Courier New" pitchFamily="49" charset="0"/>
              </a:rPr>
              <a:t>            return </a:t>
            </a:r>
            <a:r>
              <a:rPr lang="en-US" sz="1600" b="1" dirty="0" err="1" smtClean="0">
                <a:latin typeface="Courier New" pitchFamily="49" charset="0"/>
                <a:cs typeface="Courier New" pitchFamily="49" charset="0"/>
              </a:rPr>
              <a:t>BSearch</a:t>
            </a:r>
            <a:r>
              <a:rPr lang="en-US" sz="1600" dirty="0" smtClean="0">
                <a:latin typeface="Courier New" pitchFamily="49" charset="0"/>
                <a:cs typeface="Courier New" pitchFamily="49" charset="0"/>
              </a:rPr>
              <a:t>(a, K, b</a:t>
            </a:r>
            <a:r>
              <a:rPr lang="en-US" sz="1600" dirty="0">
                <a:latin typeface="Courier New" pitchFamily="49" charset="0"/>
                <a:cs typeface="Courier New" pitchFamily="49" charset="0"/>
              </a:rPr>
              <a:t>, m-1);</a:t>
            </a:r>
          </a:p>
          <a:p>
            <a:r>
              <a:rPr lang="en-US" sz="1600" dirty="0">
                <a:latin typeface="Courier New" pitchFamily="49" charset="0"/>
                <a:cs typeface="Courier New" pitchFamily="49" charset="0"/>
              </a:rPr>
              <a:t>        else </a:t>
            </a:r>
          </a:p>
          <a:p>
            <a:r>
              <a:rPr lang="en-US" sz="1600" dirty="0">
                <a:latin typeface="Courier New" pitchFamily="49" charset="0"/>
                <a:cs typeface="Courier New" pitchFamily="49" charset="0"/>
              </a:rPr>
              <a:t>            return </a:t>
            </a:r>
            <a:r>
              <a:rPr lang="en-US" sz="1600" b="1" dirty="0" err="1" smtClean="0">
                <a:latin typeface="Courier New" pitchFamily="49" charset="0"/>
                <a:cs typeface="Courier New" pitchFamily="49" charset="0"/>
              </a:rPr>
              <a:t>BSearch</a:t>
            </a:r>
            <a:r>
              <a:rPr lang="en-US" sz="1600" dirty="0" smtClean="0">
                <a:latin typeface="Courier New" pitchFamily="49" charset="0"/>
                <a:cs typeface="Courier New" pitchFamily="49" charset="0"/>
              </a:rPr>
              <a:t>(a, K, </a:t>
            </a:r>
            <a:r>
              <a:rPr lang="en-US" sz="1600" dirty="0">
                <a:latin typeface="Courier New" pitchFamily="49" charset="0"/>
                <a:cs typeface="Courier New" pitchFamily="49" charset="0"/>
              </a:rPr>
              <a:t>m+1,e); </a:t>
            </a:r>
          </a:p>
          <a:p>
            <a:r>
              <a:rPr lang="en-US" sz="1600" dirty="0" smtClean="0">
                <a:latin typeface="Courier New" pitchFamily="49" charset="0"/>
                <a:cs typeface="Courier New" pitchFamily="49" charset="0"/>
              </a:rPr>
              <a:t>}</a:t>
            </a:r>
          </a:p>
          <a:p>
            <a:r>
              <a:rPr lang="en-US" sz="1600" b="1" dirty="0" err="1">
                <a:latin typeface="Courier New" pitchFamily="49" charset="0"/>
                <a:cs typeface="Courier New" pitchFamily="49" charset="0"/>
              </a:rPr>
              <a:t>int</a:t>
            </a:r>
            <a:r>
              <a:rPr lang="en-US" sz="1600" b="1" dirty="0">
                <a:latin typeface="Courier New" pitchFamily="49" charset="0"/>
                <a:cs typeface="Courier New" pitchFamily="49" charset="0"/>
              </a:rPr>
              <a:t> </a:t>
            </a:r>
            <a:r>
              <a:rPr lang="en-US" sz="1600" b="1" dirty="0" err="1" smtClean="0">
                <a:latin typeface="Courier New" pitchFamily="49" charset="0"/>
                <a:cs typeface="Courier New" pitchFamily="49" charset="0"/>
              </a:rPr>
              <a:t>BinarySearch</a:t>
            </a:r>
            <a:r>
              <a:rPr lang="en-US" sz="1600" b="1" dirty="0" smtClean="0">
                <a:latin typeface="Courier New" pitchFamily="49" charset="0"/>
                <a:cs typeface="Courier New" pitchFamily="49" charset="0"/>
              </a:rPr>
              <a:t>(</a:t>
            </a:r>
            <a:r>
              <a:rPr lang="en-US" sz="1600" b="1" dirty="0" err="1">
                <a:latin typeface="Courier New" pitchFamily="49" charset="0"/>
                <a:cs typeface="Courier New" pitchFamily="49" charset="0"/>
              </a:rPr>
              <a:t>DaySo</a:t>
            </a:r>
            <a:r>
              <a:rPr lang="en-US" sz="1600" b="1" dirty="0">
                <a:latin typeface="Courier New" pitchFamily="49" charset="0"/>
                <a:cs typeface="Courier New" pitchFamily="49" charset="0"/>
              </a:rPr>
              <a:t> a, </a:t>
            </a:r>
            <a:r>
              <a:rPr lang="en-US" sz="1600" b="1" dirty="0" err="1">
                <a:latin typeface="Courier New" pitchFamily="49" charset="0"/>
                <a:cs typeface="Courier New" pitchFamily="49" charset="0"/>
              </a:rPr>
              <a:t>int</a:t>
            </a:r>
            <a:r>
              <a:rPr lang="en-US" sz="1600" b="1" dirty="0">
                <a:latin typeface="Courier New" pitchFamily="49" charset="0"/>
                <a:cs typeface="Courier New" pitchFamily="49" charset="0"/>
              </a:rPr>
              <a:t> </a:t>
            </a:r>
            <a:r>
              <a:rPr lang="en-US" sz="1600" b="1" dirty="0" smtClean="0">
                <a:latin typeface="Courier New" pitchFamily="49" charset="0"/>
                <a:cs typeface="Courier New" pitchFamily="49" charset="0"/>
              </a:rPr>
              <a:t>K)</a:t>
            </a:r>
            <a:r>
              <a:rPr lang="en-US" sz="1600" dirty="0" smtClean="0">
                <a:latin typeface="Courier New" pitchFamily="49" charset="0"/>
                <a:cs typeface="Courier New" pitchFamily="49" charset="0"/>
              </a:rPr>
              <a:t>{</a:t>
            </a:r>
            <a:endParaRPr lang="en-US" sz="1600" dirty="0">
              <a:latin typeface="Courier New" pitchFamily="49" charset="0"/>
              <a:cs typeface="Courier New" pitchFamily="49" charset="0"/>
            </a:endParaRPr>
          </a:p>
          <a:p>
            <a:r>
              <a:rPr lang="en-US" sz="1600">
                <a:latin typeface="Courier New" pitchFamily="49" charset="0"/>
                <a:cs typeface="Courier New" pitchFamily="49" charset="0"/>
              </a:rPr>
              <a:t>    </a:t>
            </a:r>
            <a:r>
              <a:rPr lang="en-US" sz="1600" smtClean="0">
                <a:latin typeface="Courier New" pitchFamily="49" charset="0"/>
                <a:cs typeface="Courier New" pitchFamily="49" charset="0"/>
              </a:rPr>
              <a:t>return </a:t>
            </a:r>
            <a:r>
              <a:rPr lang="en-US" sz="1600" dirty="0" err="1" smtClean="0">
                <a:latin typeface="Courier New" pitchFamily="49" charset="0"/>
                <a:cs typeface="Courier New" pitchFamily="49" charset="0"/>
              </a:rPr>
              <a:t>BSearch</a:t>
            </a:r>
            <a:r>
              <a:rPr lang="en-US" sz="1600" dirty="0" smtClean="0">
                <a:latin typeface="Courier New" pitchFamily="49" charset="0"/>
                <a:cs typeface="Courier New" pitchFamily="49" charset="0"/>
              </a:rPr>
              <a:t>(a,K,0,a.length-1</a:t>
            </a:r>
            <a:r>
              <a:rPr lang="en-US" sz="1600" dirty="0">
                <a:latin typeface="Courier New" pitchFamily="49" charset="0"/>
                <a:cs typeface="Courier New" pitchFamily="49" charset="0"/>
              </a:rPr>
              <a:t>);</a:t>
            </a:r>
          </a:p>
          <a:p>
            <a:r>
              <a:rPr lang="en-US" sz="1600" dirty="0">
                <a:latin typeface="Courier New" pitchFamily="49" charset="0"/>
                <a:cs typeface="Courier New" pitchFamily="49" charset="0"/>
              </a:rPr>
              <a:t>}</a:t>
            </a:r>
          </a:p>
          <a:p>
            <a:endParaRPr lang="en-US" sz="1600" dirty="0">
              <a:latin typeface="Courier New" pitchFamily="49" charset="0"/>
              <a:cs typeface="Courier New" pitchFamily="49" charset="0"/>
            </a:endParaRPr>
          </a:p>
        </p:txBody>
      </p:sp>
    </p:spTree>
    <p:extLst>
      <p:ext uri="{BB962C8B-B14F-4D97-AF65-F5344CB8AC3E}">
        <p14:creationId xmlns:p14="http://schemas.microsoft.com/office/powerpoint/2010/main" val="1963649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11" end="1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C24317B-5122-4A99-A6E9-FA23C146A7E0}" type="slidenum">
              <a:rPr lang="en-US" smtClean="0"/>
              <a:pPr/>
              <a:t>10</a:t>
            </a:fld>
            <a:endParaRPr lang="en-US"/>
          </a:p>
        </p:txBody>
      </p:sp>
      <p:sp>
        <p:nvSpPr>
          <p:cNvPr id="4" name="Title 3"/>
          <p:cNvSpPr>
            <a:spLocks noGrp="1"/>
          </p:cNvSpPr>
          <p:nvPr>
            <p:ph type="title"/>
          </p:nvPr>
        </p:nvSpPr>
        <p:spPr/>
        <p:txBody>
          <a:bodyPr>
            <a:normAutofit/>
          </a:bodyPr>
          <a:lstStyle/>
          <a:p>
            <a:r>
              <a:rPr lang="en-US" altLang="en-US" sz="2400" dirty="0" smtClean="0"/>
              <a:t>2. </a:t>
            </a:r>
            <a:r>
              <a:rPr lang="en-US" altLang="en-US" sz="2400" dirty="0" err="1" smtClean="0"/>
              <a:t>Các</a:t>
            </a:r>
            <a:r>
              <a:rPr lang="en-US" altLang="en-US" sz="2400" dirty="0" smtClean="0"/>
              <a:t> </a:t>
            </a:r>
            <a:r>
              <a:rPr lang="en-US" altLang="en-US" sz="2400" dirty="0" err="1"/>
              <a:t>giải</a:t>
            </a:r>
            <a:r>
              <a:rPr lang="en-US" altLang="en-US" sz="2400" dirty="0"/>
              <a:t> </a:t>
            </a:r>
            <a:r>
              <a:rPr lang="en-US" altLang="en-US" sz="2400" dirty="0" err="1"/>
              <a:t>thuật</a:t>
            </a:r>
            <a:r>
              <a:rPr lang="en-US" altLang="en-US" sz="2400" dirty="0"/>
              <a:t> </a:t>
            </a:r>
            <a:r>
              <a:rPr lang="en-US" altLang="en-US" sz="2400" dirty="0" err="1"/>
              <a:t>tìm</a:t>
            </a:r>
            <a:r>
              <a:rPr lang="en-US" altLang="en-US" sz="2400" dirty="0"/>
              <a:t> </a:t>
            </a:r>
            <a:r>
              <a:rPr lang="en-US" altLang="en-US" sz="2400" dirty="0" err="1"/>
              <a:t>kiếm</a:t>
            </a:r>
            <a:r>
              <a:rPr lang="en-US" altLang="en-US" sz="2400" dirty="0"/>
              <a:t> </a:t>
            </a:r>
            <a:r>
              <a:rPr lang="en-US" altLang="en-US" sz="2400" dirty="0" err="1"/>
              <a:t>bằng</a:t>
            </a:r>
            <a:r>
              <a:rPr lang="en-US" altLang="en-US" sz="2400" dirty="0"/>
              <a:t> so </a:t>
            </a:r>
            <a:r>
              <a:rPr lang="en-US" altLang="en-US" sz="2400" dirty="0" err="1" smtClean="0"/>
              <a:t>sánh</a:t>
            </a:r>
            <a:endParaRPr lang="en-US" dirty="0"/>
          </a:p>
        </p:txBody>
      </p:sp>
      <p:sp>
        <p:nvSpPr>
          <p:cNvPr id="5" name="Text Placeholder 4"/>
          <p:cNvSpPr>
            <a:spLocks noGrp="1"/>
          </p:cNvSpPr>
          <p:nvPr>
            <p:ph type="body" sz="quarter" idx="13"/>
          </p:nvPr>
        </p:nvSpPr>
        <p:spPr/>
        <p:txBody>
          <a:bodyPr/>
          <a:lstStyle/>
          <a:p>
            <a:pPr marL="0" indent="0">
              <a:buNone/>
            </a:pPr>
            <a:r>
              <a:rPr lang="en-US" sz="2400" dirty="0"/>
              <a:t>(2) </a:t>
            </a:r>
            <a:r>
              <a:rPr lang="en-US" sz="2400" dirty="0" err="1"/>
              <a:t>Tìm</a:t>
            </a:r>
            <a:r>
              <a:rPr lang="en-US" sz="2400" dirty="0"/>
              <a:t> </a:t>
            </a:r>
            <a:r>
              <a:rPr lang="en-US" sz="2400" dirty="0" err="1"/>
              <a:t>kiếm</a:t>
            </a:r>
            <a:r>
              <a:rPr lang="en-US" sz="2400" dirty="0"/>
              <a:t> </a:t>
            </a:r>
            <a:r>
              <a:rPr lang="en-US" sz="2400" dirty="0" err="1"/>
              <a:t>nhị</a:t>
            </a:r>
            <a:r>
              <a:rPr lang="en-US" sz="2400" dirty="0"/>
              <a:t> </a:t>
            </a:r>
            <a:r>
              <a:rPr lang="en-US" sz="2400" dirty="0" err="1"/>
              <a:t>phân</a:t>
            </a:r>
            <a:endParaRPr lang="en-US" sz="2400" dirty="0"/>
          </a:p>
          <a:p>
            <a:r>
              <a:rPr lang="en-US" sz="2400" dirty="0" err="1" smtClean="0"/>
              <a:t>Đánh</a:t>
            </a:r>
            <a:r>
              <a:rPr lang="en-US" sz="2400" dirty="0" smtClean="0"/>
              <a:t> </a:t>
            </a:r>
            <a:r>
              <a:rPr lang="en-US" sz="2400" dirty="0" err="1" smtClean="0"/>
              <a:t>giá</a:t>
            </a:r>
            <a:r>
              <a:rPr lang="en-US" sz="2400" dirty="0" smtClean="0"/>
              <a:t> </a:t>
            </a:r>
            <a:r>
              <a:rPr lang="en-US" sz="2400" dirty="0" err="1" smtClean="0"/>
              <a:t>giải</a:t>
            </a:r>
            <a:r>
              <a:rPr lang="en-US" sz="2400" dirty="0" smtClean="0"/>
              <a:t> </a:t>
            </a:r>
            <a:r>
              <a:rPr lang="en-US" sz="2400" dirty="0" err="1" smtClean="0"/>
              <a:t>thuật</a:t>
            </a:r>
            <a:endParaRPr lang="en-US" sz="2400" dirty="0" smtClean="0"/>
          </a:p>
          <a:p>
            <a:pPr lvl="1"/>
            <a:r>
              <a:rPr lang="en-US" sz="2000" dirty="0" err="1" smtClean="0"/>
              <a:t>Trường</a:t>
            </a:r>
            <a:r>
              <a:rPr lang="en-US" sz="2000" dirty="0" smtClean="0"/>
              <a:t> </a:t>
            </a:r>
            <a:r>
              <a:rPr lang="en-US" sz="2000" dirty="0" err="1" smtClean="0"/>
              <a:t>hợp</a:t>
            </a:r>
            <a:r>
              <a:rPr lang="en-US" sz="2000" dirty="0" smtClean="0"/>
              <a:t> </a:t>
            </a:r>
            <a:r>
              <a:rPr lang="en-US" sz="2000" dirty="0" err="1" smtClean="0"/>
              <a:t>tốt</a:t>
            </a:r>
            <a:r>
              <a:rPr lang="en-US" sz="2000" dirty="0" smtClean="0"/>
              <a:t> </a:t>
            </a:r>
            <a:r>
              <a:rPr lang="en-US" sz="2000" dirty="0" err="1" smtClean="0"/>
              <a:t>nhất</a:t>
            </a:r>
            <a:r>
              <a:rPr lang="en-US" sz="2000" dirty="0" smtClean="0"/>
              <a:t>: O(1)</a:t>
            </a:r>
          </a:p>
          <a:p>
            <a:pPr lvl="1"/>
            <a:r>
              <a:rPr lang="en-US" sz="2000" dirty="0" err="1" smtClean="0"/>
              <a:t>Trường</a:t>
            </a:r>
            <a:r>
              <a:rPr lang="en-US" sz="2000" dirty="0" smtClean="0"/>
              <a:t> </a:t>
            </a:r>
            <a:r>
              <a:rPr lang="en-US" sz="2000" dirty="0" err="1" smtClean="0"/>
              <a:t>hợp</a:t>
            </a:r>
            <a:r>
              <a:rPr lang="en-US" sz="2000" dirty="0" smtClean="0"/>
              <a:t> </a:t>
            </a:r>
            <a:r>
              <a:rPr lang="en-US" sz="2000" dirty="0" err="1" smtClean="0"/>
              <a:t>xấu</a:t>
            </a:r>
            <a:r>
              <a:rPr lang="en-US" sz="2000" dirty="0" smtClean="0"/>
              <a:t> </a:t>
            </a:r>
            <a:r>
              <a:rPr lang="en-US" sz="2000" dirty="0" err="1" smtClean="0"/>
              <a:t>nhất</a:t>
            </a:r>
            <a:r>
              <a:rPr lang="en-US" sz="2000" dirty="0" smtClean="0"/>
              <a:t>: O(log</a:t>
            </a:r>
            <a:r>
              <a:rPr lang="en-US" sz="2000" baseline="-25000" dirty="0" smtClean="0"/>
              <a:t>2</a:t>
            </a:r>
            <a:r>
              <a:rPr lang="en-US" sz="2000" dirty="0" smtClean="0"/>
              <a:t>n)</a:t>
            </a:r>
          </a:p>
          <a:p>
            <a:pPr lvl="1"/>
            <a:r>
              <a:rPr lang="en-US" sz="2000" dirty="0" err="1" smtClean="0"/>
              <a:t>Trường</a:t>
            </a:r>
            <a:r>
              <a:rPr lang="en-US" sz="2000" dirty="0" smtClean="0"/>
              <a:t> </a:t>
            </a:r>
            <a:r>
              <a:rPr lang="en-US" sz="2000" dirty="0" err="1" smtClean="0"/>
              <a:t>hợp</a:t>
            </a:r>
            <a:r>
              <a:rPr lang="en-US" sz="2000" dirty="0" smtClean="0"/>
              <a:t> </a:t>
            </a:r>
            <a:r>
              <a:rPr lang="en-US" sz="2000" dirty="0" err="1" smtClean="0"/>
              <a:t>trung</a:t>
            </a:r>
            <a:r>
              <a:rPr lang="en-US" sz="2000" dirty="0" smtClean="0"/>
              <a:t> </a:t>
            </a:r>
            <a:r>
              <a:rPr lang="en-US" sz="2000" dirty="0" err="1" smtClean="0"/>
              <a:t>bình</a:t>
            </a:r>
            <a:r>
              <a:rPr lang="en-US" sz="2000" dirty="0" smtClean="0"/>
              <a:t>: O(</a:t>
            </a:r>
            <a:r>
              <a:rPr lang="en-US" sz="2000" dirty="0"/>
              <a:t>log</a:t>
            </a:r>
            <a:r>
              <a:rPr lang="en-US" sz="2000" baseline="-25000" dirty="0"/>
              <a:t>2</a:t>
            </a:r>
            <a:r>
              <a:rPr lang="en-US" sz="2000" dirty="0"/>
              <a:t>n</a:t>
            </a:r>
            <a:r>
              <a:rPr lang="en-US" sz="2000" dirty="0" smtClean="0"/>
              <a:t>)</a:t>
            </a:r>
            <a:endParaRPr lang="en-US" sz="2000" dirty="0"/>
          </a:p>
          <a:p>
            <a:endParaRPr lang="en-US" sz="3600" dirty="0"/>
          </a:p>
        </p:txBody>
      </p:sp>
    </p:spTree>
    <p:extLst>
      <p:ext uri="{BB962C8B-B14F-4D97-AF65-F5344CB8AC3E}">
        <p14:creationId xmlns:p14="http://schemas.microsoft.com/office/powerpoint/2010/main" val="1461976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C24317B-5122-4A99-A6E9-FA23C146A7E0}" type="slidenum">
              <a:rPr lang="en-US" smtClean="0"/>
              <a:pPr/>
              <a:t>11</a:t>
            </a:fld>
            <a:endParaRPr lang="en-US"/>
          </a:p>
        </p:txBody>
      </p:sp>
      <p:sp>
        <p:nvSpPr>
          <p:cNvPr id="4" name="Title 3"/>
          <p:cNvSpPr>
            <a:spLocks noGrp="1"/>
          </p:cNvSpPr>
          <p:nvPr>
            <p:ph type="title"/>
          </p:nvPr>
        </p:nvSpPr>
        <p:spPr/>
        <p:txBody>
          <a:bodyPr>
            <a:normAutofit/>
          </a:bodyPr>
          <a:lstStyle/>
          <a:p>
            <a:r>
              <a:rPr lang="en-US" sz="2400" dirty="0" smtClean="0"/>
              <a:t>3. </a:t>
            </a:r>
            <a:r>
              <a:rPr lang="en-US" sz="2400" dirty="0" err="1" smtClean="0"/>
              <a:t>Tìm</a:t>
            </a:r>
            <a:r>
              <a:rPr lang="en-US" sz="2400" dirty="0" smtClean="0"/>
              <a:t> </a:t>
            </a:r>
            <a:r>
              <a:rPr lang="en-US" sz="2400" dirty="0" err="1" smtClean="0"/>
              <a:t>kiếm</a:t>
            </a:r>
            <a:r>
              <a:rPr lang="en-US" sz="2400" dirty="0" smtClean="0"/>
              <a:t> </a:t>
            </a:r>
            <a:r>
              <a:rPr lang="en-US" sz="2400" dirty="0" err="1" smtClean="0"/>
              <a:t>chuỗi</a:t>
            </a:r>
            <a:r>
              <a:rPr lang="en-US" sz="2400" dirty="0" smtClean="0"/>
              <a:t> con</a:t>
            </a:r>
            <a:endParaRPr lang="en-US" sz="2400" dirty="0"/>
          </a:p>
        </p:txBody>
      </p:sp>
      <p:sp>
        <p:nvSpPr>
          <p:cNvPr id="5" name="Text Placeholder 4"/>
          <p:cNvSpPr>
            <a:spLocks noGrp="1"/>
          </p:cNvSpPr>
          <p:nvPr>
            <p:ph type="body" sz="quarter" idx="13"/>
          </p:nvPr>
        </p:nvSpPr>
        <p:spPr/>
        <p:txBody>
          <a:bodyPr>
            <a:normAutofit/>
          </a:bodyPr>
          <a:lstStyle/>
          <a:p>
            <a:r>
              <a:rPr lang="en-US" sz="2400" dirty="0" err="1" smtClean="0"/>
              <a:t>Bài</a:t>
            </a:r>
            <a:r>
              <a:rPr lang="en-US" sz="2400" dirty="0" smtClean="0"/>
              <a:t> </a:t>
            </a:r>
            <a:r>
              <a:rPr lang="en-US" sz="2400" dirty="0" err="1" smtClean="0"/>
              <a:t>toán</a:t>
            </a:r>
            <a:r>
              <a:rPr lang="en-US" sz="2400" dirty="0" smtClean="0"/>
              <a:t>:</a:t>
            </a:r>
          </a:p>
          <a:p>
            <a:pPr lvl="1"/>
            <a:r>
              <a:rPr lang="en-US" sz="2100" dirty="0"/>
              <a:t>Cho </a:t>
            </a:r>
            <a:r>
              <a:rPr lang="en-US" sz="2100" dirty="0" err="1"/>
              <a:t>trước</a:t>
            </a:r>
            <a:r>
              <a:rPr lang="en-US" sz="2100" dirty="0"/>
              <a:t> </a:t>
            </a:r>
            <a:r>
              <a:rPr lang="en-US" sz="2100" dirty="0" err="1"/>
              <a:t>một</a:t>
            </a:r>
            <a:r>
              <a:rPr lang="en-US" sz="2100" dirty="0"/>
              <a:t> </a:t>
            </a:r>
            <a:r>
              <a:rPr lang="en-US" sz="2100" dirty="0" err="1"/>
              <a:t>văn</a:t>
            </a:r>
            <a:r>
              <a:rPr lang="en-US" sz="2100" dirty="0"/>
              <a:t> </a:t>
            </a:r>
            <a:r>
              <a:rPr lang="en-US" sz="2100" dirty="0" err="1"/>
              <a:t>bản</a:t>
            </a:r>
            <a:r>
              <a:rPr lang="en-US" sz="2100" dirty="0"/>
              <a:t> </a:t>
            </a:r>
            <a:r>
              <a:rPr lang="en-US" sz="2100" i="1" dirty="0"/>
              <a:t>V</a:t>
            </a:r>
            <a:r>
              <a:rPr lang="en-US" sz="2100" dirty="0"/>
              <a:t> </a:t>
            </a:r>
            <a:r>
              <a:rPr lang="en-US" sz="2100" dirty="0" err="1"/>
              <a:t>gồm</a:t>
            </a:r>
            <a:r>
              <a:rPr lang="en-US" sz="2100" dirty="0"/>
              <a:t> </a:t>
            </a:r>
            <a:r>
              <a:rPr lang="en-US" sz="2100" i="1" dirty="0"/>
              <a:t>n</a:t>
            </a:r>
            <a:r>
              <a:rPr lang="en-US" sz="2100" dirty="0"/>
              <a:t> </a:t>
            </a:r>
            <a:r>
              <a:rPr lang="en-US" sz="2100" dirty="0" err="1"/>
              <a:t>kí</a:t>
            </a:r>
            <a:r>
              <a:rPr lang="en-US" sz="2100" dirty="0"/>
              <a:t> </a:t>
            </a:r>
            <a:r>
              <a:rPr lang="en-US" sz="2100" dirty="0" err="1"/>
              <a:t>tự</a:t>
            </a:r>
            <a:r>
              <a:rPr lang="en-US" sz="2100" dirty="0"/>
              <a:t> </a:t>
            </a:r>
            <a:r>
              <a:rPr lang="en-US" sz="2100" i="1" dirty="0"/>
              <a:t>(v</a:t>
            </a:r>
            <a:r>
              <a:rPr lang="en-US" sz="2100" i="1" baseline="-25000" dirty="0"/>
              <a:t>0</a:t>
            </a:r>
            <a:r>
              <a:rPr lang="en-US" sz="2100" i="1" dirty="0"/>
              <a:t>, v</a:t>
            </a:r>
            <a:r>
              <a:rPr lang="en-US" sz="2100" i="1" baseline="-25000" dirty="0"/>
              <a:t>1</a:t>
            </a:r>
            <a:r>
              <a:rPr lang="en-US" sz="2100" i="1" dirty="0"/>
              <a:t>,…, v</a:t>
            </a:r>
            <a:r>
              <a:rPr lang="en-US" sz="2100" i="1" baseline="-25000" dirty="0"/>
              <a:t>n-1</a:t>
            </a:r>
            <a:r>
              <a:rPr lang="en-US" sz="2100" i="1" dirty="0"/>
              <a:t>)</a:t>
            </a:r>
            <a:r>
              <a:rPr lang="en-US" sz="2100" dirty="0"/>
              <a:t> </a:t>
            </a:r>
            <a:r>
              <a:rPr lang="en-US" sz="2100" dirty="0" err="1"/>
              <a:t>và</a:t>
            </a:r>
            <a:r>
              <a:rPr lang="en-US" sz="2100" dirty="0"/>
              <a:t> </a:t>
            </a:r>
            <a:r>
              <a:rPr lang="en-US" sz="2100" dirty="0" err="1"/>
              <a:t>một</a:t>
            </a:r>
            <a:r>
              <a:rPr lang="en-US" sz="2100" dirty="0"/>
              <a:t> </a:t>
            </a:r>
            <a:r>
              <a:rPr lang="en-US" sz="2100" dirty="0" err="1"/>
              <a:t>chuỗi</a:t>
            </a:r>
            <a:r>
              <a:rPr lang="en-US" sz="2100" dirty="0"/>
              <a:t> con </a:t>
            </a:r>
            <a:r>
              <a:rPr lang="en-US" sz="2100" i="1" dirty="0"/>
              <a:t>P</a:t>
            </a:r>
            <a:r>
              <a:rPr lang="en-US" sz="2100" dirty="0"/>
              <a:t> (</a:t>
            </a:r>
            <a:r>
              <a:rPr lang="en-US" sz="2100" dirty="0" err="1"/>
              <a:t>gọi</a:t>
            </a:r>
            <a:r>
              <a:rPr lang="en-US" sz="2100" dirty="0"/>
              <a:t> </a:t>
            </a:r>
            <a:r>
              <a:rPr lang="en-US" sz="2100" dirty="0" err="1"/>
              <a:t>là</a:t>
            </a:r>
            <a:r>
              <a:rPr lang="en-US" sz="2100" dirty="0"/>
              <a:t> </a:t>
            </a:r>
            <a:r>
              <a:rPr lang="en-US" sz="2100" dirty="0" err="1"/>
              <a:t>mẫu</a:t>
            </a:r>
            <a:r>
              <a:rPr lang="en-US" sz="2100" dirty="0"/>
              <a:t>) </a:t>
            </a:r>
            <a:r>
              <a:rPr lang="en-US" sz="2100" dirty="0" err="1"/>
              <a:t>gồm</a:t>
            </a:r>
            <a:r>
              <a:rPr lang="en-US" sz="2100" dirty="0"/>
              <a:t> </a:t>
            </a:r>
            <a:r>
              <a:rPr lang="en-US" sz="2100" i="1" dirty="0"/>
              <a:t>m</a:t>
            </a:r>
            <a:r>
              <a:rPr lang="en-US" sz="2100" dirty="0"/>
              <a:t> </a:t>
            </a:r>
            <a:r>
              <a:rPr lang="en-US" sz="2100" dirty="0" err="1"/>
              <a:t>kí</a:t>
            </a:r>
            <a:r>
              <a:rPr lang="en-US" sz="2100" dirty="0"/>
              <a:t> </a:t>
            </a:r>
            <a:r>
              <a:rPr lang="en-US" sz="2100" dirty="0" err="1"/>
              <a:t>tự</a:t>
            </a:r>
            <a:r>
              <a:rPr lang="en-US" sz="2100" dirty="0"/>
              <a:t> </a:t>
            </a:r>
            <a:r>
              <a:rPr lang="en-US" sz="2100" i="1" dirty="0"/>
              <a:t>(p</a:t>
            </a:r>
            <a:r>
              <a:rPr lang="en-US" sz="2100" i="1" baseline="-25000" dirty="0"/>
              <a:t>0</a:t>
            </a:r>
            <a:r>
              <a:rPr lang="en-US" sz="2100" i="1" dirty="0"/>
              <a:t>, p</a:t>
            </a:r>
            <a:r>
              <a:rPr lang="en-US" sz="2100" i="1" baseline="-25000" dirty="0"/>
              <a:t>1</a:t>
            </a:r>
            <a:r>
              <a:rPr lang="en-US" sz="2100" i="1" dirty="0"/>
              <a:t>,…, p</a:t>
            </a:r>
            <a:r>
              <a:rPr lang="en-US" sz="2100" i="1" baseline="-25000" dirty="0"/>
              <a:t>m-1</a:t>
            </a:r>
            <a:r>
              <a:rPr lang="en-US" sz="2100" i="1" dirty="0"/>
              <a:t>)</a:t>
            </a:r>
            <a:r>
              <a:rPr lang="en-US" sz="2100" dirty="0"/>
              <a:t>. </a:t>
            </a:r>
          </a:p>
          <a:p>
            <a:pPr lvl="1"/>
            <a:r>
              <a:rPr lang="en-US" sz="2100" dirty="0" err="1"/>
              <a:t>Yêu</a:t>
            </a:r>
            <a:r>
              <a:rPr lang="en-US" sz="2100" dirty="0"/>
              <a:t> </a:t>
            </a:r>
            <a:r>
              <a:rPr lang="en-US" sz="2100" dirty="0" err="1"/>
              <a:t>cầu</a:t>
            </a:r>
            <a:r>
              <a:rPr lang="en-US" sz="2100" dirty="0"/>
              <a:t> </a:t>
            </a:r>
            <a:r>
              <a:rPr lang="en-US" sz="2100" dirty="0" err="1"/>
              <a:t>tìm</a:t>
            </a:r>
            <a:r>
              <a:rPr lang="en-US" sz="2100" dirty="0"/>
              <a:t> </a:t>
            </a:r>
            <a:r>
              <a:rPr lang="en-US" sz="2100" dirty="0" err="1"/>
              <a:t>vị</a:t>
            </a:r>
            <a:r>
              <a:rPr lang="en-US" sz="2100" dirty="0"/>
              <a:t> </a:t>
            </a:r>
            <a:r>
              <a:rPr lang="en-US" sz="2100" dirty="0" err="1"/>
              <a:t>trí</a:t>
            </a:r>
            <a:r>
              <a:rPr lang="en-US" sz="2100" dirty="0"/>
              <a:t> </a:t>
            </a:r>
            <a:r>
              <a:rPr lang="en-US" sz="2100" dirty="0" err="1"/>
              <a:t>xuất</a:t>
            </a:r>
            <a:r>
              <a:rPr lang="en-US" sz="2100" dirty="0"/>
              <a:t> </a:t>
            </a:r>
            <a:r>
              <a:rPr lang="en-US" sz="2100" dirty="0" err="1"/>
              <a:t>hiện</a:t>
            </a:r>
            <a:r>
              <a:rPr lang="en-US" sz="2100" dirty="0"/>
              <a:t> </a:t>
            </a:r>
            <a:r>
              <a:rPr lang="en-US" sz="2100" dirty="0" err="1" smtClean="0"/>
              <a:t>đầu</a:t>
            </a:r>
            <a:r>
              <a:rPr lang="en-US" sz="2100" dirty="0" smtClean="0"/>
              <a:t> </a:t>
            </a:r>
            <a:r>
              <a:rPr lang="en-US" sz="2100" dirty="0" err="1" smtClean="0"/>
              <a:t>tiên</a:t>
            </a:r>
            <a:r>
              <a:rPr lang="en-US" sz="2100" dirty="0" smtClean="0"/>
              <a:t> [</a:t>
            </a:r>
            <a:r>
              <a:rPr lang="en-US" sz="2100" dirty="0" err="1" smtClean="0"/>
              <a:t>tất</a:t>
            </a:r>
            <a:r>
              <a:rPr lang="en-US" sz="2100" dirty="0" smtClean="0"/>
              <a:t> </a:t>
            </a:r>
            <a:r>
              <a:rPr lang="en-US" sz="2100" dirty="0" err="1" smtClean="0"/>
              <a:t>cả</a:t>
            </a:r>
            <a:r>
              <a:rPr lang="en-US" sz="2100" dirty="0" smtClean="0"/>
              <a:t>] </a:t>
            </a:r>
            <a:r>
              <a:rPr lang="en-US" sz="2100" dirty="0" err="1"/>
              <a:t>của</a:t>
            </a:r>
            <a:r>
              <a:rPr lang="en-US" sz="2100" dirty="0"/>
              <a:t> </a:t>
            </a:r>
            <a:r>
              <a:rPr lang="en-US" sz="2100" i="1" dirty="0"/>
              <a:t>P</a:t>
            </a:r>
            <a:r>
              <a:rPr lang="en-US" sz="2100" dirty="0"/>
              <a:t> </a:t>
            </a:r>
            <a:r>
              <a:rPr lang="en-US" sz="2100" dirty="0" err="1"/>
              <a:t>trong</a:t>
            </a:r>
            <a:r>
              <a:rPr lang="en-US" sz="2100" dirty="0"/>
              <a:t> </a:t>
            </a:r>
            <a:r>
              <a:rPr lang="en-US" sz="2100" i="1" dirty="0"/>
              <a:t>V</a:t>
            </a:r>
            <a:endParaRPr lang="en-US" sz="2100" i="1" dirty="0" smtClean="0"/>
          </a:p>
          <a:p>
            <a:r>
              <a:rPr lang="en-US" sz="2400" dirty="0" err="1"/>
              <a:t>Ví</a:t>
            </a:r>
            <a:r>
              <a:rPr lang="en-US" sz="2400" dirty="0"/>
              <a:t> </a:t>
            </a:r>
            <a:r>
              <a:rPr lang="en-US" sz="2400" dirty="0" err="1"/>
              <a:t>dụ</a:t>
            </a:r>
            <a:endParaRPr lang="en-US" sz="2400" dirty="0"/>
          </a:p>
          <a:p>
            <a:pPr lvl="1"/>
            <a:r>
              <a:rPr lang="en-US" sz="2000" i="1" dirty="0" smtClean="0"/>
              <a:t>V: </a:t>
            </a:r>
            <a:r>
              <a:rPr lang="en-US" sz="2000" i="1" dirty="0"/>
              <a:t>“the r</a:t>
            </a:r>
            <a:r>
              <a:rPr lang="en-US" sz="2000" i="1" dirty="0">
                <a:solidFill>
                  <a:srgbClr val="FF0000"/>
                </a:solidFill>
              </a:rPr>
              <a:t>ain</a:t>
            </a:r>
            <a:r>
              <a:rPr lang="en-US" sz="2000" i="1" dirty="0"/>
              <a:t> in </a:t>
            </a:r>
            <a:r>
              <a:rPr lang="en-US" sz="2000" i="1" dirty="0" err="1"/>
              <a:t>sp</a:t>
            </a:r>
            <a:r>
              <a:rPr lang="en-US" sz="2000" i="1" dirty="0" err="1">
                <a:solidFill>
                  <a:schemeClr val="accent1"/>
                </a:solidFill>
              </a:rPr>
              <a:t>ain</a:t>
            </a:r>
            <a:r>
              <a:rPr lang="en-US" sz="2000" i="1" dirty="0"/>
              <a:t> stays m</a:t>
            </a:r>
            <a:r>
              <a:rPr lang="en-US" sz="2000" i="1" dirty="0">
                <a:solidFill>
                  <a:schemeClr val="accent1"/>
                </a:solidFill>
              </a:rPr>
              <a:t>ain</a:t>
            </a:r>
            <a:r>
              <a:rPr lang="en-US" sz="2000" i="1" dirty="0"/>
              <a:t>ly on the pl</a:t>
            </a:r>
            <a:r>
              <a:rPr lang="en-US" sz="2000" i="1" dirty="0">
                <a:solidFill>
                  <a:schemeClr val="accent1"/>
                </a:solidFill>
              </a:rPr>
              <a:t>ain</a:t>
            </a:r>
            <a:r>
              <a:rPr lang="en-US" sz="2000" i="1" dirty="0"/>
              <a:t>”</a:t>
            </a:r>
          </a:p>
          <a:p>
            <a:pPr lvl="1"/>
            <a:r>
              <a:rPr lang="en-US" sz="2000" i="1" dirty="0"/>
              <a:t>P: “</a:t>
            </a:r>
            <a:r>
              <a:rPr lang="en-US" sz="2000" i="1" dirty="0" err="1" smtClean="0"/>
              <a:t>ain</a:t>
            </a:r>
            <a:r>
              <a:rPr lang="en-US" sz="2000" i="1" dirty="0" smtClean="0"/>
              <a:t>”</a:t>
            </a:r>
            <a:endParaRPr lang="en-US" sz="2000" i="1" dirty="0"/>
          </a:p>
          <a:p>
            <a:r>
              <a:rPr lang="en-US" sz="2400" dirty="0" err="1"/>
              <a:t>Ứng</a:t>
            </a:r>
            <a:r>
              <a:rPr lang="en-US" sz="2400" dirty="0"/>
              <a:t> </a:t>
            </a:r>
            <a:r>
              <a:rPr lang="en-US" sz="2400" dirty="0" err="1"/>
              <a:t>dụng</a:t>
            </a:r>
            <a:r>
              <a:rPr lang="en-US" sz="2400" dirty="0"/>
              <a:t>:</a:t>
            </a:r>
          </a:p>
          <a:p>
            <a:pPr lvl="1"/>
            <a:r>
              <a:rPr lang="vi-VN" sz="2000" dirty="0"/>
              <a:t>Trong tìm kiếm thông tin</a:t>
            </a:r>
          </a:p>
          <a:p>
            <a:pPr lvl="1"/>
            <a:r>
              <a:rPr lang="vi-VN" sz="2000" dirty="0"/>
              <a:t>Soạn thảo văn bản</a:t>
            </a:r>
          </a:p>
          <a:p>
            <a:pPr lvl="1"/>
            <a:r>
              <a:rPr lang="vi-VN" sz="2000" dirty="0"/>
              <a:t>Xử lý dữ liệu sinh học (ADN</a:t>
            </a:r>
            <a:r>
              <a:rPr lang="vi-VN" sz="2000" dirty="0" smtClean="0"/>
              <a:t>)</a:t>
            </a:r>
            <a:endParaRPr lang="en-US" sz="2000" dirty="0" smtClean="0"/>
          </a:p>
          <a:p>
            <a:r>
              <a:rPr lang="en-US" sz="2400" dirty="0" err="1"/>
              <a:t>Các</a:t>
            </a:r>
            <a:r>
              <a:rPr lang="en-US" sz="2400" dirty="0"/>
              <a:t> </a:t>
            </a:r>
            <a:r>
              <a:rPr lang="en-US" sz="2400" dirty="0" err="1"/>
              <a:t>giải</a:t>
            </a:r>
            <a:r>
              <a:rPr lang="en-US" sz="2400" dirty="0"/>
              <a:t> </a:t>
            </a:r>
            <a:r>
              <a:rPr lang="en-US" sz="2400" dirty="0" err="1"/>
              <a:t>thuật</a:t>
            </a:r>
            <a:r>
              <a:rPr lang="en-US" sz="2400" dirty="0"/>
              <a:t> </a:t>
            </a:r>
            <a:r>
              <a:rPr lang="en-US" sz="2400" dirty="0" err="1"/>
              <a:t>tìm</a:t>
            </a:r>
            <a:r>
              <a:rPr lang="en-US" sz="2400" dirty="0"/>
              <a:t> </a:t>
            </a:r>
            <a:r>
              <a:rPr lang="en-US" sz="2400" dirty="0" err="1"/>
              <a:t>kiếm</a:t>
            </a:r>
            <a:r>
              <a:rPr lang="en-US" sz="2400" dirty="0"/>
              <a:t> </a:t>
            </a:r>
            <a:r>
              <a:rPr lang="en-US" sz="2400" dirty="0" err="1"/>
              <a:t>chuỗi</a:t>
            </a:r>
            <a:r>
              <a:rPr lang="en-US" sz="2400" dirty="0"/>
              <a:t> </a:t>
            </a:r>
            <a:r>
              <a:rPr lang="en-US" sz="2400" dirty="0" smtClean="0"/>
              <a:t>con:</a:t>
            </a:r>
            <a:endParaRPr lang="en-US" sz="2400" dirty="0"/>
          </a:p>
          <a:p>
            <a:pPr lvl="1"/>
            <a:r>
              <a:rPr lang="en-US" sz="2000" dirty="0" err="1"/>
              <a:t>Giải</a:t>
            </a:r>
            <a:r>
              <a:rPr lang="en-US" sz="2000" dirty="0"/>
              <a:t> </a:t>
            </a:r>
            <a:r>
              <a:rPr lang="en-US" sz="2000" dirty="0" err="1"/>
              <a:t>thuật</a:t>
            </a:r>
            <a:r>
              <a:rPr lang="en-US" sz="2000" dirty="0"/>
              <a:t> </a:t>
            </a:r>
            <a:r>
              <a:rPr lang="en-US" sz="2000" dirty="0" err="1"/>
              <a:t>tìm</a:t>
            </a:r>
            <a:r>
              <a:rPr lang="en-US" sz="2000" dirty="0"/>
              <a:t> </a:t>
            </a:r>
            <a:r>
              <a:rPr lang="en-US" sz="2000" dirty="0" err="1"/>
              <a:t>kiếm</a:t>
            </a:r>
            <a:r>
              <a:rPr lang="en-US" sz="2000" dirty="0"/>
              <a:t> </a:t>
            </a:r>
            <a:r>
              <a:rPr lang="en-US" sz="2000" dirty="0" err="1"/>
              <a:t>thô</a:t>
            </a:r>
            <a:r>
              <a:rPr lang="en-US" sz="2000" dirty="0"/>
              <a:t> </a:t>
            </a:r>
            <a:r>
              <a:rPr lang="en-US" sz="2000" dirty="0" smtClean="0"/>
              <a:t>(Brute-Force</a:t>
            </a:r>
            <a:r>
              <a:rPr lang="en-US" sz="2000" dirty="0"/>
              <a:t>)</a:t>
            </a:r>
          </a:p>
          <a:p>
            <a:pPr lvl="1"/>
            <a:r>
              <a:rPr lang="en-US" sz="2000" dirty="0" err="1"/>
              <a:t>Giải</a:t>
            </a:r>
            <a:r>
              <a:rPr lang="en-US" sz="2000" dirty="0"/>
              <a:t> </a:t>
            </a:r>
            <a:r>
              <a:rPr lang="en-US" sz="2000" dirty="0" err="1"/>
              <a:t>thuật</a:t>
            </a:r>
            <a:r>
              <a:rPr lang="en-US" sz="2000" dirty="0"/>
              <a:t> Knuth-Morris-Pratt (KMP)</a:t>
            </a:r>
            <a:endParaRPr lang="en-US" sz="2700" dirty="0"/>
          </a:p>
        </p:txBody>
      </p:sp>
    </p:spTree>
    <p:extLst>
      <p:ext uri="{BB962C8B-B14F-4D97-AF65-F5344CB8AC3E}">
        <p14:creationId xmlns:p14="http://schemas.microsoft.com/office/powerpoint/2010/main" val="4140315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10" end="1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11" end="1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C24317B-5122-4A99-A6E9-FA23C146A7E0}" type="slidenum">
              <a:rPr lang="en-US" smtClean="0"/>
              <a:pPr/>
              <a:t>12</a:t>
            </a:fld>
            <a:endParaRPr lang="en-US" dirty="0"/>
          </a:p>
        </p:txBody>
      </p:sp>
      <p:sp>
        <p:nvSpPr>
          <p:cNvPr id="4" name="Title 3"/>
          <p:cNvSpPr>
            <a:spLocks noGrp="1"/>
          </p:cNvSpPr>
          <p:nvPr>
            <p:ph type="title"/>
          </p:nvPr>
        </p:nvSpPr>
        <p:spPr/>
        <p:txBody>
          <a:bodyPr>
            <a:normAutofit/>
          </a:bodyPr>
          <a:lstStyle/>
          <a:p>
            <a:r>
              <a:rPr lang="en-US" sz="2400" dirty="0" smtClean="0"/>
              <a:t>3. </a:t>
            </a:r>
            <a:r>
              <a:rPr lang="en-US" sz="2400" dirty="0" err="1" smtClean="0"/>
              <a:t>Tìm</a:t>
            </a:r>
            <a:r>
              <a:rPr lang="en-US" sz="2400" dirty="0" smtClean="0"/>
              <a:t> </a:t>
            </a:r>
            <a:r>
              <a:rPr lang="en-US" sz="2400" dirty="0" err="1" smtClean="0"/>
              <a:t>kiếm</a:t>
            </a:r>
            <a:r>
              <a:rPr lang="en-US" sz="2400" dirty="0" smtClean="0"/>
              <a:t> </a:t>
            </a:r>
            <a:r>
              <a:rPr lang="en-US" sz="2400" dirty="0" err="1" smtClean="0"/>
              <a:t>chuỗi</a:t>
            </a:r>
            <a:r>
              <a:rPr lang="en-US" sz="2400" dirty="0" smtClean="0"/>
              <a:t> con</a:t>
            </a:r>
            <a:endParaRPr lang="en-US" sz="2400" dirty="0"/>
          </a:p>
        </p:txBody>
      </p:sp>
      <p:sp>
        <p:nvSpPr>
          <p:cNvPr id="5" name="Text Placeholder 4"/>
          <p:cNvSpPr>
            <a:spLocks noGrp="1"/>
          </p:cNvSpPr>
          <p:nvPr>
            <p:ph type="body" sz="quarter" idx="13"/>
          </p:nvPr>
        </p:nvSpPr>
        <p:spPr>
          <a:xfrm>
            <a:off x="234951" y="963167"/>
            <a:ext cx="8674100" cy="5974085"/>
          </a:xfrm>
        </p:spPr>
        <p:txBody>
          <a:bodyPr>
            <a:normAutofit lnSpcReduction="10000"/>
          </a:bodyPr>
          <a:lstStyle/>
          <a:p>
            <a:r>
              <a:rPr lang="en-US" sz="2000" dirty="0" err="1"/>
              <a:t>Giải</a:t>
            </a:r>
            <a:r>
              <a:rPr lang="en-US" sz="2000" dirty="0"/>
              <a:t> </a:t>
            </a:r>
            <a:r>
              <a:rPr lang="en-US" sz="2000" dirty="0" err="1"/>
              <a:t>thuật</a:t>
            </a:r>
            <a:r>
              <a:rPr lang="en-US" sz="2000" dirty="0"/>
              <a:t> </a:t>
            </a:r>
            <a:r>
              <a:rPr lang="en-US" sz="2000" dirty="0" err="1"/>
              <a:t>tìm</a:t>
            </a:r>
            <a:r>
              <a:rPr lang="en-US" sz="2000" dirty="0"/>
              <a:t> </a:t>
            </a:r>
            <a:r>
              <a:rPr lang="en-US" sz="2000" dirty="0" err="1"/>
              <a:t>kiếm</a:t>
            </a:r>
            <a:r>
              <a:rPr lang="en-US" sz="2000" dirty="0"/>
              <a:t> </a:t>
            </a:r>
            <a:r>
              <a:rPr lang="en-US" sz="2000" dirty="0" err="1"/>
              <a:t>thô</a:t>
            </a:r>
            <a:r>
              <a:rPr lang="en-US" sz="2000" dirty="0"/>
              <a:t> (Brute-Force</a:t>
            </a:r>
            <a:r>
              <a:rPr lang="en-US" sz="2000" dirty="0" smtClean="0"/>
              <a:t>)</a:t>
            </a:r>
          </a:p>
          <a:p>
            <a:pPr lvl="1"/>
            <a:r>
              <a:rPr lang="vi-VN" sz="2000" dirty="0"/>
              <a:t>Ý tưởng:</a:t>
            </a:r>
          </a:p>
          <a:p>
            <a:pPr lvl="2"/>
            <a:r>
              <a:rPr lang="vi-VN" sz="2000" dirty="0"/>
              <a:t>So khớp mẫu với </a:t>
            </a:r>
            <a:r>
              <a:rPr lang="vi-VN" sz="2000" dirty="0" smtClean="0"/>
              <a:t>văn</a:t>
            </a:r>
            <a:r>
              <a:rPr lang="en-US" sz="2000" dirty="0" smtClean="0"/>
              <a:t> </a:t>
            </a:r>
            <a:r>
              <a:rPr lang="vi-VN" sz="2000" dirty="0" smtClean="0"/>
              <a:t>bản </a:t>
            </a:r>
            <a:r>
              <a:rPr lang="en-US" sz="2000" dirty="0" err="1" smtClean="0"/>
              <a:t>theo</a:t>
            </a:r>
            <a:r>
              <a:rPr lang="vi-VN" sz="2000" dirty="0" smtClean="0"/>
              <a:t> </a:t>
            </a:r>
            <a:r>
              <a:rPr lang="vi-VN" sz="2000" dirty="0"/>
              <a:t>từng </a:t>
            </a:r>
            <a:r>
              <a:rPr lang="vi-VN" sz="2000" dirty="0" smtClean="0"/>
              <a:t>ký</a:t>
            </a:r>
            <a:r>
              <a:rPr lang="en-US" sz="2000" dirty="0" smtClean="0"/>
              <a:t> </a:t>
            </a:r>
            <a:r>
              <a:rPr lang="vi-VN" sz="2000" dirty="0" smtClean="0"/>
              <a:t>tự </a:t>
            </a:r>
            <a:r>
              <a:rPr lang="vi-VN" sz="2000" dirty="0"/>
              <a:t>trong mẫu từ </a:t>
            </a:r>
            <a:r>
              <a:rPr lang="vi-VN" sz="2000" dirty="0" smtClean="0"/>
              <a:t>trái</a:t>
            </a:r>
            <a:r>
              <a:rPr lang="en-US" sz="2000" dirty="0" smtClean="0"/>
              <a:t> </a:t>
            </a:r>
            <a:r>
              <a:rPr lang="vi-VN" sz="2000" dirty="0" smtClean="0"/>
              <a:t>sang phải</a:t>
            </a:r>
            <a:endParaRPr lang="en-US" sz="2000" dirty="0" smtClean="0"/>
          </a:p>
          <a:p>
            <a:pPr lvl="2"/>
            <a:r>
              <a:rPr lang="vi-VN" sz="2000" dirty="0" smtClean="0"/>
              <a:t>Khi </a:t>
            </a:r>
            <a:r>
              <a:rPr lang="vi-VN" sz="2000" dirty="0"/>
              <a:t>có một vị trí </a:t>
            </a:r>
            <a:r>
              <a:rPr lang="vi-VN" sz="2000" dirty="0" smtClean="0"/>
              <a:t>không</a:t>
            </a:r>
            <a:r>
              <a:rPr lang="en-US" sz="2000" dirty="0" smtClean="0"/>
              <a:t> </a:t>
            </a:r>
            <a:r>
              <a:rPr lang="vi-VN" sz="2000" dirty="0" smtClean="0"/>
              <a:t>khớp </a:t>
            </a:r>
            <a:r>
              <a:rPr lang="vi-VN" sz="2000" dirty="0"/>
              <a:t>được xác </a:t>
            </a:r>
            <a:r>
              <a:rPr lang="vi-VN" sz="2000" dirty="0" smtClean="0"/>
              <a:t>định,</a:t>
            </a:r>
            <a:r>
              <a:rPr lang="en-US" sz="2000" dirty="0" smtClean="0"/>
              <a:t> </a:t>
            </a:r>
            <a:r>
              <a:rPr lang="vi-VN" sz="2000" dirty="0" smtClean="0"/>
              <a:t>đẩy </a:t>
            </a:r>
            <a:r>
              <a:rPr lang="vi-VN" sz="2000" dirty="0"/>
              <a:t>toàn bộ mẫu </a:t>
            </a:r>
            <a:r>
              <a:rPr lang="vi-VN" sz="2000" dirty="0" smtClean="0"/>
              <a:t>sang</a:t>
            </a:r>
            <a:r>
              <a:rPr lang="en-US" sz="2000" dirty="0" smtClean="0"/>
              <a:t> </a:t>
            </a:r>
            <a:r>
              <a:rPr lang="vi-VN" sz="2000" dirty="0" smtClean="0"/>
              <a:t>phải </a:t>
            </a:r>
            <a:r>
              <a:rPr lang="vi-VN" sz="2000" dirty="0"/>
              <a:t>1 vị trí và tiếp </a:t>
            </a:r>
            <a:r>
              <a:rPr lang="vi-VN" sz="2000" dirty="0" smtClean="0"/>
              <a:t>tục</a:t>
            </a:r>
            <a:r>
              <a:rPr lang="en-US" sz="2000" dirty="0" smtClean="0"/>
              <a:t> </a:t>
            </a:r>
            <a:r>
              <a:rPr lang="vi-VN" sz="2000" dirty="0" smtClean="0"/>
              <a:t>so </a:t>
            </a:r>
            <a:r>
              <a:rPr lang="vi-VN" sz="2000" dirty="0"/>
              <a:t>khớp với văn </a:t>
            </a:r>
            <a:r>
              <a:rPr lang="vi-VN" sz="2000" dirty="0" smtClean="0"/>
              <a:t>bản</a:t>
            </a:r>
            <a:r>
              <a:rPr lang="en-US" sz="2000" dirty="0" smtClean="0"/>
              <a:t> </a:t>
            </a:r>
            <a:r>
              <a:rPr lang="vi-VN" sz="2000" dirty="0" smtClean="0"/>
              <a:t>theo </a:t>
            </a:r>
            <a:r>
              <a:rPr lang="vi-VN" sz="2000" dirty="0"/>
              <a:t>cách thức </a:t>
            </a:r>
            <a:r>
              <a:rPr lang="vi-VN" sz="2000" dirty="0" smtClean="0"/>
              <a:t>trên</a:t>
            </a:r>
            <a:endParaRPr lang="en-US" sz="2000" dirty="0" smtClean="0"/>
          </a:p>
          <a:p>
            <a:pPr lvl="1"/>
            <a:endParaRPr lang="en-US" sz="2000" dirty="0" smtClean="0"/>
          </a:p>
          <a:p>
            <a:pPr lvl="1"/>
            <a:endParaRPr lang="en-US" sz="2000" dirty="0"/>
          </a:p>
          <a:p>
            <a:pPr lvl="1"/>
            <a:endParaRPr lang="en-US" sz="2000" dirty="0" smtClean="0"/>
          </a:p>
          <a:p>
            <a:pPr lvl="1"/>
            <a:endParaRPr lang="en-US" sz="2000" dirty="0"/>
          </a:p>
          <a:p>
            <a:pPr lvl="1"/>
            <a:endParaRPr lang="en-US" sz="2000" dirty="0" smtClean="0"/>
          </a:p>
          <a:p>
            <a:pPr lvl="1"/>
            <a:endParaRPr lang="en-US" sz="2000" dirty="0"/>
          </a:p>
          <a:p>
            <a:pPr lvl="1"/>
            <a:endParaRPr lang="en-US" sz="2000" dirty="0" smtClean="0"/>
          </a:p>
          <a:p>
            <a:pPr lvl="1"/>
            <a:endParaRPr lang="en-US" sz="2000" dirty="0"/>
          </a:p>
          <a:p>
            <a:pPr lvl="1"/>
            <a:endParaRPr lang="en-US" sz="2000" dirty="0" smtClean="0"/>
          </a:p>
          <a:p>
            <a:pPr lvl="1"/>
            <a:endParaRPr lang="en-US" sz="2000" dirty="0"/>
          </a:p>
          <a:p>
            <a:pPr lvl="1"/>
            <a:endParaRPr lang="en-US" sz="2000" dirty="0" smtClean="0"/>
          </a:p>
          <a:p>
            <a:pPr lvl="1"/>
            <a:r>
              <a:rPr lang="vi-VN" sz="2000" dirty="0" smtClean="0"/>
              <a:t>Đánh </a:t>
            </a:r>
            <a:r>
              <a:rPr lang="vi-VN" sz="2000" dirty="0"/>
              <a:t>giá giải </a:t>
            </a:r>
            <a:r>
              <a:rPr lang="vi-VN" sz="2000" dirty="0" smtClean="0"/>
              <a:t>thuật:</a:t>
            </a:r>
            <a:r>
              <a:rPr lang="en-US" sz="2000" dirty="0" smtClean="0"/>
              <a:t> </a:t>
            </a:r>
            <a:r>
              <a:rPr lang="en-US" dirty="0" smtClean="0">
                <a:latin typeface="Lato" panose="020F0502020204030203"/>
              </a:rPr>
              <a:t>T</a:t>
            </a:r>
            <a:r>
              <a:rPr lang="vi-VN" dirty="0"/>
              <a:t>rường hợp xấu nhất</a:t>
            </a:r>
            <a:r>
              <a:rPr lang="en-US" dirty="0">
                <a:latin typeface="Lato" panose="020F0502020204030203"/>
              </a:rPr>
              <a:t>: </a:t>
            </a:r>
            <a:r>
              <a:rPr lang="en-US" dirty="0" err="1" smtClean="0">
                <a:latin typeface="Lato" panose="020F0502020204030203"/>
              </a:rPr>
              <a:t>số</a:t>
            </a:r>
            <a:r>
              <a:rPr lang="en-US" dirty="0" smtClean="0">
                <a:latin typeface="Lato" panose="020F0502020204030203"/>
              </a:rPr>
              <a:t> </a:t>
            </a:r>
            <a:r>
              <a:rPr lang="en-US" dirty="0" err="1" smtClean="0">
                <a:latin typeface="Lato" panose="020F0502020204030203"/>
              </a:rPr>
              <a:t>thao</a:t>
            </a:r>
            <a:r>
              <a:rPr lang="en-US" dirty="0" smtClean="0">
                <a:latin typeface="Lato" panose="020F0502020204030203"/>
              </a:rPr>
              <a:t> </a:t>
            </a:r>
            <a:r>
              <a:rPr lang="en-US" dirty="0" err="1" smtClean="0">
                <a:latin typeface="Lato" panose="020F0502020204030203"/>
              </a:rPr>
              <a:t>tác</a:t>
            </a:r>
            <a:r>
              <a:rPr lang="en-US" dirty="0" smtClean="0">
                <a:latin typeface="Lato" panose="020F0502020204030203"/>
              </a:rPr>
              <a:t> so </a:t>
            </a:r>
            <a:r>
              <a:rPr lang="en-US" dirty="0" err="1" smtClean="0">
                <a:latin typeface="Lato" panose="020F0502020204030203"/>
              </a:rPr>
              <a:t>sánh</a:t>
            </a:r>
            <a:r>
              <a:rPr lang="en-US" dirty="0" smtClean="0">
                <a:latin typeface="Lato" panose="020F0502020204030203"/>
              </a:rPr>
              <a:t>: </a:t>
            </a:r>
            <a:r>
              <a:rPr lang="vi-VN" dirty="0" smtClean="0"/>
              <a:t>M</a:t>
            </a:r>
            <a:r>
              <a:rPr lang="en-US" dirty="0">
                <a:latin typeface="Lato" panose="020F0502020204030203"/>
              </a:rPr>
              <a:t>*</a:t>
            </a:r>
            <a:r>
              <a:rPr lang="vi-VN" dirty="0" smtClean="0"/>
              <a:t>N</a:t>
            </a:r>
            <a:r>
              <a:rPr lang="en-US" dirty="0" smtClean="0"/>
              <a:t> </a:t>
            </a:r>
            <a:r>
              <a:rPr lang="en-US" dirty="0" smtClean="0">
                <a:sym typeface="Wingdings" panose="05000000000000000000" pitchFamily="2" charset="2"/>
              </a:rPr>
              <a:t> O(N</a:t>
            </a:r>
            <a:r>
              <a:rPr lang="en-US" baseline="30000" dirty="0" smtClean="0">
                <a:sym typeface="Wingdings" panose="05000000000000000000" pitchFamily="2" charset="2"/>
              </a:rPr>
              <a:t>2</a:t>
            </a:r>
            <a:r>
              <a:rPr lang="en-US" dirty="0" smtClean="0">
                <a:sym typeface="Wingdings" panose="05000000000000000000" pitchFamily="2" charset="2"/>
              </a:rPr>
              <a:t>)</a:t>
            </a:r>
            <a:r>
              <a:rPr lang="en-US" sz="2000" dirty="0" smtClean="0"/>
              <a:t>     </a:t>
            </a:r>
            <a:r>
              <a:rPr lang="vi-VN" sz="2000" dirty="0" smtClean="0"/>
              <a:t>	</a:t>
            </a:r>
            <a:endParaRPr lang="en-US" sz="2000" dirty="0"/>
          </a:p>
        </p:txBody>
      </p:sp>
      <p:sp>
        <p:nvSpPr>
          <p:cNvPr id="2" name="Rectangle 1"/>
          <p:cNvSpPr/>
          <p:nvPr/>
        </p:nvSpPr>
        <p:spPr>
          <a:xfrm>
            <a:off x="3401935" y="2880265"/>
            <a:ext cx="6065534" cy="3293209"/>
          </a:xfrm>
          <a:prstGeom prst="rect">
            <a:avLst/>
          </a:prstGeom>
        </p:spPr>
        <p:txBody>
          <a:bodyPr wrap="square">
            <a:spAutoFit/>
          </a:bodyPr>
          <a:lstStyle/>
          <a:p>
            <a:r>
              <a:rPr lang="en-US" sz="1600" dirty="0" err="1">
                <a:latin typeface="Courier New" panose="02070309020205020404" pitchFamily="49" charset="0"/>
                <a:cs typeface="Courier New" panose="02070309020205020404" pitchFamily="49" charset="0"/>
              </a:rPr>
              <a:t>int</a:t>
            </a:r>
            <a:r>
              <a:rPr lang="en-US" sz="1600" dirty="0">
                <a:latin typeface="Courier New" panose="02070309020205020404" pitchFamily="49" charset="0"/>
                <a:cs typeface="Courier New" panose="02070309020205020404" pitchFamily="49" charset="0"/>
              </a:rPr>
              <a:t> </a:t>
            </a:r>
            <a:r>
              <a:rPr lang="en-US" sz="1600" b="1" dirty="0" err="1" smtClean="0">
                <a:latin typeface="Courier New" panose="02070309020205020404" pitchFamily="49" charset="0"/>
                <a:cs typeface="Courier New" panose="02070309020205020404" pitchFamily="49" charset="0"/>
              </a:rPr>
              <a:t>BFSearch</a:t>
            </a:r>
            <a:r>
              <a:rPr lang="en-US" sz="1600" dirty="0" smtClean="0">
                <a:latin typeface="Courier New" panose="02070309020205020404" pitchFamily="49" charset="0"/>
                <a:cs typeface="Courier New" panose="02070309020205020404" pitchFamily="49" charset="0"/>
              </a:rPr>
              <a:t>(</a:t>
            </a:r>
            <a:r>
              <a:rPr lang="sv-SE" sz="1600" dirty="0">
                <a:latin typeface="Courier New" panose="02070309020205020404" pitchFamily="49" charset="0"/>
                <a:cs typeface="Courier New" panose="02070309020205020404" pitchFamily="49" charset="0"/>
              </a:rPr>
              <a:t>char v[], int N, char p[], int </a:t>
            </a:r>
            <a:r>
              <a:rPr lang="sv-SE" sz="1600" dirty="0" smtClean="0">
                <a:latin typeface="Courier New" panose="02070309020205020404" pitchFamily="49" charset="0"/>
                <a:cs typeface="Courier New" panose="02070309020205020404" pitchFamily="49" charset="0"/>
              </a:rPr>
              <a:t>M</a:t>
            </a:r>
            <a:r>
              <a:rPr lang="en-US" sz="1600" dirty="0" smtClean="0">
                <a:latin typeface="Courier New" panose="02070309020205020404" pitchFamily="49" charset="0"/>
                <a:cs typeface="Courier New" panose="02070309020205020404" pitchFamily="49" charset="0"/>
              </a:rPr>
              <a:t>)</a:t>
            </a:r>
          </a:p>
          <a:p>
            <a:r>
              <a:rPr lang="en-US" sz="1600" dirty="0" smtClean="0">
                <a:latin typeface="Courier New" panose="02070309020205020404" pitchFamily="49" charset="0"/>
                <a:cs typeface="Courier New" panose="02070309020205020404" pitchFamily="49" charset="0"/>
              </a:rPr>
              <a:t>{</a:t>
            </a:r>
            <a:endParaRPr lang="en-US" sz="1600" dirty="0">
              <a:latin typeface="Courier New" panose="02070309020205020404" pitchFamily="49" charset="0"/>
              <a:cs typeface="Courier New" panose="02070309020205020404" pitchFamily="49" charset="0"/>
            </a:endParaRPr>
          </a:p>
          <a:p>
            <a:pPr lvl="1"/>
            <a:r>
              <a:rPr lang="en-US" sz="1600" dirty="0" smtClean="0">
                <a:latin typeface="Courier New" panose="02070309020205020404" pitchFamily="49" charset="0"/>
                <a:cs typeface="Courier New" panose="02070309020205020404" pitchFamily="49" charset="0"/>
              </a:rPr>
              <a:t>if (M&gt;N) </a:t>
            </a:r>
            <a:r>
              <a:rPr lang="en-US" sz="1600" dirty="0">
                <a:latin typeface="Courier New" panose="02070309020205020404" pitchFamily="49" charset="0"/>
                <a:cs typeface="Courier New" panose="02070309020205020404" pitchFamily="49" charset="0"/>
              </a:rPr>
              <a:t>return -1;</a:t>
            </a:r>
          </a:p>
          <a:p>
            <a:pPr lvl="1"/>
            <a:r>
              <a:rPr lang="en-US" sz="1600" dirty="0" err="1">
                <a:latin typeface="Courier New" panose="02070309020205020404" pitchFamily="49" charset="0"/>
                <a:cs typeface="Courier New" panose="02070309020205020404" pitchFamily="49" charset="0"/>
              </a:rPr>
              <a:t>int</a:t>
            </a: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i</a:t>
            </a:r>
            <a:r>
              <a:rPr lang="en-US" sz="1600" dirty="0">
                <a:latin typeface="Courier New" panose="02070309020205020404" pitchFamily="49" charset="0"/>
                <a:cs typeface="Courier New" panose="02070309020205020404" pitchFamily="49" charset="0"/>
              </a:rPr>
              <a:t>=0,j=0;</a:t>
            </a:r>
          </a:p>
          <a:p>
            <a:pPr lvl="1"/>
            <a:r>
              <a:rPr lang="en-US" sz="1600" dirty="0">
                <a:latin typeface="Courier New" panose="02070309020205020404" pitchFamily="49" charset="0"/>
                <a:cs typeface="Courier New" panose="02070309020205020404" pitchFamily="49" charset="0"/>
              </a:rPr>
              <a:t>while (j&lt;N</a:t>
            </a:r>
            <a:r>
              <a:rPr lang="en-US" sz="1600" dirty="0" smtClean="0">
                <a:latin typeface="Courier New" panose="02070309020205020404" pitchFamily="49" charset="0"/>
                <a:cs typeface="Courier New" panose="02070309020205020404" pitchFamily="49" charset="0"/>
              </a:rPr>
              <a:t>){</a:t>
            </a:r>
            <a:endParaRPr lang="en-US" sz="1600" dirty="0">
              <a:latin typeface="Courier New" panose="02070309020205020404" pitchFamily="49" charset="0"/>
              <a:cs typeface="Courier New" panose="02070309020205020404" pitchFamily="49" charset="0"/>
            </a:endParaRPr>
          </a:p>
          <a:p>
            <a:pPr lvl="1"/>
            <a:r>
              <a:rPr lang="en-US" sz="1600" dirty="0" smtClean="0">
                <a:latin typeface="Courier New" panose="02070309020205020404" pitchFamily="49" charset="0"/>
                <a:cs typeface="Courier New" panose="02070309020205020404" pitchFamily="49" charset="0"/>
              </a:rPr>
              <a:t>   while </a:t>
            </a:r>
            <a:r>
              <a:rPr lang="en-US" sz="1600" dirty="0">
                <a:latin typeface="Courier New" panose="02070309020205020404" pitchFamily="49" charset="0"/>
                <a:cs typeface="Courier New" panose="02070309020205020404" pitchFamily="49" charset="0"/>
              </a:rPr>
              <a:t>(</a:t>
            </a:r>
            <a:r>
              <a:rPr lang="en-US" sz="1600" dirty="0" err="1">
                <a:latin typeface="Courier New" panose="02070309020205020404" pitchFamily="49" charset="0"/>
                <a:cs typeface="Courier New" panose="02070309020205020404" pitchFamily="49" charset="0"/>
              </a:rPr>
              <a:t>i</a:t>
            </a:r>
            <a:r>
              <a:rPr lang="en-US" sz="1600" dirty="0">
                <a:latin typeface="Courier New" panose="02070309020205020404" pitchFamily="49" charset="0"/>
                <a:cs typeface="Courier New" panose="02070309020205020404" pitchFamily="49" charset="0"/>
              </a:rPr>
              <a:t>&lt;M &amp;&amp; j&lt;N &amp;&amp; p[</a:t>
            </a:r>
            <a:r>
              <a:rPr lang="en-US" sz="1600" dirty="0" err="1">
                <a:latin typeface="Courier New" panose="02070309020205020404" pitchFamily="49" charset="0"/>
                <a:cs typeface="Courier New" panose="02070309020205020404" pitchFamily="49" charset="0"/>
              </a:rPr>
              <a:t>i</a:t>
            </a:r>
            <a:r>
              <a:rPr lang="en-US" sz="1600" dirty="0">
                <a:latin typeface="Courier New" panose="02070309020205020404" pitchFamily="49" charset="0"/>
                <a:cs typeface="Courier New" panose="02070309020205020404" pitchFamily="49" charset="0"/>
              </a:rPr>
              <a:t>]==v[</a:t>
            </a:r>
            <a:r>
              <a:rPr lang="en-US" sz="1600" dirty="0" err="1">
                <a:latin typeface="Courier New" panose="02070309020205020404" pitchFamily="49" charset="0"/>
                <a:cs typeface="Courier New" panose="02070309020205020404" pitchFamily="49" charset="0"/>
              </a:rPr>
              <a:t>i+j</a:t>
            </a:r>
            <a:r>
              <a:rPr lang="en-US" sz="1600" dirty="0" smtClean="0">
                <a:latin typeface="Courier New" panose="02070309020205020404" pitchFamily="49" charset="0"/>
                <a:cs typeface="Courier New" panose="02070309020205020404" pitchFamily="49" charset="0"/>
              </a:rPr>
              <a:t>])</a:t>
            </a:r>
          </a:p>
          <a:p>
            <a:pPr lvl="1"/>
            <a:r>
              <a:rPr lang="en-US" sz="1600" dirty="0">
                <a:latin typeface="Courier New" panose="02070309020205020404" pitchFamily="49" charset="0"/>
                <a:cs typeface="Courier New" panose="02070309020205020404" pitchFamily="49" charset="0"/>
              </a:rPr>
              <a:t>	</a:t>
            </a:r>
            <a:r>
              <a:rPr lang="en-US" sz="1600" dirty="0" smtClean="0">
                <a:latin typeface="Courier New" panose="02070309020205020404" pitchFamily="49" charset="0"/>
                <a:cs typeface="Courier New" panose="02070309020205020404" pitchFamily="49" charset="0"/>
              </a:rPr>
              <a:t>  </a:t>
            </a:r>
            <a:r>
              <a:rPr lang="en-US" sz="1600" dirty="0" err="1" smtClean="0">
                <a:latin typeface="Courier New" panose="02070309020205020404" pitchFamily="49" charset="0"/>
                <a:cs typeface="Courier New" panose="02070309020205020404" pitchFamily="49" charset="0"/>
              </a:rPr>
              <a:t>i</a:t>
            </a:r>
            <a:r>
              <a:rPr lang="en-US" sz="1600" dirty="0">
                <a:latin typeface="Courier New" panose="02070309020205020404" pitchFamily="49" charset="0"/>
                <a:cs typeface="Courier New" panose="02070309020205020404" pitchFamily="49" charset="0"/>
              </a:rPr>
              <a:t>++;</a:t>
            </a:r>
          </a:p>
          <a:p>
            <a:pPr lvl="1"/>
            <a:r>
              <a:rPr lang="en-US" sz="1600" dirty="0" smtClean="0">
                <a:latin typeface="Courier New" panose="02070309020205020404" pitchFamily="49" charset="0"/>
                <a:cs typeface="Courier New" panose="02070309020205020404" pitchFamily="49" charset="0"/>
              </a:rPr>
              <a:t>   if </a:t>
            </a:r>
            <a:r>
              <a:rPr lang="en-US" sz="1600" dirty="0">
                <a:latin typeface="Courier New" panose="02070309020205020404" pitchFamily="49" charset="0"/>
                <a:cs typeface="Courier New" panose="02070309020205020404" pitchFamily="49" charset="0"/>
              </a:rPr>
              <a:t>(</a:t>
            </a:r>
            <a:r>
              <a:rPr lang="en-US" sz="1600" dirty="0" err="1">
                <a:latin typeface="Courier New" panose="02070309020205020404" pitchFamily="49" charset="0"/>
                <a:cs typeface="Courier New" panose="02070309020205020404" pitchFamily="49" charset="0"/>
              </a:rPr>
              <a:t>i</a:t>
            </a:r>
            <a:r>
              <a:rPr lang="en-US" sz="1600" dirty="0">
                <a:latin typeface="Courier New" panose="02070309020205020404" pitchFamily="49" charset="0"/>
                <a:cs typeface="Courier New" panose="02070309020205020404" pitchFamily="49" charset="0"/>
              </a:rPr>
              <a:t>==M) return j;</a:t>
            </a:r>
          </a:p>
          <a:p>
            <a:pPr lvl="1"/>
            <a:r>
              <a:rPr lang="en-US" sz="1600" dirty="0" smtClean="0">
                <a:latin typeface="Courier New" panose="02070309020205020404" pitchFamily="49" charset="0"/>
                <a:cs typeface="Courier New" panose="02070309020205020404" pitchFamily="49" charset="0"/>
              </a:rPr>
              <a:t>   </a:t>
            </a:r>
            <a:r>
              <a:rPr lang="en-US" sz="1600" dirty="0" err="1" smtClean="0">
                <a:latin typeface="Courier New" panose="02070309020205020404" pitchFamily="49" charset="0"/>
                <a:cs typeface="Courier New" panose="02070309020205020404" pitchFamily="49" charset="0"/>
              </a:rPr>
              <a:t>i</a:t>
            </a:r>
            <a:r>
              <a:rPr lang="en-US" sz="1600" dirty="0" smtClean="0">
                <a:latin typeface="Courier New" panose="02070309020205020404" pitchFamily="49" charset="0"/>
                <a:cs typeface="Courier New" panose="02070309020205020404" pitchFamily="49" charset="0"/>
              </a:rPr>
              <a:t>=0</a:t>
            </a:r>
            <a:r>
              <a:rPr lang="en-US" sz="1600" dirty="0">
                <a:latin typeface="Courier New" panose="02070309020205020404" pitchFamily="49" charset="0"/>
                <a:cs typeface="Courier New" panose="02070309020205020404" pitchFamily="49" charset="0"/>
              </a:rPr>
              <a:t>;</a:t>
            </a:r>
          </a:p>
          <a:p>
            <a:pPr lvl="1"/>
            <a:r>
              <a:rPr lang="en-US" sz="1600" dirty="0" smtClean="0">
                <a:latin typeface="Courier New" panose="02070309020205020404" pitchFamily="49" charset="0"/>
                <a:cs typeface="Courier New" panose="02070309020205020404" pitchFamily="49" charset="0"/>
              </a:rPr>
              <a:t>   </a:t>
            </a:r>
            <a:r>
              <a:rPr lang="en-US" sz="1600" dirty="0" err="1" smtClean="0">
                <a:latin typeface="Courier New" panose="02070309020205020404" pitchFamily="49" charset="0"/>
                <a:cs typeface="Courier New" panose="02070309020205020404" pitchFamily="49" charset="0"/>
              </a:rPr>
              <a:t>j</a:t>
            </a:r>
            <a:r>
              <a:rPr lang="en-US" sz="1600" dirty="0" err="1">
                <a:latin typeface="Courier New" panose="02070309020205020404" pitchFamily="49" charset="0"/>
                <a:cs typeface="Courier New" panose="02070309020205020404" pitchFamily="49" charset="0"/>
              </a:rPr>
              <a:t>++</a:t>
            </a:r>
            <a:r>
              <a:rPr lang="en-US" sz="1600" dirty="0">
                <a:latin typeface="Courier New" panose="02070309020205020404" pitchFamily="49" charset="0"/>
                <a:cs typeface="Courier New" panose="02070309020205020404" pitchFamily="49" charset="0"/>
              </a:rPr>
              <a:t>;</a:t>
            </a:r>
          </a:p>
          <a:p>
            <a:pPr lvl="1"/>
            <a:r>
              <a:rPr lang="en-US" sz="1600" dirty="0">
                <a:latin typeface="Courier New" panose="02070309020205020404" pitchFamily="49" charset="0"/>
                <a:cs typeface="Courier New" panose="02070309020205020404" pitchFamily="49" charset="0"/>
              </a:rPr>
              <a:t>}</a:t>
            </a:r>
          </a:p>
          <a:p>
            <a:pPr lvl="1"/>
            <a:r>
              <a:rPr lang="en-US" sz="1600" dirty="0">
                <a:latin typeface="Courier New" panose="02070309020205020404" pitchFamily="49" charset="0"/>
                <a:cs typeface="Courier New" panose="02070309020205020404" pitchFamily="49" charset="0"/>
              </a:rPr>
              <a:t>return -1;</a:t>
            </a:r>
          </a:p>
          <a:p>
            <a:r>
              <a:rPr lang="en-US" sz="1600" dirty="0">
                <a:latin typeface="Courier New" panose="02070309020205020404" pitchFamily="49" charset="0"/>
                <a:cs typeface="Courier New" panose="02070309020205020404" pitchFamily="49" charset="0"/>
              </a:rPr>
              <a:t>}</a:t>
            </a:r>
          </a:p>
        </p:txBody>
      </p:sp>
      <p:sp>
        <p:nvSpPr>
          <p:cNvPr id="8" name="TextBox 7"/>
          <p:cNvSpPr txBox="1"/>
          <p:nvPr/>
        </p:nvSpPr>
        <p:spPr>
          <a:xfrm>
            <a:off x="103797" y="2809907"/>
            <a:ext cx="3034805" cy="400110"/>
          </a:xfrm>
          <a:prstGeom prst="rect">
            <a:avLst/>
          </a:prstGeom>
          <a:noFill/>
        </p:spPr>
        <p:txBody>
          <a:bodyPr wrap="none" rtlCol="0">
            <a:spAutoFit/>
          </a:bodyPr>
          <a:lstStyle/>
          <a:p>
            <a:r>
              <a:rPr lang="en-US" sz="2000" dirty="0" smtClean="0"/>
              <a:t>P:          p</a:t>
            </a:r>
            <a:r>
              <a:rPr lang="en-US" sz="2000" baseline="-25000" dirty="0" smtClean="0"/>
              <a:t>0</a:t>
            </a:r>
            <a:r>
              <a:rPr lang="en-US" sz="2000" dirty="0" smtClean="0"/>
              <a:t>   p</a:t>
            </a:r>
            <a:r>
              <a:rPr lang="en-US" sz="2000" baseline="-25000" dirty="0" smtClean="0"/>
              <a:t>1</a:t>
            </a:r>
            <a:r>
              <a:rPr lang="en-US" sz="2000" dirty="0" smtClean="0"/>
              <a:t>   …  p</a:t>
            </a:r>
            <a:r>
              <a:rPr lang="en-US" sz="2000" baseline="-25000" dirty="0"/>
              <a:t>i</a:t>
            </a:r>
            <a:r>
              <a:rPr lang="en-US" sz="2000" dirty="0" smtClean="0"/>
              <a:t>  …  p</a:t>
            </a:r>
            <a:r>
              <a:rPr lang="en-US" sz="2000" baseline="-25000" dirty="0"/>
              <a:t>m</a:t>
            </a:r>
            <a:r>
              <a:rPr lang="en-US" sz="2000" baseline="-25000" dirty="0" smtClean="0"/>
              <a:t>-1</a:t>
            </a:r>
            <a:endParaRPr lang="en-US" sz="2000" baseline="-25000" dirty="0"/>
          </a:p>
        </p:txBody>
      </p:sp>
      <p:sp>
        <p:nvSpPr>
          <p:cNvPr id="9" name="TextBox 8"/>
          <p:cNvSpPr txBox="1"/>
          <p:nvPr/>
        </p:nvSpPr>
        <p:spPr>
          <a:xfrm>
            <a:off x="103797" y="3486090"/>
            <a:ext cx="3461653" cy="400110"/>
          </a:xfrm>
          <a:prstGeom prst="rect">
            <a:avLst/>
          </a:prstGeom>
          <a:noFill/>
        </p:spPr>
        <p:txBody>
          <a:bodyPr wrap="none" rtlCol="0">
            <a:spAutoFit/>
          </a:bodyPr>
          <a:lstStyle/>
          <a:p>
            <a:r>
              <a:rPr lang="en-US" sz="2000" dirty="0" smtClean="0"/>
              <a:t>V: v</a:t>
            </a:r>
            <a:r>
              <a:rPr lang="en-US" sz="2000" baseline="-25000" dirty="0" smtClean="0"/>
              <a:t>0</a:t>
            </a:r>
            <a:r>
              <a:rPr lang="en-US" sz="2000" dirty="0" smtClean="0"/>
              <a:t> …  </a:t>
            </a:r>
            <a:r>
              <a:rPr lang="en-US" sz="2000" dirty="0" err="1" smtClean="0"/>
              <a:t>v</a:t>
            </a:r>
            <a:r>
              <a:rPr lang="en-US" sz="2000" baseline="-25000" dirty="0" err="1"/>
              <a:t>j</a:t>
            </a:r>
            <a:r>
              <a:rPr lang="en-US" sz="2000" dirty="0" smtClean="0"/>
              <a:t>   v</a:t>
            </a:r>
            <a:r>
              <a:rPr lang="en-US" sz="2000" baseline="-25000" dirty="0"/>
              <a:t>j</a:t>
            </a:r>
            <a:r>
              <a:rPr lang="en-US" sz="2000" baseline="-25000" dirty="0" smtClean="0"/>
              <a:t>+1</a:t>
            </a:r>
            <a:r>
              <a:rPr lang="en-US" sz="2000" dirty="0" smtClean="0"/>
              <a:t>  …  </a:t>
            </a:r>
            <a:r>
              <a:rPr lang="en-US" sz="2000" dirty="0" err="1" smtClean="0"/>
              <a:t>v</a:t>
            </a:r>
            <a:r>
              <a:rPr lang="en-US" sz="2000" baseline="-25000" dirty="0" err="1" smtClean="0"/>
              <a:t>j+i</a:t>
            </a:r>
            <a:r>
              <a:rPr lang="en-US" sz="2000" dirty="0" smtClean="0"/>
              <a:t>  …  …   v</a:t>
            </a:r>
            <a:r>
              <a:rPr lang="en-US" sz="2000" baseline="-25000" dirty="0"/>
              <a:t>n</a:t>
            </a:r>
            <a:r>
              <a:rPr lang="en-US" sz="2000" baseline="-25000" dirty="0" smtClean="0"/>
              <a:t>-1</a:t>
            </a:r>
            <a:endParaRPr lang="en-US" sz="2000" baseline="-25000" dirty="0"/>
          </a:p>
        </p:txBody>
      </p:sp>
      <p:sp>
        <p:nvSpPr>
          <p:cNvPr id="11" name="TextBox 10"/>
          <p:cNvSpPr txBox="1"/>
          <p:nvPr/>
        </p:nvSpPr>
        <p:spPr>
          <a:xfrm rot="5400000">
            <a:off x="904480" y="3055667"/>
            <a:ext cx="389850" cy="584775"/>
          </a:xfrm>
          <a:prstGeom prst="rect">
            <a:avLst/>
          </a:prstGeom>
          <a:noFill/>
        </p:spPr>
        <p:txBody>
          <a:bodyPr wrap="none" rtlCol="0">
            <a:spAutoFit/>
          </a:bodyPr>
          <a:lstStyle/>
          <a:p>
            <a:r>
              <a:rPr lang="en-US" sz="3200" dirty="0" smtClean="0"/>
              <a:t>=</a:t>
            </a:r>
            <a:endParaRPr lang="en-US" sz="3200" dirty="0"/>
          </a:p>
        </p:txBody>
      </p:sp>
      <p:sp>
        <p:nvSpPr>
          <p:cNvPr id="12" name="TextBox 11"/>
          <p:cNvSpPr txBox="1"/>
          <p:nvPr/>
        </p:nvSpPr>
        <p:spPr>
          <a:xfrm rot="5400000">
            <a:off x="1258492" y="3072431"/>
            <a:ext cx="389850" cy="584775"/>
          </a:xfrm>
          <a:prstGeom prst="rect">
            <a:avLst/>
          </a:prstGeom>
          <a:noFill/>
        </p:spPr>
        <p:txBody>
          <a:bodyPr wrap="none" rtlCol="0">
            <a:spAutoFit/>
          </a:bodyPr>
          <a:lstStyle/>
          <a:p>
            <a:r>
              <a:rPr lang="en-US" sz="3200" dirty="0" smtClean="0"/>
              <a:t>=</a:t>
            </a:r>
            <a:endParaRPr lang="en-US" sz="3200" dirty="0"/>
          </a:p>
        </p:txBody>
      </p:sp>
      <p:sp>
        <p:nvSpPr>
          <p:cNvPr id="13" name="TextBox 12"/>
          <p:cNvSpPr txBox="1"/>
          <p:nvPr/>
        </p:nvSpPr>
        <p:spPr>
          <a:xfrm rot="5400000">
            <a:off x="1961302" y="3055668"/>
            <a:ext cx="389850" cy="584775"/>
          </a:xfrm>
          <a:prstGeom prst="rect">
            <a:avLst/>
          </a:prstGeom>
          <a:noFill/>
        </p:spPr>
        <p:txBody>
          <a:bodyPr wrap="none" rtlCol="0">
            <a:spAutoFit/>
          </a:bodyPr>
          <a:lstStyle/>
          <a:p>
            <a:r>
              <a:rPr lang="en-US" sz="3200" dirty="0" smtClean="0"/>
              <a:t>≠</a:t>
            </a:r>
            <a:endParaRPr lang="en-US" sz="3200" dirty="0"/>
          </a:p>
        </p:txBody>
      </p:sp>
    </p:spTree>
    <p:extLst>
      <p:ext uri="{BB962C8B-B14F-4D97-AF65-F5344CB8AC3E}">
        <p14:creationId xmlns:p14="http://schemas.microsoft.com/office/powerpoint/2010/main" val="1715910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p:bldP spid="9" grpId="0"/>
      <p:bldP spid="11" grpId="0"/>
      <p:bldP spid="12" grpId="0"/>
      <p:bldP spid="1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C24317B-5122-4A99-A6E9-FA23C146A7E0}" type="slidenum">
              <a:rPr lang="en-US" smtClean="0"/>
              <a:pPr/>
              <a:t>13</a:t>
            </a:fld>
            <a:endParaRPr lang="en-US" dirty="0"/>
          </a:p>
        </p:txBody>
      </p:sp>
      <p:sp>
        <p:nvSpPr>
          <p:cNvPr id="4" name="Title 3"/>
          <p:cNvSpPr>
            <a:spLocks noGrp="1"/>
          </p:cNvSpPr>
          <p:nvPr>
            <p:ph type="title"/>
          </p:nvPr>
        </p:nvSpPr>
        <p:spPr/>
        <p:txBody>
          <a:bodyPr>
            <a:normAutofit/>
          </a:bodyPr>
          <a:lstStyle/>
          <a:p>
            <a:r>
              <a:rPr lang="en-US" sz="2400" dirty="0" smtClean="0"/>
              <a:t>3. </a:t>
            </a:r>
            <a:r>
              <a:rPr lang="en-US" sz="2400" dirty="0" err="1" smtClean="0"/>
              <a:t>Tìm</a:t>
            </a:r>
            <a:r>
              <a:rPr lang="en-US" sz="2400" dirty="0" smtClean="0"/>
              <a:t> </a:t>
            </a:r>
            <a:r>
              <a:rPr lang="en-US" sz="2400" dirty="0" err="1" smtClean="0"/>
              <a:t>kiếm</a:t>
            </a:r>
            <a:r>
              <a:rPr lang="en-US" sz="2400" dirty="0" smtClean="0"/>
              <a:t> </a:t>
            </a:r>
            <a:r>
              <a:rPr lang="en-US" sz="2400" dirty="0" err="1" smtClean="0"/>
              <a:t>chuỗi</a:t>
            </a:r>
            <a:r>
              <a:rPr lang="en-US" sz="2400" dirty="0" smtClean="0"/>
              <a:t> con</a:t>
            </a:r>
            <a:endParaRPr lang="en-US" sz="2400" dirty="0"/>
          </a:p>
        </p:txBody>
      </p:sp>
      <p:sp>
        <p:nvSpPr>
          <p:cNvPr id="5" name="Text Placeholder 4"/>
          <p:cNvSpPr>
            <a:spLocks noGrp="1"/>
          </p:cNvSpPr>
          <p:nvPr>
            <p:ph type="body" sz="quarter" idx="13"/>
          </p:nvPr>
        </p:nvSpPr>
        <p:spPr/>
        <p:txBody>
          <a:bodyPr>
            <a:normAutofit/>
          </a:bodyPr>
          <a:lstStyle/>
          <a:p>
            <a:r>
              <a:rPr lang="en-US" sz="2400" dirty="0" err="1"/>
              <a:t>Giải</a:t>
            </a:r>
            <a:r>
              <a:rPr lang="en-US" sz="2400" dirty="0"/>
              <a:t> </a:t>
            </a:r>
            <a:r>
              <a:rPr lang="en-US" sz="2400" dirty="0" err="1"/>
              <a:t>thuật</a:t>
            </a:r>
            <a:r>
              <a:rPr lang="en-US" sz="2400" dirty="0"/>
              <a:t> </a:t>
            </a:r>
            <a:r>
              <a:rPr lang="en-US" sz="2400" dirty="0" smtClean="0"/>
              <a:t>Knuth-Morris-Pratt</a:t>
            </a:r>
          </a:p>
          <a:p>
            <a:pPr lvl="1"/>
            <a:r>
              <a:rPr lang="vi-VN" sz="2100" dirty="0" smtClean="0"/>
              <a:t>Ý </a:t>
            </a:r>
            <a:r>
              <a:rPr lang="vi-VN" sz="2100" dirty="0"/>
              <a:t>tưởng:</a:t>
            </a:r>
          </a:p>
          <a:p>
            <a:pPr lvl="2"/>
            <a:r>
              <a:rPr lang="en-US" sz="1800" dirty="0" smtClean="0"/>
              <a:t>C</a:t>
            </a:r>
            <a:r>
              <a:rPr lang="vi-VN" sz="1800" dirty="0" smtClean="0"/>
              <a:t>ải </a:t>
            </a:r>
            <a:r>
              <a:rPr lang="vi-VN" sz="1800" dirty="0"/>
              <a:t>tiến từ giải thuật tìm kiếm thô </a:t>
            </a:r>
            <a:endParaRPr lang="en-US" sz="1800" dirty="0" smtClean="0"/>
          </a:p>
          <a:p>
            <a:pPr lvl="2"/>
            <a:r>
              <a:rPr lang="en-US" sz="1800" dirty="0" err="1"/>
              <a:t>Khi</a:t>
            </a:r>
            <a:r>
              <a:rPr lang="en-US" sz="1800" dirty="0"/>
              <a:t> </a:t>
            </a:r>
            <a:r>
              <a:rPr lang="en-US" sz="1800" dirty="0" smtClean="0"/>
              <a:t>so </a:t>
            </a:r>
            <a:r>
              <a:rPr lang="en-US" sz="1800" dirty="0" err="1"/>
              <a:t>sánh</a:t>
            </a:r>
            <a:r>
              <a:rPr lang="en-US" sz="1800" dirty="0"/>
              <a:t> </a:t>
            </a:r>
            <a:r>
              <a:rPr lang="en-US" sz="1800" dirty="0" err="1"/>
              <a:t>đến</a:t>
            </a:r>
            <a:r>
              <a:rPr lang="en-US" sz="1800" dirty="0"/>
              <a:t> </a:t>
            </a:r>
            <a:r>
              <a:rPr lang="en-US" sz="1800" dirty="0" err="1"/>
              <a:t>cặp</a:t>
            </a:r>
            <a:r>
              <a:rPr lang="en-US" sz="1800" dirty="0"/>
              <a:t> </a:t>
            </a:r>
            <a:r>
              <a:rPr lang="en-US" sz="1800" dirty="0" err="1"/>
              <a:t>ký</a:t>
            </a:r>
            <a:r>
              <a:rPr lang="en-US" sz="1800" dirty="0"/>
              <a:t> </a:t>
            </a:r>
            <a:r>
              <a:rPr lang="en-US" sz="1800" dirty="0" err="1"/>
              <a:t>tự</a:t>
            </a:r>
            <a:r>
              <a:rPr lang="en-US" sz="1800" dirty="0"/>
              <a:t> </a:t>
            </a:r>
            <a:r>
              <a:rPr lang="en-US" sz="1800" i="1" dirty="0"/>
              <a:t>(</a:t>
            </a:r>
            <a:r>
              <a:rPr lang="en-US" sz="1800" i="1" dirty="0" err="1"/>
              <a:t>v</a:t>
            </a:r>
            <a:r>
              <a:rPr lang="en-US" sz="1800" i="1" baseline="-25000" dirty="0" err="1"/>
              <a:t>i</a:t>
            </a:r>
            <a:r>
              <a:rPr lang="en-US" sz="1800" i="1" dirty="0" err="1"/>
              <a:t>,p</a:t>
            </a:r>
            <a:r>
              <a:rPr lang="en-US" sz="1800" i="1" baseline="-25000" dirty="0" err="1"/>
              <a:t>j</a:t>
            </a:r>
            <a:r>
              <a:rPr lang="en-US" sz="1800" i="1" dirty="0"/>
              <a:t>) </a:t>
            </a:r>
            <a:r>
              <a:rPr lang="en-US" sz="1800" i="1" dirty="0" err="1"/>
              <a:t>đầu</a:t>
            </a:r>
            <a:r>
              <a:rPr lang="en-US" sz="1800" i="1" dirty="0"/>
              <a:t> </a:t>
            </a:r>
            <a:r>
              <a:rPr lang="en-US" sz="1800" i="1" dirty="0" err="1"/>
              <a:t>tiên</a:t>
            </a:r>
            <a:r>
              <a:rPr lang="en-US" sz="1800" i="1" dirty="0"/>
              <a:t> </a:t>
            </a:r>
            <a:r>
              <a:rPr lang="en-US" sz="1800" dirty="0" err="1" smtClean="0"/>
              <a:t>mà</a:t>
            </a:r>
            <a:r>
              <a:rPr lang="en-US" sz="1800" dirty="0" smtClean="0"/>
              <a:t> </a:t>
            </a:r>
            <a:r>
              <a:rPr lang="en-US" sz="1800" i="1" dirty="0" smtClean="0"/>
              <a:t>v</a:t>
            </a:r>
            <a:r>
              <a:rPr lang="en-US" sz="1800" i="1" baseline="-25000" dirty="0" smtClean="0"/>
              <a:t>i</a:t>
            </a:r>
            <a:r>
              <a:rPr lang="en-US" sz="1800" i="1" dirty="0" smtClean="0"/>
              <a:t> ≠ </a:t>
            </a:r>
            <a:r>
              <a:rPr lang="en-US" sz="1800" i="1" dirty="0" err="1" smtClean="0"/>
              <a:t>p</a:t>
            </a:r>
            <a:r>
              <a:rPr lang="en-US" sz="1800" i="1" baseline="-25000" dirty="0" err="1" smtClean="0"/>
              <a:t>j</a:t>
            </a:r>
            <a:r>
              <a:rPr lang="en-US" sz="1800" i="1" baseline="-25000" dirty="0" smtClean="0"/>
              <a:t> </a:t>
            </a:r>
            <a:r>
              <a:rPr lang="en-US" sz="1800" b="1" dirty="0" smtClean="0"/>
              <a:t>(</a:t>
            </a:r>
            <a:r>
              <a:rPr lang="vi-VN" sz="1800" b="1" i="1" dirty="0"/>
              <a:t>j</a:t>
            </a:r>
            <a:r>
              <a:rPr lang="vi-VN" sz="1800" b="1" dirty="0"/>
              <a:t> cặp trước </a:t>
            </a:r>
            <a:r>
              <a:rPr lang="vi-VN" sz="1800" b="1" dirty="0" smtClean="0"/>
              <a:t>đó</a:t>
            </a:r>
            <a:r>
              <a:rPr lang="en-US" sz="1800" b="1" dirty="0"/>
              <a:t> </a:t>
            </a:r>
            <a:r>
              <a:rPr lang="en-US" sz="1800" b="1" dirty="0" err="1" smtClean="0"/>
              <a:t>đã</a:t>
            </a:r>
            <a:r>
              <a:rPr lang="en-US" sz="1800" b="1" dirty="0" smtClean="0"/>
              <a:t> </a:t>
            </a:r>
            <a:r>
              <a:rPr lang="en-US" sz="1800" b="1" dirty="0" err="1" smtClean="0"/>
              <a:t>khớp</a:t>
            </a:r>
            <a:r>
              <a:rPr lang="en-US" sz="1800" b="1" dirty="0" smtClean="0"/>
              <a:t>)</a:t>
            </a:r>
          </a:p>
          <a:p>
            <a:pPr lvl="2"/>
            <a:r>
              <a:rPr lang="en-US" sz="1800" dirty="0" smtClean="0"/>
              <a:t>T</a:t>
            </a:r>
            <a:r>
              <a:rPr lang="vi-VN" sz="1800" dirty="0" smtClean="0"/>
              <a:t>hay </a:t>
            </a:r>
            <a:r>
              <a:rPr lang="vi-VN" sz="1800" dirty="0"/>
              <a:t>vì </a:t>
            </a:r>
            <a:r>
              <a:rPr lang="vi-VN" sz="1800" dirty="0" smtClean="0"/>
              <a:t>quay </a:t>
            </a:r>
            <a:r>
              <a:rPr lang="vi-VN" sz="1800" dirty="0"/>
              <a:t>lại so sánh </a:t>
            </a:r>
            <a:r>
              <a:rPr lang="vi-VN" sz="1800" i="1" dirty="0" smtClean="0"/>
              <a:t>p</a:t>
            </a:r>
            <a:r>
              <a:rPr lang="vi-VN" sz="1800" i="1" baseline="-25000" dirty="0" smtClean="0"/>
              <a:t>0</a:t>
            </a:r>
            <a:r>
              <a:rPr lang="en-US" sz="1800" baseline="-25000" dirty="0" smtClean="0"/>
              <a:t> </a:t>
            </a:r>
            <a:r>
              <a:rPr lang="vi-VN" sz="1800" dirty="0" smtClean="0"/>
              <a:t>của </a:t>
            </a:r>
            <a:r>
              <a:rPr lang="vi-VN" sz="1800" dirty="0"/>
              <a:t>mẫu </a:t>
            </a:r>
            <a:r>
              <a:rPr lang="vi-VN" sz="1800" dirty="0" smtClean="0"/>
              <a:t>với </a:t>
            </a:r>
            <a:r>
              <a:rPr lang="vi-VN" sz="1800" dirty="0"/>
              <a:t>kí </a:t>
            </a:r>
            <a:r>
              <a:rPr lang="vi-VN" sz="1800" dirty="0" smtClean="0"/>
              <a:t>tự</a:t>
            </a:r>
            <a:r>
              <a:rPr lang="en-US" sz="1800" dirty="0" smtClean="0"/>
              <a:t> </a:t>
            </a:r>
            <a:r>
              <a:rPr lang="vi-VN" sz="1800" i="1" dirty="0" smtClean="0"/>
              <a:t>v</a:t>
            </a:r>
            <a:r>
              <a:rPr lang="vi-VN" sz="1800" i="1" baseline="-25000" dirty="0" smtClean="0"/>
              <a:t>i</a:t>
            </a:r>
            <a:r>
              <a:rPr lang="en-US" sz="1800" i="1" baseline="-25000" dirty="0" smtClean="0"/>
              <a:t>-j+</a:t>
            </a:r>
            <a:r>
              <a:rPr lang="vi-VN" sz="1800" i="1" baseline="-25000" dirty="0" smtClean="0"/>
              <a:t>1</a:t>
            </a:r>
            <a:r>
              <a:rPr lang="en-US" sz="1800" dirty="0"/>
              <a:t> </a:t>
            </a:r>
            <a:endParaRPr lang="en-US" sz="1800" dirty="0" smtClean="0"/>
          </a:p>
          <a:p>
            <a:pPr marL="685800" lvl="2" indent="0">
              <a:buNone/>
            </a:pPr>
            <a:r>
              <a:rPr lang="en-US" sz="1800" dirty="0" smtClean="0">
                <a:sym typeface="Wingdings" panose="05000000000000000000" pitchFamily="2" charset="2"/>
              </a:rPr>
              <a:t> </a:t>
            </a:r>
            <a:r>
              <a:rPr lang="en-US" sz="1800" dirty="0" err="1" smtClean="0">
                <a:sym typeface="Wingdings" panose="05000000000000000000" pitchFamily="2" charset="2"/>
              </a:rPr>
              <a:t>tiếp</a:t>
            </a:r>
            <a:r>
              <a:rPr lang="en-US" sz="1800" dirty="0" smtClean="0">
                <a:sym typeface="Wingdings" panose="05000000000000000000" pitchFamily="2" charset="2"/>
              </a:rPr>
              <a:t> </a:t>
            </a:r>
            <a:r>
              <a:rPr lang="en-US" sz="1800" dirty="0" err="1" smtClean="0">
                <a:sym typeface="Wingdings" panose="05000000000000000000" pitchFamily="2" charset="2"/>
              </a:rPr>
              <a:t>tục</a:t>
            </a:r>
            <a:r>
              <a:rPr lang="vi-VN" sz="1800" dirty="0" smtClean="0"/>
              <a:t> </a:t>
            </a:r>
            <a:r>
              <a:rPr lang="vi-VN" sz="1800" dirty="0"/>
              <a:t>việc so sánh từ một </a:t>
            </a:r>
            <a:r>
              <a:rPr lang="vi-VN" sz="1800" dirty="0" smtClean="0"/>
              <a:t>kí</a:t>
            </a:r>
            <a:r>
              <a:rPr lang="en-US" sz="1800" dirty="0" smtClean="0"/>
              <a:t> </a:t>
            </a:r>
            <a:r>
              <a:rPr lang="vi-VN" sz="1800" dirty="0" smtClean="0"/>
              <a:t>tự </a:t>
            </a:r>
            <a:r>
              <a:rPr lang="vi-VN" sz="1800" i="1" dirty="0"/>
              <a:t>p</a:t>
            </a:r>
            <a:r>
              <a:rPr lang="vi-VN" sz="1800" i="1" baseline="-25000" dirty="0"/>
              <a:t>k</a:t>
            </a:r>
            <a:r>
              <a:rPr lang="vi-VN" sz="1800" dirty="0"/>
              <a:t> </a:t>
            </a:r>
            <a:r>
              <a:rPr lang="vi-VN" sz="1800" dirty="0" smtClean="0"/>
              <a:t>trong mẫu</a:t>
            </a:r>
            <a:r>
              <a:rPr lang="en-US" sz="1800" dirty="0" smtClean="0"/>
              <a:t> </a:t>
            </a:r>
            <a:r>
              <a:rPr lang="vi-VN" sz="1800" dirty="0" smtClean="0"/>
              <a:t>với </a:t>
            </a:r>
            <a:r>
              <a:rPr lang="vi-VN" sz="1800" dirty="0"/>
              <a:t>kí tự </a:t>
            </a:r>
            <a:r>
              <a:rPr lang="vi-VN" sz="1800" i="1" dirty="0"/>
              <a:t>v</a:t>
            </a:r>
            <a:r>
              <a:rPr lang="vi-VN" sz="1800" i="1" baseline="-25000" dirty="0"/>
              <a:t>i</a:t>
            </a:r>
            <a:r>
              <a:rPr lang="vi-VN" sz="1800" dirty="0"/>
              <a:t> hiện đang không </a:t>
            </a:r>
            <a:r>
              <a:rPr lang="vi-VN" sz="1800" dirty="0" smtClean="0"/>
              <a:t>khớp</a:t>
            </a:r>
            <a:r>
              <a:rPr lang="en-US" sz="1800" dirty="0" smtClean="0"/>
              <a:t> </a:t>
            </a:r>
            <a:r>
              <a:rPr lang="vi-VN" sz="1800" dirty="0" smtClean="0"/>
              <a:t>trong </a:t>
            </a:r>
            <a:r>
              <a:rPr lang="vi-VN" sz="1800" dirty="0"/>
              <a:t>văn </a:t>
            </a:r>
            <a:r>
              <a:rPr lang="vi-VN" sz="1800" dirty="0" smtClean="0"/>
              <a:t>bản</a:t>
            </a:r>
            <a:endParaRPr lang="en-US" sz="1800" dirty="0" smtClean="0"/>
          </a:p>
          <a:p>
            <a:pPr lvl="3"/>
            <a:endParaRPr lang="en-US" sz="1800" dirty="0" smtClean="0"/>
          </a:p>
          <a:p>
            <a:pPr marL="342900" lvl="1" indent="0">
              <a:buNone/>
            </a:pPr>
            <a:endParaRPr lang="en-US" sz="2100" dirty="0"/>
          </a:p>
        </p:txBody>
      </p:sp>
      <p:grpSp>
        <p:nvGrpSpPr>
          <p:cNvPr id="14" name="Group 13"/>
          <p:cNvGrpSpPr/>
          <p:nvPr/>
        </p:nvGrpSpPr>
        <p:grpSpPr>
          <a:xfrm>
            <a:off x="2588081" y="3424755"/>
            <a:ext cx="4216018" cy="1969532"/>
            <a:chOff x="2198488" y="3048000"/>
            <a:chExt cx="4216018" cy="1969532"/>
          </a:xfrm>
        </p:grpSpPr>
        <p:grpSp>
          <p:nvGrpSpPr>
            <p:cNvPr id="8" name="Group 7"/>
            <p:cNvGrpSpPr/>
            <p:nvPr/>
          </p:nvGrpSpPr>
          <p:grpSpPr>
            <a:xfrm>
              <a:off x="2198488" y="3048000"/>
              <a:ext cx="4216018" cy="1969532"/>
              <a:chOff x="2198488" y="3059668"/>
              <a:chExt cx="4216018" cy="1969532"/>
            </a:xfrm>
          </p:grpSpPr>
          <p:pic>
            <p:nvPicPr>
              <p:cNvPr id="16" name="Picture 15"/>
              <p:cNvPicPr>
                <a:picLocks noChangeAspect="1"/>
              </p:cNvPicPr>
              <p:nvPr/>
            </p:nvPicPr>
            <p:blipFill rotWithShape="1">
              <a:blip r:embed="rId3"/>
              <a:srcRect b="57788"/>
              <a:stretch/>
            </p:blipFill>
            <p:spPr>
              <a:xfrm>
                <a:off x="2514600" y="3429000"/>
                <a:ext cx="3899906" cy="1230868"/>
              </a:xfrm>
              <a:prstGeom prst="rect">
                <a:avLst/>
              </a:prstGeom>
            </p:spPr>
          </p:pic>
          <p:sp>
            <p:nvSpPr>
              <p:cNvPr id="7" name="Rectangle 6"/>
              <p:cNvSpPr/>
              <p:nvPr/>
            </p:nvSpPr>
            <p:spPr>
              <a:xfrm>
                <a:off x="3048000" y="4648200"/>
                <a:ext cx="1524000" cy="381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2655056" y="4304268"/>
                <a:ext cx="303288" cy="369332"/>
              </a:xfrm>
              <a:prstGeom prst="rect">
                <a:avLst/>
              </a:prstGeom>
              <a:noFill/>
            </p:spPr>
            <p:txBody>
              <a:bodyPr wrap="none" rtlCol="0">
                <a:spAutoFit/>
              </a:bodyPr>
              <a:lstStyle/>
              <a:p>
                <a:r>
                  <a:rPr lang="en-US" dirty="0" smtClean="0"/>
                  <a:t>P</a:t>
                </a:r>
                <a:endParaRPr lang="en-US" dirty="0"/>
              </a:p>
            </p:txBody>
          </p:sp>
          <p:sp>
            <p:nvSpPr>
              <p:cNvPr id="21" name="TextBox 20"/>
              <p:cNvSpPr txBox="1"/>
              <p:nvPr/>
            </p:nvSpPr>
            <p:spPr>
              <a:xfrm>
                <a:off x="2198488" y="3429000"/>
                <a:ext cx="316112" cy="369332"/>
              </a:xfrm>
              <a:prstGeom prst="rect">
                <a:avLst/>
              </a:prstGeom>
              <a:noFill/>
            </p:spPr>
            <p:txBody>
              <a:bodyPr wrap="none" rtlCol="0">
                <a:spAutoFit/>
              </a:bodyPr>
              <a:lstStyle/>
              <a:p>
                <a:r>
                  <a:rPr lang="en-US" dirty="0"/>
                  <a:t>V</a:t>
                </a:r>
              </a:p>
            </p:txBody>
          </p:sp>
          <p:sp>
            <p:nvSpPr>
              <p:cNvPr id="2" name="TextBox 1"/>
              <p:cNvSpPr txBox="1"/>
              <p:nvPr/>
            </p:nvSpPr>
            <p:spPr>
              <a:xfrm>
                <a:off x="4552937" y="3987406"/>
                <a:ext cx="343364" cy="369332"/>
              </a:xfrm>
              <a:prstGeom prst="rect">
                <a:avLst/>
              </a:prstGeom>
              <a:noFill/>
            </p:spPr>
            <p:txBody>
              <a:bodyPr wrap="none" rtlCol="0">
                <a:spAutoFit/>
              </a:bodyPr>
              <a:lstStyle/>
              <a:p>
                <a:r>
                  <a:rPr lang="en-US" i="1" dirty="0" err="1" smtClean="0"/>
                  <a:t>p</a:t>
                </a:r>
                <a:r>
                  <a:rPr lang="en-US" i="1" baseline="-25000" dirty="0" err="1" smtClean="0"/>
                  <a:t>j</a:t>
                </a:r>
                <a:endParaRPr lang="en-US" i="1" baseline="-25000" dirty="0"/>
              </a:p>
            </p:txBody>
          </p:sp>
          <p:sp>
            <p:nvSpPr>
              <p:cNvPr id="22" name="TextBox 21"/>
              <p:cNvSpPr txBox="1"/>
              <p:nvPr/>
            </p:nvSpPr>
            <p:spPr>
              <a:xfrm>
                <a:off x="3089262" y="3951965"/>
                <a:ext cx="385042" cy="369332"/>
              </a:xfrm>
              <a:prstGeom prst="rect">
                <a:avLst/>
              </a:prstGeom>
              <a:noFill/>
            </p:spPr>
            <p:txBody>
              <a:bodyPr wrap="none" rtlCol="0">
                <a:spAutoFit/>
              </a:bodyPr>
              <a:lstStyle/>
              <a:p>
                <a:r>
                  <a:rPr lang="en-US" i="1" dirty="0" smtClean="0"/>
                  <a:t>p</a:t>
                </a:r>
                <a:r>
                  <a:rPr lang="en-US" i="1" baseline="-25000" dirty="0"/>
                  <a:t>0</a:t>
                </a:r>
              </a:p>
            </p:txBody>
          </p:sp>
          <p:sp>
            <p:nvSpPr>
              <p:cNvPr id="23" name="TextBox 22"/>
              <p:cNvSpPr txBox="1"/>
              <p:nvPr/>
            </p:nvSpPr>
            <p:spPr>
              <a:xfrm>
                <a:off x="4533874" y="3059668"/>
                <a:ext cx="343364" cy="369332"/>
              </a:xfrm>
              <a:prstGeom prst="rect">
                <a:avLst/>
              </a:prstGeom>
              <a:noFill/>
            </p:spPr>
            <p:txBody>
              <a:bodyPr wrap="square" rtlCol="0">
                <a:spAutoFit/>
              </a:bodyPr>
              <a:lstStyle/>
              <a:p>
                <a:r>
                  <a:rPr lang="en-US" i="1" dirty="0" smtClean="0"/>
                  <a:t>v</a:t>
                </a:r>
                <a:r>
                  <a:rPr lang="en-US" i="1" baseline="-25000" dirty="0"/>
                  <a:t>i</a:t>
                </a:r>
              </a:p>
            </p:txBody>
          </p:sp>
          <p:sp>
            <p:nvSpPr>
              <p:cNvPr id="24" name="TextBox 23"/>
              <p:cNvSpPr txBox="1"/>
              <p:nvPr/>
            </p:nvSpPr>
            <p:spPr>
              <a:xfrm>
                <a:off x="3089261" y="3059668"/>
                <a:ext cx="556679" cy="369332"/>
              </a:xfrm>
              <a:prstGeom prst="rect">
                <a:avLst/>
              </a:prstGeom>
              <a:noFill/>
            </p:spPr>
            <p:txBody>
              <a:bodyPr wrap="square" rtlCol="0">
                <a:spAutoFit/>
              </a:bodyPr>
              <a:lstStyle/>
              <a:p>
                <a:r>
                  <a:rPr lang="en-US" i="1" dirty="0" smtClean="0"/>
                  <a:t>v</a:t>
                </a:r>
                <a:r>
                  <a:rPr lang="en-US" i="1" baseline="-25000" dirty="0" smtClean="0"/>
                  <a:t>i-j</a:t>
                </a:r>
                <a:endParaRPr lang="en-US" i="1" baseline="-25000" dirty="0"/>
              </a:p>
            </p:txBody>
          </p:sp>
          <p:sp>
            <p:nvSpPr>
              <p:cNvPr id="25" name="TextBox 24"/>
              <p:cNvSpPr txBox="1"/>
              <p:nvPr/>
            </p:nvSpPr>
            <p:spPr>
              <a:xfrm>
                <a:off x="3382728" y="3059668"/>
                <a:ext cx="556679" cy="369332"/>
              </a:xfrm>
              <a:prstGeom prst="rect">
                <a:avLst/>
              </a:prstGeom>
              <a:noFill/>
            </p:spPr>
            <p:txBody>
              <a:bodyPr wrap="square" rtlCol="0">
                <a:spAutoFit/>
              </a:bodyPr>
              <a:lstStyle/>
              <a:p>
                <a:r>
                  <a:rPr lang="en-US" i="1" dirty="0" smtClean="0"/>
                  <a:t>v</a:t>
                </a:r>
                <a:r>
                  <a:rPr lang="en-US" i="1" baseline="-25000" dirty="0" smtClean="0"/>
                  <a:t>i-j+1</a:t>
                </a:r>
                <a:endParaRPr lang="en-US" i="1" baseline="-25000" dirty="0"/>
              </a:p>
            </p:txBody>
          </p:sp>
          <p:sp>
            <p:nvSpPr>
              <p:cNvPr id="6" name="Rectangle 5"/>
              <p:cNvSpPr/>
              <p:nvPr/>
            </p:nvSpPr>
            <p:spPr>
              <a:xfrm>
                <a:off x="4652872" y="4648199"/>
                <a:ext cx="300128" cy="3262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3" name="Picture 12"/>
            <p:cNvPicPr>
              <a:picLocks noChangeAspect="1"/>
            </p:cNvPicPr>
            <p:nvPr/>
          </p:nvPicPr>
          <p:blipFill>
            <a:blip r:embed="rId4"/>
            <a:stretch>
              <a:fillRect/>
            </a:stretch>
          </p:blipFill>
          <p:spPr>
            <a:xfrm>
              <a:off x="4886590" y="4293324"/>
              <a:ext cx="599810" cy="343207"/>
            </a:xfrm>
            <a:prstGeom prst="rect">
              <a:avLst/>
            </a:prstGeom>
          </p:spPr>
        </p:pic>
      </p:grpSp>
      <p:grpSp>
        <p:nvGrpSpPr>
          <p:cNvPr id="15" name="Group 14"/>
          <p:cNvGrpSpPr/>
          <p:nvPr/>
        </p:nvGrpSpPr>
        <p:grpSpPr>
          <a:xfrm>
            <a:off x="2909787" y="5024955"/>
            <a:ext cx="3899906" cy="1680645"/>
            <a:chOff x="-2023703" y="4267199"/>
            <a:chExt cx="3899906" cy="1680645"/>
          </a:xfrm>
        </p:grpSpPr>
        <p:grpSp>
          <p:nvGrpSpPr>
            <p:cNvPr id="35" name="Group 34"/>
            <p:cNvGrpSpPr/>
            <p:nvPr/>
          </p:nvGrpSpPr>
          <p:grpSpPr>
            <a:xfrm>
              <a:off x="-2023703" y="4267199"/>
              <a:ext cx="3899906" cy="1680645"/>
              <a:chOff x="6039390" y="5750988"/>
              <a:chExt cx="3899906" cy="1680645"/>
            </a:xfrm>
          </p:grpSpPr>
          <p:pic>
            <p:nvPicPr>
              <p:cNvPr id="42" name="Picture 41"/>
              <p:cNvPicPr>
                <a:picLocks noChangeAspect="1"/>
              </p:cNvPicPr>
              <p:nvPr/>
            </p:nvPicPr>
            <p:blipFill rotWithShape="1">
              <a:blip r:embed="rId3"/>
              <a:srcRect t="42362"/>
              <a:stretch/>
            </p:blipFill>
            <p:spPr>
              <a:xfrm>
                <a:off x="6039390" y="5750988"/>
                <a:ext cx="3899906" cy="1680645"/>
              </a:xfrm>
              <a:prstGeom prst="rect">
                <a:avLst/>
              </a:prstGeom>
            </p:spPr>
          </p:pic>
          <p:sp>
            <p:nvSpPr>
              <p:cNvPr id="43" name="Rectangle 42"/>
              <p:cNvSpPr/>
              <p:nvPr/>
            </p:nvSpPr>
            <p:spPr>
              <a:xfrm>
                <a:off x="6567700" y="5764721"/>
                <a:ext cx="1524000" cy="381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4" name="Rectangle 63"/>
            <p:cNvSpPr/>
            <p:nvPr/>
          </p:nvSpPr>
          <p:spPr>
            <a:xfrm>
              <a:off x="76200" y="4355010"/>
              <a:ext cx="1259720" cy="381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6" name="TextBox 85"/>
          <p:cNvSpPr txBox="1"/>
          <p:nvPr/>
        </p:nvSpPr>
        <p:spPr>
          <a:xfrm>
            <a:off x="5032939" y="5197250"/>
            <a:ext cx="373820" cy="369332"/>
          </a:xfrm>
          <a:prstGeom prst="rect">
            <a:avLst/>
          </a:prstGeom>
          <a:noFill/>
        </p:spPr>
        <p:txBody>
          <a:bodyPr wrap="none" rtlCol="0">
            <a:spAutoFit/>
          </a:bodyPr>
          <a:lstStyle/>
          <a:p>
            <a:r>
              <a:rPr lang="en-US" i="1" dirty="0" err="1" smtClean="0"/>
              <a:t>p</a:t>
            </a:r>
            <a:r>
              <a:rPr lang="en-US" i="1" baseline="-25000" dirty="0" err="1" smtClean="0"/>
              <a:t>k</a:t>
            </a:r>
            <a:endParaRPr lang="en-US" i="1" baseline="-25000" dirty="0"/>
          </a:p>
        </p:txBody>
      </p:sp>
      <p:cxnSp>
        <p:nvCxnSpPr>
          <p:cNvPr id="18" name="Straight Arrow Connector 17"/>
          <p:cNvCxnSpPr>
            <a:stCxn id="22" idx="2"/>
          </p:cNvCxnSpPr>
          <p:nvPr/>
        </p:nvCxnSpPr>
        <p:spPr>
          <a:xfrm flipV="1">
            <a:off x="3671376" y="4163419"/>
            <a:ext cx="287583" cy="5229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rot="17851673">
            <a:off x="3670549" y="4128629"/>
            <a:ext cx="340158" cy="523220"/>
          </a:xfrm>
          <a:prstGeom prst="rect">
            <a:avLst/>
          </a:prstGeom>
          <a:noFill/>
        </p:spPr>
        <p:txBody>
          <a:bodyPr wrap="none" rtlCol="0">
            <a:spAutoFit/>
          </a:bodyPr>
          <a:lstStyle/>
          <a:p>
            <a:r>
              <a:rPr lang="en-US" sz="2800" dirty="0" smtClean="0">
                <a:solidFill>
                  <a:srgbClr val="FF0000"/>
                </a:solidFill>
              </a:rPr>
              <a:t>x</a:t>
            </a:r>
            <a:endParaRPr lang="en-US" sz="2800" dirty="0">
              <a:solidFill>
                <a:srgbClr val="FF0000"/>
              </a:solidFill>
            </a:endParaRPr>
          </a:p>
        </p:txBody>
      </p:sp>
      <p:cxnSp>
        <p:nvCxnSpPr>
          <p:cNvPr id="87" name="Straight Connector 86"/>
          <p:cNvCxnSpPr/>
          <p:nvPr/>
        </p:nvCxnSpPr>
        <p:spPr>
          <a:xfrm>
            <a:off x="4416563" y="5863690"/>
            <a:ext cx="561975" cy="3175"/>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4418979" y="5024542"/>
            <a:ext cx="561975" cy="3175"/>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4406394" y="4160244"/>
            <a:ext cx="561975" cy="3175"/>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3530028" y="5025163"/>
            <a:ext cx="561975" cy="3175"/>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91" name="TextBox 90"/>
          <p:cNvSpPr txBox="1"/>
          <p:nvPr/>
        </p:nvSpPr>
        <p:spPr>
          <a:xfrm>
            <a:off x="4267200" y="4352493"/>
            <a:ext cx="457176" cy="369332"/>
          </a:xfrm>
          <a:prstGeom prst="rect">
            <a:avLst/>
          </a:prstGeom>
          <a:noFill/>
        </p:spPr>
        <p:txBody>
          <a:bodyPr wrap="none" rtlCol="0">
            <a:spAutoFit/>
          </a:bodyPr>
          <a:lstStyle/>
          <a:p>
            <a:r>
              <a:rPr lang="en-US" i="1" dirty="0" err="1" smtClean="0"/>
              <a:t>p</a:t>
            </a:r>
            <a:r>
              <a:rPr lang="en-US" i="1" baseline="-25000" dirty="0" err="1" smtClean="0"/>
              <a:t>j</a:t>
            </a:r>
            <a:r>
              <a:rPr lang="en-US" i="1" baseline="-25000" dirty="0" smtClean="0"/>
              <a:t>-k</a:t>
            </a:r>
            <a:endParaRPr lang="en-US" i="1" baseline="-25000" dirty="0"/>
          </a:p>
        </p:txBody>
      </p:sp>
      <p:sp>
        <p:nvSpPr>
          <p:cNvPr id="92" name="TextBox 91"/>
          <p:cNvSpPr txBox="1"/>
          <p:nvPr/>
        </p:nvSpPr>
        <p:spPr>
          <a:xfrm>
            <a:off x="3807384" y="4341087"/>
            <a:ext cx="498855" cy="369332"/>
          </a:xfrm>
          <a:prstGeom prst="rect">
            <a:avLst/>
          </a:prstGeom>
          <a:noFill/>
        </p:spPr>
        <p:txBody>
          <a:bodyPr wrap="none" rtlCol="0">
            <a:spAutoFit/>
          </a:bodyPr>
          <a:lstStyle/>
          <a:p>
            <a:r>
              <a:rPr lang="en-US" i="1" dirty="0" smtClean="0"/>
              <a:t>p</a:t>
            </a:r>
            <a:r>
              <a:rPr lang="en-US" i="1" baseline="-25000" dirty="0" smtClean="0"/>
              <a:t>k-1</a:t>
            </a:r>
            <a:endParaRPr lang="en-US" i="1" baseline="-25000" dirty="0"/>
          </a:p>
        </p:txBody>
      </p:sp>
      <p:sp>
        <p:nvSpPr>
          <p:cNvPr id="93" name="TextBox 92"/>
          <p:cNvSpPr txBox="1"/>
          <p:nvPr/>
        </p:nvSpPr>
        <p:spPr>
          <a:xfrm>
            <a:off x="4311232" y="5197250"/>
            <a:ext cx="381836" cy="369332"/>
          </a:xfrm>
          <a:prstGeom prst="rect">
            <a:avLst/>
          </a:prstGeom>
          <a:noFill/>
        </p:spPr>
        <p:txBody>
          <a:bodyPr wrap="none" rtlCol="0">
            <a:spAutoFit/>
          </a:bodyPr>
          <a:lstStyle/>
          <a:p>
            <a:r>
              <a:rPr lang="en-US" i="1" dirty="0" smtClean="0"/>
              <a:t>p</a:t>
            </a:r>
            <a:r>
              <a:rPr lang="en-US" i="1" baseline="-25000" dirty="0"/>
              <a:t>0</a:t>
            </a:r>
          </a:p>
        </p:txBody>
      </p:sp>
      <p:sp>
        <p:nvSpPr>
          <p:cNvPr id="94" name="TextBox 93"/>
          <p:cNvSpPr txBox="1"/>
          <p:nvPr/>
        </p:nvSpPr>
        <p:spPr>
          <a:xfrm>
            <a:off x="4655249" y="5198425"/>
            <a:ext cx="498855" cy="369332"/>
          </a:xfrm>
          <a:prstGeom prst="rect">
            <a:avLst/>
          </a:prstGeom>
          <a:noFill/>
        </p:spPr>
        <p:txBody>
          <a:bodyPr wrap="none" rtlCol="0">
            <a:spAutoFit/>
          </a:bodyPr>
          <a:lstStyle/>
          <a:p>
            <a:r>
              <a:rPr lang="en-US" i="1" dirty="0" smtClean="0"/>
              <a:t>p</a:t>
            </a:r>
            <a:r>
              <a:rPr lang="en-US" i="1" baseline="-25000" dirty="0" smtClean="0"/>
              <a:t>k-1</a:t>
            </a:r>
            <a:endParaRPr lang="en-US" i="1" baseline="-25000" dirty="0"/>
          </a:p>
        </p:txBody>
      </p:sp>
      <p:pic>
        <p:nvPicPr>
          <p:cNvPr id="95" name="Picture 94"/>
          <p:cNvPicPr>
            <a:picLocks noChangeAspect="1"/>
          </p:cNvPicPr>
          <p:nvPr/>
        </p:nvPicPr>
        <p:blipFill>
          <a:blip r:embed="rId4"/>
          <a:stretch>
            <a:fillRect/>
          </a:stretch>
        </p:blipFill>
        <p:spPr>
          <a:xfrm>
            <a:off x="6138625" y="5527844"/>
            <a:ext cx="599810" cy="343207"/>
          </a:xfrm>
          <a:prstGeom prst="rect">
            <a:avLst/>
          </a:prstGeom>
        </p:spPr>
      </p:pic>
      <p:sp>
        <p:nvSpPr>
          <p:cNvPr id="98" name="TextBox 97"/>
          <p:cNvSpPr txBox="1"/>
          <p:nvPr/>
        </p:nvSpPr>
        <p:spPr>
          <a:xfrm>
            <a:off x="4572000" y="4342915"/>
            <a:ext cx="465192" cy="369332"/>
          </a:xfrm>
          <a:prstGeom prst="rect">
            <a:avLst/>
          </a:prstGeom>
          <a:noFill/>
        </p:spPr>
        <p:txBody>
          <a:bodyPr wrap="none" rtlCol="0">
            <a:spAutoFit/>
          </a:bodyPr>
          <a:lstStyle/>
          <a:p>
            <a:r>
              <a:rPr lang="en-US" i="1" dirty="0" smtClean="0"/>
              <a:t>p</a:t>
            </a:r>
            <a:r>
              <a:rPr lang="en-US" i="1" baseline="-25000" dirty="0" smtClean="0"/>
              <a:t>j-1</a:t>
            </a:r>
            <a:endParaRPr lang="en-US" i="1" baseline="-25000" dirty="0"/>
          </a:p>
        </p:txBody>
      </p:sp>
    </p:spTree>
    <p:extLst>
      <p:ext uri="{BB962C8B-B14F-4D97-AF65-F5344CB8AC3E}">
        <p14:creationId xmlns:p14="http://schemas.microsoft.com/office/powerpoint/2010/main" val="3522141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9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8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8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8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9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9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9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9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0"/>
      <p:bldP spid="19" grpId="0"/>
      <p:bldP spid="91" grpId="0"/>
      <p:bldP spid="92" grpId="0"/>
      <p:bldP spid="93" grpId="0"/>
      <p:bldP spid="94" grpId="0"/>
      <p:bldP spid="9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C24317B-5122-4A99-A6E9-FA23C146A7E0}" type="slidenum">
              <a:rPr lang="en-US" smtClean="0"/>
              <a:pPr/>
              <a:t>14</a:t>
            </a:fld>
            <a:endParaRPr lang="en-US" dirty="0"/>
          </a:p>
        </p:txBody>
      </p:sp>
      <p:sp>
        <p:nvSpPr>
          <p:cNvPr id="4" name="Title 3"/>
          <p:cNvSpPr>
            <a:spLocks noGrp="1"/>
          </p:cNvSpPr>
          <p:nvPr>
            <p:ph type="title"/>
          </p:nvPr>
        </p:nvSpPr>
        <p:spPr/>
        <p:txBody>
          <a:bodyPr>
            <a:normAutofit/>
          </a:bodyPr>
          <a:lstStyle/>
          <a:p>
            <a:r>
              <a:rPr lang="en-US" sz="2400" dirty="0" smtClean="0"/>
              <a:t>3. </a:t>
            </a:r>
            <a:r>
              <a:rPr lang="en-US" sz="2400" dirty="0" err="1" smtClean="0"/>
              <a:t>Tìm</a:t>
            </a:r>
            <a:r>
              <a:rPr lang="en-US" sz="2400" dirty="0" smtClean="0"/>
              <a:t> </a:t>
            </a:r>
            <a:r>
              <a:rPr lang="en-US" sz="2400" dirty="0" err="1" smtClean="0"/>
              <a:t>kiếm</a:t>
            </a:r>
            <a:r>
              <a:rPr lang="en-US" sz="2400" dirty="0" smtClean="0"/>
              <a:t> </a:t>
            </a:r>
            <a:r>
              <a:rPr lang="en-US" sz="2400" dirty="0" err="1" smtClean="0"/>
              <a:t>chuỗi</a:t>
            </a:r>
            <a:r>
              <a:rPr lang="en-US" sz="2400" dirty="0" smtClean="0"/>
              <a:t> con</a:t>
            </a:r>
            <a:endParaRPr lang="en-US" sz="2400" dirty="0"/>
          </a:p>
        </p:txBody>
      </p:sp>
      <p:sp>
        <p:nvSpPr>
          <p:cNvPr id="5" name="Text Placeholder 4"/>
          <p:cNvSpPr>
            <a:spLocks noGrp="1"/>
          </p:cNvSpPr>
          <p:nvPr>
            <p:ph type="body" sz="quarter" idx="13"/>
          </p:nvPr>
        </p:nvSpPr>
        <p:spPr/>
        <p:txBody>
          <a:bodyPr>
            <a:normAutofit/>
          </a:bodyPr>
          <a:lstStyle/>
          <a:p>
            <a:r>
              <a:rPr lang="en-US" sz="2400" dirty="0" err="1"/>
              <a:t>Giải</a:t>
            </a:r>
            <a:r>
              <a:rPr lang="en-US" sz="2400" dirty="0"/>
              <a:t> </a:t>
            </a:r>
            <a:r>
              <a:rPr lang="en-US" sz="2400" dirty="0" err="1"/>
              <a:t>thuật</a:t>
            </a:r>
            <a:r>
              <a:rPr lang="en-US" sz="2400" dirty="0"/>
              <a:t> </a:t>
            </a:r>
            <a:r>
              <a:rPr lang="en-US" sz="2400" dirty="0" smtClean="0"/>
              <a:t>Knuth-Morris-Pratt</a:t>
            </a:r>
          </a:p>
          <a:p>
            <a:pPr lvl="1"/>
            <a:r>
              <a:rPr lang="en-US" sz="2000" dirty="0" err="1" smtClean="0"/>
              <a:t>Vị</a:t>
            </a:r>
            <a:r>
              <a:rPr lang="en-US" sz="2000" dirty="0" smtClean="0"/>
              <a:t> </a:t>
            </a:r>
            <a:r>
              <a:rPr lang="en-US" sz="2000" dirty="0" err="1" smtClean="0"/>
              <a:t>trí</a:t>
            </a:r>
            <a:r>
              <a:rPr lang="en-US" sz="2000" dirty="0" smtClean="0"/>
              <a:t> k </a:t>
            </a:r>
            <a:r>
              <a:rPr lang="en-US" sz="2000" dirty="0" err="1" smtClean="0"/>
              <a:t>cần</a:t>
            </a:r>
            <a:r>
              <a:rPr lang="en-US" sz="2000" dirty="0" smtClean="0"/>
              <a:t> </a:t>
            </a:r>
            <a:r>
              <a:rPr lang="en-US" sz="2000" dirty="0" err="1" smtClean="0"/>
              <a:t>tìm</a:t>
            </a:r>
            <a:r>
              <a:rPr lang="en-US" sz="2000" dirty="0" smtClean="0"/>
              <a:t> </a:t>
            </a:r>
            <a:r>
              <a:rPr lang="en-US" sz="2000" dirty="0" err="1" smtClean="0"/>
              <a:t>trong</a:t>
            </a:r>
            <a:r>
              <a:rPr lang="en-US" sz="2000" dirty="0" smtClean="0"/>
              <a:t> </a:t>
            </a:r>
            <a:r>
              <a:rPr lang="en-US" sz="2000" dirty="0" err="1" smtClean="0"/>
              <a:t>mẫu</a:t>
            </a:r>
            <a:r>
              <a:rPr lang="en-US" sz="2000" dirty="0" smtClean="0"/>
              <a:t> P </a:t>
            </a:r>
            <a:r>
              <a:rPr lang="en-US" sz="2000" dirty="0" err="1" smtClean="0"/>
              <a:t>thỏa</a:t>
            </a:r>
            <a:r>
              <a:rPr lang="en-US" sz="2000" dirty="0" smtClean="0"/>
              <a:t> </a:t>
            </a:r>
            <a:r>
              <a:rPr lang="en-US" sz="2000" dirty="0" err="1" smtClean="0"/>
              <a:t>mãn</a:t>
            </a:r>
            <a:r>
              <a:rPr lang="en-US" sz="2000" dirty="0" smtClean="0"/>
              <a:t> </a:t>
            </a:r>
            <a:r>
              <a:rPr lang="en-US" sz="2000" dirty="0" err="1" smtClean="0"/>
              <a:t>các</a:t>
            </a:r>
            <a:r>
              <a:rPr lang="en-US" sz="2000" dirty="0" smtClean="0"/>
              <a:t> </a:t>
            </a:r>
            <a:r>
              <a:rPr lang="en-US" sz="2000" dirty="0" err="1" smtClean="0"/>
              <a:t>điều</a:t>
            </a:r>
            <a:r>
              <a:rPr lang="en-US" sz="2000" dirty="0" smtClean="0"/>
              <a:t> </a:t>
            </a:r>
            <a:r>
              <a:rPr lang="en-US" sz="2000" dirty="0" err="1" smtClean="0"/>
              <a:t>kiện</a:t>
            </a:r>
            <a:r>
              <a:rPr lang="en-US" sz="2000" dirty="0" smtClean="0"/>
              <a:t>:</a:t>
            </a:r>
          </a:p>
          <a:p>
            <a:pPr lvl="2"/>
            <a:r>
              <a:rPr lang="en-US" sz="2000" dirty="0" err="1" smtClean="0"/>
              <a:t>Lớn</a:t>
            </a:r>
            <a:r>
              <a:rPr lang="en-US" sz="2000" dirty="0" smtClean="0"/>
              <a:t> </a:t>
            </a:r>
            <a:r>
              <a:rPr lang="en-US" sz="2000" dirty="0" err="1" smtClean="0"/>
              <a:t>nhất</a:t>
            </a:r>
            <a:r>
              <a:rPr lang="en-US" sz="2000" dirty="0" smtClean="0"/>
              <a:t> </a:t>
            </a:r>
            <a:r>
              <a:rPr lang="en-US" sz="2000" dirty="0" err="1" smtClean="0"/>
              <a:t>có</a:t>
            </a:r>
            <a:r>
              <a:rPr lang="en-US" sz="2000" dirty="0" smtClean="0"/>
              <a:t> </a:t>
            </a:r>
            <a:r>
              <a:rPr lang="en-US" sz="2000" dirty="0" err="1" smtClean="0"/>
              <a:t>thể</a:t>
            </a:r>
            <a:r>
              <a:rPr lang="en-US" sz="2000" dirty="0" smtClean="0"/>
              <a:t>: k &lt; j, </a:t>
            </a:r>
            <a:r>
              <a:rPr lang="en-US" sz="2000" dirty="0" err="1"/>
              <a:t>p</a:t>
            </a:r>
            <a:r>
              <a:rPr lang="en-US" sz="2000" baseline="-25000" dirty="0" err="1"/>
              <a:t>k</a:t>
            </a:r>
            <a:r>
              <a:rPr lang="en-US" sz="2000" dirty="0"/>
              <a:t>≠ </a:t>
            </a:r>
            <a:r>
              <a:rPr lang="en-US" sz="2000" dirty="0" err="1"/>
              <a:t>p</a:t>
            </a:r>
            <a:r>
              <a:rPr lang="en-US" sz="2000" baseline="-25000" dirty="0" err="1"/>
              <a:t>j</a:t>
            </a:r>
            <a:r>
              <a:rPr lang="en-US" sz="2000" dirty="0"/>
              <a:t>;</a:t>
            </a:r>
            <a:endParaRPr lang="en-US" sz="2000" dirty="0" smtClean="0"/>
          </a:p>
          <a:p>
            <a:pPr lvl="2"/>
            <a:r>
              <a:rPr lang="en-US" sz="2000" dirty="0" smtClean="0"/>
              <a:t>p</a:t>
            </a:r>
            <a:r>
              <a:rPr lang="en-US" sz="2000" baseline="-25000" dirty="0" smtClean="0"/>
              <a:t>0</a:t>
            </a:r>
            <a:r>
              <a:rPr lang="en-US" sz="2000" dirty="0" smtClean="0"/>
              <a:t>p</a:t>
            </a:r>
            <a:r>
              <a:rPr lang="en-US" sz="2000" baseline="-25000" dirty="0" smtClean="0"/>
              <a:t>1</a:t>
            </a:r>
            <a:r>
              <a:rPr lang="en-US" sz="2000" dirty="0" smtClean="0"/>
              <a:t>..p</a:t>
            </a:r>
            <a:r>
              <a:rPr lang="en-US" sz="2000" baseline="-25000" dirty="0" smtClean="0"/>
              <a:t>k-1</a:t>
            </a:r>
            <a:r>
              <a:rPr lang="en-US" sz="2000" dirty="0" smtClean="0"/>
              <a:t> = v</a:t>
            </a:r>
            <a:r>
              <a:rPr lang="en-US" sz="2000" baseline="-25000" dirty="0" smtClean="0"/>
              <a:t>i-k</a:t>
            </a:r>
            <a:r>
              <a:rPr lang="en-US" sz="2000" dirty="0" smtClean="0"/>
              <a:t>…v</a:t>
            </a:r>
            <a:r>
              <a:rPr lang="en-US" sz="2000" baseline="-25000" dirty="0" smtClean="0"/>
              <a:t>i-1</a:t>
            </a:r>
            <a:r>
              <a:rPr lang="en-US" sz="2000" dirty="0" smtClean="0"/>
              <a:t>;</a:t>
            </a:r>
          </a:p>
          <a:p>
            <a:pPr lvl="1"/>
            <a:r>
              <a:rPr lang="en-US" sz="2000" dirty="0" err="1"/>
              <a:t>Tính</a:t>
            </a:r>
            <a:r>
              <a:rPr lang="en-US" sz="2000" dirty="0"/>
              <a:t> </a:t>
            </a:r>
            <a:r>
              <a:rPr lang="en-US" sz="2000" dirty="0" err="1"/>
              <a:t>chất</a:t>
            </a:r>
            <a:r>
              <a:rPr lang="en-US" sz="2000" dirty="0"/>
              <a:t> </a:t>
            </a:r>
            <a:r>
              <a:rPr lang="en-US" sz="2000" dirty="0" err="1"/>
              <a:t>của</a:t>
            </a:r>
            <a:r>
              <a:rPr lang="en-US" sz="2000" dirty="0"/>
              <a:t> k:</a:t>
            </a:r>
          </a:p>
          <a:p>
            <a:pPr lvl="2"/>
            <a:r>
              <a:rPr lang="en-US" sz="2000" dirty="0"/>
              <a:t>k </a:t>
            </a:r>
            <a:r>
              <a:rPr lang="en-US" sz="2000" dirty="0" err="1"/>
              <a:t>phụ</a:t>
            </a:r>
            <a:r>
              <a:rPr lang="en-US" sz="2000" dirty="0"/>
              <a:t> </a:t>
            </a:r>
            <a:r>
              <a:rPr lang="en-US" sz="2000" dirty="0" err="1"/>
              <a:t>thuộc</a:t>
            </a:r>
            <a:r>
              <a:rPr lang="en-US" sz="2000" dirty="0"/>
              <a:t> </a:t>
            </a:r>
            <a:r>
              <a:rPr lang="en-US" sz="2000" dirty="0" err="1"/>
              <a:t>vào</a:t>
            </a:r>
            <a:r>
              <a:rPr lang="en-US" sz="2000" dirty="0"/>
              <a:t> </a:t>
            </a:r>
            <a:r>
              <a:rPr lang="en-US" sz="2000" dirty="0" err="1"/>
              <a:t>vị</a:t>
            </a:r>
            <a:r>
              <a:rPr lang="en-US" sz="2000" dirty="0"/>
              <a:t> </a:t>
            </a:r>
            <a:r>
              <a:rPr lang="en-US" sz="2000" dirty="0" err="1"/>
              <a:t>trí</a:t>
            </a:r>
            <a:r>
              <a:rPr lang="en-US" sz="2000" dirty="0"/>
              <a:t> j </a:t>
            </a:r>
            <a:r>
              <a:rPr lang="en-US" sz="2000" dirty="0" err="1"/>
              <a:t>và</a:t>
            </a:r>
            <a:r>
              <a:rPr lang="en-US" sz="2000" dirty="0"/>
              <a:t> </a:t>
            </a:r>
            <a:r>
              <a:rPr lang="en-US" sz="2000" dirty="0" err="1"/>
              <a:t>nội</a:t>
            </a:r>
            <a:r>
              <a:rPr lang="en-US" sz="2000" dirty="0"/>
              <a:t> dung </a:t>
            </a:r>
            <a:r>
              <a:rPr lang="en-US" sz="2000" dirty="0" err="1"/>
              <a:t>mẫu</a:t>
            </a:r>
            <a:r>
              <a:rPr lang="en-US" sz="2000" dirty="0"/>
              <a:t>, </a:t>
            </a:r>
            <a:r>
              <a:rPr lang="en-US" sz="2000" dirty="0" err="1" smtClean="0"/>
              <a:t>không</a:t>
            </a:r>
            <a:r>
              <a:rPr lang="en-US" sz="2000" dirty="0" smtClean="0"/>
              <a:t> </a:t>
            </a:r>
            <a:r>
              <a:rPr lang="en-US" sz="2000" dirty="0" err="1" smtClean="0"/>
              <a:t>phụ</a:t>
            </a:r>
            <a:r>
              <a:rPr lang="en-US" sz="2000" dirty="0" smtClean="0"/>
              <a:t> </a:t>
            </a:r>
            <a:r>
              <a:rPr lang="en-US" sz="2000" dirty="0" err="1"/>
              <a:t>thuộc</a:t>
            </a:r>
            <a:r>
              <a:rPr lang="en-US" sz="2000" dirty="0"/>
              <a:t> </a:t>
            </a:r>
            <a:r>
              <a:rPr lang="en-US" sz="2000" dirty="0" err="1"/>
              <a:t>vào</a:t>
            </a:r>
            <a:r>
              <a:rPr lang="en-US" sz="2000" dirty="0"/>
              <a:t> </a:t>
            </a:r>
            <a:r>
              <a:rPr lang="en-US" sz="2000" dirty="0" err="1" smtClean="0"/>
              <a:t>văn</a:t>
            </a:r>
            <a:r>
              <a:rPr lang="en-US" sz="2000" dirty="0" smtClean="0"/>
              <a:t> </a:t>
            </a:r>
            <a:r>
              <a:rPr lang="en-US" sz="2000" dirty="0" err="1"/>
              <a:t>bản</a:t>
            </a:r>
            <a:endParaRPr lang="en-US" sz="2000" dirty="0"/>
          </a:p>
          <a:p>
            <a:pPr lvl="2"/>
            <a:r>
              <a:rPr lang="en-US" sz="2000" dirty="0"/>
              <a:t>[p</a:t>
            </a:r>
            <a:r>
              <a:rPr lang="en-US" sz="2000" baseline="-25000" dirty="0"/>
              <a:t>0</a:t>
            </a:r>
            <a:r>
              <a:rPr lang="en-US" sz="2000" dirty="0"/>
              <a:t>p</a:t>
            </a:r>
            <a:r>
              <a:rPr lang="en-US" sz="2000" baseline="-25000" dirty="0"/>
              <a:t>1</a:t>
            </a:r>
            <a:r>
              <a:rPr lang="en-US" sz="2000" dirty="0"/>
              <a:t>...p</a:t>
            </a:r>
            <a:r>
              <a:rPr lang="en-US" sz="2000" baseline="-25000" dirty="0"/>
              <a:t>k-1</a:t>
            </a:r>
            <a:r>
              <a:rPr lang="en-US" sz="2000" dirty="0"/>
              <a:t>] = [p</a:t>
            </a:r>
            <a:r>
              <a:rPr lang="en-US" sz="2000" baseline="-25000" dirty="0"/>
              <a:t>j-k</a:t>
            </a:r>
            <a:r>
              <a:rPr lang="en-US" sz="2000" dirty="0"/>
              <a:t>p</a:t>
            </a:r>
            <a:r>
              <a:rPr lang="en-US" sz="2000" baseline="-25000" dirty="0"/>
              <a:t>j-k+1</a:t>
            </a:r>
            <a:r>
              <a:rPr lang="en-US" sz="2000" dirty="0"/>
              <a:t>...p</a:t>
            </a:r>
            <a:r>
              <a:rPr lang="en-US" sz="2000" baseline="-25000" dirty="0"/>
              <a:t>j-1</a:t>
            </a:r>
            <a:r>
              <a:rPr lang="en-US" sz="2000" dirty="0"/>
              <a:t>]</a:t>
            </a:r>
            <a:endParaRPr lang="en-US" sz="2100" dirty="0"/>
          </a:p>
          <a:p>
            <a:pPr lvl="2"/>
            <a:endParaRPr lang="en-US" sz="2100" dirty="0" smtClean="0"/>
          </a:p>
          <a:p>
            <a:pPr lvl="3"/>
            <a:endParaRPr lang="en-US" sz="1950" dirty="0" smtClean="0"/>
          </a:p>
          <a:p>
            <a:pPr marL="342900" lvl="1" indent="0">
              <a:buNone/>
            </a:pPr>
            <a:endParaRPr lang="en-US" sz="2100" dirty="0"/>
          </a:p>
        </p:txBody>
      </p:sp>
      <p:sp>
        <p:nvSpPr>
          <p:cNvPr id="6" name="Rectangle 5"/>
          <p:cNvSpPr/>
          <p:nvPr/>
        </p:nvSpPr>
        <p:spPr>
          <a:xfrm>
            <a:off x="-110835" y="5170105"/>
            <a:ext cx="4572000" cy="1851789"/>
          </a:xfrm>
          <a:prstGeom prst="rect">
            <a:avLst/>
          </a:prstGeom>
        </p:spPr>
        <p:txBody>
          <a:bodyPr vert="horz" lIns="91440" tIns="45720" rIns="91440" bIns="45720" rtlCol="0">
            <a:normAutofit/>
          </a:bodyPr>
          <a:lstStyle/>
          <a:p>
            <a:pPr marL="857250" lvl="2" indent="-171450" defTabSz="685800">
              <a:lnSpc>
                <a:spcPct val="90000"/>
              </a:lnSpc>
              <a:spcBef>
                <a:spcPts val="375"/>
              </a:spcBef>
              <a:buFont typeface="Arial" panose="020B0604020202020204" pitchFamily="34" charset="0"/>
              <a:buChar char="•"/>
            </a:pPr>
            <a:endParaRPr lang="en-US" sz="1950" dirty="0">
              <a:latin typeface="Lato" panose="020F0502020204030203" pitchFamily="34" charset="0"/>
              <a:ea typeface="Lato" panose="020F0502020204030203" pitchFamily="34" charset="0"/>
              <a:cs typeface="Lato" panose="020F0502020204030203" pitchFamily="34" charset="0"/>
            </a:endParaRPr>
          </a:p>
        </p:txBody>
      </p:sp>
      <p:grpSp>
        <p:nvGrpSpPr>
          <p:cNvPr id="10" name="Group 9"/>
          <p:cNvGrpSpPr/>
          <p:nvPr/>
        </p:nvGrpSpPr>
        <p:grpSpPr>
          <a:xfrm>
            <a:off x="2613114" y="3519385"/>
            <a:ext cx="4221612" cy="2500415"/>
            <a:chOff x="2613114" y="3519385"/>
            <a:chExt cx="4221612" cy="2500415"/>
          </a:xfrm>
        </p:grpSpPr>
        <p:grpSp>
          <p:nvGrpSpPr>
            <p:cNvPr id="11" name="Group 10"/>
            <p:cNvGrpSpPr/>
            <p:nvPr/>
          </p:nvGrpSpPr>
          <p:grpSpPr>
            <a:xfrm>
              <a:off x="2613114" y="3528315"/>
              <a:ext cx="4216018" cy="1969532"/>
              <a:chOff x="2198488" y="3048000"/>
              <a:chExt cx="4216018" cy="1969532"/>
            </a:xfrm>
          </p:grpSpPr>
          <p:grpSp>
            <p:nvGrpSpPr>
              <p:cNvPr id="12" name="Group 11"/>
              <p:cNvGrpSpPr/>
              <p:nvPr/>
            </p:nvGrpSpPr>
            <p:grpSpPr>
              <a:xfrm>
                <a:off x="2198488" y="3048000"/>
                <a:ext cx="4216018" cy="1969532"/>
                <a:chOff x="2198488" y="3059668"/>
                <a:chExt cx="4216018" cy="1969532"/>
              </a:xfrm>
            </p:grpSpPr>
            <p:pic>
              <p:nvPicPr>
                <p:cNvPr id="14" name="Picture 13"/>
                <p:cNvPicPr>
                  <a:picLocks noChangeAspect="1"/>
                </p:cNvPicPr>
                <p:nvPr/>
              </p:nvPicPr>
              <p:blipFill rotWithShape="1">
                <a:blip r:embed="rId3"/>
                <a:srcRect b="57788"/>
                <a:stretch/>
              </p:blipFill>
              <p:spPr>
                <a:xfrm>
                  <a:off x="2514600" y="3429000"/>
                  <a:ext cx="3899906" cy="1230868"/>
                </a:xfrm>
                <a:prstGeom prst="rect">
                  <a:avLst/>
                </a:prstGeom>
              </p:spPr>
            </p:pic>
            <p:sp>
              <p:nvSpPr>
                <p:cNvPr id="15" name="Rectangle 14"/>
                <p:cNvSpPr/>
                <p:nvPr/>
              </p:nvSpPr>
              <p:spPr>
                <a:xfrm>
                  <a:off x="3048000" y="4648200"/>
                  <a:ext cx="1524000" cy="381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p:cNvSpPr txBox="1"/>
                <p:nvPr/>
              </p:nvSpPr>
              <p:spPr>
                <a:xfrm>
                  <a:off x="2655056" y="4304268"/>
                  <a:ext cx="303288" cy="369332"/>
                </a:xfrm>
                <a:prstGeom prst="rect">
                  <a:avLst/>
                </a:prstGeom>
                <a:noFill/>
              </p:spPr>
              <p:txBody>
                <a:bodyPr wrap="none" rtlCol="0">
                  <a:spAutoFit/>
                </a:bodyPr>
                <a:lstStyle/>
                <a:p>
                  <a:r>
                    <a:rPr lang="en-US" dirty="0" smtClean="0"/>
                    <a:t>P</a:t>
                  </a:r>
                  <a:endParaRPr lang="en-US" dirty="0"/>
                </a:p>
              </p:txBody>
            </p:sp>
            <p:sp>
              <p:nvSpPr>
                <p:cNvPr id="17" name="TextBox 16"/>
                <p:cNvSpPr txBox="1"/>
                <p:nvPr/>
              </p:nvSpPr>
              <p:spPr>
                <a:xfrm>
                  <a:off x="2198488" y="3429000"/>
                  <a:ext cx="316112" cy="369332"/>
                </a:xfrm>
                <a:prstGeom prst="rect">
                  <a:avLst/>
                </a:prstGeom>
                <a:noFill/>
              </p:spPr>
              <p:txBody>
                <a:bodyPr wrap="none" rtlCol="0">
                  <a:spAutoFit/>
                </a:bodyPr>
                <a:lstStyle/>
                <a:p>
                  <a:r>
                    <a:rPr lang="en-US" dirty="0"/>
                    <a:t>V</a:t>
                  </a:r>
                </a:p>
              </p:txBody>
            </p:sp>
            <p:sp>
              <p:nvSpPr>
                <p:cNvPr id="18" name="TextBox 17"/>
                <p:cNvSpPr txBox="1"/>
                <p:nvPr/>
              </p:nvSpPr>
              <p:spPr>
                <a:xfrm>
                  <a:off x="4552937" y="3987406"/>
                  <a:ext cx="343364" cy="369332"/>
                </a:xfrm>
                <a:prstGeom prst="rect">
                  <a:avLst/>
                </a:prstGeom>
                <a:noFill/>
              </p:spPr>
              <p:txBody>
                <a:bodyPr wrap="none" rtlCol="0">
                  <a:spAutoFit/>
                </a:bodyPr>
                <a:lstStyle/>
                <a:p>
                  <a:r>
                    <a:rPr lang="en-US" i="1" dirty="0" err="1" smtClean="0"/>
                    <a:t>p</a:t>
                  </a:r>
                  <a:r>
                    <a:rPr lang="en-US" i="1" baseline="-25000" dirty="0" err="1" smtClean="0"/>
                    <a:t>j</a:t>
                  </a:r>
                  <a:endParaRPr lang="en-US" i="1" baseline="-25000" dirty="0"/>
                </a:p>
              </p:txBody>
            </p:sp>
            <p:sp>
              <p:nvSpPr>
                <p:cNvPr id="19" name="TextBox 18"/>
                <p:cNvSpPr txBox="1"/>
                <p:nvPr/>
              </p:nvSpPr>
              <p:spPr>
                <a:xfrm>
                  <a:off x="3089262" y="3951965"/>
                  <a:ext cx="385042" cy="369332"/>
                </a:xfrm>
                <a:prstGeom prst="rect">
                  <a:avLst/>
                </a:prstGeom>
                <a:noFill/>
              </p:spPr>
              <p:txBody>
                <a:bodyPr wrap="none" rtlCol="0">
                  <a:spAutoFit/>
                </a:bodyPr>
                <a:lstStyle/>
                <a:p>
                  <a:r>
                    <a:rPr lang="en-US" i="1" dirty="0" smtClean="0"/>
                    <a:t>p</a:t>
                  </a:r>
                  <a:r>
                    <a:rPr lang="en-US" i="1" baseline="-25000" dirty="0"/>
                    <a:t>0</a:t>
                  </a:r>
                </a:p>
              </p:txBody>
            </p:sp>
            <p:sp>
              <p:nvSpPr>
                <p:cNvPr id="20" name="TextBox 19"/>
                <p:cNvSpPr txBox="1"/>
                <p:nvPr/>
              </p:nvSpPr>
              <p:spPr>
                <a:xfrm>
                  <a:off x="4609636" y="3059668"/>
                  <a:ext cx="343364" cy="369332"/>
                </a:xfrm>
                <a:prstGeom prst="rect">
                  <a:avLst/>
                </a:prstGeom>
                <a:noFill/>
              </p:spPr>
              <p:txBody>
                <a:bodyPr wrap="square" rtlCol="0">
                  <a:spAutoFit/>
                </a:bodyPr>
                <a:lstStyle/>
                <a:p>
                  <a:r>
                    <a:rPr lang="en-US" i="1" dirty="0" smtClean="0"/>
                    <a:t>v</a:t>
                  </a:r>
                  <a:r>
                    <a:rPr lang="en-US" i="1" baseline="-25000" dirty="0"/>
                    <a:t>i</a:t>
                  </a:r>
                </a:p>
              </p:txBody>
            </p:sp>
            <p:sp>
              <p:nvSpPr>
                <p:cNvPr id="21" name="TextBox 20"/>
                <p:cNvSpPr txBox="1"/>
                <p:nvPr/>
              </p:nvSpPr>
              <p:spPr>
                <a:xfrm>
                  <a:off x="3089261" y="3059668"/>
                  <a:ext cx="556679" cy="369332"/>
                </a:xfrm>
                <a:prstGeom prst="rect">
                  <a:avLst/>
                </a:prstGeom>
                <a:noFill/>
              </p:spPr>
              <p:txBody>
                <a:bodyPr wrap="square" rtlCol="0">
                  <a:spAutoFit/>
                </a:bodyPr>
                <a:lstStyle/>
                <a:p>
                  <a:r>
                    <a:rPr lang="en-US" i="1" dirty="0" smtClean="0"/>
                    <a:t>v</a:t>
                  </a:r>
                  <a:r>
                    <a:rPr lang="en-US" i="1" baseline="-25000" dirty="0" smtClean="0"/>
                    <a:t>i-j</a:t>
                  </a:r>
                  <a:endParaRPr lang="en-US" i="1" baseline="-25000" dirty="0"/>
                </a:p>
              </p:txBody>
            </p:sp>
            <p:sp>
              <p:nvSpPr>
                <p:cNvPr id="22" name="TextBox 21"/>
                <p:cNvSpPr txBox="1"/>
                <p:nvPr/>
              </p:nvSpPr>
              <p:spPr>
                <a:xfrm>
                  <a:off x="3382728" y="3059668"/>
                  <a:ext cx="556679" cy="369332"/>
                </a:xfrm>
                <a:prstGeom prst="rect">
                  <a:avLst/>
                </a:prstGeom>
                <a:noFill/>
              </p:spPr>
              <p:txBody>
                <a:bodyPr wrap="square" rtlCol="0">
                  <a:spAutoFit/>
                </a:bodyPr>
                <a:lstStyle/>
                <a:p>
                  <a:r>
                    <a:rPr lang="en-US" i="1" dirty="0" smtClean="0"/>
                    <a:t>v</a:t>
                  </a:r>
                  <a:r>
                    <a:rPr lang="en-US" i="1" baseline="-25000" dirty="0" smtClean="0"/>
                    <a:t>i-j+1</a:t>
                  </a:r>
                  <a:endParaRPr lang="en-US" i="1" baseline="-25000" dirty="0"/>
                </a:p>
              </p:txBody>
            </p:sp>
            <p:sp>
              <p:nvSpPr>
                <p:cNvPr id="23" name="Rectangle 22"/>
                <p:cNvSpPr/>
                <p:nvPr/>
              </p:nvSpPr>
              <p:spPr>
                <a:xfrm>
                  <a:off x="4652872" y="4648199"/>
                  <a:ext cx="300128" cy="3262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3" name="Picture 12"/>
              <p:cNvPicPr>
                <a:picLocks noChangeAspect="1"/>
              </p:cNvPicPr>
              <p:nvPr/>
            </p:nvPicPr>
            <p:blipFill>
              <a:blip r:embed="rId4"/>
              <a:stretch>
                <a:fillRect/>
              </a:stretch>
            </p:blipFill>
            <p:spPr>
              <a:xfrm>
                <a:off x="4886590" y="4293324"/>
                <a:ext cx="599810" cy="343207"/>
              </a:xfrm>
              <a:prstGeom prst="rect">
                <a:avLst/>
              </a:prstGeom>
            </p:spPr>
          </p:pic>
        </p:grpSp>
        <p:grpSp>
          <p:nvGrpSpPr>
            <p:cNvPr id="24" name="Group 23"/>
            <p:cNvGrpSpPr/>
            <p:nvPr/>
          </p:nvGrpSpPr>
          <p:grpSpPr>
            <a:xfrm>
              <a:off x="2934820" y="5128515"/>
              <a:ext cx="3899906" cy="891285"/>
              <a:chOff x="-2023703" y="4267199"/>
              <a:chExt cx="3899906" cy="891285"/>
            </a:xfrm>
          </p:grpSpPr>
          <p:grpSp>
            <p:nvGrpSpPr>
              <p:cNvPr id="25" name="Group 24"/>
              <p:cNvGrpSpPr/>
              <p:nvPr/>
            </p:nvGrpSpPr>
            <p:grpSpPr>
              <a:xfrm>
                <a:off x="-2023703" y="4267199"/>
                <a:ext cx="3899906" cy="891285"/>
                <a:chOff x="6039390" y="5750988"/>
                <a:chExt cx="3899906" cy="891285"/>
              </a:xfrm>
            </p:grpSpPr>
            <p:pic>
              <p:nvPicPr>
                <p:cNvPr id="27" name="Picture 26"/>
                <p:cNvPicPr>
                  <a:picLocks noChangeAspect="1"/>
                </p:cNvPicPr>
                <p:nvPr/>
              </p:nvPicPr>
              <p:blipFill rotWithShape="1">
                <a:blip r:embed="rId3"/>
                <a:srcRect t="42362" b="27072"/>
                <a:stretch/>
              </p:blipFill>
              <p:spPr>
                <a:xfrm>
                  <a:off x="6039390" y="5750988"/>
                  <a:ext cx="3899906" cy="891285"/>
                </a:xfrm>
                <a:prstGeom prst="rect">
                  <a:avLst/>
                </a:prstGeom>
              </p:spPr>
            </p:pic>
            <p:sp>
              <p:nvSpPr>
                <p:cNvPr id="28" name="Rectangle 27"/>
                <p:cNvSpPr/>
                <p:nvPr/>
              </p:nvSpPr>
              <p:spPr>
                <a:xfrm>
                  <a:off x="6567700" y="5764721"/>
                  <a:ext cx="1524000" cy="381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6" name="Rectangle 25"/>
              <p:cNvSpPr/>
              <p:nvPr/>
            </p:nvSpPr>
            <p:spPr>
              <a:xfrm>
                <a:off x="76200" y="4355010"/>
                <a:ext cx="1259720" cy="381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9" name="TextBox 28"/>
            <p:cNvSpPr txBox="1"/>
            <p:nvPr/>
          </p:nvSpPr>
          <p:spPr>
            <a:xfrm>
              <a:off x="5057972" y="5300810"/>
              <a:ext cx="373820" cy="369332"/>
            </a:xfrm>
            <a:prstGeom prst="rect">
              <a:avLst/>
            </a:prstGeom>
            <a:noFill/>
          </p:spPr>
          <p:txBody>
            <a:bodyPr wrap="none" rtlCol="0">
              <a:spAutoFit/>
            </a:bodyPr>
            <a:lstStyle/>
            <a:p>
              <a:r>
                <a:rPr lang="en-US" i="1" dirty="0" err="1" smtClean="0"/>
                <a:t>p</a:t>
              </a:r>
              <a:r>
                <a:rPr lang="en-US" i="1" baseline="-25000" dirty="0" err="1" smtClean="0"/>
                <a:t>k</a:t>
              </a:r>
              <a:endParaRPr lang="en-US" i="1" baseline="-25000" dirty="0"/>
            </a:p>
          </p:txBody>
        </p:sp>
        <p:cxnSp>
          <p:nvCxnSpPr>
            <p:cNvPr id="32" name="Straight Connector 31"/>
            <p:cNvCxnSpPr/>
            <p:nvPr/>
          </p:nvCxnSpPr>
          <p:spPr>
            <a:xfrm>
              <a:off x="4441596" y="5967250"/>
              <a:ext cx="561975" cy="3175"/>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4444012" y="5128102"/>
              <a:ext cx="561975" cy="3175"/>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4431427" y="4263804"/>
              <a:ext cx="561975" cy="3175"/>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3555061" y="5128723"/>
              <a:ext cx="561975" cy="3175"/>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4292233" y="4456053"/>
              <a:ext cx="457176" cy="369332"/>
            </a:xfrm>
            <a:prstGeom prst="rect">
              <a:avLst/>
            </a:prstGeom>
            <a:noFill/>
          </p:spPr>
          <p:txBody>
            <a:bodyPr wrap="none" rtlCol="0">
              <a:spAutoFit/>
            </a:bodyPr>
            <a:lstStyle/>
            <a:p>
              <a:r>
                <a:rPr lang="en-US" i="1" dirty="0" err="1" smtClean="0"/>
                <a:t>p</a:t>
              </a:r>
              <a:r>
                <a:rPr lang="en-US" i="1" baseline="-25000" dirty="0" err="1" smtClean="0"/>
                <a:t>j</a:t>
              </a:r>
              <a:r>
                <a:rPr lang="en-US" i="1" baseline="-25000" dirty="0" smtClean="0"/>
                <a:t>-k</a:t>
              </a:r>
              <a:endParaRPr lang="en-US" i="1" baseline="-25000" dirty="0"/>
            </a:p>
          </p:txBody>
        </p:sp>
        <p:sp>
          <p:nvSpPr>
            <p:cNvPr id="37" name="TextBox 36"/>
            <p:cNvSpPr txBox="1"/>
            <p:nvPr/>
          </p:nvSpPr>
          <p:spPr>
            <a:xfrm>
              <a:off x="3832417" y="4444647"/>
              <a:ext cx="498855" cy="369332"/>
            </a:xfrm>
            <a:prstGeom prst="rect">
              <a:avLst/>
            </a:prstGeom>
            <a:noFill/>
          </p:spPr>
          <p:txBody>
            <a:bodyPr wrap="none" rtlCol="0">
              <a:spAutoFit/>
            </a:bodyPr>
            <a:lstStyle/>
            <a:p>
              <a:r>
                <a:rPr lang="en-US" i="1" dirty="0" smtClean="0"/>
                <a:t>p</a:t>
              </a:r>
              <a:r>
                <a:rPr lang="en-US" i="1" baseline="-25000" dirty="0" smtClean="0"/>
                <a:t>k-1</a:t>
              </a:r>
              <a:endParaRPr lang="en-US" i="1" baseline="-25000" dirty="0"/>
            </a:p>
          </p:txBody>
        </p:sp>
        <p:sp>
          <p:nvSpPr>
            <p:cNvPr id="38" name="TextBox 37"/>
            <p:cNvSpPr txBox="1"/>
            <p:nvPr/>
          </p:nvSpPr>
          <p:spPr>
            <a:xfrm>
              <a:off x="4336265" y="5300810"/>
              <a:ext cx="381836" cy="369332"/>
            </a:xfrm>
            <a:prstGeom prst="rect">
              <a:avLst/>
            </a:prstGeom>
            <a:noFill/>
          </p:spPr>
          <p:txBody>
            <a:bodyPr wrap="none" rtlCol="0">
              <a:spAutoFit/>
            </a:bodyPr>
            <a:lstStyle/>
            <a:p>
              <a:r>
                <a:rPr lang="en-US" i="1" dirty="0" smtClean="0"/>
                <a:t>p</a:t>
              </a:r>
              <a:r>
                <a:rPr lang="en-US" i="1" baseline="-25000" dirty="0"/>
                <a:t>0</a:t>
              </a:r>
            </a:p>
          </p:txBody>
        </p:sp>
        <p:sp>
          <p:nvSpPr>
            <p:cNvPr id="39" name="TextBox 38"/>
            <p:cNvSpPr txBox="1"/>
            <p:nvPr/>
          </p:nvSpPr>
          <p:spPr>
            <a:xfrm>
              <a:off x="4680282" y="5301985"/>
              <a:ext cx="498855" cy="369332"/>
            </a:xfrm>
            <a:prstGeom prst="rect">
              <a:avLst/>
            </a:prstGeom>
            <a:noFill/>
          </p:spPr>
          <p:txBody>
            <a:bodyPr wrap="none" rtlCol="0">
              <a:spAutoFit/>
            </a:bodyPr>
            <a:lstStyle/>
            <a:p>
              <a:r>
                <a:rPr lang="en-US" i="1" dirty="0" smtClean="0"/>
                <a:t>p</a:t>
              </a:r>
              <a:r>
                <a:rPr lang="en-US" i="1" baseline="-25000" dirty="0" smtClean="0"/>
                <a:t>k-1</a:t>
              </a:r>
              <a:endParaRPr lang="en-US" i="1" baseline="-25000" dirty="0"/>
            </a:p>
          </p:txBody>
        </p:sp>
        <p:pic>
          <p:nvPicPr>
            <p:cNvPr id="40" name="Picture 39"/>
            <p:cNvPicPr>
              <a:picLocks noChangeAspect="1"/>
            </p:cNvPicPr>
            <p:nvPr/>
          </p:nvPicPr>
          <p:blipFill>
            <a:blip r:embed="rId4"/>
            <a:stretch>
              <a:fillRect/>
            </a:stretch>
          </p:blipFill>
          <p:spPr>
            <a:xfrm>
              <a:off x="6163658" y="5631404"/>
              <a:ext cx="599810" cy="343207"/>
            </a:xfrm>
            <a:prstGeom prst="rect">
              <a:avLst/>
            </a:prstGeom>
          </p:spPr>
        </p:pic>
        <p:sp>
          <p:nvSpPr>
            <p:cNvPr id="41" name="TextBox 40"/>
            <p:cNvSpPr txBox="1"/>
            <p:nvPr/>
          </p:nvSpPr>
          <p:spPr>
            <a:xfrm>
              <a:off x="4597033" y="4446475"/>
              <a:ext cx="465192" cy="369332"/>
            </a:xfrm>
            <a:prstGeom prst="rect">
              <a:avLst/>
            </a:prstGeom>
            <a:noFill/>
          </p:spPr>
          <p:txBody>
            <a:bodyPr wrap="none" rtlCol="0">
              <a:spAutoFit/>
            </a:bodyPr>
            <a:lstStyle/>
            <a:p>
              <a:r>
                <a:rPr lang="en-US" i="1" dirty="0" smtClean="0"/>
                <a:t>p</a:t>
              </a:r>
              <a:r>
                <a:rPr lang="en-US" i="1" baseline="-25000" dirty="0" smtClean="0"/>
                <a:t>j-1</a:t>
              </a:r>
              <a:endParaRPr lang="en-US" i="1" baseline="-25000" dirty="0"/>
            </a:p>
          </p:txBody>
        </p:sp>
        <p:sp>
          <p:nvSpPr>
            <p:cNvPr id="42" name="TextBox 41"/>
            <p:cNvSpPr txBox="1"/>
            <p:nvPr/>
          </p:nvSpPr>
          <p:spPr>
            <a:xfrm>
              <a:off x="4367760" y="3535181"/>
              <a:ext cx="509040" cy="369332"/>
            </a:xfrm>
            <a:prstGeom prst="rect">
              <a:avLst/>
            </a:prstGeom>
            <a:noFill/>
          </p:spPr>
          <p:txBody>
            <a:bodyPr wrap="square" rtlCol="0">
              <a:spAutoFit/>
            </a:bodyPr>
            <a:lstStyle/>
            <a:p>
              <a:r>
                <a:rPr lang="en-US" i="1" dirty="0" smtClean="0"/>
                <a:t>v</a:t>
              </a:r>
              <a:r>
                <a:rPr lang="en-US" i="1" baseline="-25000" dirty="0" smtClean="0"/>
                <a:t>i-k</a:t>
              </a:r>
              <a:endParaRPr lang="en-US" i="1" baseline="-25000" dirty="0"/>
            </a:p>
          </p:txBody>
        </p:sp>
        <p:sp>
          <p:nvSpPr>
            <p:cNvPr id="43" name="TextBox 42"/>
            <p:cNvSpPr txBox="1"/>
            <p:nvPr/>
          </p:nvSpPr>
          <p:spPr>
            <a:xfrm>
              <a:off x="4686036" y="3519385"/>
              <a:ext cx="509908" cy="369332"/>
            </a:xfrm>
            <a:prstGeom prst="rect">
              <a:avLst/>
            </a:prstGeom>
            <a:noFill/>
          </p:spPr>
          <p:txBody>
            <a:bodyPr wrap="square" rtlCol="0">
              <a:spAutoFit/>
            </a:bodyPr>
            <a:lstStyle/>
            <a:p>
              <a:r>
                <a:rPr lang="en-US" i="1" dirty="0" smtClean="0"/>
                <a:t>v</a:t>
              </a:r>
              <a:r>
                <a:rPr lang="en-US" i="1" baseline="-25000" dirty="0" smtClean="0"/>
                <a:t>i-1</a:t>
              </a:r>
              <a:endParaRPr lang="en-US" i="1" baseline="-25000" dirty="0"/>
            </a:p>
          </p:txBody>
        </p:sp>
      </p:grpSp>
    </p:spTree>
    <p:extLst>
      <p:ext uri="{BB962C8B-B14F-4D97-AF65-F5344CB8AC3E}">
        <p14:creationId xmlns:p14="http://schemas.microsoft.com/office/powerpoint/2010/main" val="80734279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C24317B-5122-4A99-A6E9-FA23C146A7E0}" type="slidenum">
              <a:rPr lang="en-US" smtClean="0"/>
              <a:pPr/>
              <a:t>15</a:t>
            </a:fld>
            <a:endParaRPr lang="en-US" dirty="0"/>
          </a:p>
        </p:txBody>
      </p:sp>
      <p:sp>
        <p:nvSpPr>
          <p:cNvPr id="4" name="Title 3"/>
          <p:cNvSpPr>
            <a:spLocks noGrp="1"/>
          </p:cNvSpPr>
          <p:nvPr>
            <p:ph type="title"/>
          </p:nvPr>
        </p:nvSpPr>
        <p:spPr/>
        <p:txBody>
          <a:bodyPr>
            <a:normAutofit/>
          </a:bodyPr>
          <a:lstStyle/>
          <a:p>
            <a:r>
              <a:rPr lang="en-US" sz="2400" dirty="0" smtClean="0"/>
              <a:t>3. </a:t>
            </a:r>
            <a:r>
              <a:rPr lang="en-US" sz="2400" dirty="0" err="1" smtClean="0"/>
              <a:t>Tìm</a:t>
            </a:r>
            <a:r>
              <a:rPr lang="en-US" sz="2400" dirty="0" smtClean="0"/>
              <a:t> </a:t>
            </a:r>
            <a:r>
              <a:rPr lang="en-US" sz="2400" dirty="0" err="1" smtClean="0"/>
              <a:t>kiếm</a:t>
            </a:r>
            <a:r>
              <a:rPr lang="en-US" sz="2400" dirty="0" smtClean="0"/>
              <a:t> </a:t>
            </a:r>
            <a:r>
              <a:rPr lang="en-US" sz="2400" dirty="0" err="1" smtClean="0"/>
              <a:t>chuỗi</a:t>
            </a:r>
            <a:r>
              <a:rPr lang="en-US" sz="2400" dirty="0" smtClean="0"/>
              <a:t> con</a:t>
            </a:r>
            <a:endParaRPr lang="en-US" sz="2400" dirty="0"/>
          </a:p>
        </p:txBody>
      </p:sp>
      <p:sp>
        <p:nvSpPr>
          <p:cNvPr id="5" name="Text Placeholder 4"/>
          <p:cNvSpPr>
            <a:spLocks noGrp="1"/>
          </p:cNvSpPr>
          <p:nvPr>
            <p:ph type="body" sz="quarter" idx="13"/>
          </p:nvPr>
        </p:nvSpPr>
        <p:spPr/>
        <p:txBody>
          <a:bodyPr>
            <a:normAutofit/>
          </a:bodyPr>
          <a:lstStyle/>
          <a:p>
            <a:r>
              <a:rPr lang="en-US" sz="2400" dirty="0" err="1"/>
              <a:t>Giải</a:t>
            </a:r>
            <a:r>
              <a:rPr lang="en-US" sz="2400" dirty="0"/>
              <a:t> </a:t>
            </a:r>
            <a:r>
              <a:rPr lang="en-US" sz="2400" dirty="0" err="1"/>
              <a:t>thuật</a:t>
            </a:r>
            <a:r>
              <a:rPr lang="en-US" sz="2400" dirty="0"/>
              <a:t> </a:t>
            </a:r>
            <a:r>
              <a:rPr lang="en-US" sz="2400" dirty="0" smtClean="0"/>
              <a:t>Knuth-Morris-Pratt</a:t>
            </a:r>
          </a:p>
          <a:p>
            <a:pPr lvl="1"/>
            <a:r>
              <a:rPr lang="en-US" sz="2400" i="1" dirty="0" smtClean="0"/>
              <a:t>k</a:t>
            </a:r>
            <a:r>
              <a:rPr lang="vi-VN" sz="2400" dirty="0" smtClean="0"/>
              <a:t> </a:t>
            </a:r>
            <a:r>
              <a:rPr lang="vi-VN" sz="2400" dirty="0"/>
              <a:t>có thể được tính trước khi thực hiện việc </a:t>
            </a:r>
            <a:r>
              <a:rPr lang="vi-VN" sz="2400" dirty="0" smtClean="0"/>
              <a:t>tìm</a:t>
            </a:r>
            <a:r>
              <a:rPr lang="en-US" sz="2400" dirty="0" smtClean="0"/>
              <a:t> </a:t>
            </a:r>
            <a:r>
              <a:rPr lang="vi-VN" sz="2400" dirty="0" smtClean="0"/>
              <a:t>kiếm</a:t>
            </a:r>
            <a:r>
              <a:rPr lang="vi-VN" sz="2000" dirty="0" smtClean="0"/>
              <a:t> </a:t>
            </a:r>
            <a:r>
              <a:rPr lang="vi-VN" sz="2000" dirty="0"/>
              <a:t>(thậm chí cả trước khi có nội dung văn bản)</a:t>
            </a:r>
            <a:endParaRPr lang="en-US" sz="2400" dirty="0"/>
          </a:p>
          <a:p>
            <a:pPr lvl="1"/>
            <a:r>
              <a:rPr lang="en-US" sz="2400" dirty="0" err="1" smtClean="0"/>
              <a:t>Ví</a:t>
            </a:r>
            <a:r>
              <a:rPr lang="en-US" sz="2400" dirty="0" smtClean="0"/>
              <a:t> </a:t>
            </a:r>
            <a:r>
              <a:rPr lang="en-US" sz="2400" dirty="0" err="1" smtClean="0"/>
              <a:t>dụ</a:t>
            </a:r>
            <a:endParaRPr lang="en-US" sz="2400" dirty="0" smtClean="0"/>
          </a:p>
          <a:p>
            <a:pPr lvl="2"/>
            <a:r>
              <a:rPr lang="en-US" sz="2000" dirty="0" smtClean="0"/>
              <a:t>Cho </a:t>
            </a:r>
            <a:r>
              <a:rPr lang="en-US" sz="2000" dirty="0" err="1"/>
              <a:t>mẫu</a:t>
            </a:r>
            <a:r>
              <a:rPr lang="en-US" sz="2000" dirty="0"/>
              <a:t> </a:t>
            </a:r>
            <a:r>
              <a:rPr lang="en-US" sz="2000" b="1" dirty="0" smtClean="0"/>
              <a:t>10110111</a:t>
            </a:r>
          </a:p>
          <a:p>
            <a:pPr lvl="2"/>
            <a:r>
              <a:rPr lang="en-US" sz="2000" dirty="0" smtClean="0"/>
              <a:t>0&lt;k&lt; j, [p</a:t>
            </a:r>
            <a:r>
              <a:rPr lang="en-US" sz="2000" baseline="-25000" dirty="0" smtClean="0"/>
              <a:t>0</a:t>
            </a:r>
            <a:r>
              <a:rPr lang="en-US" sz="2000" dirty="0" smtClean="0"/>
              <a:t>p</a:t>
            </a:r>
            <a:r>
              <a:rPr lang="en-US" sz="2000" baseline="-25000" dirty="0" smtClean="0"/>
              <a:t>1</a:t>
            </a:r>
            <a:r>
              <a:rPr lang="en-US" sz="2000" dirty="0"/>
              <a:t>...</a:t>
            </a:r>
            <a:r>
              <a:rPr lang="en-US" sz="2000" b="1" dirty="0"/>
              <a:t>p</a:t>
            </a:r>
            <a:r>
              <a:rPr lang="en-US" sz="2000" b="1" baseline="-25000" dirty="0"/>
              <a:t>k-1</a:t>
            </a:r>
            <a:r>
              <a:rPr lang="en-US" sz="2000" dirty="0"/>
              <a:t>] = [p</a:t>
            </a:r>
            <a:r>
              <a:rPr lang="en-US" sz="2000" baseline="-25000" dirty="0"/>
              <a:t>j-k</a:t>
            </a:r>
            <a:r>
              <a:rPr lang="en-US" sz="2000" dirty="0"/>
              <a:t>p</a:t>
            </a:r>
            <a:r>
              <a:rPr lang="en-US" sz="2000" baseline="-25000" dirty="0"/>
              <a:t>j-k+1</a:t>
            </a:r>
            <a:r>
              <a:rPr lang="en-US" sz="2000" dirty="0"/>
              <a:t>...</a:t>
            </a:r>
            <a:r>
              <a:rPr lang="en-US" sz="2000" b="1" dirty="0"/>
              <a:t>p</a:t>
            </a:r>
            <a:r>
              <a:rPr lang="en-US" sz="2000" b="1" baseline="-25000" dirty="0"/>
              <a:t>j-1</a:t>
            </a:r>
            <a:r>
              <a:rPr lang="en-US" sz="2000" dirty="0"/>
              <a:t>]</a:t>
            </a:r>
          </a:p>
        </p:txBody>
      </p:sp>
      <mc:AlternateContent xmlns:mc="http://schemas.openxmlformats.org/markup-compatibility/2006" xmlns:a14="http://schemas.microsoft.com/office/drawing/2010/main">
        <mc:Choice Requires="a14">
          <p:graphicFrame>
            <p:nvGraphicFramePr>
              <p:cNvPr id="8" name="Table 7"/>
              <p:cNvGraphicFramePr>
                <a:graphicFrameLocks noGrp="1"/>
              </p:cNvGraphicFramePr>
              <p:nvPr>
                <p:extLst/>
              </p:nvPr>
            </p:nvGraphicFramePr>
            <p:xfrm>
              <a:off x="685800" y="3352800"/>
              <a:ext cx="8086585" cy="2109125"/>
            </p:xfrm>
            <a:graphic>
              <a:graphicData uri="http://schemas.openxmlformats.org/drawingml/2006/table">
                <a:tbl>
                  <a:tblPr firstRow="1" bandRow="1">
                    <a:tableStyleId>{5C22544A-7EE6-4342-B048-85BDC9FD1C3A}</a:tableStyleId>
                  </a:tblPr>
                  <a:tblGrid>
                    <a:gridCol w="838202">
                      <a:extLst>
                        <a:ext uri="{9D8B030D-6E8A-4147-A177-3AD203B41FA5}">
                          <a16:colId xmlns:a16="http://schemas.microsoft.com/office/drawing/2014/main" val="20000"/>
                        </a:ext>
                      </a:extLst>
                    </a:gridCol>
                    <a:gridCol w="380998">
                      <a:extLst>
                        <a:ext uri="{9D8B030D-6E8A-4147-A177-3AD203B41FA5}">
                          <a16:colId xmlns:a16="http://schemas.microsoft.com/office/drawing/2014/main" val="826155713"/>
                        </a:ext>
                      </a:extLst>
                    </a:gridCol>
                    <a:gridCol w="3810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1295400">
                      <a:extLst>
                        <a:ext uri="{9D8B030D-6E8A-4147-A177-3AD203B41FA5}">
                          <a16:colId xmlns:a16="http://schemas.microsoft.com/office/drawing/2014/main" val="20003"/>
                        </a:ext>
                      </a:extLst>
                    </a:gridCol>
                    <a:gridCol w="99060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gridCol w="1066800">
                      <a:extLst>
                        <a:ext uri="{9D8B030D-6E8A-4147-A177-3AD203B41FA5}">
                          <a16:colId xmlns:a16="http://schemas.microsoft.com/office/drawing/2014/main" val="20006"/>
                        </a:ext>
                      </a:extLst>
                    </a:gridCol>
                    <a:gridCol w="1152385">
                      <a:extLst>
                        <a:ext uri="{9D8B030D-6E8A-4147-A177-3AD203B41FA5}">
                          <a16:colId xmlns:a16="http://schemas.microsoft.com/office/drawing/2014/main" val="20007"/>
                        </a:ext>
                      </a:extLst>
                    </a:gridCol>
                  </a:tblGrid>
                  <a:tr h="304800">
                    <a:tc>
                      <a:txBody>
                        <a:bodyPr/>
                        <a:lstStyle/>
                        <a:p>
                          <a:pPr marL="0" marR="0" algn="ctr">
                            <a:spcBef>
                              <a:spcPts val="0"/>
                            </a:spcBef>
                            <a:spcAft>
                              <a:spcPts val="0"/>
                            </a:spcAft>
                          </a:pPr>
                          <a:r>
                            <a:rPr lang="en-US" sz="1800" b="1" dirty="0">
                              <a:latin typeface="Arial" panose="020B0604020202020204" pitchFamily="34" charset="0"/>
                              <a:ea typeface="Times New Roman"/>
                              <a:cs typeface="Arial" panose="020B0604020202020204" pitchFamily="34" charset="0"/>
                            </a:rPr>
                            <a:t>j</a:t>
                          </a:r>
                          <a:endParaRPr lang="en-US" sz="1800" dirty="0">
                            <a:latin typeface="Arial" panose="020B0604020202020204" pitchFamily="34" charset="0"/>
                            <a:ea typeface="Times New Roman"/>
                            <a:cs typeface="Arial" panose="020B0604020202020204" pitchFamily="34" charset="0"/>
                          </a:endParaRPr>
                        </a:p>
                      </a:txBody>
                      <a:tcPr marL="68580" marR="68580" marT="0" marB="0"/>
                    </a:tc>
                    <a:tc>
                      <a:txBody>
                        <a:bodyPr/>
                        <a:lstStyle/>
                        <a:p>
                          <a:pPr marL="0" marR="0" algn="ctr">
                            <a:spcBef>
                              <a:spcPts val="0"/>
                            </a:spcBef>
                            <a:spcAft>
                              <a:spcPts val="0"/>
                            </a:spcAft>
                          </a:pPr>
                          <a:r>
                            <a:rPr lang="en-US" sz="1800" dirty="0" smtClean="0">
                              <a:latin typeface="Arial" panose="020B0604020202020204" pitchFamily="34" charset="0"/>
                              <a:ea typeface="Times New Roman"/>
                              <a:cs typeface="Arial" panose="020B0604020202020204" pitchFamily="34" charset="0"/>
                            </a:rPr>
                            <a:t>0</a:t>
                          </a:r>
                          <a:endParaRPr lang="en-US" sz="1800" dirty="0">
                            <a:latin typeface="Arial" panose="020B0604020202020204" pitchFamily="34" charset="0"/>
                            <a:ea typeface="Times New Roman"/>
                            <a:cs typeface="Arial" panose="020B0604020202020204" pitchFamily="34" charset="0"/>
                          </a:endParaRPr>
                        </a:p>
                      </a:txBody>
                      <a:tcPr marL="68580" marR="68580" marT="0" marB="0"/>
                    </a:tc>
                    <a:tc>
                      <a:txBody>
                        <a:bodyPr/>
                        <a:lstStyle/>
                        <a:p>
                          <a:pPr marL="0" marR="0" algn="ctr">
                            <a:spcBef>
                              <a:spcPts val="0"/>
                            </a:spcBef>
                            <a:spcAft>
                              <a:spcPts val="0"/>
                            </a:spcAft>
                          </a:pPr>
                          <a:r>
                            <a:rPr lang="en-US" sz="1800" dirty="0">
                              <a:latin typeface="Arial" panose="020B0604020202020204" pitchFamily="34" charset="0"/>
                              <a:ea typeface="Times New Roman"/>
                              <a:cs typeface="Arial" panose="020B0604020202020204" pitchFamily="34" charset="0"/>
                            </a:rPr>
                            <a:t>1</a:t>
                          </a:r>
                        </a:p>
                      </a:txBody>
                      <a:tcPr marL="68580" marR="68580" marT="0" marB="0"/>
                    </a:tc>
                    <a:tc>
                      <a:txBody>
                        <a:bodyPr/>
                        <a:lstStyle/>
                        <a:p>
                          <a:pPr marL="0" marR="0" algn="ctr">
                            <a:spcBef>
                              <a:spcPts val="0"/>
                            </a:spcBef>
                            <a:spcAft>
                              <a:spcPts val="0"/>
                            </a:spcAft>
                          </a:pPr>
                          <a:r>
                            <a:rPr lang="en-US" sz="1800">
                              <a:latin typeface="Arial" panose="020B0604020202020204" pitchFamily="34" charset="0"/>
                              <a:ea typeface="Times New Roman"/>
                              <a:cs typeface="Arial" panose="020B0604020202020204" pitchFamily="34" charset="0"/>
                            </a:rPr>
                            <a:t>2</a:t>
                          </a:r>
                        </a:p>
                      </a:txBody>
                      <a:tcPr marL="68580" marR="68580" marT="0" marB="0"/>
                    </a:tc>
                    <a:tc>
                      <a:txBody>
                        <a:bodyPr/>
                        <a:lstStyle/>
                        <a:p>
                          <a:pPr marL="0" marR="0" algn="ctr">
                            <a:spcBef>
                              <a:spcPts val="0"/>
                            </a:spcBef>
                            <a:spcAft>
                              <a:spcPts val="0"/>
                            </a:spcAft>
                          </a:pPr>
                          <a:r>
                            <a:rPr lang="en-US" sz="1800">
                              <a:latin typeface="Arial" panose="020B0604020202020204" pitchFamily="34" charset="0"/>
                              <a:ea typeface="Times New Roman"/>
                              <a:cs typeface="Arial" panose="020B0604020202020204" pitchFamily="34" charset="0"/>
                            </a:rPr>
                            <a:t>3</a:t>
                          </a:r>
                        </a:p>
                      </a:txBody>
                      <a:tcPr marL="68580" marR="68580" marT="0" marB="0"/>
                    </a:tc>
                    <a:tc>
                      <a:txBody>
                        <a:bodyPr/>
                        <a:lstStyle/>
                        <a:p>
                          <a:pPr marL="0" marR="0" algn="ctr">
                            <a:spcBef>
                              <a:spcPts val="0"/>
                            </a:spcBef>
                            <a:spcAft>
                              <a:spcPts val="0"/>
                            </a:spcAft>
                          </a:pPr>
                          <a:r>
                            <a:rPr lang="en-US" sz="1800" dirty="0">
                              <a:latin typeface="Arial" panose="020B0604020202020204" pitchFamily="34" charset="0"/>
                              <a:ea typeface="Times New Roman"/>
                              <a:cs typeface="Arial" panose="020B0604020202020204" pitchFamily="34" charset="0"/>
                            </a:rPr>
                            <a:t>4</a:t>
                          </a:r>
                        </a:p>
                      </a:txBody>
                      <a:tcPr marL="68580" marR="68580" marT="0" marB="0"/>
                    </a:tc>
                    <a:tc>
                      <a:txBody>
                        <a:bodyPr/>
                        <a:lstStyle/>
                        <a:p>
                          <a:pPr marL="0" marR="0" algn="ctr">
                            <a:spcBef>
                              <a:spcPts val="0"/>
                            </a:spcBef>
                            <a:spcAft>
                              <a:spcPts val="0"/>
                            </a:spcAft>
                          </a:pPr>
                          <a:r>
                            <a:rPr lang="en-US" sz="1800" dirty="0">
                              <a:latin typeface="Arial" panose="020B0604020202020204" pitchFamily="34" charset="0"/>
                              <a:ea typeface="Times New Roman"/>
                              <a:cs typeface="Arial" panose="020B0604020202020204" pitchFamily="34" charset="0"/>
                            </a:rPr>
                            <a:t>5</a:t>
                          </a:r>
                        </a:p>
                      </a:txBody>
                      <a:tcPr marL="68580" marR="68580" marT="0" marB="0"/>
                    </a:tc>
                    <a:tc>
                      <a:txBody>
                        <a:bodyPr/>
                        <a:lstStyle/>
                        <a:p>
                          <a:pPr marL="0" marR="0" algn="ctr">
                            <a:spcBef>
                              <a:spcPts val="0"/>
                            </a:spcBef>
                            <a:spcAft>
                              <a:spcPts val="0"/>
                            </a:spcAft>
                          </a:pPr>
                          <a:r>
                            <a:rPr lang="en-US" sz="1800" dirty="0">
                              <a:latin typeface="Arial" panose="020B0604020202020204" pitchFamily="34" charset="0"/>
                              <a:ea typeface="Times New Roman"/>
                              <a:cs typeface="Arial" panose="020B0604020202020204" pitchFamily="34" charset="0"/>
                            </a:rPr>
                            <a:t>6</a:t>
                          </a:r>
                        </a:p>
                      </a:txBody>
                      <a:tcPr marL="68580" marR="68580" marT="0" marB="0"/>
                    </a:tc>
                    <a:tc>
                      <a:txBody>
                        <a:bodyPr/>
                        <a:lstStyle/>
                        <a:p>
                          <a:pPr marL="0" marR="0" algn="ctr">
                            <a:spcBef>
                              <a:spcPts val="0"/>
                            </a:spcBef>
                            <a:spcAft>
                              <a:spcPts val="0"/>
                            </a:spcAft>
                          </a:pPr>
                          <a:r>
                            <a:rPr lang="en-US" sz="1800">
                              <a:latin typeface="Arial" panose="020B0604020202020204" pitchFamily="34" charset="0"/>
                              <a:ea typeface="Times New Roman"/>
                              <a:cs typeface="Arial" panose="020B0604020202020204" pitchFamily="34" charset="0"/>
                            </a:rPr>
                            <a:t>7</a:t>
                          </a:r>
                        </a:p>
                      </a:txBody>
                      <a:tcPr marL="68580" marR="68580" marT="0" marB="0"/>
                    </a:tc>
                    <a:extLst>
                      <a:ext uri="{0D108BD9-81ED-4DB2-BD59-A6C34878D82A}">
                        <a16:rowId xmlns:a16="http://schemas.microsoft.com/office/drawing/2014/main" val="10000"/>
                      </a:ext>
                    </a:extLst>
                  </a:tr>
                  <a:tr h="342119">
                    <a:tc>
                      <a:txBody>
                        <a:bodyPr/>
                        <a:lstStyle/>
                        <a:p>
                          <a:pPr marL="0" marR="0" algn="ctr">
                            <a:spcBef>
                              <a:spcPts val="0"/>
                            </a:spcBef>
                            <a:spcAft>
                              <a:spcPts val="0"/>
                            </a:spcAft>
                          </a:pPr>
                          <a:r>
                            <a:rPr lang="en-US" sz="1600" b="0" dirty="0" smtClean="0">
                              <a:latin typeface="Arial" panose="020B0604020202020204" pitchFamily="34" charset="0"/>
                              <a:ea typeface="Times New Roman"/>
                              <a:cs typeface="Arial" panose="020B0604020202020204" pitchFamily="34" charset="0"/>
                            </a:rPr>
                            <a:t>p</a:t>
                          </a:r>
                          <a:r>
                            <a:rPr lang="en-US" sz="1600" b="0" baseline="-25000" dirty="0" smtClean="0">
                              <a:latin typeface="Arial" panose="020B0604020202020204" pitchFamily="34" charset="0"/>
                              <a:ea typeface="Times New Roman"/>
                              <a:cs typeface="Arial" panose="020B0604020202020204" pitchFamily="34" charset="0"/>
                            </a:rPr>
                            <a:t>0</a:t>
                          </a:r>
                          <a:r>
                            <a:rPr lang="en-US" sz="1600" b="0" dirty="0" smtClean="0">
                              <a:latin typeface="Arial" panose="020B0604020202020204" pitchFamily="34" charset="0"/>
                              <a:ea typeface="Times New Roman"/>
                              <a:cs typeface="Arial" panose="020B0604020202020204" pitchFamily="34" charset="0"/>
                            </a:rPr>
                            <a:t>..p</a:t>
                          </a:r>
                          <a:r>
                            <a:rPr lang="en-US" sz="1600" b="0" baseline="-25000" dirty="0" smtClean="0">
                              <a:latin typeface="Arial" panose="020B0604020202020204" pitchFamily="34" charset="0"/>
                              <a:ea typeface="Times New Roman"/>
                              <a:cs typeface="Arial" panose="020B0604020202020204" pitchFamily="34" charset="0"/>
                            </a:rPr>
                            <a:t>j-1</a:t>
                          </a:r>
                          <a:endParaRPr lang="en-US" sz="1600" b="0" baseline="-25000" dirty="0">
                            <a:latin typeface="Arial" panose="020B0604020202020204" pitchFamily="34" charset="0"/>
                            <a:ea typeface="Times New Roman"/>
                            <a:cs typeface="Arial" panose="020B0604020202020204" pitchFamily="34" charset="0"/>
                          </a:endParaRPr>
                        </a:p>
                      </a:txBody>
                      <a:tcPr marL="68580" marR="68580" marT="0" marB="0">
                        <a:solidFill>
                          <a:schemeClr val="accent1">
                            <a:lumMod val="60000"/>
                            <a:lumOff val="40000"/>
                          </a:schemeClr>
                        </a:solidFill>
                      </a:tcPr>
                    </a:tc>
                    <a:tc>
                      <a:txBody>
                        <a:bodyPr/>
                        <a:lstStyle/>
                        <a:p>
                          <a:pPr marL="0" marR="0" algn="ctr">
                            <a:spcBef>
                              <a:spcPts val="0"/>
                            </a:spcBef>
                            <a:spcAft>
                              <a:spcPts val="0"/>
                            </a:spcAft>
                          </a:pPr>
                          <a:endParaRPr lang="en-US" sz="1400" dirty="0">
                            <a:latin typeface="Arial" panose="020B0604020202020204" pitchFamily="34" charset="0"/>
                            <a:ea typeface="Times New Roman"/>
                            <a:cs typeface="Arial" panose="020B0604020202020204" pitchFamily="34" charset="0"/>
                          </a:endParaRPr>
                        </a:p>
                      </a:txBody>
                      <a:tcPr marL="68580" marR="68580" marT="0" marB="0"/>
                    </a:tc>
                    <a:tc>
                      <a:txBody>
                        <a:bodyPr/>
                        <a:lstStyle/>
                        <a:p>
                          <a:pPr marL="0" marR="0" algn="ctr">
                            <a:spcBef>
                              <a:spcPts val="0"/>
                            </a:spcBef>
                            <a:spcAft>
                              <a:spcPts val="0"/>
                            </a:spcAft>
                          </a:pPr>
                          <a:r>
                            <a:rPr lang="en-US" sz="1400" b="1" dirty="0">
                              <a:latin typeface="Arial" panose="020B0604020202020204" pitchFamily="34" charset="0"/>
                              <a:ea typeface="Times New Roman"/>
                              <a:cs typeface="Arial" panose="020B0604020202020204" pitchFamily="34" charset="0"/>
                            </a:rPr>
                            <a:t>1</a:t>
                          </a:r>
                          <a:endParaRPr lang="en-US" sz="1400" dirty="0">
                            <a:latin typeface="Arial" panose="020B0604020202020204" pitchFamily="34" charset="0"/>
                            <a:ea typeface="Times New Roman"/>
                            <a:cs typeface="Arial" panose="020B0604020202020204" pitchFamily="34" charset="0"/>
                          </a:endParaRPr>
                        </a:p>
                      </a:txBody>
                      <a:tcPr marL="68580" marR="68580" marT="0" marB="0"/>
                    </a:tc>
                    <a:tc>
                      <a:txBody>
                        <a:bodyPr/>
                        <a:lstStyle/>
                        <a:p>
                          <a:pPr marL="0" marR="0" algn="ctr">
                            <a:spcBef>
                              <a:spcPts val="0"/>
                            </a:spcBef>
                            <a:spcAft>
                              <a:spcPts val="0"/>
                            </a:spcAft>
                          </a:pPr>
                          <a:r>
                            <a:rPr lang="en-US" sz="1400" b="1" dirty="0">
                              <a:latin typeface="Arial" panose="020B0604020202020204" pitchFamily="34" charset="0"/>
                              <a:ea typeface="Times New Roman"/>
                              <a:cs typeface="Arial" panose="020B0604020202020204" pitchFamily="34" charset="0"/>
                            </a:rPr>
                            <a:t>10</a:t>
                          </a:r>
                          <a:endParaRPr lang="en-US" sz="1400" dirty="0">
                            <a:latin typeface="Arial" panose="020B0604020202020204" pitchFamily="34" charset="0"/>
                            <a:ea typeface="Times New Roman"/>
                            <a:cs typeface="Arial" panose="020B0604020202020204" pitchFamily="34" charset="0"/>
                          </a:endParaRPr>
                        </a:p>
                      </a:txBody>
                      <a:tcPr marL="68580" marR="68580" marT="0" marB="0"/>
                    </a:tc>
                    <a:tc>
                      <a:txBody>
                        <a:bodyPr/>
                        <a:lstStyle/>
                        <a:p>
                          <a:pPr marL="0" marR="0" algn="ctr">
                            <a:spcBef>
                              <a:spcPts val="0"/>
                            </a:spcBef>
                            <a:spcAft>
                              <a:spcPts val="0"/>
                            </a:spcAft>
                          </a:pPr>
                          <a:r>
                            <a:rPr lang="en-US" sz="1400" b="1" dirty="0">
                              <a:latin typeface="Arial" panose="020B0604020202020204" pitchFamily="34" charset="0"/>
                              <a:ea typeface="Times New Roman"/>
                              <a:cs typeface="Arial" panose="020B0604020202020204" pitchFamily="34" charset="0"/>
                            </a:rPr>
                            <a:t>101</a:t>
                          </a:r>
                          <a:endParaRPr lang="en-US" sz="1400" dirty="0">
                            <a:latin typeface="Arial" panose="020B0604020202020204" pitchFamily="34" charset="0"/>
                            <a:ea typeface="Times New Roman"/>
                            <a:cs typeface="Arial" panose="020B0604020202020204" pitchFamily="34" charset="0"/>
                          </a:endParaRPr>
                        </a:p>
                      </a:txBody>
                      <a:tcPr marL="68580" marR="68580" marT="0" marB="0"/>
                    </a:tc>
                    <a:tc>
                      <a:txBody>
                        <a:bodyPr/>
                        <a:lstStyle/>
                        <a:p>
                          <a:pPr marL="0" marR="0" algn="ctr">
                            <a:spcBef>
                              <a:spcPts val="0"/>
                            </a:spcBef>
                            <a:spcAft>
                              <a:spcPts val="0"/>
                            </a:spcAft>
                          </a:pPr>
                          <a:r>
                            <a:rPr lang="en-US" sz="1400" b="1" dirty="0" smtClean="0">
                              <a:latin typeface="Arial" panose="020B0604020202020204" pitchFamily="34" charset="0"/>
                              <a:ea typeface="Times New Roman"/>
                              <a:cs typeface="Arial" panose="020B0604020202020204" pitchFamily="34" charset="0"/>
                            </a:rPr>
                            <a:t>1011----</a:t>
                          </a:r>
                          <a:endParaRPr lang="en-US" sz="1400" dirty="0">
                            <a:latin typeface="Arial" panose="020B0604020202020204" pitchFamily="34" charset="0"/>
                            <a:ea typeface="Times New Roman"/>
                            <a:cs typeface="Arial" panose="020B0604020202020204" pitchFamily="34" charset="0"/>
                          </a:endParaRPr>
                        </a:p>
                      </a:txBody>
                      <a:tcPr marL="68580" marR="68580" marT="0" marB="0"/>
                    </a:tc>
                    <a:tc>
                      <a:txBody>
                        <a:bodyPr/>
                        <a:lstStyle/>
                        <a:p>
                          <a:pPr marL="0" marR="0" algn="ctr">
                            <a:spcBef>
                              <a:spcPts val="0"/>
                            </a:spcBef>
                            <a:spcAft>
                              <a:spcPts val="0"/>
                            </a:spcAft>
                          </a:pPr>
                          <a:r>
                            <a:rPr lang="en-US" sz="1400" b="1" dirty="0" smtClean="0">
                              <a:latin typeface="Arial" panose="020B0604020202020204" pitchFamily="34" charset="0"/>
                              <a:ea typeface="Times New Roman"/>
                              <a:cs typeface="Arial" panose="020B0604020202020204" pitchFamily="34" charset="0"/>
                            </a:rPr>
                            <a:t>10110---</a:t>
                          </a:r>
                          <a:endParaRPr lang="en-US" sz="1400" dirty="0">
                            <a:latin typeface="Arial" panose="020B0604020202020204" pitchFamily="34" charset="0"/>
                            <a:ea typeface="Times New Roman"/>
                            <a:cs typeface="Arial" panose="020B0604020202020204" pitchFamily="34" charset="0"/>
                          </a:endParaRPr>
                        </a:p>
                      </a:txBody>
                      <a:tcPr marL="68580" marR="68580" marT="0" marB="0"/>
                    </a:tc>
                    <a:tc>
                      <a:txBody>
                        <a:bodyPr/>
                        <a:lstStyle/>
                        <a:p>
                          <a:pPr marL="0" marR="0" algn="ctr">
                            <a:spcBef>
                              <a:spcPts val="0"/>
                            </a:spcBef>
                            <a:spcAft>
                              <a:spcPts val="0"/>
                            </a:spcAft>
                          </a:pPr>
                          <a:r>
                            <a:rPr lang="en-US" sz="1400" b="1" dirty="0" smtClean="0">
                              <a:latin typeface="Arial" panose="020B0604020202020204" pitchFamily="34" charset="0"/>
                              <a:ea typeface="Times New Roman"/>
                              <a:cs typeface="Arial" panose="020B0604020202020204" pitchFamily="34" charset="0"/>
                            </a:rPr>
                            <a:t>101101--</a:t>
                          </a:r>
                          <a:endParaRPr lang="en-US" sz="1400" dirty="0">
                            <a:latin typeface="Arial" panose="020B0604020202020204" pitchFamily="34" charset="0"/>
                            <a:ea typeface="Times New Roman"/>
                            <a:cs typeface="Arial" panose="020B0604020202020204" pitchFamily="34" charset="0"/>
                          </a:endParaRPr>
                        </a:p>
                      </a:txBody>
                      <a:tcPr marL="68580" marR="68580" marT="0" marB="0"/>
                    </a:tc>
                    <a:tc>
                      <a:txBody>
                        <a:bodyPr/>
                        <a:lstStyle/>
                        <a:p>
                          <a:pPr marL="0" marR="0" algn="ctr">
                            <a:spcBef>
                              <a:spcPts val="0"/>
                            </a:spcBef>
                            <a:spcAft>
                              <a:spcPts val="0"/>
                            </a:spcAft>
                          </a:pPr>
                          <a:r>
                            <a:rPr lang="en-US" sz="1400" b="1" dirty="0" smtClean="0">
                              <a:latin typeface="Arial" panose="020B0604020202020204" pitchFamily="34" charset="0"/>
                              <a:ea typeface="Times New Roman"/>
                              <a:cs typeface="Arial" panose="020B0604020202020204" pitchFamily="34" charset="0"/>
                            </a:rPr>
                            <a:t>1011011-</a:t>
                          </a:r>
                          <a:endParaRPr lang="en-US" sz="1400" dirty="0">
                            <a:latin typeface="Arial" panose="020B0604020202020204" pitchFamily="34" charset="0"/>
                            <a:ea typeface="Times New Roman"/>
                            <a:cs typeface="Arial" panose="020B0604020202020204" pitchFamily="34" charset="0"/>
                          </a:endParaRPr>
                        </a:p>
                      </a:txBody>
                      <a:tcPr marL="68580" marR="68580" marT="0" marB="0"/>
                    </a:tc>
                    <a:extLst>
                      <a:ext uri="{0D108BD9-81ED-4DB2-BD59-A6C34878D82A}">
                        <a16:rowId xmlns:a16="http://schemas.microsoft.com/office/drawing/2014/main" val="10001"/>
                      </a:ext>
                    </a:extLst>
                  </a:tr>
                  <a:tr h="731103">
                    <a:tc>
                      <a:txBody>
                        <a:bodyPr/>
                        <a:lstStyle/>
                        <a:p>
                          <a:pPr marL="0" marR="0" algn="ctr">
                            <a:spcBef>
                              <a:spcPts val="0"/>
                            </a:spcBef>
                            <a:spcAft>
                              <a:spcPts val="0"/>
                            </a:spcAft>
                          </a:pPr>
                          <a:r>
                            <a:rPr lang="en-US" sz="1600" b="0" dirty="0">
                              <a:latin typeface="Arial" panose="020B0604020202020204" pitchFamily="34" charset="0"/>
                              <a:ea typeface="Times New Roman"/>
                              <a:cs typeface="Arial" panose="020B0604020202020204" pitchFamily="34" charset="0"/>
                            </a:rPr>
                            <a:t>k</a:t>
                          </a:r>
                        </a:p>
                      </a:txBody>
                      <a:tcPr marL="68580" marR="68580" marT="0" marB="0">
                        <a:solidFill>
                          <a:schemeClr val="accent1">
                            <a:lumMod val="60000"/>
                            <a:lumOff val="40000"/>
                          </a:schemeClr>
                        </a:solidFill>
                      </a:tcPr>
                    </a:tc>
                    <a:tc>
                      <a:txBody>
                        <a:bodyPr/>
                        <a:lstStyle/>
                        <a:p>
                          <a:pPr marL="0" marR="0" algn="ctr">
                            <a:spcBef>
                              <a:spcPts val="0"/>
                            </a:spcBef>
                            <a:spcAft>
                              <a:spcPts val="0"/>
                            </a:spcAft>
                          </a:pPr>
                          <a:endParaRPr lang="en-US" sz="1400" b="1" dirty="0">
                            <a:latin typeface="Arial" panose="020B0604020202020204" pitchFamily="34" charset="0"/>
                            <a:ea typeface="Times New Roman"/>
                            <a:cs typeface="Arial" panose="020B0604020202020204" pitchFamily="34" charset="0"/>
                          </a:endParaRPr>
                        </a:p>
                      </a:txBody>
                      <a:tcPr marL="68580" marR="68580" marT="0" marB="0"/>
                    </a:tc>
                    <a:tc>
                      <a:txBody>
                        <a:bodyPr/>
                        <a:lstStyle/>
                        <a:p>
                          <a:pPr marL="0" marR="0" algn="ctr">
                            <a:spcBef>
                              <a:spcPts val="0"/>
                            </a:spcBef>
                            <a:spcAft>
                              <a:spcPts val="0"/>
                            </a:spcAft>
                          </a:pPr>
                          <a:endParaRPr lang="en-US" sz="1400" b="1" dirty="0">
                            <a:latin typeface="Arial" panose="020B0604020202020204" pitchFamily="34" charset="0"/>
                            <a:ea typeface="Times New Roman"/>
                            <a:cs typeface="Arial" panose="020B0604020202020204" pitchFamily="34" charset="0"/>
                          </a:endParaRPr>
                        </a:p>
                      </a:txBody>
                      <a:tcPr marL="68580" marR="68580" marT="0" marB="0"/>
                    </a:tc>
                    <a:tc>
                      <a:txBody>
                        <a:bodyPr/>
                        <a:lstStyle/>
                        <a:p>
                          <a:pPr marL="0" marR="0" algn="ctr">
                            <a:spcBef>
                              <a:spcPts val="0"/>
                            </a:spcBef>
                            <a:spcAft>
                              <a:spcPts val="0"/>
                            </a:spcAft>
                          </a:pPr>
                          <a:r>
                            <a:rPr lang="en-US" sz="1400" b="1" strike="sngStrike" dirty="0" smtClean="0">
                              <a:latin typeface="Arial" panose="020B0604020202020204" pitchFamily="34" charset="0"/>
                              <a:ea typeface="Times New Roman"/>
                              <a:cs typeface="Arial" panose="020B0604020202020204" pitchFamily="34" charset="0"/>
                            </a:rPr>
                            <a:t>1</a:t>
                          </a:r>
                        </a:p>
                        <a:p>
                          <a:pPr marL="0" marR="0" indent="0" algn="l" defTabSz="685800" rtl="0" eaLnBrk="1" fontAlgn="auto" latinLnBrk="0" hangingPunct="1">
                            <a:lnSpc>
                              <a:spcPct val="100000"/>
                            </a:lnSpc>
                            <a:spcBef>
                              <a:spcPts val="0"/>
                            </a:spcBef>
                            <a:spcAft>
                              <a:spcPts val="0"/>
                            </a:spcAft>
                            <a:buClrTx/>
                            <a:buSzTx/>
                            <a:buFontTx/>
                            <a:buNone/>
                            <a:tabLst/>
                            <a:defRPr/>
                          </a:pPr>
                          <a:r>
                            <a:rPr lang="en-US" sz="1400" dirty="0" smtClean="0">
                              <a:latin typeface="Arial" panose="020B0604020202020204" pitchFamily="34" charset="0"/>
                              <a:ea typeface="Times New Roman"/>
                              <a:cs typeface="Arial" panose="020B0604020202020204" pitchFamily="34" charset="0"/>
                            </a:rPr>
                            <a:t>k=1: p</a:t>
                          </a:r>
                          <a:r>
                            <a:rPr lang="en-US" sz="1400" baseline="-25000" dirty="0" smtClean="0">
                              <a:latin typeface="Arial" panose="020B0604020202020204" pitchFamily="34" charset="0"/>
                              <a:ea typeface="Times New Roman"/>
                              <a:cs typeface="Arial" panose="020B0604020202020204" pitchFamily="34" charset="0"/>
                            </a:rPr>
                            <a:t>0</a:t>
                          </a:r>
                          <a:r>
                            <a:rPr lang="en-US" sz="1400" baseline="0" dirty="0" smtClean="0">
                              <a:latin typeface="Arial" panose="020B0604020202020204" pitchFamily="34" charset="0"/>
                              <a:ea typeface="Times New Roman"/>
                              <a:cs typeface="Arial" panose="020B0604020202020204" pitchFamily="34" charset="0"/>
                            </a:rPr>
                            <a:t> ≠p</a:t>
                          </a:r>
                          <a:r>
                            <a:rPr lang="en-US" sz="1400" baseline="-25000" dirty="0" smtClean="0">
                              <a:latin typeface="Arial" panose="020B0604020202020204" pitchFamily="34" charset="0"/>
                              <a:ea typeface="Times New Roman"/>
                              <a:cs typeface="Arial" panose="020B0604020202020204" pitchFamily="34" charset="0"/>
                            </a:rPr>
                            <a:t>1</a:t>
                          </a:r>
                        </a:p>
                      </a:txBody>
                      <a:tcPr marL="68580" marR="68580" marT="0" marB="0"/>
                    </a:tc>
                    <a:tc>
                      <a:txBody>
                        <a:bodyPr/>
                        <a:lstStyle/>
                        <a:p>
                          <a:pPr marL="0" marR="0" algn="ctr">
                            <a:spcBef>
                              <a:spcPts val="0"/>
                            </a:spcBef>
                            <a:spcAft>
                              <a:spcPts val="0"/>
                            </a:spcAft>
                          </a:pPr>
                          <a:r>
                            <a:rPr lang="en-US" sz="1400" b="1" dirty="0" smtClean="0">
                              <a:solidFill>
                                <a:srgbClr val="FF0000"/>
                              </a:solidFill>
                              <a:latin typeface="Arial" panose="020B0604020202020204" pitchFamily="34" charset="0"/>
                              <a:ea typeface="Times New Roman"/>
                              <a:cs typeface="Arial" panose="020B0604020202020204" pitchFamily="34" charset="0"/>
                            </a:rPr>
                            <a:t>1</a:t>
                          </a:r>
                          <a:r>
                            <a:rPr lang="en-US" sz="1400" b="1" strike="noStrike" dirty="0" smtClean="0">
                              <a:latin typeface="Arial" panose="020B0604020202020204" pitchFamily="34" charset="0"/>
                              <a:ea typeface="Times New Roman"/>
                              <a:cs typeface="Arial" panose="020B0604020202020204" pitchFamily="34" charset="0"/>
                            </a:rPr>
                            <a:t>, </a:t>
                          </a:r>
                          <a:r>
                            <a:rPr lang="en-US" sz="1400" b="1" strike="sngStrike" dirty="0" smtClean="0">
                              <a:latin typeface="Arial" panose="020B0604020202020204" pitchFamily="34" charset="0"/>
                              <a:ea typeface="Times New Roman"/>
                              <a:cs typeface="Arial" panose="020B0604020202020204" pitchFamily="34" charset="0"/>
                            </a:rPr>
                            <a:t>2</a:t>
                          </a:r>
                        </a:p>
                        <a:p>
                          <a:pPr marL="0" marR="0" algn="l">
                            <a:spcBef>
                              <a:spcPts val="0"/>
                            </a:spcBef>
                            <a:spcAft>
                              <a:spcPts val="0"/>
                            </a:spcAft>
                          </a:pPr>
                          <a:r>
                            <a:rPr lang="en-US" sz="1400" b="0" dirty="0" smtClean="0">
                              <a:latin typeface="Arial" panose="020B0604020202020204" pitchFamily="34" charset="0"/>
                              <a:ea typeface="Times New Roman"/>
                              <a:cs typeface="Arial" panose="020B0604020202020204" pitchFamily="34" charset="0"/>
                            </a:rPr>
                            <a:t>k=1: p</a:t>
                          </a:r>
                          <a:r>
                            <a:rPr lang="en-US" sz="1400" b="0" baseline="-25000" dirty="0" smtClean="0">
                              <a:latin typeface="Arial" panose="020B0604020202020204" pitchFamily="34" charset="0"/>
                              <a:ea typeface="Times New Roman"/>
                              <a:cs typeface="Arial" panose="020B0604020202020204" pitchFamily="34" charset="0"/>
                            </a:rPr>
                            <a:t>0</a:t>
                          </a:r>
                          <a:r>
                            <a:rPr lang="en-US" sz="1400" b="0" dirty="0" smtClean="0">
                              <a:latin typeface="Arial" panose="020B0604020202020204" pitchFamily="34" charset="0"/>
                              <a:ea typeface="Times New Roman"/>
                              <a:cs typeface="Arial" panose="020B0604020202020204" pitchFamily="34" charset="0"/>
                            </a:rPr>
                            <a:t>=p</a:t>
                          </a:r>
                          <a:r>
                            <a:rPr lang="en-US" sz="1400" b="0" baseline="-25000" dirty="0" smtClean="0">
                              <a:latin typeface="Arial" panose="020B0604020202020204" pitchFamily="34" charset="0"/>
                              <a:ea typeface="Times New Roman"/>
                              <a:cs typeface="Arial" panose="020B0604020202020204" pitchFamily="34" charset="0"/>
                            </a:rPr>
                            <a:t>2</a:t>
                          </a:r>
                        </a:p>
                        <a:p>
                          <a:pPr marL="0" marR="0" algn="l">
                            <a:spcBef>
                              <a:spcPts val="0"/>
                            </a:spcBef>
                            <a:spcAft>
                              <a:spcPts val="0"/>
                            </a:spcAft>
                          </a:pPr>
                          <a:r>
                            <a:rPr lang="en-US" sz="1400" b="0" baseline="0" dirty="0" smtClean="0">
                              <a:effectLst/>
                              <a:latin typeface="Arial" panose="020B0604020202020204" pitchFamily="34" charset="0"/>
                              <a:ea typeface="Times New Roman"/>
                              <a:cs typeface="Arial" panose="020B0604020202020204" pitchFamily="34" charset="0"/>
                            </a:rPr>
                            <a:t>k=2: p</a:t>
                          </a:r>
                          <a:r>
                            <a:rPr lang="en-US" sz="1400" b="0" baseline="-25000" dirty="0" smtClean="0">
                              <a:effectLst/>
                              <a:latin typeface="Arial" panose="020B0604020202020204" pitchFamily="34" charset="0"/>
                              <a:ea typeface="Times New Roman"/>
                              <a:cs typeface="Arial" panose="020B0604020202020204" pitchFamily="34" charset="0"/>
                            </a:rPr>
                            <a:t>0</a:t>
                          </a:r>
                          <a:r>
                            <a:rPr lang="en-US" sz="1400" b="0" baseline="0" dirty="0" smtClean="0">
                              <a:effectLst/>
                              <a:latin typeface="Arial" panose="020B0604020202020204" pitchFamily="34" charset="0"/>
                              <a:ea typeface="Times New Roman"/>
                              <a:cs typeface="Arial" panose="020B0604020202020204" pitchFamily="34" charset="0"/>
                            </a:rPr>
                            <a:t>p</a:t>
                          </a:r>
                          <a:r>
                            <a:rPr lang="en-US" sz="1400" b="0" baseline="-25000" dirty="0" smtClean="0">
                              <a:effectLst/>
                              <a:latin typeface="Arial" panose="020B0604020202020204" pitchFamily="34" charset="0"/>
                              <a:ea typeface="Times New Roman"/>
                              <a:cs typeface="Arial" panose="020B0604020202020204" pitchFamily="34" charset="0"/>
                            </a:rPr>
                            <a:t>1</a:t>
                          </a:r>
                          <a:r>
                            <a:rPr lang="en-US" sz="1400" b="0" baseline="0" dirty="0" smtClean="0">
                              <a:effectLst/>
                              <a:latin typeface="Arial" panose="020B0604020202020204" pitchFamily="34" charset="0"/>
                              <a:ea typeface="Times New Roman"/>
                              <a:cs typeface="Arial" panose="020B0604020202020204" pitchFamily="34" charset="0"/>
                            </a:rPr>
                            <a:t>≠p</a:t>
                          </a:r>
                          <a:r>
                            <a:rPr lang="en-US" sz="1400" b="0" baseline="-25000" dirty="0" smtClean="0">
                              <a:effectLst/>
                              <a:latin typeface="Arial" panose="020B0604020202020204" pitchFamily="34" charset="0"/>
                              <a:ea typeface="Times New Roman"/>
                              <a:cs typeface="Arial" panose="020B0604020202020204" pitchFamily="34" charset="0"/>
                            </a:rPr>
                            <a:t>1</a:t>
                          </a:r>
                          <a:r>
                            <a:rPr lang="en-US" sz="1400" b="0" baseline="0" dirty="0" smtClean="0">
                              <a:effectLst/>
                              <a:latin typeface="Arial" panose="020B0604020202020204" pitchFamily="34" charset="0"/>
                              <a:ea typeface="Times New Roman"/>
                              <a:cs typeface="Arial" panose="020B0604020202020204" pitchFamily="34" charset="0"/>
                            </a:rPr>
                            <a:t>p</a:t>
                          </a:r>
                          <a:r>
                            <a:rPr lang="en-US" sz="1400" baseline="-25000" dirty="0" smtClean="0">
                              <a:effectLst/>
                              <a:latin typeface="Arial" panose="020B0604020202020204" pitchFamily="34" charset="0"/>
                              <a:ea typeface="Times New Roman"/>
                              <a:cs typeface="Arial" panose="020B0604020202020204" pitchFamily="34" charset="0"/>
                            </a:rPr>
                            <a:t>2</a:t>
                          </a:r>
                          <a:r>
                            <a:rPr lang="en-US" sz="1400" b="1" baseline="0" dirty="0" smtClean="0">
                              <a:effectLst/>
                              <a:latin typeface="Arial" panose="020B0604020202020204" pitchFamily="34" charset="0"/>
                              <a:ea typeface="Times New Roman"/>
                              <a:cs typeface="Arial" panose="020B0604020202020204" pitchFamily="34" charset="0"/>
                            </a:rPr>
                            <a:t> </a:t>
                          </a:r>
                          <a:endParaRPr lang="en-US" sz="1400" b="1" baseline="0" dirty="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marL="0" marR="0" algn="ctr">
                            <a:spcBef>
                              <a:spcPts val="0"/>
                            </a:spcBef>
                            <a:spcAft>
                              <a:spcPts val="0"/>
                            </a:spcAft>
                          </a:pPr>
                          <a:r>
                            <a:rPr lang="en-US" sz="1400" b="1" dirty="0" smtClean="0">
                              <a:solidFill>
                                <a:srgbClr val="FF0000"/>
                              </a:solidFill>
                              <a:latin typeface="Arial" panose="020B0604020202020204" pitchFamily="34" charset="0"/>
                              <a:ea typeface="Times New Roman"/>
                              <a:cs typeface="Arial" panose="020B0604020202020204" pitchFamily="34" charset="0"/>
                            </a:rPr>
                            <a:t>1</a:t>
                          </a:r>
                          <a:r>
                            <a:rPr lang="en-US" sz="1400" b="1" dirty="0" smtClean="0">
                              <a:latin typeface="Arial" panose="020B0604020202020204" pitchFamily="34" charset="0"/>
                              <a:ea typeface="Times New Roman"/>
                              <a:cs typeface="Arial" panose="020B0604020202020204" pitchFamily="34" charset="0"/>
                            </a:rPr>
                            <a:t>, </a:t>
                          </a:r>
                          <a:r>
                            <a:rPr lang="en-US" sz="1400" b="1" strike="sngStrike" dirty="0" smtClean="0">
                              <a:latin typeface="Arial" panose="020B0604020202020204" pitchFamily="34" charset="0"/>
                              <a:ea typeface="Times New Roman"/>
                              <a:cs typeface="Arial" panose="020B0604020202020204" pitchFamily="34" charset="0"/>
                            </a:rPr>
                            <a:t>2, 3</a:t>
                          </a:r>
                          <a:endParaRPr lang="en-US" sz="1400" b="1" strike="sngStrike" dirty="0">
                            <a:latin typeface="Arial" panose="020B0604020202020204" pitchFamily="34" charset="0"/>
                            <a:ea typeface="Times New Roman"/>
                            <a:cs typeface="Arial" panose="020B0604020202020204" pitchFamily="34" charset="0"/>
                          </a:endParaRPr>
                        </a:p>
                      </a:txBody>
                      <a:tcPr marL="68580" marR="68580" marT="0" marB="0"/>
                    </a:tc>
                    <a:tc>
                      <a:txBody>
                        <a:bodyPr/>
                        <a:lstStyle/>
                        <a:p>
                          <a:pPr marL="0" marR="0" algn="ctr">
                            <a:spcBef>
                              <a:spcPts val="0"/>
                            </a:spcBef>
                            <a:spcAft>
                              <a:spcPts val="0"/>
                            </a:spcAft>
                          </a:pPr>
                          <a:r>
                            <a:rPr lang="en-US" sz="1400" b="1" strike="sngStrike" dirty="0" smtClean="0">
                              <a:latin typeface="Arial" panose="020B0604020202020204" pitchFamily="34" charset="0"/>
                              <a:ea typeface="Times New Roman"/>
                              <a:cs typeface="Arial" panose="020B0604020202020204" pitchFamily="34" charset="0"/>
                            </a:rPr>
                            <a:t>1</a:t>
                          </a:r>
                          <a:r>
                            <a:rPr lang="en-US" sz="1400" b="1" strike="noStrike" dirty="0" smtClean="0">
                              <a:latin typeface="Arial" panose="020B0604020202020204" pitchFamily="34" charset="0"/>
                              <a:ea typeface="Times New Roman"/>
                              <a:cs typeface="Arial" panose="020B0604020202020204" pitchFamily="34" charset="0"/>
                            </a:rPr>
                            <a:t>, </a:t>
                          </a:r>
                          <a:r>
                            <a:rPr lang="en-US" sz="1400" b="1" dirty="0" smtClean="0">
                              <a:solidFill>
                                <a:srgbClr val="FF0000"/>
                              </a:solidFill>
                              <a:latin typeface="Arial" panose="020B0604020202020204" pitchFamily="34" charset="0"/>
                              <a:ea typeface="Times New Roman"/>
                              <a:cs typeface="Arial" panose="020B0604020202020204" pitchFamily="34" charset="0"/>
                            </a:rPr>
                            <a:t>2</a:t>
                          </a:r>
                          <a:r>
                            <a:rPr lang="en-US" sz="1400" b="1" dirty="0" smtClean="0">
                              <a:latin typeface="Arial" panose="020B0604020202020204" pitchFamily="34" charset="0"/>
                              <a:ea typeface="Times New Roman"/>
                              <a:cs typeface="Arial" panose="020B0604020202020204" pitchFamily="34" charset="0"/>
                            </a:rPr>
                            <a:t>, </a:t>
                          </a:r>
                          <a:r>
                            <a:rPr lang="en-US" sz="1400" b="1" strike="sngStrike" dirty="0" smtClean="0">
                              <a:latin typeface="Arial" panose="020B0604020202020204" pitchFamily="34" charset="0"/>
                              <a:ea typeface="Times New Roman"/>
                              <a:cs typeface="Arial" panose="020B0604020202020204" pitchFamily="34" charset="0"/>
                            </a:rPr>
                            <a:t>3,4</a:t>
                          </a:r>
                          <a:endParaRPr lang="en-US" sz="1400" b="1" strike="sngStrike" dirty="0">
                            <a:latin typeface="Arial" panose="020B0604020202020204" pitchFamily="34" charset="0"/>
                            <a:ea typeface="Times New Roman"/>
                            <a:cs typeface="Arial" panose="020B0604020202020204" pitchFamily="34" charset="0"/>
                          </a:endParaRPr>
                        </a:p>
                      </a:txBody>
                      <a:tcPr marL="68580" marR="68580" marT="0" marB="0"/>
                    </a:tc>
                    <a:tc>
                      <a:txBody>
                        <a:bodyPr/>
                        <a:lstStyle/>
                        <a:p>
                          <a:pPr marL="0" marR="0" algn="ctr">
                            <a:spcBef>
                              <a:spcPts val="0"/>
                            </a:spcBef>
                            <a:spcAft>
                              <a:spcPts val="0"/>
                            </a:spcAft>
                          </a:pPr>
                          <a:r>
                            <a:rPr lang="en-US" sz="1400" b="1" strike="noStrike" dirty="0" smtClean="0">
                              <a:solidFill>
                                <a:srgbClr val="FF0000"/>
                              </a:solidFill>
                              <a:latin typeface="Arial" panose="020B0604020202020204" pitchFamily="34" charset="0"/>
                              <a:ea typeface="Times New Roman"/>
                              <a:cs typeface="Arial" panose="020B0604020202020204" pitchFamily="34" charset="0"/>
                            </a:rPr>
                            <a:t>1</a:t>
                          </a:r>
                          <a:r>
                            <a:rPr lang="en-US" sz="1400" b="1" strike="sngStrike" dirty="0" smtClean="0">
                              <a:latin typeface="Arial" panose="020B0604020202020204" pitchFamily="34" charset="0"/>
                              <a:ea typeface="Times New Roman"/>
                              <a:cs typeface="Arial" panose="020B0604020202020204" pitchFamily="34" charset="0"/>
                            </a:rPr>
                            <a:t>,2</a:t>
                          </a:r>
                          <a:r>
                            <a:rPr lang="en-US" sz="1400" b="1" dirty="0" smtClean="0">
                              <a:latin typeface="Arial" panose="020B0604020202020204" pitchFamily="34" charset="0"/>
                              <a:ea typeface="Times New Roman"/>
                              <a:cs typeface="Arial" panose="020B0604020202020204" pitchFamily="34" charset="0"/>
                            </a:rPr>
                            <a:t>,</a:t>
                          </a:r>
                          <a:r>
                            <a:rPr lang="en-US" sz="1400" b="1" dirty="0" smtClean="0">
                              <a:solidFill>
                                <a:srgbClr val="FF0000"/>
                              </a:solidFill>
                              <a:latin typeface="Arial" panose="020B0604020202020204" pitchFamily="34" charset="0"/>
                              <a:ea typeface="Times New Roman"/>
                              <a:cs typeface="Arial" panose="020B0604020202020204" pitchFamily="34" charset="0"/>
                            </a:rPr>
                            <a:t> 3</a:t>
                          </a:r>
                          <a:r>
                            <a:rPr lang="en-US" sz="1400" b="1" strike="noStrike" dirty="0" smtClean="0">
                              <a:latin typeface="Arial" panose="020B0604020202020204" pitchFamily="34" charset="0"/>
                              <a:ea typeface="Times New Roman"/>
                              <a:cs typeface="Arial" panose="020B0604020202020204" pitchFamily="34" charset="0"/>
                            </a:rPr>
                            <a:t>,</a:t>
                          </a:r>
                          <a:r>
                            <a:rPr lang="en-US" sz="1400" b="1" strike="sngStrike" dirty="0" smtClean="0">
                              <a:latin typeface="Arial" panose="020B0604020202020204" pitchFamily="34" charset="0"/>
                              <a:ea typeface="Times New Roman"/>
                              <a:cs typeface="Arial" panose="020B0604020202020204" pitchFamily="34" charset="0"/>
                            </a:rPr>
                            <a:t>4,5</a:t>
                          </a:r>
                          <a:endParaRPr lang="en-US" sz="1400" b="1" strike="sngStrike" dirty="0">
                            <a:latin typeface="Arial" panose="020B0604020202020204" pitchFamily="34" charset="0"/>
                            <a:ea typeface="Times New Roman"/>
                            <a:cs typeface="Arial" panose="020B0604020202020204" pitchFamily="34" charset="0"/>
                          </a:endParaRPr>
                        </a:p>
                      </a:txBody>
                      <a:tcPr marL="68580" marR="68580" marT="0" marB="0"/>
                    </a:tc>
                    <a:tc>
                      <a:txBody>
                        <a:bodyPr/>
                        <a:lstStyle/>
                        <a:p>
                          <a:pPr marL="0" marR="0" algn="ctr">
                            <a:spcBef>
                              <a:spcPts val="0"/>
                            </a:spcBef>
                            <a:spcAft>
                              <a:spcPts val="0"/>
                            </a:spcAft>
                          </a:pPr>
                          <a:r>
                            <a:rPr lang="en-US" sz="1400" b="1" strike="noStrike" dirty="0" smtClean="0">
                              <a:solidFill>
                                <a:srgbClr val="FF0000"/>
                              </a:solidFill>
                              <a:latin typeface="Arial" panose="020B0604020202020204" pitchFamily="34" charset="0"/>
                              <a:ea typeface="Times New Roman"/>
                              <a:cs typeface="Arial" panose="020B0604020202020204" pitchFamily="34" charset="0"/>
                            </a:rPr>
                            <a:t>1</a:t>
                          </a:r>
                          <a:r>
                            <a:rPr lang="en-US" sz="1400" b="1" strike="noStrike" dirty="0" smtClean="0">
                              <a:latin typeface="Arial" panose="020B0604020202020204" pitchFamily="34" charset="0"/>
                              <a:ea typeface="Times New Roman"/>
                              <a:cs typeface="Arial" panose="020B0604020202020204" pitchFamily="34" charset="0"/>
                            </a:rPr>
                            <a:t>,</a:t>
                          </a:r>
                          <a:r>
                            <a:rPr lang="en-US" sz="1400" b="1" strike="sngStrike" dirty="0" smtClean="0">
                              <a:latin typeface="Arial" panose="020B0604020202020204" pitchFamily="34" charset="0"/>
                              <a:ea typeface="Times New Roman"/>
                              <a:cs typeface="Arial" panose="020B0604020202020204" pitchFamily="34" charset="0"/>
                            </a:rPr>
                            <a:t>2,3</a:t>
                          </a:r>
                          <a:r>
                            <a:rPr lang="en-US" sz="1400" b="1" dirty="0" smtClean="0">
                              <a:latin typeface="Arial" panose="020B0604020202020204" pitchFamily="34" charset="0"/>
                              <a:ea typeface="Times New Roman"/>
                              <a:cs typeface="Arial" panose="020B0604020202020204" pitchFamily="34" charset="0"/>
                            </a:rPr>
                            <a:t>, </a:t>
                          </a:r>
                          <a:r>
                            <a:rPr lang="en-US" sz="1400" b="1" dirty="0" smtClean="0">
                              <a:solidFill>
                                <a:srgbClr val="FF0000"/>
                              </a:solidFill>
                              <a:latin typeface="Arial" panose="020B0604020202020204" pitchFamily="34" charset="0"/>
                              <a:ea typeface="Times New Roman"/>
                              <a:cs typeface="Arial" panose="020B0604020202020204" pitchFamily="34" charset="0"/>
                            </a:rPr>
                            <a:t>4</a:t>
                          </a:r>
                          <a:r>
                            <a:rPr lang="en-US" sz="1400" b="1" dirty="0" smtClean="0">
                              <a:latin typeface="Arial" panose="020B0604020202020204" pitchFamily="34" charset="0"/>
                              <a:ea typeface="Times New Roman"/>
                              <a:cs typeface="Arial" panose="020B0604020202020204" pitchFamily="34" charset="0"/>
                            </a:rPr>
                            <a:t>, </a:t>
                          </a:r>
                          <a:r>
                            <a:rPr lang="en-US" sz="1400" b="1" strike="sngStrike" dirty="0" smtClean="0">
                              <a:latin typeface="Arial" panose="020B0604020202020204" pitchFamily="34" charset="0"/>
                              <a:ea typeface="Times New Roman"/>
                              <a:cs typeface="Arial" panose="020B0604020202020204" pitchFamily="34" charset="0"/>
                            </a:rPr>
                            <a:t>5,6</a:t>
                          </a:r>
                          <a:endParaRPr lang="en-US" sz="1400" b="1" strike="sngStrike" dirty="0">
                            <a:latin typeface="Arial" panose="020B0604020202020204" pitchFamily="34" charset="0"/>
                            <a:ea typeface="Times New Roman"/>
                            <a:cs typeface="Arial" panose="020B0604020202020204" pitchFamily="34" charset="0"/>
                          </a:endParaRPr>
                        </a:p>
                      </a:txBody>
                      <a:tcPr marL="68580" marR="68580" marT="0" marB="0"/>
                    </a:tc>
                    <a:extLst>
                      <a:ext uri="{0D108BD9-81ED-4DB2-BD59-A6C34878D82A}">
                        <a16:rowId xmlns:a16="http://schemas.microsoft.com/office/drawing/2014/main" val="10002"/>
                      </a:ext>
                    </a:extLst>
                  </a:tr>
                  <a:tr h="731103">
                    <a:tc>
                      <a:txBody>
                        <a:bodyPr/>
                        <a:lstStyle/>
                        <a:p>
                          <a:pPr marL="0" marR="0" algn="ctr">
                            <a:spcBef>
                              <a:spcPts val="0"/>
                            </a:spcBef>
                            <a:spcAft>
                              <a:spcPts val="0"/>
                            </a:spcAft>
                          </a:pPr>
                          <a:r>
                            <a:rPr lang="en-US" sz="1600" b="0" dirty="0" err="1">
                              <a:latin typeface="Arial" panose="020B0604020202020204" pitchFamily="34" charset="0"/>
                              <a:ea typeface="Times New Roman"/>
                              <a:cs typeface="Arial" panose="020B0604020202020204" pitchFamily="34" charset="0"/>
                            </a:rPr>
                            <a:t>Chuỗi</a:t>
                          </a:r>
                          <a:r>
                            <a:rPr lang="en-US" sz="1600" b="0" dirty="0">
                              <a:latin typeface="Arial" panose="020B0604020202020204" pitchFamily="34" charset="0"/>
                              <a:ea typeface="Times New Roman"/>
                              <a:cs typeface="Arial" panose="020B0604020202020204" pitchFamily="34" charset="0"/>
                            </a:rPr>
                            <a:t> </a:t>
                          </a:r>
                          <a:r>
                            <a:rPr lang="en-US" sz="1600" b="0" dirty="0" err="1">
                              <a:latin typeface="Arial" panose="020B0604020202020204" pitchFamily="34" charset="0"/>
                              <a:ea typeface="Times New Roman"/>
                              <a:cs typeface="Arial" panose="020B0604020202020204" pitchFamily="34" charset="0"/>
                            </a:rPr>
                            <a:t>khớp</a:t>
                          </a:r>
                          <a:endParaRPr lang="en-US" sz="1600" b="0" dirty="0">
                            <a:latin typeface="Arial" panose="020B0604020202020204" pitchFamily="34" charset="0"/>
                            <a:ea typeface="Times New Roman"/>
                            <a:cs typeface="Arial" panose="020B0604020202020204" pitchFamily="34" charset="0"/>
                          </a:endParaRPr>
                        </a:p>
                      </a:txBody>
                      <a:tcPr marL="68580" marR="68580" marT="0" marB="0">
                        <a:solidFill>
                          <a:schemeClr val="accent1">
                            <a:lumMod val="60000"/>
                            <a:lumOff val="40000"/>
                          </a:schemeClr>
                        </a:solidFill>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ea typeface="Cambria Math" panose="02040503050406030204" pitchFamily="18" charset="0"/>
                                    <a:cs typeface="Arial" panose="020B0604020202020204" pitchFamily="34" charset="0"/>
                                  </a:rPr>
                                  <m:t>∅</m:t>
                                </m:r>
                              </m:oMath>
                            </m:oMathPara>
                          </a14:m>
                          <a:endParaRPr lang="en-US" sz="1400" dirty="0">
                            <a:latin typeface="Arial" panose="020B0604020202020204" pitchFamily="34" charset="0"/>
                            <a:ea typeface="Times New Roman"/>
                            <a:cs typeface="Arial" panose="020B0604020202020204" pitchFamily="34" charset="0"/>
                          </a:endParaRPr>
                        </a:p>
                      </a:txBody>
                      <a:tcPr marL="68580" marR="68580" marT="0" marB="0"/>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ea typeface="Cambria Math" panose="02040503050406030204" pitchFamily="18" charset="0"/>
                                    <a:cs typeface="Arial" panose="020B0604020202020204" pitchFamily="34" charset="0"/>
                                  </a:rPr>
                                  <m:t>∅</m:t>
                                </m:r>
                              </m:oMath>
                            </m:oMathPara>
                          </a14:m>
                          <a:endParaRPr lang="en-US" sz="1400" dirty="0">
                            <a:latin typeface="Arial" panose="020B0604020202020204" pitchFamily="34" charset="0"/>
                            <a:ea typeface="Times New Roman"/>
                            <a:cs typeface="Arial" panose="020B0604020202020204" pitchFamily="34" charset="0"/>
                          </a:endParaRPr>
                        </a:p>
                        <a:p>
                          <a:pPr marL="0" marR="0" algn="ctr">
                            <a:spcBef>
                              <a:spcPts val="0"/>
                            </a:spcBef>
                            <a:spcAft>
                              <a:spcPts val="0"/>
                            </a:spcAft>
                          </a:pPr>
                          <a:endParaRPr lang="en-US" sz="1400" dirty="0">
                            <a:latin typeface="Arial" panose="020B0604020202020204" pitchFamily="34" charset="0"/>
                            <a:ea typeface="Times New Roman"/>
                            <a:cs typeface="Arial" panose="020B0604020202020204" pitchFamily="34" charset="0"/>
                          </a:endParaRPr>
                        </a:p>
                      </a:txBody>
                      <a:tcPr marL="68580" marR="68580" marT="0" marB="0"/>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ea typeface="Cambria Math" panose="02040503050406030204" pitchFamily="18" charset="0"/>
                                    <a:cs typeface="Arial" panose="020B0604020202020204" pitchFamily="34" charset="0"/>
                                  </a:rPr>
                                  <m:t>∅</m:t>
                                </m:r>
                              </m:oMath>
                            </m:oMathPara>
                          </a14:m>
                          <a:endParaRPr lang="en-US" sz="1400" dirty="0">
                            <a:latin typeface="Arial" panose="020B0604020202020204" pitchFamily="34" charset="0"/>
                            <a:ea typeface="Times New Roman"/>
                            <a:cs typeface="Arial" panose="020B0604020202020204" pitchFamily="34" charset="0"/>
                          </a:endParaRPr>
                        </a:p>
                        <a:p>
                          <a:pPr marL="0" marR="0" algn="ctr">
                            <a:spcBef>
                              <a:spcPts val="0"/>
                            </a:spcBef>
                            <a:spcAft>
                              <a:spcPts val="0"/>
                            </a:spcAft>
                          </a:pPr>
                          <a:endParaRPr lang="en-US" sz="1400" baseline="-25000" dirty="0">
                            <a:latin typeface="Arial" panose="020B0604020202020204" pitchFamily="34" charset="0"/>
                            <a:ea typeface="Times New Roman"/>
                            <a:cs typeface="Arial" panose="020B0604020202020204" pitchFamily="34" charset="0"/>
                          </a:endParaRPr>
                        </a:p>
                      </a:txBody>
                      <a:tcPr marL="68580" marR="68580" marT="0" marB="0"/>
                    </a:tc>
                    <a:tc>
                      <a:txBody>
                        <a:bodyPr/>
                        <a:lstStyle/>
                        <a:p>
                          <a:pPr marL="0" marR="0" algn="ctr">
                            <a:spcBef>
                              <a:spcPts val="0"/>
                            </a:spcBef>
                            <a:spcAft>
                              <a:spcPts val="0"/>
                            </a:spcAft>
                          </a:pPr>
                          <a:r>
                            <a:rPr lang="en-US" sz="1400" u="none" dirty="0" smtClean="0">
                              <a:solidFill>
                                <a:srgbClr val="FF0000"/>
                              </a:solidFill>
                              <a:latin typeface="Arial" panose="020B0604020202020204" pitchFamily="34" charset="0"/>
                              <a:ea typeface="Times New Roman"/>
                              <a:cs typeface="Arial" panose="020B0604020202020204" pitchFamily="34" charset="0"/>
                            </a:rPr>
                            <a:t>1 </a:t>
                          </a:r>
                        </a:p>
                        <a:p>
                          <a:pPr marL="0" marR="0" algn="ctr">
                            <a:spcBef>
                              <a:spcPts val="0"/>
                            </a:spcBef>
                            <a:spcAft>
                              <a:spcPts val="0"/>
                            </a:spcAft>
                          </a:pPr>
                          <a:r>
                            <a:rPr lang="en-US" sz="1400" b="0" u="none" dirty="0" smtClean="0">
                              <a:latin typeface="Arial" panose="020B0604020202020204" pitchFamily="34" charset="0"/>
                              <a:ea typeface="Times New Roman"/>
                              <a:cs typeface="Arial" panose="020B0604020202020204" pitchFamily="34" charset="0"/>
                            </a:rPr>
                            <a:t>1xx-----</a:t>
                          </a:r>
                        </a:p>
                        <a:p>
                          <a:pPr marL="0" marR="0" algn="ctr">
                            <a:spcBef>
                              <a:spcPts val="0"/>
                            </a:spcBef>
                            <a:spcAft>
                              <a:spcPts val="0"/>
                            </a:spcAft>
                          </a:pPr>
                          <a:r>
                            <a:rPr lang="en-US" sz="1400" b="0" u="none" dirty="0" smtClean="0">
                              <a:latin typeface="Arial" panose="020B0604020202020204" pitchFamily="34" charset="0"/>
                              <a:ea typeface="Times New Roman"/>
                              <a:cs typeface="Arial" panose="020B0604020202020204" pitchFamily="34" charset="0"/>
                            </a:rPr>
                            <a:t>xx1-----</a:t>
                          </a:r>
                          <a:endParaRPr lang="en-US" sz="1400" b="0" u="none" dirty="0">
                            <a:latin typeface="Arial" panose="020B0604020202020204" pitchFamily="34" charset="0"/>
                            <a:ea typeface="Times New Roman"/>
                            <a:cs typeface="Arial" panose="020B0604020202020204" pitchFamily="34" charset="0"/>
                          </a:endParaRPr>
                        </a:p>
                      </a:txBody>
                      <a:tcPr marL="68580" marR="68580" marT="0" marB="0"/>
                    </a:tc>
                    <a:tc>
                      <a:txBody>
                        <a:bodyPr/>
                        <a:lstStyle/>
                        <a:p>
                          <a:pPr marL="0" marR="0" algn="ctr">
                            <a:spcBef>
                              <a:spcPts val="0"/>
                            </a:spcBef>
                            <a:spcAft>
                              <a:spcPts val="0"/>
                            </a:spcAft>
                          </a:pPr>
                          <a:r>
                            <a:rPr lang="en-US" sz="1400" u="none" dirty="0" smtClean="0">
                              <a:solidFill>
                                <a:srgbClr val="FF0000"/>
                              </a:solidFill>
                              <a:latin typeface="Arial" panose="020B0604020202020204" pitchFamily="34" charset="0"/>
                              <a:ea typeface="Times New Roman"/>
                              <a:cs typeface="Arial" panose="020B0604020202020204" pitchFamily="34" charset="0"/>
                            </a:rPr>
                            <a:t>1</a:t>
                          </a:r>
                        </a:p>
                        <a:p>
                          <a:pPr marL="0" marR="0" algn="ctr">
                            <a:spcBef>
                              <a:spcPts val="0"/>
                            </a:spcBef>
                            <a:spcAft>
                              <a:spcPts val="0"/>
                            </a:spcAft>
                          </a:pPr>
                          <a:r>
                            <a:rPr lang="en-US" sz="1400" b="0" u="none" dirty="0" smtClean="0">
                              <a:latin typeface="Arial" panose="020B0604020202020204" pitchFamily="34" charset="0"/>
                              <a:ea typeface="Times New Roman"/>
                              <a:cs typeface="Arial" panose="020B0604020202020204" pitchFamily="34" charset="0"/>
                            </a:rPr>
                            <a:t>1xxx----</a:t>
                          </a:r>
                        </a:p>
                        <a:p>
                          <a:pPr marL="0" marR="0" algn="ctr">
                            <a:spcBef>
                              <a:spcPts val="0"/>
                            </a:spcBef>
                            <a:spcAft>
                              <a:spcPts val="0"/>
                            </a:spcAft>
                          </a:pPr>
                          <a:r>
                            <a:rPr lang="en-US" sz="1400" b="0" u="none" dirty="0" smtClean="0">
                              <a:latin typeface="Arial" panose="020B0604020202020204" pitchFamily="34" charset="0"/>
                              <a:ea typeface="Times New Roman"/>
                              <a:cs typeface="Arial" panose="020B0604020202020204" pitchFamily="34" charset="0"/>
                            </a:rPr>
                            <a:t>xxx1----</a:t>
                          </a:r>
                          <a:endParaRPr lang="en-US" sz="1400" u="none" dirty="0">
                            <a:latin typeface="Arial" panose="020B0604020202020204" pitchFamily="34" charset="0"/>
                            <a:ea typeface="Times New Roman"/>
                            <a:cs typeface="Arial" panose="020B0604020202020204" pitchFamily="34" charset="0"/>
                          </a:endParaRPr>
                        </a:p>
                      </a:txBody>
                      <a:tcPr marL="68580" marR="68580" marT="0" marB="0"/>
                    </a:tc>
                    <a:tc>
                      <a:txBody>
                        <a:bodyPr/>
                        <a:lstStyle/>
                        <a:p>
                          <a:pPr marL="0" marR="0" algn="ctr">
                            <a:spcBef>
                              <a:spcPts val="0"/>
                            </a:spcBef>
                            <a:spcAft>
                              <a:spcPts val="0"/>
                            </a:spcAft>
                          </a:pPr>
                          <a:r>
                            <a:rPr lang="en-US" sz="1400" u="none" dirty="0">
                              <a:solidFill>
                                <a:srgbClr val="FF0000"/>
                              </a:solidFill>
                              <a:latin typeface="Arial" panose="020B0604020202020204" pitchFamily="34" charset="0"/>
                              <a:ea typeface="Times New Roman"/>
                              <a:cs typeface="Arial" panose="020B0604020202020204" pitchFamily="34" charset="0"/>
                            </a:rPr>
                            <a:t>10 </a:t>
                          </a:r>
                        </a:p>
                        <a:p>
                          <a:pPr marL="0" marR="0" algn="ctr">
                            <a:spcBef>
                              <a:spcPts val="0"/>
                            </a:spcBef>
                            <a:spcAft>
                              <a:spcPts val="0"/>
                            </a:spcAft>
                          </a:pPr>
                          <a:r>
                            <a:rPr lang="en-US" sz="1400" b="0" u="none" dirty="0" smtClean="0">
                              <a:latin typeface="Arial" panose="020B0604020202020204" pitchFamily="34" charset="0"/>
                              <a:ea typeface="Times New Roman"/>
                              <a:cs typeface="Arial" panose="020B0604020202020204" pitchFamily="34" charset="0"/>
                            </a:rPr>
                            <a:t>10xxx---</a:t>
                          </a:r>
                        </a:p>
                        <a:p>
                          <a:pPr marL="0" marR="0" algn="ctr">
                            <a:spcBef>
                              <a:spcPts val="0"/>
                            </a:spcBef>
                            <a:spcAft>
                              <a:spcPts val="0"/>
                            </a:spcAft>
                          </a:pPr>
                          <a:r>
                            <a:rPr lang="en-US" sz="1400" b="0" u="none" dirty="0" smtClean="0">
                              <a:latin typeface="Arial" panose="020B0604020202020204" pitchFamily="34" charset="0"/>
                              <a:ea typeface="Times New Roman"/>
                              <a:cs typeface="Arial" panose="020B0604020202020204" pitchFamily="34" charset="0"/>
                            </a:rPr>
                            <a:t>xxx10---</a:t>
                          </a:r>
                          <a:endParaRPr lang="en-US" sz="1400" u="none" dirty="0">
                            <a:latin typeface="Arial" panose="020B0604020202020204" pitchFamily="34" charset="0"/>
                            <a:ea typeface="Times New Roman"/>
                            <a:cs typeface="Arial" panose="020B0604020202020204" pitchFamily="34" charset="0"/>
                          </a:endParaRPr>
                        </a:p>
                      </a:txBody>
                      <a:tcPr marL="68580" marR="68580" marT="0" marB="0"/>
                    </a:tc>
                    <a:tc>
                      <a:txBody>
                        <a:bodyPr/>
                        <a:lstStyle/>
                        <a:p>
                          <a:pPr marL="0" marR="0" algn="ctr">
                            <a:spcBef>
                              <a:spcPts val="0"/>
                            </a:spcBef>
                            <a:spcAft>
                              <a:spcPts val="0"/>
                            </a:spcAft>
                          </a:pPr>
                          <a:r>
                            <a:rPr lang="en-US" sz="1400" u="none" dirty="0" smtClean="0">
                              <a:solidFill>
                                <a:srgbClr val="FF0000"/>
                              </a:solidFill>
                              <a:latin typeface="Arial" panose="020B0604020202020204" pitchFamily="34" charset="0"/>
                              <a:ea typeface="Times New Roman"/>
                              <a:cs typeface="Arial" panose="020B0604020202020204" pitchFamily="34" charset="0"/>
                            </a:rPr>
                            <a:t>1 </a:t>
                          </a:r>
                          <a:r>
                            <a:rPr lang="en-US" sz="1400" u="none" dirty="0" err="1" smtClean="0">
                              <a:solidFill>
                                <a:srgbClr val="FF0000"/>
                              </a:solidFill>
                              <a:latin typeface="Arial" panose="020B0604020202020204" pitchFamily="34" charset="0"/>
                              <a:ea typeface="Times New Roman"/>
                              <a:cs typeface="Arial" panose="020B0604020202020204" pitchFamily="34" charset="0"/>
                            </a:rPr>
                            <a:t>hoặc</a:t>
                          </a:r>
                          <a:r>
                            <a:rPr lang="en-US" sz="1400" u="none" baseline="0" dirty="0" smtClean="0">
                              <a:solidFill>
                                <a:srgbClr val="FF0000"/>
                              </a:solidFill>
                              <a:latin typeface="Arial" panose="020B0604020202020204" pitchFamily="34" charset="0"/>
                              <a:ea typeface="Times New Roman"/>
                              <a:cs typeface="Arial" panose="020B0604020202020204" pitchFamily="34" charset="0"/>
                            </a:rPr>
                            <a:t> </a:t>
                          </a:r>
                          <a:r>
                            <a:rPr lang="en-US" sz="1400" u="none" dirty="0" smtClean="0">
                              <a:solidFill>
                                <a:srgbClr val="FF0000"/>
                              </a:solidFill>
                              <a:latin typeface="Arial" panose="020B0604020202020204" pitchFamily="34" charset="0"/>
                              <a:ea typeface="Times New Roman"/>
                              <a:cs typeface="Arial" panose="020B0604020202020204" pitchFamily="34" charset="0"/>
                            </a:rPr>
                            <a:t>101 </a:t>
                          </a:r>
                        </a:p>
                        <a:p>
                          <a:pPr marL="0" marR="0" algn="ctr">
                            <a:spcBef>
                              <a:spcPts val="0"/>
                            </a:spcBef>
                            <a:spcAft>
                              <a:spcPts val="0"/>
                            </a:spcAft>
                          </a:pPr>
                          <a:r>
                            <a:rPr lang="en-US" sz="1400" u="none" dirty="0" smtClean="0">
                              <a:latin typeface="Arial" panose="020B0604020202020204" pitchFamily="34" charset="0"/>
                              <a:ea typeface="Times New Roman"/>
                              <a:cs typeface="Arial" panose="020B0604020202020204" pitchFamily="34" charset="0"/>
                            </a:rPr>
                            <a:t>101xxx--</a:t>
                          </a:r>
                        </a:p>
                        <a:p>
                          <a:pPr marL="0" marR="0" algn="ctr">
                            <a:spcBef>
                              <a:spcPts val="0"/>
                            </a:spcBef>
                            <a:spcAft>
                              <a:spcPts val="0"/>
                            </a:spcAft>
                          </a:pPr>
                          <a:r>
                            <a:rPr lang="en-US" sz="1400" u="none" dirty="0" smtClean="0">
                              <a:latin typeface="Arial" panose="020B0604020202020204" pitchFamily="34" charset="0"/>
                              <a:ea typeface="Times New Roman"/>
                              <a:cs typeface="Arial" panose="020B0604020202020204" pitchFamily="34" charset="0"/>
                            </a:rPr>
                            <a:t>xxx101--</a:t>
                          </a:r>
                          <a:endParaRPr lang="en-US" sz="1400" u="none" dirty="0">
                            <a:latin typeface="Arial" panose="020B0604020202020204" pitchFamily="34" charset="0"/>
                            <a:ea typeface="Times New Roman"/>
                            <a:cs typeface="Arial" panose="020B0604020202020204" pitchFamily="34" charset="0"/>
                          </a:endParaRPr>
                        </a:p>
                      </a:txBody>
                      <a:tcPr marL="68580" marR="68580" marT="0" marB="0"/>
                    </a:tc>
                    <a:tc>
                      <a:txBody>
                        <a:bodyPr/>
                        <a:lstStyle/>
                        <a:p>
                          <a:pPr marL="0" marR="0" algn="ctr">
                            <a:spcBef>
                              <a:spcPts val="0"/>
                            </a:spcBef>
                            <a:spcAft>
                              <a:spcPts val="0"/>
                            </a:spcAft>
                          </a:pPr>
                          <a:r>
                            <a:rPr lang="en-US" sz="1400" u="none" dirty="0" smtClean="0">
                              <a:solidFill>
                                <a:srgbClr val="FF0000"/>
                              </a:solidFill>
                              <a:latin typeface="Arial" panose="020B0604020202020204" pitchFamily="34" charset="0"/>
                              <a:ea typeface="Times New Roman"/>
                              <a:cs typeface="Arial" panose="020B0604020202020204" pitchFamily="34" charset="0"/>
                            </a:rPr>
                            <a:t>1 </a:t>
                          </a:r>
                          <a:r>
                            <a:rPr lang="en-US" sz="1400" u="none" dirty="0" err="1" smtClean="0">
                              <a:solidFill>
                                <a:srgbClr val="FF0000"/>
                              </a:solidFill>
                              <a:latin typeface="Arial" panose="020B0604020202020204" pitchFamily="34" charset="0"/>
                              <a:ea typeface="Times New Roman"/>
                              <a:cs typeface="Arial" panose="020B0604020202020204" pitchFamily="34" charset="0"/>
                            </a:rPr>
                            <a:t>hoặc</a:t>
                          </a:r>
                          <a:r>
                            <a:rPr lang="en-US" sz="1400" u="none" baseline="0" dirty="0" smtClean="0">
                              <a:solidFill>
                                <a:srgbClr val="FF0000"/>
                              </a:solidFill>
                              <a:latin typeface="Arial" panose="020B0604020202020204" pitchFamily="34" charset="0"/>
                              <a:ea typeface="Times New Roman"/>
                              <a:cs typeface="Arial" panose="020B0604020202020204" pitchFamily="34" charset="0"/>
                            </a:rPr>
                            <a:t> </a:t>
                          </a:r>
                          <a:r>
                            <a:rPr lang="en-US" sz="1400" u="none" dirty="0" smtClean="0">
                              <a:solidFill>
                                <a:srgbClr val="FF0000"/>
                              </a:solidFill>
                              <a:latin typeface="Arial" panose="020B0604020202020204" pitchFamily="34" charset="0"/>
                              <a:ea typeface="Times New Roman"/>
                              <a:cs typeface="Arial" panose="020B0604020202020204" pitchFamily="34" charset="0"/>
                            </a:rPr>
                            <a:t>1011 </a:t>
                          </a:r>
                        </a:p>
                        <a:p>
                          <a:pPr marL="0" marR="0" algn="ctr">
                            <a:spcBef>
                              <a:spcPts val="0"/>
                            </a:spcBef>
                            <a:spcAft>
                              <a:spcPts val="0"/>
                            </a:spcAft>
                          </a:pPr>
                          <a:r>
                            <a:rPr lang="en-US" sz="1400" b="0" u="none" dirty="0" smtClean="0">
                              <a:latin typeface="Arial" panose="020B0604020202020204" pitchFamily="34" charset="0"/>
                              <a:ea typeface="Times New Roman"/>
                              <a:cs typeface="Arial" panose="020B0604020202020204" pitchFamily="34" charset="0"/>
                            </a:rPr>
                            <a:t>1011xxx-    </a:t>
                          </a:r>
                        </a:p>
                        <a:p>
                          <a:pPr marL="0" marR="0" algn="ctr">
                            <a:spcBef>
                              <a:spcPts val="0"/>
                            </a:spcBef>
                            <a:spcAft>
                              <a:spcPts val="0"/>
                            </a:spcAft>
                          </a:pPr>
                          <a:r>
                            <a:rPr lang="en-US" sz="1400" b="0" u="none" dirty="0" smtClean="0">
                              <a:latin typeface="Arial" panose="020B0604020202020204" pitchFamily="34" charset="0"/>
                              <a:ea typeface="Times New Roman"/>
                              <a:cs typeface="Arial" panose="020B0604020202020204" pitchFamily="34" charset="0"/>
                            </a:rPr>
                            <a:t>xxx1011-</a:t>
                          </a:r>
                          <a:endParaRPr lang="en-US" sz="1400" b="0" u="none" dirty="0">
                            <a:latin typeface="Arial" panose="020B0604020202020204" pitchFamily="34" charset="0"/>
                            <a:ea typeface="Times New Roman"/>
                            <a:cs typeface="Arial" panose="020B0604020202020204" pitchFamily="34" charset="0"/>
                          </a:endParaRPr>
                        </a:p>
                      </a:txBody>
                      <a:tcPr marL="68580" marR="68580" marT="0" marB="0"/>
                    </a:tc>
                    <a:extLst>
                      <a:ext uri="{0D108BD9-81ED-4DB2-BD59-A6C34878D82A}">
                        <a16:rowId xmlns:a16="http://schemas.microsoft.com/office/drawing/2014/main" val="10003"/>
                      </a:ext>
                    </a:extLst>
                  </a:tr>
                </a:tbl>
              </a:graphicData>
            </a:graphic>
          </p:graphicFrame>
        </mc:Choice>
        <mc:Fallback xmlns="">
          <p:graphicFrame>
            <p:nvGraphicFramePr>
              <p:cNvPr id="8" name="Table 7"/>
              <p:cNvGraphicFramePr>
                <a:graphicFrameLocks noGrp="1"/>
              </p:cNvGraphicFramePr>
              <p:nvPr>
                <p:extLst>
                  <p:ext uri="{D42A27DB-BD31-4B8C-83A1-F6EECF244321}">
                    <p14:modId xmlns:p14="http://schemas.microsoft.com/office/powerpoint/2010/main" val="1255267583"/>
                  </p:ext>
                </p:extLst>
              </p:nvPr>
            </p:nvGraphicFramePr>
            <p:xfrm>
              <a:off x="685800" y="3352800"/>
              <a:ext cx="8086585" cy="2109125"/>
            </p:xfrm>
            <a:graphic>
              <a:graphicData uri="http://schemas.openxmlformats.org/drawingml/2006/table">
                <a:tbl>
                  <a:tblPr firstRow="1" bandRow="1">
                    <a:tableStyleId>{5C22544A-7EE6-4342-B048-85BDC9FD1C3A}</a:tableStyleId>
                  </a:tblPr>
                  <a:tblGrid>
                    <a:gridCol w="838202">
                      <a:extLst>
                        <a:ext uri="{9D8B030D-6E8A-4147-A177-3AD203B41FA5}">
                          <a16:colId xmlns:a16="http://schemas.microsoft.com/office/drawing/2014/main" val="20000"/>
                        </a:ext>
                      </a:extLst>
                    </a:gridCol>
                    <a:gridCol w="380998">
                      <a:extLst>
                        <a:ext uri="{9D8B030D-6E8A-4147-A177-3AD203B41FA5}">
                          <a16:colId xmlns:a16="http://schemas.microsoft.com/office/drawing/2014/main" val="826155713"/>
                        </a:ext>
                      </a:extLst>
                    </a:gridCol>
                    <a:gridCol w="3810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1295400">
                      <a:extLst>
                        <a:ext uri="{9D8B030D-6E8A-4147-A177-3AD203B41FA5}">
                          <a16:colId xmlns:a16="http://schemas.microsoft.com/office/drawing/2014/main" val="20003"/>
                        </a:ext>
                      </a:extLst>
                    </a:gridCol>
                    <a:gridCol w="99060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gridCol w="1066800">
                      <a:extLst>
                        <a:ext uri="{9D8B030D-6E8A-4147-A177-3AD203B41FA5}">
                          <a16:colId xmlns:a16="http://schemas.microsoft.com/office/drawing/2014/main" val="20006"/>
                        </a:ext>
                      </a:extLst>
                    </a:gridCol>
                    <a:gridCol w="1152385">
                      <a:extLst>
                        <a:ext uri="{9D8B030D-6E8A-4147-A177-3AD203B41FA5}">
                          <a16:colId xmlns:a16="http://schemas.microsoft.com/office/drawing/2014/main" val="20007"/>
                        </a:ext>
                      </a:extLst>
                    </a:gridCol>
                  </a:tblGrid>
                  <a:tr h="304800">
                    <a:tc>
                      <a:txBody>
                        <a:bodyPr/>
                        <a:lstStyle/>
                        <a:p>
                          <a:pPr marL="0" marR="0" algn="ctr">
                            <a:spcBef>
                              <a:spcPts val="0"/>
                            </a:spcBef>
                            <a:spcAft>
                              <a:spcPts val="0"/>
                            </a:spcAft>
                          </a:pPr>
                          <a:r>
                            <a:rPr lang="en-US" sz="1800" b="1" dirty="0">
                              <a:latin typeface="Arial" panose="020B0604020202020204" pitchFamily="34" charset="0"/>
                              <a:ea typeface="Times New Roman"/>
                              <a:cs typeface="Arial" panose="020B0604020202020204" pitchFamily="34" charset="0"/>
                            </a:rPr>
                            <a:t>j</a:t>
                          </a:r>
                          <a:endParaRPr lang="en-US" sz="1800" dirty="0">
                            <a:latin typeface="Arial" panose="020B0604020202020204" pitchFamily="34" charset="0"/>
                            <a:ea typeface="Times New Roman"/>
                            <a:cs typeface="Arial" panose="020B0604020202020204" pitchFamily="34" charset="0"/>
                          </a:endParaRPr>
                        </a:p>
                      </a:txBody>
                      <a:tcPr marL="68580" marR="68580" marT="0" marB="0"/>
                    </a:tc>
                    <a:tc>
                      <a:txBody>
                        <a:bodyPr/>
                        <a:lstStyle/>
                        <a:p>
                          <a:pPr marL="0" marR="0" algn="ctr">
                            <a:spcBef>
                              <a:spcPts val="0"/>
                            </a:spcBef>
                            <a:spcAft>
                              <a:spcPts val="0"/>
                            </a:spcAft>
                          </a:pPr>
                          <a:r>
                            <a:rPr lang="en-US" sz="1800" dirty="0" smtClean="0">
                              <a:latin typeface="Arial" panose="020B0604020202020204" pitchFamily="34" charset="0"/>
                              <a:ea typeface="Times New Roman"/>
                              <a:cs typeface="Arial" panose="020B0604020202020204" pitchFamily="34" charset="0"/>
                            </a:rPr>
                            <a:t>0</a:t>
                          </a:r>
                          <a:endParaRPr lang="en-US" sz="1800" dirty="0">
                            <a:latin typeface="Arial" panose="020B0604020202020204" pitchFamily="34" charset="0"/>
                            <a:ea typeface="Times New Roman"/>
                            <a:cs typeface="Arial" panose="020B0604020202020204" pitchFamily="34" charset="0"/>
                          </a:endParaRPr>
                        </a:p>
                      </a:txBody>
                      <a:tcPr marL="68580" marR="68580" marT="0" marB="0"/>
                    </a:tc>
                    <a:tc>
                      <a:txBody>
                        <a:bodyPr/>
                        <a:lstStyle/>
                        <a:p>
                          <a:pPr marL="0" marR="0" algn="ctr">
                            <a:spcBef>
                              <a:spcPts val="0"/>
                            </a:spcBef>
                            <a:spcAft>
                              <a:spcPts val="0"/>
                            </a:spcAft>
                          </a:pPr>
                          <a:r>
                            <a:rPr lang="en-US" sz="1800" dirty="0">
                              <a:latin typeface="Arial" panose="020B0604020202020204" pitchFamily="34" charset="0"/>
                              <a:ea typeface="Times New Roman"/>
                              <a:cs typeface="Arial" panose="020B0604020202020204" pitchFamily="34" charset="0"/>
                            </a:rPr>
                            <a:t>1</a:t>
                          </a:r>
                        </a:p>
                      </a:txBody>
                      <a:tcPr marL="68580" marR="68580" marT="0" marB="0"/>
                    </a:tc>
                    <a:tc>
                      <a:txBody>
                        <a:bodyPr/>
                        <a:lstStyle/>
                        <a:p>
                          <a:pPr marL="0" marR="0" algn="ctr">
                            <a:spcBef>
                              <a:spcPts val="0"/>
                            </a:spcBef>
                            <a:spcAft>
                              <a:spcPts val="0"/>
                            </a:spcAft>
                          </a:pPr>
                          <a:r>
                            <a:rPr lang="en-US" sz="1800">
                              <a:latin typeface="Arial" panose="020B0604020202020204" pitchFamily="34" charset="0"/>
                              <a:ea typeface="Times New Roman"/>
                              <a:cs typeface="Arial" panose="020B0604020202020204" pitchFamily="34" charset="0"/>
                            </a:rPr>
                            <a:t>2</a:t>
                          </a:r>
                        </a:p>
                      </a:txBody>
                      <a:tcPr marL="68580" marR="68580" marT="0" marB="0"/>
                    </a:tc>
                    <a:tc>
                      <a:txBody>
                        <a:bodyPr/>
                        <a:lstStyle/>
                        <a:p>
                          <a:pPr marL="0" marR="0" algn="ctr">
                            <a:spcBef>
                              <a:spcPts val="0"/>
                            </a:spcBef>
                            <a:spcAft>
                              <a:spcPts val="0"/>
                            </a:spcAft>
                          </a:pPr>
                          <a:r>
                            <a:rPr lang="en-US" sz="1800">
                              <a:latin typeface="Arial" panose="020B0604020202020204" pitchFamily="34" charset="0"/>
                              <a:ea typeface="Times New Roman"/>
                              <a:cs typeface="Arial" panose="020B0604020202020204" pitchFamily="34" charset="0"/>
                            </a:rPr>
                            <a:t>3</a:t>
                          </a:r>
                        </a:p>
                      </a:txBody>
                      <a:tcPr marL="68580" marR="68580" marT="0" marB="0"/>
                    </a:tc>
                    <a:tc>
                      <a:txBody>
                        <a:bodyPr/>
                        <a:lstStyle/>
                        <a:p>
                          <a:pPr marL="0" marR="0" algn="ctr">
                            <a:spcBef>
                              <a:spcPts val="0"/>
                            </a:spcBef>
                            <a:spcAft>
                              <a:spcPts val="0"/>
                            </a:spcAft>
                          </a:pPr>
                          <a:r>
                            <a:rPr lang="en-US" sz="1800" dirty="0">
                              <a:latin typeface="Arial" panose="020B0604020202020204" pitchFamily="34" charset="0"/>
                              <a:ea typeface="Times New Roman"/>
                              <a:cs typeface="Arial" panose="020B0604020202020204" pitchFamily="34" charset="0"/>
                            </a:rPr>
                            <a:t>4</a:t>
                          </a:r>
                        </a:p>
                      </a:txBody>
                      <a:tcPr marL="68580" marR="68580" marT="0" marB="0"/>
                    </a:tc>
                    <a:tc>
                      <a:txBody>
                        <a:bodyPr/>
                        <a:lstStyle/>
                        <a:p>
                          <a:pPr marL="0" marR="0" algn="ctr">
                            <a:spcBef>
                              <a:spcPts val="0"/>
                            </a:spcBef>
                            <a:spcAft>
                              <a:spcPts val="0"/>
                            </a:spcAft>
                          </a:pPr>
                          <a:r>
                            <a:rPr lang="en-US" sz="1800" dirty="0">
                              <a:latin typeface="Arial" panose="020B0604020202020204" pitchFamily="34" charset="0"/>
                              <a:ea typeface="Times New Roman"/>
                              <a:cs typeface="Arial" panose="020B0604020202020204" pitchFamily="34" charset="0"/>
                            </a:rPr>
                            <a:t>5</a:t>
                          </a:r>
                        </a:p>
                      </a:txBody>
                      <a:tcPr marL="68580" marR="68580" marT="0" marB="0"/>
                    </a:tc>
                    <a:tc>
                      <a:txBody>
                        <a:bodyPr/>
                        <a:lstStyle/>
                        <a:p>
                          <a:pPr marL="0" marR="0" algn="ctr">
                            <a:spcBef>
                              <a:spcPts val="0"/>
                            </a:spcBef>
                            <a:spcAft>
                              <a:spcPts val="0"/>
                            </a:spcAft>
                          </a:pPr>
                          <a:r>
                            <a:rPr lang="en-US" sz="1800" dirty="0">
                              <a:latin typeface="Arial" panose="020B0604020202020204" pitchFamily="34" charset="0"/>
                              <a:ea typeface="Times New Roman"/>
                              <a:cs typeface="Arial" panose="020B0604020202020204" pitchFamily="34" charset="0"/>
                            </a:rPr>
                            <a:t>6</a:t>
                          </a:r>
                        </a:p>
                      </a:txBody>
                      <a:tcPr marL="68580" marR="68580" marT="0" marB="0"/>
                    </a:tc>
                    <a:tc>
                      <a:txBody>
                        <a:bodyPr/>
                        <a:lstStyle/>
                        <a:p>
                          <a:pPr marL="0" marR="0" algn="ctr">
                            <a:spcBef>
                              <a:spcPts val="0"/>
                            </a:spcBef>
                            <a:spcAft>
                              <a:spcPts val="0"/>
                            </a:spcAft>
                          </a:pPr>
                          <a:r>
                            <a:rPr lang="en-US" sz="1800">
                              <a:latin typeface="Arial" panose="020B0604020202020204" pitchFamily="34" charset="0"/>
                              <a:ea typeface="Times New Roman"/>
                              <a:cs typeface="Arial" panose="020B0604020202020204" pitchFamily="34" charset="0"/>
                            </a:rPr>
                            <a:t>7</a:t>
                          </a:r>
                        </a:p>
                      </a:txBody>
                      <a:tcPr marL="68580" marR="68580" marT="0" marB="0"/>
                    </a:tc>
                    <a:extLst>
                      <a:ext uri="{0D108BD9-81ED-4DB2-BD59-A6C34878D82A}">
                        <a16:rowId xmlns:a16="http://schemas.microsoft.com/office/drawing/2014/main" val="10000"/>
                      </a:ext>
                    </a:extLst>
                  </a:tr>
                  <a:tr h="342119">
                    <a:tc>
                      <a:txBody>
                        <a:bodyPr/>
                        <a:lstStyle/>
                        <a:p>
                          <a:pPr marL="0" marR="0" algn="ctr">
                            <a:spcBef>
                              <a:spcPts val="0"/>
                            </a:spcBef>
                            <a:spcAft>
                              <a:spcPts val="0"/>
                            </a:spcAft>
                          </a:pPr>
                          <a:r>
                            <a:rPr lang="en-US" sz="1600" b="0" dirty="0" smtClean="0">
                              <a:latin typeface="Arial" panose="020B0604020202020204" pitchFamily="34" charset="0"/>
                              <a:ea typeface="Times New Roman"/>
                              <a:cs typeface="Arial" panose="020B0604020202020204" pitchFamily="34" charset="0"/>
                            </a:rPr>
                            <a:t>p</a:t>
                          </a:r>
                          <a:r>
                            <a:rPr lang="en-US" sz="1600" b="0" baseline="-25000" dirty="0" smtClean="0">
                              <a:latin typeface="Arial" panose="020B0604020202020204" pitchFamily="34" charset="0"/>
                              <a:ea typeface="Times New Roman"/>
                              <a:cs typeface="Arial" panose="020B0604020202020204" pitchFamily="34" charset="0"/>
                            </a:rPr>
                            <a:t>0</a:t>
                          </a:r>
                          <a:r>
                            <a:rPr lang="en-US" sz="1600" b="0" dirty="0" smtClean="0">
                              <a:latin typeface="Arial" panose="020B0604020202020204" pitchFamily="34" charset="0"/>
                              <a:ea typeface="Times New Roman"/>
                              <a:cs typeface="Arial" panose="020B0604020202020204" pitchFamily="34" charset="0"/>
                            </a:rPr>
                            <a:t>..p</a:t>
                          </a:r>
                          <a:r>
                            <a:rPr lang="en-US" sz="1600" b="0" baseline="-25000" dirty="0" smtClean="0">
                              <a:latin typeface="Arial" panose="020B0604020202020204" pitchFamily="34" charset="0"/>
                              <a:ea typeface="Times New Roman"/>
                              <a:cs typeface="Arial" panose="020B0604020202020204" pitchFamily="34" charset="0"/>
                            </a:rPr>
                            <a:t>j-1</a:t>
                          </a:r>
                          <a:endParaRPr lang="en-US" sz="1600" b="0" baseline="-25000" dirty="0">
                            <a:latin typeface="Arial" panose="020B0604020202020204" pitchFamily="34" charset="0"/>
                            <a:ea typeface="Times New Roman"/>
                            <a:cs typeface="Arial" panose="020B0604020202020204" pitchFamily="34" charset="0"/>
                          </a:endParaRPr>
                        </a:p>
                      </a:txBody>
                      <a:tcPr marL="68580" marR="68580" marT="0" marB="0">
                        <a:solidFill>
                          <a:schemeClr val="accent1">
                            <a:lumMod val="60000"/>
                            <a:lumOff val="40000"/>
                          </a:schemeClr>
                        </a:solidFill>
                      </a:tcPr>
                    </a:tc>
                    <a:tc>
                      <a:txBody>
                        <a:bodyPr/>
                        <a:lstStyle/>
                        <a:p>
                          <a:pPr marL="0" marR="0" algn="ctr">
                            <a:spcBef>
                              <a:spcPts val="0"/>
                            </a:spcBef>
                            <a:spcAft>
                              <a:spcPts val="0"/>
                            </a:spcAft>
                          </a:pPr>
                          <a:endParaRPr lang="en-US" sz="1400" dirty="0">
                            <a:latin typeface="Arial" panose="020B0604020202020204" pitchFamily="34" charset="0"/>
                            <a:ea typeface="Times New Roman"/>
                            <a:cs typeface="Arial" panose="020B0604020202020204" pitchFamily="34" charset="0"/>
                          </a:endParaRPr>
                        </a:p>
                      </a:txBody>
                      <a:tcPr marL="68580" marR="68580" marT="0" marB="0"/>
                    </a:tc>
                    <a:tc>
                      <a:txBody>
                        <a:bodyPr/>
                        <a:lstStyle/>
                        <a:p>
                          <a:pPr marL="0" marR="0" algn="ctr">
                            <a:spcBef>
                              <a:spcPts val="0"/>
                            </a:spcBef>
                            <a:spcAft>
                              <a:spcPts val="0"/>
                            </a:spcAft>
                          </a:pPr>
                          <a:r>
                            <a:rPr lang="en-US" sz="1400" b="1" dirty="0">
                              <a:latin typeface="Arial" panose="020B0604020202020204" pitchFamily="34" charset="0"/>
                              <a:ea typeface="Times New Roman"/>
                              <a:cs typeface="Arial" panose="020B0604020202020204" pitchFamily="34" charset="0"/>
                            </a:rPr>
                            <a:t>1</a:t>
                          </a:r>
                          <a:endParaRPr lang="en-US" sz="1400" dirty="0">
                            <a:latin typeface="Arial" panose="020B0604020202020204" pitchFamily="34" charset="0"/>
                            <a:ea typeface="Times New Roman"/>
                            <a:cs typeface="Arial" panose="020B0604020202020204" pitchFamily="34" charset="0"/>
                          </a:endParaRPr>
                        </a:p>
                      </a:txBody>
                      <a:tcPr marL="68580" marR="68580" marT="0" marB="0"/>
                    </a:tc>
                    <a:tc>
                      <a:txBody>
                        <a:bodyPr/>
                        <a:lstStyle/>
                        <a:p>
                          <a:pPr marL="0" marR="0" algn="ctr">
                            <a:spcBef>
                              <a:spcPts val="0"/>
                            </a:spcBef>
                            <a:spcAft>
                              <a:spcPts val="0"/>
                            </a:spcAft>
                          </a:pPr>
                          <a:r>
                            <a:rPr lang="en-US" sz="1400" b="1" dirty="0">
                              <a:latin typeface="Arial" panose="020B0604020202020204" pitchFamily="34" charset="0"/>
                              <a:ea typeface="Times New Roman"/>
                              <a:cs typeface="Arial" panose="020B0604020202020204" pitchFamily="34" charset="0"/>
                            </a:rPr>
                            <a:t>10</a:t>
                          </a:r>
                          <a:endParaRPr lang="en-US" sz="1400" dirty="0">
                            <a:latin typeface="Arial" panose="020B0604020202020204" pitchFamily="34" charset="0"/>
                            <a:ea typeface="Times New Roman"/>
                            <a:cs typeface="Arial" panose="020B0604020202020204" pitchFamily="34" charset="0"/>
                          </a:endParaRPr>
                        </a:p>
                      </a:txBody>
                      <a:tcPr marL="68580" marR="68580" marT="0" marB="0"/>
                    </a:tc>
                    <a:tc>
                      <a:txBody>
                        <a:bodyPr/>
                        <a:lstStyle/>
                        <a:p>
                          <a:pPr marL="0" marR="0" algn="ctr">
                            <a:spcBef>
                              <a:spcPts val="0"/>
                            </a:spcBef>
                            <a:spcAft>
                              <a:spcPts val="0"/>
                            </a:spcAft>
                          </a:pPr>
                          <a:r>
                            <a:rPr lang="en-US" sz="1400" b="1" dirty="0">
                              <a:latin typeface="Arial" panose="020B0604020202020204" pitchFamily="34" charset="0"/>
                              <a:ea typeface="Times New Roman"/>
                              <a:cs typeface="Arial" panose="020B0604020202020204" pitchFamily="34" charset="0"/>
                            </a:rPr>
                            <a:t>101</a:t>
                          </a:r>
                          <a:endParaRPr lang="en-US" sz="1400" dirty="0">
                            <a:latin typeface="Arial" panose="020B0604020202020204" pitchFamily="34" charset="0"/>
                            <a:ea typeface="Times New Roman"/>
                            <a:cs typeface="Arial" panose="020B0604020202020204" pitchFamily="34" charset="0"/>
                          </a:endParaRPr>
                        </a:p>
                      </a:txBody>
                      <a:tcPr marL="68580" marR="68580" marT="0" marB="0"/>
                    </a:tc>
                    <a:tc>
                      <a:txBody>
                        <a:bodyPr/>
                        <a:lstStyle/>
                        <a:p>
                          <a:pPr marL="0" marR="0" algn="ctr">
                            <a:spcBef>
                              <a:spcPts val="0"/>
                            </a:spcBef>
                            <a:spcAft>
                              <a:spcPts val="0"/>
                            </a:spcAft>
                          </a:pPr>
                          <a:r>
                            <a:rPr lang="en-US" sz="1400" b="1" dirty="0" smtClean="0">
                              <a:latin typeface="Arial" panose="020B0604020202020204" pitchFamily="34" charset="0"/>
                              <a:ea typeface="Times New Roman"/>
                              <a:cs typeface="Arial" panose="020B0604020202020204" pitchFamily="34" charset="0"/>
                            </a:rPr>
                            <a:t>1011----</a:t>
                          </a:r>
                          <a:endParaRPr lang="en-US" sz="1400" dirty="0">
                            <a:latin typeface="Arial" panose="020B0604020202020204" pitchFamily="34" charset="0"/>
                            <a:ea typeface="Times New Roman"/>
                            <a:cs typeface="Arial" panose="020B0604020202020204" pitchFamily="34" charset="0"/>
                          </a:endParaRPr>
                        </a:p>
                      </a:txBody>
                      <a:tcPr marL="68580" marR="68580" marT="0" marB="0"/>
                    </a:tc>
                    <a:tc>
                      <a:txBody>
                        <a:bodyPr/>
                        <a:lstStyle/>
                        <a:p>
                          <a:pPr marL="0" marR="0" algn="ctr">
                            <a:spcBef>
                              <a:spcPts val="0"/>
                            </a:spcBef>
                            <a:spcAft>
                              <a:spcPts val="0"/>
                            </a:spcAft>
                          </a:pPr>
                          <a:r>
                            <a:rPr lang="en-US" sz="1400" b="1" dirty="0" smtClean="0">
                              <a:latin typeface="Arial" panose="020B0604020202020204" pitchFamily="34" charset="0"/>
                              <a:ea typeface="Times New Roman"/>
                              <a:cs typeface="Arial" panose="020B0604020202020204" pitchFamily="34" charset="0"/>
                            </a:rPr>
                            <a:t>10110---</a:t>
                          </a:r>
                          <a:endParaRPr lang="en-US" sz="1400" dirty="0">
                            <a:latin typeface="Arial" panose="020B0604020202020204" pitchFamily="34" charset="0"/>
                            <a:ea typeface="Times New Roman"/>
                            <a:cs typeface="Arial" panose="020B0604020202020204" pitchFamily="34" charset="0"/>
                          </a:endParaRPr>
                        </a:p>
                      </a:txBody>
                      <a:tcPr marL="68580" marR="68580" marT="0" marB="0"/>
                    </a:tc>
                    <a:tc>
                      <a:txBody>
                        <a:bodyPr/>
                        <a:lstStyle/>
                        <a:p>
                          <a:pPr marL="0" marR="0" algn="ctr">
                            <a:spcBef>
                              <a:spcPts val="0"/>
                            </a:spcBef>
                            <a:spcAft>
                              <a:spcPts val="0"/>
                            </a:spcAft>
                          </a:pPr>
                          <a:r>
                            <a:rPr lang="en-US" sz="1400" b="1" dirty="0" smtClean="0">
                              <a:latin typeface="Arial" panose="020B0604020202020204" pitchFamily="34" charset="0"/>
                              <a:ea typeface="Times New Roman"/>
                              <a:cs typeface="Arial" panose="020B0604020202020204" pitchFamily="34" charset="0"/>
                            </a:rPr>
                            <a:t>101101--</a:t>
                          </a:r>
                          <a:endParaRPr lang="en-US" sz="1400" dirty="0">
                            <a:latin typeface="Arial" panose="020B0604020202020204" pitchFamily="34" charset="0"/>
                            <a:ea typeface="Times New Roman"/>
                            <a:cs typeface="Arial" panose="020B0604020202020204" pitchFamily="34" charset="0"/>
                          </a:endParaRPr>
                        </a:p>
                      </a:txBody>
                      <a:tcPr marL="68580" marR="68580" marT="0" marB="0"/>
                    </a:tc>
                    <a:tc>
                      <a:txBody>
                        <a:bodyPr/>
                        <a:lstStyle/>
                        <a:p>
                          <a:pPr marL="0" marR="0" algn="ctr">
                            <a:spcBef>
                              <a:spcPts val="0"/>
                            </a:spcBef>
                            <a:spcAft>
                              <a:spcPts val="0"/>
                            </a:spcAft>
                          </a:pPr>
                          <a:r>
                            <a:rPr lang="en-US" sz="1400" b="1" dirty="0" smtClean="0">
                              <a:latin typeface="Arial" panose="020B0604020202020204" pitchFamily="34" charset="0"/>
                              <a:ea typeface="Times New Roman"/>
                              <a:cs typeface="Arial" panose="020B0604020202020204" pitchFamily="34" charset="0"/>
                            </a:rPr>
                            <a:t>1011011-</a:t>
                          </a:r>
                          <a:endParaRPr lang="en-US" sz="1400" dirty="0">
                            <a:latin typeface="Arial" panose="020B0604020202020204" pitchFamily="34" charset="0"/>
                            <a:ea typeface="Times New Roman"/>
                            <a:cs typeface="Arial" panose="020B0604020202020204" pitchFamily="34" charset="0"/>
                          </a:endParaRPr>
                        </a:p>
                      </a:txBody>
                      <a:tcPr marL="68580" marR="68580" marT="0" marB="0"/>
                    </a:tc>
                    <a:extLst>
                      <a:ext uri="{0D108BD9-81ED-4DB2-BD59-A6C34878D82A}">
                        <a16:rowId xmlns:a16="http://schemas.microsoft.com/office/drawing/2014/main" val="10001"/>
                      </a:ext>
                    </a:extLst>
                  </a:tr>
                  <a:tr h="731103">
                    <a:tc>
                      <a:txBody>
                        <a:bodyPr/>
                        <a:lstStyle/>
                        <a:p>
                          <a:pPr marL="0" marR="0" algn="ctr">
                            <a:spcBef>
                              <a:spcPts val="0"/>
                            </a:spcBef>
                            <a:spcAft>
                              <a:spcPts val="0"/>
                            </a:spcAft>
                          </a:pPr>
                          <a:r>
                            <a:rPr lang="en-US" sz="1600" b="0" dirty="0">
                              <a:latin typeface="Arial" panose="020B0604020202020204" pitchFamily="34" charset="0"/>
                              <a:ea typeface="Times New Roman"/>
                              <a:cs typeface="Arial" panose="020B0604020202020204" pitchFamily="34" charset="0"/>
                            </a:rPr>
                            <a:t>k</a:t>
                          </a:r>
                        </a:p>
                      </a:txBody>
                      <a:tcPr marL="68580" marR="68580" marT="0" marB="0">
                        <a:solidFill>
                          <a:schemeClr val="accent1">
                            <a:lumMod val="60000"/>
                            <a:lumOff val="40000"/>
                          </a:schemeClr>
                        </a:solidFill>
                      </a:tcPr>
                    </a:tc>
                    <a:tc>
                      <a:txBody>
                        <a:bodyPr/>
                        <a:lstStyle/>
                        <a:p>
                          <a:pPr marL="0" marR="0" algn="ctr">
                            <a:spcBef>
                              <a:spcPts val="0"/>
                            </a:spcBef>
                            <a:spcAft>
                              <a:spcPts val="0"/>
                            </a:spcAft>
                          </a:pPr>
                          <a:endParaRPr lang="en-US" sz="1400" b="1" dirty="0">
                            <a:latin typeface="Arial" panose="020B0604020202020204" pitchFamily="34" charset="0"/>
                            <a:ea typeface="Times New Roman"/>
                            <a:cs typeface="Arial" panose="020B0604020202020204" pitchFamily="34" charset="0"/>
                          </a:endParaRPr>
                        </a:p>
                      </a:txBody>
                      <a:tcPr marL="68580" marR="68580" marT="0" marB="0"/>
                    </a:tc>
                    <a:tc>
                      <a:txBody>
                        <a:bodyPr/>
                        <a:lstStyle/>
                        <a:p>
                          <a:pPr marL="0" marR="0" algn="ctr">
                            <a:spcBef>
                              <a:spcPts val="0"/>
                            </a:spcBef>
                            <a:spcAft>
                              <a:spcPts val="0"/>
                            </a:spcAft>
                          </a:pPr>
                          <a:endParaRPr lang="en-US" sz="1400" b="1" dirty="0">
                            <a:latin typeface="Arial" panose="020B0604020202020204" pitchFamily="34" charset="0"/>
                            <a:ea typeface="Times New Roman"/>
                            <a:cs typeface="Arial" panose="020B0604020202020204" pitchFamily="34" charset="0"/>
                          </a:endParaRPr>
                        </a:p>
                      </a:txBody>
                      <a:tcPr marL="68580" marR="68580" marT="0" marB="0"/>
                    </a:tc>
                    <a:tc>
                      <a:txBody>
                        <a:bodyPr/>
                        <a:lstStyle/>
                        <a:p>
                          <a:pPr marL="0" marR="0" algn="ctr">
                            <a:spcBef>
                              <a:spcPts val="0"/>
                            </a:spcBef>
                            <a:spcAft>
                              <a:spcPts val="0"/>
                            </a:spcAft>
                          </a:pPr>
                          <a:r>
                            <a:rPr lang="en-US" sz="1400" b="1" strike="sngStrike" dirty="0" smtClean="0">
                              <a:latin typeface="Arial" panose="020B0604020202020204" pitchFamily="34" charset="0"/>
                              <a:ea typeface="Times New Roman"/>
                              <a:cs typeface="Arial" panose="020B0604020202020204" pitchFamily="34" charset="0"/>
                            </a:rPr>
                            <a:t>1</a:t>
                          </a:r>
                        </a:p>
                        <a:p>
                          <a:pPr marL="0" marR="0" indent="0" algn="l" defTabSz="685800" rtl="0" eaLnBrk="1" fontAlgn="auto" latinLnBrk="0" hangingPunct="1">
                            <a:lnSpc>
                              <a:spcPct val="100000"/>
                            </a:lnSpc>
                            <a:spcBef>
                              <a:spcPts val="0"/>
                            </a:spcBef>
                            <a:spcAft>
                              <a:spcPts val="0"/>
                            </a:spcAft>
                            <a:buClrTx/>
                            <a:buSzTx/>
                            <a:buFontTx/>
                            <a:buNone/>
                            <a:tabLst/>
                            <a:defRPr/>
                          </a:pPr>
                          <a:r>
                            <a:rPr lang="en-US" sz="1400" dirty="0" smtClean="0">
                              <a:latin typeface="Arial" panose="020B0604020202020204" pitchFamily="34" charset="0"/>
                              <a:ea typeface="Times New Roman"/>
                              <a:cs typeface="Arial" panose="020B0604020202020204" pitchFamily="34" charset="0"/>
                            </a:rPr>
                            <a:t>k=1: p</a:t>
                          </a:r>
                          <a:r>
                            <a:rPr lang="en-US" sz="1400" baseline="-25000" dirty="0" smtClean="0">
                              <a:latin typeface="Arial" panose="020B0604020202020204" pitchFamily="34" charset="0"/>
                              <a:ea typeface="Times New Roman"/>
                              <a:cs typeface="Arial" panose="020B0604020202020204" pitchFamily="34" charset="0"/>
                            </a:rPr>
                            <a:t>0</a:t>
                          </a:r>
                          <a:r>
                            <a:rPr lang="en-US" sz="1400" baseline="0" dirty="0" smtClean="0">
                              <a:latin typeface="Arial" panose="020B0604020202020204" pitchFamily="34" charset="0"/>
                              <a:ea typeface="Times New Roman"/>
                              <a:cs typeface="Arial" panose="020B0604020202020204" pitchFamily="34" charset="0"/>
                            </a:rPr>
                            <a:t> ≠p</a:t>
                          </a:r>
                          <a:r>
                            <a:rPr lang="en-US" sz="1400" baseline="-25000" dirty="0" smtClean="0">
                              <a:latin typeface="Arial" panose="020B0604020202020204" pitchFamily="34" charset="0"/>
                              <a:ea typeface="Times New Roman"/>
                              <a:cs typeface="Arial" panose="020B0604020202020204" pitchFamily="34" charset="0"/>
                            </a:rPr>
                            <a:t>1</a:t>
                          </a:r>
                        </a:p>
                      </a:txBody>
                      <a:tcPr marL="68580" marR="68580" marT="0" marB="0"/>
                    </a:tc>
                    <a:tc>
                      <a:txBody>
                        <a:bodyPr/>
                        <a:lstStyle/>
                        <a:p>
                          <a:pPr marL="0" marR="0" algn="ctr">
                            <a:spcBef>
                              <a:spcPts val="0"/>
                            </a:spcBef>
                            <a:spcAft>
                              <a:spcPts val="0"/>
                            </a:spcAft>
                          </a:pPr>
                          <a:r>
                            <a:rPr lang="en-US" sz="1400" b="1" dirty="0" smtClean="0">
                              <a:solidFill>
                                <a:srgbClr val="FF0000"/>
                              </a:solidFill>
                              <a:latin typeface="Arial" panose="020B0604020202020204" pitchFamily="34" charset="0"/>
                              <a:ea typeface="Times New Roman"/>
                              <a:cs typeface="Arial" panose="020B0604020202020204" pitchFamily="34" charset="0"/>
                            </a:rPr>
                            <a:t>1</a:t>
                          </a:r>
                          <a:r>
                            <a:rPr lang="en-US" sz="1400" b="1" strike="noStrike" dirty="0" smtClean="0">
                              <a:latin typeface="Arial" panose="020B0604020202020204" pitchFamily="34" charset="0"/>
                              <a:ea typeface="Times New Roman"/>
                              <a:cs typeface="Arial" panose="020B0604020202020204" pitchFamily="34" charset="0"/>
                            </a:rPr>
                            <a:t>, </a:t>
                          </a:r>
                          <a:r>
                            <a:rPr lang="en-US" sz="1400" b="1" strike="sngStrike" dirty="0" smtClean="0">
                              <a:latin typeface="Arial" panose="020B0604020202020204" pitchFamily="34" charset="0"/>
                              <a:ea typeface="Times New Roman"/>
                              <a:cs typeface="Arial" panose="020B0604020202020204" pitchFamily="34" charset="0"/>
                            </a:rPr>
                            <a:t>2</a:t>
                          </a:r>
                        </a:p>
                        <a:p>
                          <a:pPr marL="0" marR="0" algn="l">
                            <a:spcBef>
                              <a:spcPts val="0"/>
                            </a:spcBef>
                            <a:spcAft>
                              <a:spcPts val="0"/>
                            </a:spcAft>
                          </a:pPr>
                          <a:r>
                            <a:rPr lang="en-US" sz="1400" b="0" dirty="0" smtClean="0">
                              <a:latin typeface="Arial" panose="020B0604020202020204" pitchFamily="34" charset="0"/>
                              <a:ea typeface="Times New Roman"/>
                              <a:cs typeface="Arial" panose="020B0604020202020204" pitchFamily="34" charset="0"/>
                            </a:rPr>
                            <a:t>k=1: p</a:t>
                          </a:r>
                          <a:r>
                            <a:rPr lang="en-US" sz="1400" b="0" baseline="-25000" dirty="0" smtClean="0">
                              <a:latin typeface="Arial" panose="020B0604020202020204" pitchFamily="34" charset="0"/>
                              <a:ea typeface="Times New Roman"/>
                              <a:cs typeface="Arial" panose="020B0604020202020204" pitchFamily="34" charset="0"/>
                            </a:rPr>
                            <a:t>0</a:t>
                          </a:r>
                          <a:r>
                            <a:rPr lang="en-US" sz="1400" b="0" dirty="0" smtClean="0">
                              <a:latin typeface="Arial" panose="020B0604020202020204" pitchFamily="34" charset="0"/>
                              <a:ea typeface="Times New Roman"/>
                              <a:cs typeface="Arial" panose="020B0604020202020204" pitchFamily="34" charset="0"/>
                            </a:rPr>
                            <a:t>=p</a:t>
                          </a:r>
                          <a:r>
                            <a:rPr lang="en-US" sz="1400" b="0" baseline="-25000" dirty="0" smtClean="0">
                              <a:latin typeface="Arial" panose="020B0604020202020204" pitchFamily="34" charset="0"/>
                              <a:ea typeface="Times New Roman"/>
                              <a:cs typeface="Arial" panose="020B0604020202020204" pitchFamily="34" charset="0"/>
                            </a:rPr>
                            <a:t>2</a:t>
                          </a:r>
                        </a:p>
                        <a:p>
                          <a:pPr marL="0" marR="0" algn="l">
                            <a:spcBef>
                              <a:spcPts val="0"/>
                            </a:spcBef>
                            <a:spcAft>
                              <a:spcPts val="0"/>
                            </a:spcAft>
                          </a:pPr>
                          <a:r>
                            <a:rPr lang="en-US" sz="1400" b="0" baseline="0" dirty="0" smtClean="0">
                              <a:effectLst/>
                              <a:latin typeface="Arial" panose="020B0604020202020204" pitchFamily="34" charset="0"/>
                              <a:ea typeface="Times New Roman"/>
                              <a:cs typeface="Arial" panose="020B0604020202020204" pitchFamily="34" charset="0"/>
                            </a:rPr>
                            <a:t>k=2: p</a:t>
                          </a:r>
                          <a:r>
                            <a:rPr lang="en-US" sz="1400" b="0" baseline="-25000" dirty="0" smtClean="0">
                              <a:effectLst/>
                              <a:latin typeface="Arial" panose="020B0604020202020204" pitchFamily="34" charset="0"/>
                              <a:ea typeface="Times New Roman"/>
                              <a:cs typeface="Arial" panose="020B0604020202020204" pitchFamily="34" charset="0"/>
                            </a:rPr>
                            <a:t>0</a:t>
                          </a:r>
                          <a:r>
                            <a:rPr lang="en-US" sz="1400" b="0" baseline="0" dirty="0" smtClean="0">
                              <a:effectLst/>
                              <a:latin typeface="Arial" panose="020B0604020202020204" pitchFamily="34" charset="0"/>
                              <a:ea typeface="Times New Roman"/>
                              <a:cs typeface="Arial" panose="020B0604020202020204" pitchFamily="34" charset="0"/>
                            </a:rPr>
                            <a:t>p</a:t>
                          </a:r>
                          <a:r>
                            <a:rPr lang="en-US" sz="1400" b="0" baseline="-25000" dirty="0" smtClean="0">
                              <a:effectLst/>
                              <a:latin typeface="Arial" panose="020B0604020202020204" pitchFamily="34" charset="0"/>
                              <a:ea typeface="Times New Roman"/>
                              <a:cs typeface="Arial" panose="020B0604020202020204" pitchFamily="34" charset="0"/>
                            </a:rPr>
                            <a:t>1</a:t>
                          </a:r>
                          <a:r>
                            <a:rPr lang="en-US" sz="1400" b="0" baseline="0" dirty="0" smtClean="0">
                              <a:effectLst/>
                              <a:latin typeface="Arial" panose="020B0604020202020204" pitchFamily="34" charset="0"/>
                              <a:ea typeface="Times New Roman"/>
                              <a:cs typeface="Arial" panose="020B0604020202020204" pitchFamily="34" charset="0"/>
                            </a:rPr>
                            <a:t>≠p</a:t>
                          </a:r>
                          <a:r>
                            <a:rPr lang="en-US" sz="1400" b="0" baseline="-25000" dirty="0" smtClean="0">
                              <a:effectLst/>
                              <a:latin typeface="Arial" panose="020B0604020202020204" pitchFamily="34" charset="0"/>
                              <a:ea typeface="Times New Roman"/>
                              <a:cs typeface="Arial" panose="020B0604020202020204" pitchFamily="34" charset="0"/>
                            </a:rPr>
                            <a:t>1</a:t>
                          </a:r>
                          <a:r>
                            <a:rPr lang="en-US" sz="1400" b="0" baseline="0" dirty="0" smtClean="0">
                              <a:effectLst/>
                              <a:latin typeface="Arial" panose="020B0604020202020204" pitchFamily="34" charset="0"/>
                              <a:ea typeface="Times New Roman"/>
                              <a:cs typeface="Arial" panose="020B0604020202020204" pitchFamily="34" charset="0"/>
                            </a:rPr>
                            <a:t>p</a:t>
                          </a:r>
                          <a:r>
                            <a:rPr lang="en-US" sz="1400" baseline="-25000" dirty="0" smtClean="0">
                              <a:effectLst/>
                              <a:latin typeface="Arial" panose="020B0604020202020204" pitchFamily="34" charset="0"/>
                              <a:ea typeface="Times New Roman"/>
                              <a:cs typeface="Arial" panose="020B0604020202020204" pitchFamily="34" charset="0"/>
                            </a:rPr>
                            <a:t>2</a:t>
                          </a:r>
                          <a:r>
                            <a:rPr lang="en-US" sz="1400" b="1" baseline="0" dirty="0" smtClean="0">
                              <a:effectLst/>
                              <a:latin typeface="Arial" panose="020B0604020202020204" pitchFamily="34" charset="0"/>
                              <a:ea typeface="Times New Roman"/>
                              <a:cs typeface="Arial" panose="020B0604020202020204" pitchFamily="34" charset="0"/>
                            </a:rPr>
                            <a:t> </a:t>
                          </a:r>
                          <a:endParaRPr lang="en-US" sz="1400" b="1" baseline="0" dirty="0">
                            <a:effectLst/>
                            <a:latin typeface="Arial" panose="020B0604020202020204" pitchFamily="34" charset="0"/>
                            <a:ea typeface="Times New Roman"/>
                            <a:cs typeface="Arial" panose="020B0604020202020204" pitchFamily="34" charset="0"/>
                          </a:endParaRPr>
                        </a:p>
                      </a:txBody>
                      <a:tcPr marL="68580" marR="68580" marT="0" marB="0"/>
                    </a:tc>
                    <a:tc>
                      <a:txBody>
                        <a:bodyPr/>
                        <a:lstStyle/>
                        <a:p>
                          <a:pPr marL="0" marR="0" algn="ctr">
                            <a:spcBef>
                              <a:spcPts val="0"/>
                            </a:spcBef>
                            <a:spcAft>
                              <a:spcPts val="0"/>
                            </a:spcAft>
                          </a:pPr>
                          <a:r>
                            <a:rPr lang="en-US" sz="1400" b="1" dirty="0" smtClean="0">
                              <a:solidFill>
                                <a:srgbClr val="FF0000"/>
                              </a:solidFill>
                              <a:latin typeface="Arial" panose="020B0604020202020204" pitchFamily="34" charset="0"/>
                              <a:ea typeface="Times New Roman"/>
                              <a:cs typeface="Arial" panose="020B0604020202020204" pitchFamily="34" charset="0"/>
                            </a:rPr>
                            <a:t>1</a:t>
                          </a:r>
                          <a:r>
                            <a:rPr lang="en-US" sz="1400" b="1" dirty="0" smtClean="0">
                              <a:latin typeface="Arial" panose="020B0604020202020204" pitchFamily="34" charset="0"/>
                              <a:ea typeface="Times New Roman"/>
                              <a:cs typeface="Arial" panose="020B0604020202020204" pitchFamily="34" charset="0"/>
                            </a:rPr>
                            <a:t>, </a:t>
                          </a:r>
                          <a:r>
                            <a:rPr lang="en-US" sz="1400" b="1" strike="sngStrike" dirty="0" smtClean="0">
                              <a:latin typeface="Arial" panose="020B0604020202020204" pitchFamily="34" charset="0"/>
                              <a:ea typeface="Times New Roman"/>
                              <a:cs typeface="Arial" panose="020B0604020202020204" pitchFamily="34" charset="0"/>
                            </a:rPr>
                            <a:t>2, 3</a:t>
                          </a:r>
                          <a:endParaRPr lang="en-US" sz="1400" b="1" strike="sngStrike" dirty="0">
                            <a:latin typeface="Arial" panose="020B0604020202020204" pitchFamily="34" charset="0"/>
                            <a:ea typeface="Times New Roman"/>
                            <a:cs typeface="Arial" panose="020B0604020202020204" pitchFamily="34" charset="0"/>
                          </a:endParaRPr>
                        </a:p>
                      </a:txBody>
                      <a:tcPr marL="68580" marR="68580" marT="0" marB="0"/>
                    </a:tc>
                    <a:tc>
                      <a:txBody>
                        <a:bodyPr/>
                        <a:lstStyle/>
                        <a:p>
                          <a:pPr marL="0" marR="0" algn="ctr">
                            <a:spcBef>
                              <a:spcPts val="0"/>
                            </a:spcBef>
                            <a:spcAft>
                              <a:spcPts val="0"/>
                            </a:spcAft>
                          </a:pPr>
                          <a:r>
                            <a:rPr lang="en-US" sz="1400" b="1" strike="sngStrike" dirty="0" smtClean="0">
                              <a:latin typeface="Arial" panose="020B0604020202020204" pitchFamily="34" charset="0"/>
                              <a:ea typeface="Times New Roman"/>
                              <a:cs typeface="Arial" panose="020B0604020202020204" pitchFamily="34" charset="0"/>
                            </a:rPr>
                            <a:t>1</a:t>
                          </a:r>
                          <a:r>
                            <a:rPr lang="en-US" sz="1400" b="1" strike="noStrike" dirty="0" smtClean="0">
                              <a:latin typeface="Arial" panose="020B0604020202020204" pitchFamily="34" charset="0"/>
                              <a:ea typeface="Times New Roman"/>
                              <a:cs typeface="Arial" panose="020B0604020202020204" pitchFamily="34" charset="0"/>
                            </a:rPr>
                            <a:t>, </a:t>
                          </a:r>
                          <a:r>
                            <a:rPr lang="en-US" sz="1400" b="1" dirty="0" smtClean="0">
                              <a:solidFill>
                                <a:srgbClr val="FF0000"/>
                              </a:solidFill>
                              <a:latin typeface="Arial" panose="020B0604020202020204" pitchFamily="34" charset="0"/>
                              <a:ea typeface="Times New Roman"/>
                              <a:cs typeface="Arial" panose="020B0604020202020204" pitchFamily="34" charset="0"/>
                            </a:rPr>
                            <a:t>2</a:t>
                          </a:r>
                          <a:r>
                            <a:rPr lang="en-US" sz="1400" b="1" dirty="0" smtClean="0">
                              <a:latin typeface="Arial" panose="020B0604020202020204" pitchFamily="34" charset="0"/>
                              <a:ea typeface="Times New Roman"/>
                              <a:cs typeface="Arial" panose="020B0604020202020204" pitchFamily="34" charset="0"/>
                            </a:rPr>
                            <a:t>, </a:t>
                          </a:r>
                          <a:r>
                            <a:rPr lang="en-US" sz="1400" b="1" strike="sngStrike" dirty="0" smtClean="0">
                              <a:latin typeface="Arial" panose="020B0604020202020204" pitchFamily="34" charset="0"/>
                              <a:ea typeface="Times New Roman"/>
                              <a:cs typeface="Arial" panose="020B0604020202020204" pitchFamily="34" charset="0"/>
                            </a:rPr>
                            <a:t>3,4</a:t>
                          </a:r>
                          <a:endParaRPr lang="en-US" sz="1400" b="1" strike="sngStrike" dirty="0">
                            <a:latin typeface="Arial" panose="020B0604020202020204" pitchFamily="34" charset="0"/>
                            <a:ea typeface="Times New Roman"/>
                            <a:cs typeface="Arial" panose="020B0604020202020204" pitchFamily="34" charset="0"/>
                          </a:endParaRPr>
                        </a:p>
                      </a:txBody>
                      <a:tcPr marL="68580" marR="68580" marT="0" marB="0"/>
                    </a:tc>
                    <a:tc>
                      <a:txBody>
                        <a:bodyPr/>
                        <a:lstStyle/>
                        <a:p>
                          <a:pPr marL="0" marR="0" algn="ctr">
                            <a:spcBef>
                              <a:spcPts val="0"/>
                            </a:spcBef>
                            <a:spcAft>
                              <a:spcPts val="0"/>
                            </a:spcAft>
                          </a:pPr>
                          <a:r>
                            <a:rPr lang="en-US" sz="1400" b="1" strike="noStrike" dirty="0" smtClean="0">
                              <a:solidFill>
                                <a:srgbClr val="FF0000"/>
                              </a:solidFill>
                              <a:latin typeface="Arial" panose="020B0604020202020204" pitchFamily="34" charset="0"/>
                              <a:ea typeface="Times New Roman"/>
                              <a:cs typeface="Arial" panose="020B0604020202020204" pitchFamily="34" charset="0"/>
                            </a:rPr>
                            <a:t>1</a:t>
                          </a:r>
                          <a:r>
                            <a:rPr lang="en-US" sz="1400" b="1" strike="sngStrike" dirty="0" smtClean="0">
                              <a:latin typeface="Arial" panose="020B0604020202020204" pitchFamily="34" charset="0"/>
                              <a:ea typeface="Times New Roman"/>
                              <a:cs typeface="Arial" panose="020B0604020202020204" pitchFamily="34" charset="0"/>
                            </a:rPr>
                            <a:t>,2</a:t>
                          </a:r>
                          <a:r>
                            <a:rPr lang="en-US" sz="1400" b="1" dirty="0" smtClean="0">
                              <a:latin typeface="Arial" panose="020B0604020202020204" pitchFamily="34" charset="0"/>
                              <a:ea typeface="Times New Roman"/>
                              <a:cs typeface="Arial" panose="020B0604020202020204" pitchFamily="34" charset="0"/>
                            </a:rPr>
                            <a:t>,</a:t>
                          </a:r>
                          <a:r>
                            <a:rPr lang="en-US" sz="1400" b="1" dirty="0" smtClean="0">
                              <a:solidFill>
                                <a:srgbClr val="FF0000"/>
                              </a:solidFill>
                              <a:latin typeface="Arial" panose="020B0604020202020204" pitchFamily="34" charset="0"/>
                              <a:ea typeface="Times New Roman"/>
                              <a:cs typeface="Arial" panose="020B0604020202020204" pitchFamily="34" charset="0"/>
                            </a:rPr>
                            <a:t> 3</a:t>
                          </a:r>
                          <a:r>
                            <a:rPr lang="en-US" sz="1400" b="1" strike="noStrike" dirty="0" smtClean="0">
                              <a:latin typeface="Arial" panose="020B0604020202020204" pitchFamily="34" charset="0"/>
                              <a:ea typeface="Times New Roman"/>
                              <a:cs typeface="Arial" panose="020B0604020202020204" pitchFamily="34" charset="0"/>
                            </a:rPr>
                            <a:t>,</a:t>
                          </a:r>
                          <a:r>
                            <a:rPr lang="en-US" sz="1400" b="1" strike="sngStrike" dirty="0" smtClean="0">
                              <a:latin typeface="Arial" panose="020B0604020202020204" pitchFamily="34" charset="0"/>
                              <a:ea typeface="Times New Roman"/>
                              <a:cs typeface="Arial" panose="020B0604020202020204" pitchFamily="34" charset="0"/>
                            </a:rPr>
                            <a:t>4,5</a:t>
                          </a:r>
                          <a:endParaRPr lang="en-US" sz="1400" b="1" strike="sngStrike" dirty="0">
                            <a:latin typeface="Arial" panose="020B0604020202020204" pitchFamily="34" charset="0"/>
                            <a:ea typeface="Times New Roman"/>
                            <a:cs typeface="Arial" panose="020B0604020202020204" pitchFamily="34" charset="0"/>
                          </a:endParaRPr>
                        </a:p>
                      </a:txBody>
                      <a:tcPr marL="68580" marR="68580" marT="0" marB="0"/>
                    </a:tc>
                    <a:tc>
                      <a:txBody>
                        <a:bodyPr/>
                        <a:lstStyle/>
                        <a:p>
                          <a:pPr marL="0" marR="0" algn="ctr">
                            <a:spcBef>
                              <a:spcPts val="0"/>
                            </a:spcBef>
                            <a:spcAft>
                              <a:spcPts val="0"/>
                            </a:spcAft>
                          </a:pPr>
                          <a:r>
                            <a:rPr lang="en-US" sz="1400" b="1" strike="noStrike" dirty="0" smtClean="0">
                              <a:solidFill>
                                <a:srgbClr val="FF0000"/>
                              </a:solidFill>
                              <a:latin typeface="Arial" panose="020B0604020202020204" pitchFamily="34" charset="0"/>
                              <a:ea typeface="Times New Roman"/>
                              <a:cs typeface="Arial" panose="020B0604020202020204" pitchFamily="34" charset="0"/>
                            </a:rPr>
                            <a:t>1</a:t>
                          </a:r>
                          <a:r>
                            <a:rPr lang="en-US" sz="1400" b="1" strike="noStrike" dirty="0" smtClean="0">
                              <a:latin typeface="Arial" panose="020B0604020202020204" pitchFamily="34" charset="0"/>
                              <a:ea typeface="Times New Roman"/>
                              <a:cs typeface="Arial" panose="020B0604020202020204" pitchFamily="34" charset="0"/>
                            </a:rPr>
                            <a:t>,</a:t>
                          </a:r>
                          <a:r>
                            <a:rPr lang="en-US" sz="1400" b="1" strike="sngStrike" dirty="0" smtClean="0">
                              <a:latin typeface="Arial" panose="020B0604020202020204" pitchFamily="34" charset="0"/>
                              <a:ea typeface="Times New Roman"/>
                              <a:cs typeface="Arial" panose="020B0604020202020204" pitchFamily="34" charset="0"/>
                            </a:rPr>
                            <a:t>2,3</a:t>
                          </a:r>
                          <a:r>
                            <a:rPr lang="en-US" sz="1400" b="1" dirty="0" smtClean="0">
                              <a:latin typeface="Arial" panose="020B0604020202020204" pitchFamily="34" charset="0"/>
                              <a:ea typeface="Times New Roman"/>
                              <a:cs typeface="Arial" panose="020B0604020202020204" pitchFamily="34" charset="0"/>
                            </a:rPr>
                            <a:t>, </a:t>
                          </a:r>
                          <a:r>
                            <a:rPr lang="en-US" sz="1400" b="1" dirty="0" smtClean="0">
                              <a:solidFill>
                                <a:srgbClr val="FF0000"/>
                              </a:solidFill>
                              <a:latin typeface="Arial" panose="020B0604020202020204" pitchFamily="34" charset="0"/>
                              <a:ea typeface="Times New Roman"/>
                              <a:cs typeface="Arial" panose="020B0604020202020204" pitchFamily="34" charset="0"/>
                            </a:rPr>
                            <a:t>4</a:t>
                          </a:r>
                          <a:r>
                            <a:rPr lang="en-US" sz="1400" b="1" dirty="0" smtClean="0">
                              <a:latin typeface="Arial" panose="020B0604020202020204" pitchFamily="34" charset="0"/>
                              <a:ea typeface="Times New Roman"/>
                              <a:cs typeface="Arial" panose="020B0604020202020204" pitchFamily="34" charset="0"/>
                            </a:rPr>
                            <a:t>, </a:t>
                          </a:r>
                          <a:r>
                            <a:rPr lang="en-US" sz="1400" b="1" strike="sngStrike" dirty="0" smtClean="0">
                              <a:latin typeface="Arial" panose="020B0604020202020204" pitchFamily="34" charset="0"/>
                              <a:ea typeface="Times New Roman"/>
                              <a:cs typeface="Arial" panose="020B0604020202020204" pitchFamily="34" charset="0"/>
                            </a:rPr>
                            <a:t>5,6</a:t>
                          </a:r>
                          <a:endParaRPr lang="en-US" sz="1400" b="1" strike="sngStrike" dirty="0">
                            <a:latin typeface="Arial" panose="020B0604020202020204" pitchFamily="34" charset="0"/>
                            <a:ea typeface="Times New Roman"/>
                            <a:cs typeface="Arial" panose="020B0604020202020204" pitchFamily="34" charset="0"/>
                          </a:endParaRPr>
                        </a:p>
                      </a:txBody>
                      <a:tcPr marL="68580" marR="68580" marT="0" marB="0"/>
                    </a:tc>
                    <a:extLst>
                      <a:ext uri="{0D108BD9-81ED-4DB2-BD59-A6C34878D82A}">
                        <a16:rowId xmlns:a16="http://schemas.microsoft.com/office/drawing/2014/main" val="10002"/>
                      </a:ext>
                    </a:extLst>
                  </a:tr>
                  <a:tr h="731103">
                    <a:tc>
                      <a:txBody>
                        <a:bodyPr/>
                        <a:lstStyle/>
                        <a:p>
                          <a:pPr marL="0" marR="0" algn="ctr">
                            <a:spcBef>
                              <a:spcPts val="0"/>
                            </a:spcBef>
                            <a:spcAft>
                              <a:spcPts val="0"/>
                            </a:spcAft>
                          </a:pPr>
                          <a:r>
                            <a:rPr lang="en-US" sz="1600" b="0" dirty="0" err="1">
                              <a:latin typeface="Arial" panose="020B0604020202020204" pitchFamily="34" charset="0"/>
                              <a:ea typeface="Times New Roman"/>
                              <a:cs typeface="Arial" panose="020B0604020202020204" pitchFamily="34" charset="0"/>
                            </a:rPr>
                            <a:t>Chuỗi</a:t>
                          </a:r>
                          <a:r>
                            <a:rPr lang="en-US" sz="1600" b="0" dirty="0">
                              <a:latin typeface="Arial" panose="020B0604020202020204" pitchFamily="34" charset="0"/>
                              <a:ea typeface="Times New Roman"/>
                              <a:cs typeface="Arial" panose="020B0604020202020204" pitchFamily="34" charset="0"/>
                            </a:rPr>
                            <a:t> </a:t>
                          </a:r>
                          <a:r>
                            <a:rPr lang="en-US" sz="1600" b="0" dirty="0" err="1">
                              <a:latin typeface="Arial" panose="020B0604020202020204" pitchFamily="34" charset="0"/>
                              <a:ea typeface="Times New Roman"/>
                              <a:cs typeface="Arial" panose="020B0604020202020204" pitchFamily="34" charset="0"/>
                            </a:rPr>
                            <a:t>khớp</a:t>
                          </a:r>
                          <a:endParaRPr lang="en-US" sz="1600" b="0" dirty="0">
                            <a:latin typeface="Arial" panose="020B0604020202020204" pitchFamily="34" charset="0"/>
                            <a:ea typeface="Times New Roman"/>
                            <a:cs typeface="Arial" panose="020B0604020202020204" pitchFamily="34" charset="0"/>
                          </a:endParaRPr>
                        </a:p>
                      </a:txBody>
                      <a:tcPr marL="68580" marR="68580" marT="0" marB="0">
                        <a:solidFill>
                          <a:schemeClr val="accent1">
                            <a:lumMod val="60000"/>
                            <a:lumOff val="40000"/>
                          </a:schemeClr>
                        </a:solidFill>
                      </a:tcPr>
                    </a:tc>
                    <a:tc>
                      <a:txBody>
                        <a:bodyPr/>
                        <a:lstStyle/>
                        <a:p>
                          <a:endParaRPr lang="en-US"/>
                        </a:p>
                      </a:txBody>
                      <a:tcPr marL="68580" marR="68580" marT="0" marB="0">
                        <a:blipFill>
                          <a:blip r:embed="rId3"/>
                          <a:stretch>
                            <a:fillRect l="-224194" t="-199167" r="-1825806" b="-2500"/>
                          </a:stretch>
                        </a:blipFill>
                      </a:tcPr>
                    </a:tc>
                    <a:tc>
                      <a:txBody>
                        <a:bodyPr/>
                        <a:lstStyle/>
                        <a:p>
                          <a:endParaRPr lang="en-US"/>
                        </a:p>
                      </a:txBody>
                      <a:tcPr marL="68580" marR="68580" marT="0" marB="0">
                        <a:blipFill>
                          <a:blip r:embed="rId3"/>
                          <a:stretch>
                            <a:fillRect l="-319048" t="-199167" r="-1696825" b="-2500"/>
                          </a:stretch>
                        </a:blipFill>
                      </a:tcPr>
                    </a:tc>
                    <a:tc>
                      <a:txBody>
                        <a:bodyPr/>
                        <a:lstStyle/>
                        <a:p>
                          <a:endParaRPr lang="en-US"/>
                        </a:p>
                      </a:txBody>
                      <a:tcPr marL="68580" marR="68580" marT="0" marB="0">
                        <a:blipFill>
                          <a:blip r:embed="rId3"/>
                          <a:stretch>
                            <a:fillRect l="-150857" t="-199167" r="-510857" b="-2500"/>
                          </a:stretch>
                        </a:blipFill>
                      </a:tcPr>
                    </a:tc>
                    <a:tc>
                      <a:txBody>
                        <a:bodyPr/>
                        <a:lstStyle/>
                        <a:p>
                          <a:pPr marL="0" marR="0" algn="ctr">
                            <a:spcBef>
                              <a:spcPts val="0"/>
                            </a:spcBef>
                            <a:spcAft>
                              <a:spcPts val="0"/>
                            </a:spcAft>
                          </a:pPr>
                          <a:r>
                            <a:rPr lang="en-US" sz="1400" u="none" dirty="0" smtClean="0">
                              <a:solidFill>
                                <a:srgbClr val="FF0000"/>
                              </a:solidFill>
                              <a:latin typeface="Arial" panose="020B0604020202020204" pitchFamily="34" charset="0"/>
                              <a:ea typeface="Times New Roman"/>
                              <a:cs typeface="Arial" panose="020B0604020202020204" pitchFamily="34" charset="0"/>
                            </a:rPr>
                            <a:t>1 </a:t>
                          </a:r>
                        </a:p>
                        <a:p>
                          <a:pPr marL="0" marR="0" algn="ctr">
                            <a:spcBef>
                              <a:spcPts val="0"/>
                            </a:spcBef>
                            <a:spcAft>
                              <a:spcPts val="0"/>
                            </a:spcAft>
                          </a:pPr>
                          <a:r>
                            <a:rPr lang="en-US" sz="1400" b="0" u="none" dirty="0" smtClean="0">
                              <a:latin typeface="Arial" panose="020B0604020202020204" pitchFamily="34" charset="0"/>
                              <a:ea typeface="Times New Roman"/>
                              <a:cs typeface="Arial" panose="020B0604020202020204" pitchFamily="34" charset="0"/>
                            </a:rPr>
                            <a:t>1xx-----</a:t>
                          </a:r>
                        </a:p>
                        <a:p>
                          <a:pPr marL="0" marR="0" algn="ctr">
                            <a:spcBef>
                              <a:spcPts val="0"/>
                            </a:spcBef>
                            <a:spcAft>
                              <a:spcPts val="0"/>
                            </a:spcAft>
                          </a:pPr>
                          <a:r>
                            <a:rPr lang="en-US" sz="1400" b="0" u="none" dirty="0" smtClean="0">
                              <a:latin typeface="Arial" panose="020B0604020202020204" pitchFamily="34" charset="0"/>
                              <a:ea typeface="Times New Roman"/>
                              <a:cs typeface="Arial" panose="020B0604020202020204" pitchFamily="34" charset="0"/>
                            </a:rPr>
                            <a:t>xx1-----</a:t>
                          </a:r>
                          <a:endParaRPr lang="en-US" sz="1400" b="0" u="none" dirty="0">
                            <a:latin typeface="Arial" panose="020B0604020202020204" pitchFamily="34" charset="0"/>
                            <a:ea typeface="Times New Roman"/>
                            <a:cs typeface="Arial" panose="020B0604020202020204" pitchFamily="34" charset="0"/>
                          </a:endParaRPr>
                        </a:p>
                      </a:txBody>
                      <a:tcPr marL="68580" marR="68580" marT="0" marB="0"/>
                    </a:tc>
                    <a:tc>
                      <a:txBody>
                        <a:bodyPr/>
                        <a:lstStyle/>
                        <a:p>
                          <a:pPr marL="0" marR="0" algn="ctr">
                            <a:spcBef>
                              <a:spcPts val="0"/>
                            </a:spcBef>
                            <a:spcAft>
                              <a:spcPts val="0"/>
                            </a:spcAft>
                          </a:pPr>
                          <a:r>
                            <a:rPr lang="en-US" sz="1400" u="none" dirty="0" smtClean="0">
                              <a:solidFill>
                                <a:srgbClr val="FF0000"/>
                              </a:solidFill>
                              <a:latin typeface="Arial" panose="020B0604020202020204" pitchFamily="34" charset="0"/>
                              <a:ea typeface="Times New Roman"/>
                              <a:cs typeface="Arial" panose="020B0604020202020204" pitchFamily="34" charset="0"/>
                            </a:rPr>
                            <a:t>1</a:t>
                          </a:r>
                        </a:p>
                        <a:p>
                          <a:pPr marL="0" marR="0" algn="ctr">
                            <a:spcBef>
                              <a:spcPts val="0"/>
                            </a:spcBef>
                            <a:spcAft>
                              <a:spcPts val="0"/>
                            </a:spcAft>
                          </a:pPr>
                          <a:r>
                            <a:rPr lang="en-US" sz="1400" b="0" u="none" dirty="0" smtClean="0">
                              <a:latin typeface="Arial" panose="020B0604020202020204" pitchFamily="34" charset="0"/>
                              <a:ea typeface="Times New Roman"/>
                              <a:cs typeface="Arial" panose="020B0604020202020204" pitchFamily="34" charset="0"/>
                            </a:rPr>
                            <a:t>1xxx----</a:t>
                          </a:r>
                        </a:p>
                        <a:p>
                          <a:pPr marL="0" marR="0" algn="ctr">
                            <a:spcBef>
                              <a:spcPts val="0"/>
                            </a:spcBef>
                            <a:spcAft>
                              <a:spcPts val="0"/>
                            </a:spcAft>
                          </a:pPr>
                          <a:r>
                            <a:rPr lang="en-US" sz="1400" b="0" u="none" dirty="0" smtClean="0">
                              <a:latin typeface="Arial" panose="020B0604020202020204" pitchFamily="34" charset="0"/>
                              <a:ea typeface="Times New Roman"/>
                              <a:cs typeface="Arial" panose="020B0604020202020204" pitchFamily="34" charset="0"/>
                            </a:rPr>
                            <a:t>xxx1----</a:t>
                          </a:r>
                          <a:endParaRPr lang="en-US" sz="1400" u="none" dirty="0">
                            <a:latin typeface="Arial" panose="020B0604020202020204" pitchFamily="34" charset="0"/>
                            <a:ea typeface="Times New Roman"/>
                            <a:cs typeface="Arial" panose="020B0604020202020204" pitchFamily="34" charset="0"/>
                          </a:endParaRPr>
                        </a:p>
                      </a:txBody>
                      <a:tcPr marL="68580" marR="68580" marT="0" marB="0"/>
                    </a:tc>
                    <a:tc>
                      <a:txBody>
                        <a:bodyPr/>
                        <a:lstStyle/>
                        <a:p>
                          <a:pPr marL="0" marR="0" algn="ctr">
                            <a:spcBef>
                              <a:spcPts val="0"/>
                            </a:spcBef>
                            <a:spcAft>
                              <a:spcPts val="0"/>
                            </a:spcAft>
                          </a:pPr>
                          <a:r>
                            <a:rPr lang="en-US" sz="1400" u="none" dirty="0">
                              <a:solidFill>
                                <a:srgbClr val="FF0000"/>
                              </a:solidFill>
                              <a:latin typeface="Arial" panose="020B0604020202020204" pitchFamily="34" charset="0"/>
                              <a:ea typeface="Times New Roman"/>
                              <a:cs typeface="Arial" panose="020B0604020202020204" pitchFamily="34" charset="0"/>
                            </a:rPr>
                            <a:t>10 </a:t>
                          </a:r>
                        </a:p>
                        <a:p>
                          <a:pPr marL="0" marR="0" algn="ctr">
                            <a:spcBef>
                              <a:spcPts val="0"/>
                            </a:spcBef>
                            <a:spcAft>
                              <a:spcPts val="0"/>
                            </a:spcAft>
                          </a:pPr>
                          <a:r>
                            <a:rPr lang="en-US" sz="1400" b="0" u="none" dirty="0" smtClean="0">
                              <a:latin typeface="Arial" panose="020B0604020202020204" pitchFamily="34" charset="0"/>
                              <a:ea typeface="Times New Roman"/>
                              <a:cs typeface="Arial" panose="020B0604020202020204" pitchFamily="34" charset="0"/>
                            </a:rPr>
                            <a:t>10xxx---</a:t>
                          </a:r>
                        </a:p>
                        <a:p>
                          <a:pPr marL="0" marR="0" algn="ctr">
                            <a:spcBef>
                              <a:spcPts val="0"/>
                            </a:spcBef>
                            <a:spcAft>
                              <a:spcPts val="0"/>
                            </a:spcAft>
                          </a:pPr>
                          <a:r>
                            <a:rPr lang="en-US" sz="1400" b="0" u="none" dirty="0" smtClean="0">
                              <a:latin typeface="Arial" panose="020B0604020202020204" pitchFamily="34" charset="0"/>
                              <a:ea typeface="Times New Roman"/>
                              <a:cs typeface="Arial" panose="020B0604020202020204" pitchFamily="34" charset="0"/>
                            </a:rPr>
                            <a:t>xxx10---</a:t>
                          </a:r>
                          <a:endParaRPr lang="en-US" sz="1400" u="none" dirty="0">
                            <a:latin typeface="Arial" panose="020B0604020202020204" pitchFamily="34" charset="0"/>
                            <a:ea typeface="Times New Roman"/>
                            <a:cs typeface="Arial" panose="020B0604020202020204" pitchFamily="34" charset="0"/>
                          </a:endParaRPr>
                        </a:p>
                      </a:txBody>
                      <a:tcPr marL="68580" marR="68580" marT="0" marB="0"/>
                    </a:tc>
                    <a:tc>
                      <a:txBody>
                        <a:bodyPr/>
                        <a:lstStyle/>
                        <a:p>
                          <a:pPr marL="0" marR="0" algn="ctr">
                            <a:spcBef>
                              <a:spcPts val="0"/>
                            </a:spcBef>
                            <a:spcAft>
                              <a:spcPts val="0"/>
                            </a:spcAft>
                          </a:pPr>
                          <a:r>
                            <a:rPr lang="en-US" sz="1400" u="none" dirty="0" smtClean="0">
                              <a:solidFill>
                                <a:srgbClr val="FF0000"/>
                              </a:solidFill>
                              <a:latin typeface="Arial" panose="020B0604020202020204" pitchFamily="34" charset="0"/>
                              <a:ea typeface="Times New Roman"/>
                              <a:cs typeface="Arial" panose="020B0604020202020204" pitchFamily="34" charset="0"/>
                            </a:rPr>
                            <a:t>1 </a:t>
                          </a:r>
                          <a:r>
                            <a:rPr lang="en-US" sz="1400" u="none" dirty="0" err="1" smtClean="0">
                              <a:solidFill>
                                <a:srgbClr val="FF0000"/>
                              </a:solidFill>
                              <a:latin typeface="Arial" panose="020B0604020202020204" pitchFamily="34" charset="0"/>
                              <a:ea typeface="Times New Roman"/>
                              <a:cs typeface="Arial" panose="020B0604020202020204" pitchFamily="34" charset="0"/>
                            </a:rPr>
                            <a:t>hoặc</a:t>
                          </a:r>
                          <a:r>
                            <a:rPr lang="en-US" sz="1400" u="none" baseline="0" dirty="0" smtClean="0">
                              <a:solidFill>
                                <a:srgbClr val="FF0000"/>
                              </a:solidFill>
                              <a:latin typeface="Arial" panose="020B0604020202020204" pitchFamily="34" charset="0"/>
                              <a:ea typeface="Times New Roman"/>
                              <a:cs typeface="Arial" panose="020B0604020202020204" pitchFamily="34" charset="0"/>
                            </a:rPr>
                            <a:t> </a:t>
                          </a:r>
                          <a:r>
                            <a:rPr lang="en-US" sz="1400" u="none" dirty="0" smtClean="0">
                              <a:solidFill>
                                <a:srgbClr val="FF0000"/>
                              </a:solidFill>
                              <a:latin typeface="Arial" panose="020B0604020202020204" pitchFamily="34" charset="0"/>
                              <a:ea typeface="Times New Roman"/>
                              <a:cs typeface="Arial" panose="020B0604020202020204" pitchFamily="34" charset="0"/>
                            </a:rPr>
                            <a:t>101 </a:t>
                          </a:r>
                          <a:endParaRPr lang="en-US" sz="1400" u="none" dirty="0" smtClean="0">
                            <a:solidFill>
                              <a:srgbClr val="FF0000"/>
                            </a:solidFill>
                            <a:latin typeface="Arial" panose="020B0604020202020204" pitchFamily="34" charset="0"/>
                            <a:ea typeface="Times New Roman"/>
                            <a:cs typeface="Arial" panose="020B0604020202020204" pitchFamily="34" charset="0"/>
                          </a:endParaRPr>
                        </a:p>
                        <a:p>
                          <a:pPr marL="0" marR="0" algn="ctr">
                            <a:spcBef>
                              <a:spcPts val="0"/>
                            </a:spcBef>
                            <a:spcAft>
                              <a:spcPts val="0"/>
                            </a:spcAft>
                          </a:pPr>
                          <a:r>
                            <a:rPr lang="en-US" sz="1400" u="none" dirty="0" smtClean="0">
                              <a:latin typeface="Arial" panose="020B0604020202020204" pitchFamily="34" charset="0"/>
                              <a:ea typeface="Times New Roman"/>
                              <a:cs typeface="Arial" panose="020B0604020202020204" pitchFamily="34" charset="0"/>
                            </a:rPr>
                            <a:t>101xxx--</a:t>
                          </a:r>
                        </a:p>
                        <a:p>
                          <a:pPr marL="0" marR="0" algn="ctr">
                            <a:spcBef>
                              <a:spcPts val="0"/>
                            </a:spcBef>
                            <a:spcAft>
                              <a:spcPts val="0"/>
                            </a:spcAft>
                          </a:pPr>
                          <a:r>
                            <a:rPr lang="en-US" sz="1400" u="none" dirty="0" smtClean="0">
                              <a:latin typeface="Arial" panose="020B0604020202020204" pitchFamily="34" charset="0"/>
                              <a:ea typeface="Times New Roman"/>
                              <a:cs typeface="Arial" panose="020B0604020202020204" pitchFamily="34" charset="0"/>
                            </a:rPr>
                            <a:t>xxx101--</a:t>
                          </a:r>
                          <a:endParaRPr lang="en-US" sz="1400" u="none" dirty="0">
                            <a:latin typeface="Arial" panose="020B0604020202020204" pitchFamily="34" charset="0"/>
                            <a:ea typeface="Times New Roman"/>
                            <a:cs typeface="Arial" panose="020B0604020202020204" pitchFamily="34" charset="0"/>
                          </a:endParaRPr>
                        </a:p>
                      </a:txBody>
                      <a:tcPr marL="68580" marR="68580" marT="0" marB="0"/>
                    </a:tc>
                    <a:tc>
                      <a:txBody>
                        <a:bodyPr/>
                        <a:lstStyle/>
                        <a:p>
                          <a:pPr marL="0" marR="0" algn="ctr">
                            <a:spcBef>
                              <a:spcPts val="0"/>
                            </a:spcBef>
                            <a:spcAft>
                              <a:spcPts val="0"/>
                            </a:spcAft>
                          </a:pPr>
                          <a:r>
                            <a:rPr lang="en-US" sz="1400" u="none" dirty="0" smtClean="0">
                              <a:solidFill>
                                <a:srgbClr val="FF0000"/>
                              </a:solidFill>
                              <a:latin typeface="Arial" panose="020B0604020202020204" pitchFamily="34" charset="0"/>
                              <a:ea typeface="Times New Roman"/>
                              <a:cs typeface="Arial" panose="020B0604020202020204" pitchFamily="34" charset="0"/>
                            </a:rPr>
                            <a:t>1 </a:t>
                          </a:r>
                          <a:r>
                            <a:rPr lang="en-US" sz="1400" u="none" dirty="0" err="1" smtClean="0">
                              <a:solidFill>
                                <a:srgbClr val="FF0000"/>
                              </a:solidFill>
                              <a:latin typeface="Arial" panose="020B0604020202020204" pitchFamily="34" charset="0"/>
                              <a:ea typeface="Times New Roman"/>
                              <a:cs typeface="Arial" panose="020B0604020202020204" pitchFamily="34" charset="0"/>
                            </a:rPr>
                            <a:t>hoặc</a:t>
                          </a:r>
                          <a:r>
                            <a:rPr lang="en-US" sz="1400" u="none" baseline="0" dirty="0" smtClean="0">
                              <a:solidFill>
                                <a:srgbClr val="FF0000"/>
                              </a:solidFill>
                              <a:latin typeface="Arial" panose="020B0604020202020204" pitchFamily="34" charset="0"/>
                              <a:ea typeface="Times New Roman"/>
                              <a:cs typeface="Arial" panose="020B0604020202020204" pitchFamily="34" charset="0"/>
                            </a:rPr>
                            <a:t> </a:t>
                          </a:r>
                          <a:r>
                            <a:rPr lang="en-US" sz="1400" u="none" dirty="0" smtClean="0">
                              <a:solidFill>
                                <a:srgbClr val="FF0000"/>
                              </a:solidFill>
                              <a:latin typeface="Arial" panose="020B0604020202020204" pitchFamily="34" charset="0"/>
                              <a:ea typeface="Times New Roman"/>
                              <a:cs typeface="Arial" panose="020B0604020202020204" pitchFamily="34" charset="0"/>
                            </a:rPr>
                            <a:t>1011 </a:t>
                          </a:r>
                          <a:endParaRPr lang="en-US" sz="1400" u="none" dirty="0" smtClean="0">
                            <a:solidFill>
                              <a:srgbClr val="FF0000"/>
                            </a:solidFill>
                            <a:latin typeface="Arial" panose="020B0604020202020204" pitchFamily="34" charset="0"/>
                            <a:ea typeface="Times New Roman"/>
                            <a:cs typeface="Arial" panose="020B0604020202020204" pitchFamily="34" charset="0"/>
                          </a:endParaRPr>
                        </a:p>
                        <a:p>
                          <a:pPr marL="0" marR="0" algn="ctr">
                            <a:spcBef>
                              <a:spcPts val="0"/>
                            </a:spcBef>
                            <a:spcAft>
                              <a:spcPts val="0"/>
                            </a:spcAft>
                          </a:pPr>
                          <a:r>
                            <a:rPr lang="en-US" sz="1400" b="0" u="none" dirty="0" smtClean="0">
                              <a:latin typeface="Arial" panose="020B0604020202020204" pitchFamily="34" charset="0"/>
                              <a:ea typeface="Times New Roman"/>
                              <a:cs typeface="Arial" panose="020B0604020202020204" pitchFamily="34" charset="0"/>
                            </a:rPr>
                            <a:t>1011xxx-    </a:t>
                          </a:r>
                        </a:p>
                        <a:p>
                          <a:pPr marL="0" marR="0" algn="ctr">
                            <a:spcBef>
                              <a:spcPts val="0"/>
                            </a:spcBef>
                            <a:spcAft>
                              <a:spcPts val="0"/>
                            </a:spcAft>
                          </a:pPr>
                          <a:r>
                            <a:rPr lang="en-US" sz="1400" b="0" u="none" dirty="0" smtClean="0">
                              <a:latin typeface="Arial" panose="020B0604020202020204" pitchFamily="34" charset="0"/>
                              <a:ea typeface="Times New Roman"/>
                              <a:cs typeface="Arial" panose="020B0604020202020204" pitchFamily="34" charset="0"/>
                            </a:rPr>
                            <a:t>xxx1011-</a:t>
                          </a:r>
                          <a:endParaRPr lang="en-US" sz="1400" b="0" u="none" dirty="0">
                            <a:latin typeface="Arial" panose="020B0604020202020204" pitchFamily="34" charset="0"/>
                            <a:ea typeface="Times New Roman"/>
                            <a:cs typeface="Arial" panose="020B0604020202020204" pitchFamily="34" charset="0"/>
                          </a:endParaRPr>
                        </a:p>
                      </a:txBody>
                      <a:tcPr marL="68580" marR="68580" marT="0" marB="0"/>
                    </a:tc>
                    <a:extLst>
                      <a:ext uri="{0D108BD9-81ED-4DB2-BD59-A6C34878D82A}">
                        <a16:rowId xmlns:a16="http://schemas.microsoft.com/office/drawing/2014/main" val="10003"/>
                      </a:ext>
                    </a:extLst>
                  </a:tr>
                </a:tbl>
              </a:graphicData>
            </a:graphic>
          </p:graphicFrame>
        </mc:Fallback>
      </mc:AlternateContent>
    </p:spTree>
    <p:extLst>
      <p:ext uri="{BB962C8B-B14F-4D97-AF65-F5344CB8AC3E}">
        <p14:creationId xmlns:p14="http://schemas.microsoft.com/office/powerpoint/2010/main" val="1703633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C24317B-5122-4A99-A6E9-FA23C146A7E0}" type="slidenum">
              <a:rPr lang="en-US" smtClean="0"/>
              <a:pPr/>
              <a:t>16</a:t>
            </a:fld>
            <a:endParaRPr lang="en-US" dirty="0"/>
          </a:p>
        </p:txBody>
      </p:sp>
      <p:sp>
        <p:nvSpPr>
          <p:cNvPr id="4" name="Title 3"/>
          <p:cNvSpPr>
            <a:spLocks noGrp="1"/>
          </p:cNvSpPr>
          <p:nvPr>
            <p:ph type="title"/>
          </p:nvPr>
        </p:nvSpPr>
        <p:spPr/>
        <p:txBody>
          <a:bodyPr>
            <a:normAutofit/>
          </a:bodyPr>
          <a:lstStyle/>
          <a:p>
            <a:r>
              <a:rPr lang="en-US" sz="2400" dirty="0" smtClean="0"/>
              <a:t>3. </a:t>
            </a:r>
            <a:r>
              <a:rPr lang="en-US" sz="2400" dirty="0" err="1" smtClean="0"/>
              <a:t>Tìm</a:t>
            </a:r>
            <a:r>
              <a:rPr lang="en-US" sz="2400" dirty="0" smtClean="0"/>
              <a:t> </a:t>
            </a:r>
            <a:r>
              <a:rPr lang="en-US" sz="2400" dirty="0" err="1" smtClean="0"/>
              <a:t>kiếm</a:t>
            </a:r>
            <a:r>
              <a:rPr lang="en-US" sz="2400" dirty="0" smtClean="0"/>
              <a:t> </a:t>
            </a:r>
            <a:r>
              <a:rPr lang="en-US" sz="2400" dirty="0" err="1" smtClean="0"/>
              <a:t>chuỗi</a:t>
            </a:r>
            <a:r>
              <a:rPr lang="en-US" sz="2400" dirty="0" smtClean="0"/>
              <a:t> con</a:t>
            </a:r>
            <a:endParaRPr lang="en-US" sz="2400" dirty="0"/>
          </a:p>
        </p:txBody>
      </p:sp>
      <p:sp>
        <p:nvSpPr>
          <p:cNvPr id="5" name="Text Placeholder 4"/>
          <p:cNvSpPr>
            <a:spLocks noGrp="1"/>
          </p:cNvSpPr>
          <p:nvPr>
            <p:ph type="body" sz="quarter" idx="13"/>
          </p:nvPr>
        </p:nvSpPr>
        <p:spPr>
          <a:xfrm>
            <a:off x="234952" y="963168"/>
            <a:ext cx="4715676" cy="5132832"/>
          </a:xfrm>
        </p:spPr>
        <p:txBody>
          <a:bodyPr>
            <a:normAutofit/>
          </a:bodyPr>
          <a:lstStyle/>
          <a:p>
            <a:r>
              <a:rPr lang="en-US" sz="2000" dirty="0" err="1" smtClean="0"/>
              <a:t>Nhận</a:t>
            </a:r>
            <a:r>
              <a:rPr lang="en-US" sz="2000" dirty="0" smtClean="0"/>
              <a:t> </a:t>
            </a:r>
            <a:r>
              <a:rPr lang="en-US" sz="2000" dirty="0" err="1" smtClean="0"/>
              <a:t>xét</a:t>
            </a:r>
            <a:r>
              <a:rPr lang="en-US" sz="2000" dirty="0" smtClean="0"/>
              <a:t>: </a:t>
            </a:r>
          </a:p>
          <a:p>
            <a:pPr lvl="1"/>
            <a:r>
              <a:rPr lang="en-US" b="1" dirty="0" err="1" smtClean="0">
                <a:solidFill>
                  <a:srgbClr val="FF0000"/>
                </a:solidFill>
              </a:rPr>
              <a:t>Chọn</a:t>
            </a:r>
            <a:r>
              <a:rPr lang="en-US" b="1" dirty="0" smtClean="0">
                <a:solidFill>
                  <a:srgbClr val="FF0000"/>
                </a:solidFill>
              </a:rPr>
              <a:t> k max</a:t>
            </a:r>
          </a:p>
          <a:p>
            <a:pPr lvl="1"/>
            <a:r>
              <a:rPr lang="en-US" b="1" dirty="0" err="1" smtClean="0">
                <a:solidFill>
                  <a:srgbClr val="FF0000"/>
                </a:solidFill>
              </a:rPr>
              <a:t>Chọn</a:t>
            </a:r>
            <a:r>
              <a:rPr lang="en-US" b="1" dirty="0" smtClean="0">
                <a:solidFill>
                  <a:srgbClr val="FF0000"/>
                </a:solidFill>
              </a:rPr>
              <a:t> </a:t>
            </a:r>
            <a:r>
              <a:rPr lang="vi-VN" b="1" dirty="0" smtClean="0">
                <a:solidFill>
                  <a:srgbClr val="FF0000"/>
                </a:solidFill>
              </a:rPr>
              <a:t>pk</a:t>
            </a:r>
            <a:r>
              <a:rPr lang="vi-VN" b="1" dirty="0">
                <a:solidFill>
                  <a:srgbClr val="FF0000"/>
                </a:solidFill>
              </a:rPr>
              <a:t>≠pj</a:t>
            </a:r>
            <a:r>
              <a:rPr lang="vi-VN" dirty="0" smtClean="0">
                <a:solidFill>
                  <a:srgbClr val="FF0000"/>
                </a:solidFill>
              </a:rPr>
              <a:t>:</a:t>
            </a:r>
            <a:endParaRPr lang="en-US" dirty="0">
              <a:solidFill>
                <a:srgbClr val="FF0000"/>
              </a:solidFill>
            </a:endParaRPr>
          </a:p>
        </p:txBody>
      </p:sp>
      <p:sp>
        <p:nvSpPr>
          <p:cNvPr id="2" name="Rectangle 1"/>
          <p:cNvSpPr/>
          <p:nvPr/>
        </p:nvSpPr>
        <p:spPr>
          <a:xfrm>
            <a:off x="-513577" y="2392983"/>
            <a:ext cx="2661306" cy="400110"/>
          </a:xfrm>
          <a:prstGeom prst="rect">
            <a:avLst/>
          </a:prstGeom>
        </p:spPr>
        <p:txBody>
          <a:bodyPr wrap="none">
            <a:spAutoFit/>
          </a:bodyPr>
          <a:lstStyle/>
          <a:p>
            <a:pPr lvl="2"/>
            <a:r>
              <a:rPr lang="en-US" sz="2000" dirty="0" err="1" smtClean="0">
                <a:latin typeface="Lato" panose="020F0502020204030203"/>
              </a:rPr>
              <a:t>Mẫu</a:t>
            </a:r>
            <a:r>
              <a:rPr lang="en-US" sz="2000" dirty="0" smtClean="0">
                <a:latin typeface="Lato" panose="020F0502020204030203"/>
              </a:rPr>
              <a:t> </a:t>
            </a:r>
            <a:r>
              <a:rPr lang="en-US" sz="2000" b="1" dirty="0">
                <a:latin typeface="Lato" panose="020F0502020204030203"/>
              </a:rPr>
              <a:t>10110111</a:t>
            </a:r>
          </a:p>
        </p:txBody>
      </p:sp>
      <p:graphicFrame>
        <p:nvGraphicFramePr>
          <p:cNvPr id="30" name="Table 29"/>
          <p:cNvGraphicFramePr>
            <a:graphicFrameLocks noGrp="1"/>
          </p:cNvGraphicFramePr>
          <p:nvPr>
            <p:extLst/>
          </p:nvPr>
        </p:nvGraphicFramePr>
        <p:xfrm>
          <a:off x="9906000" y="2392983"/>
          <a:ext cx="8267105" cy="3400790"/>
        </p:xfrm>
        <a:graphic>
          <a:graphicData uri="http://schemas.openxmlformats.org/drawingml/2006/table">
            <a:tbl>
              <a:tblPr firstRow="1" bandRow="1"/>
              <a:tblGrid>
                <a:gridCol w="918567">
                  <a:extLst>
                    <a:ext uri="{9D8B030D-6E8A-4147-A177-3AD203B41FA5}">
                      <a16:colId xmlns:a16="http://schemas.microsoft.com/office/drawing/2014/main" val="1497550528"/>
                    </a:ext>
                  </a:extLst>
                </a:gridCol>
                <a:gridCol w="565294">
                  <a:extLst>
                    <a:ext uri="{9D8B030D-6E8A-4147-A177-3AD203B41FA5}">
                      <a16:colId xmlns:a16="http://schemas.microsoft.com/office/drawing/2014/main" val="2377721025"/>
                    </a:ext>
                  </a:extLst>
                </a:gridCol>
                <a:gridCol w="559128">
                  <a:extLst>
                    <a:ext uri="{9D8B030D-6E8A-4147-A177-3AD203B41FA5}">
                      <a16:colId xmlns:a16="http://schemas.microsoft.com/office/drawing/2014/main" val="2659970077"/>
                    </a:ext>
                  </a:extLst>
                </a:gridCol>
                <a:gridCol w="1038380">
                  <a:extLst>
                    <a:ext uri="{9D8B030D-6E8A-4147-A177-3AD203B41FA5}">
                      <a16:colId xmlns:a16="http://schemas.microsoft.com/office/drawing/2014/main" val="3711574635"/>
                    </a:ext>
                  </a:extLst>
                </a:gridCol>
                <a:gridCol w="1278007">
                  <a:extLst>
                    <a:ext uri="{9D8B030D-6E8A-4147-A177-3AD203B41FA5}">
                      <a16:colId xmlns:a16="http://schemas.microsoft.com/office/drawing/2014/main" val="2624669363"/>
                    </a:ext>
                  </a:extLst>
                </a:gridCol>
                <a:gridCol w="958505">
                  <a:extLst>
                    <a:ext uri="{9D8B030D-6E8A-4147-A177-3AD203B41FA5}">
                      <a16:colId xmlns:a16="http://schemas.microsoft.com/office/drawing/2014/main" val="118100700"/>
                    </a:ext>
                  </a:extLst>
                </a:gridCol>
                <a:gridCol w="958505">
                  <a:extLst>
                    <a:ext uri="{9D8B030D-6E8A-4147-A177-3AD203B41FA5}">
                      <a16:colId xmlns:a16="http://schemas.microsoft.com/office/drawing/2014/main" val="1407716111"/>
                    </a:ext>
                  </a:extLst>
                </a:gridCol>
                <a:gridCol w="930397">
                  <a:extLst>
                    <a:ext uri="{9D8B030D-6E8A-4147-A177-3AD203B41FA5}">
                      <a16:colId xmlns:a16="http://schemas.microsoft.com/office/drawing/2014/main" val="3920189558"/>
                    </a:ext>
                  </a:extLst>
                </a:gridCol>
                <a:gridCol w="1060322">
                  <a:extLst>
                    <a:ext uri="{9D8B030D-6E8A-4147-A177-3AD203B41FA5}">
                      <a16:colId xmlns:a16="http://schemas.microsoft.com/office/drawing/2014/main" val="3251192759"/>
                    </a:ext>
                  </a:extLst>
                </a:gridCol>
              </a:tblGrid>
              <a:tr h="205294">
                <a:tc>
                  <a:txBody>
                    <a:bodyPr/>
                    <a:lstStyle/>
                    <a:p>
                      <a:pPr algn="ctr" rtl="0" fontAlgn="ctr"/>
                      <a:r>
                        <a:rPr lang="en-US" sz="1600" b="1" i="0" u="none" strike="noStrike">
                          <a:solidFill>
                            <a:srgbClr val="FFFFFF"/>
                          </a:solidFill>
                          <a:effectLst/>
                          <a:latin typeface="Arial" panose="020B0604020202020204" pitchFamily="34" charset="0"/>
                        </a:rPr>
                        <a:t>j</a:t>
                      </a:r>
                    </a:p>
                  </a:txBody>
                  <a:tcPr marL="6415" marR="6415" marT="64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472C4"/>
                    </a:solidFill>
                  </a:tcPr>
                </a:tc>
                <a:tc>
                  <a:txBody>
                    <a:bodyPr/>
                    <a:lstStyle/>
                    <a:p>
                      <a:pPr algn="ctr" rtl="0" fontAlgn="ctr"/>
                      <a:r>
                        <a:rPr lang="en-US" sz="1600" b="1" i="0" u="none" strike="noStrike">
                          <a:solidFill>
                            <a:srgbClr val="FFFFFF"/>
                          </a:solidFill>
                          <a:effectLst/>
                          <a:latin typeface="Arial" panose="020B0604020202020204" pitchFamily="34" charset="0"/>
                        </a:rPr>
                        <a:t>0</a:t>
                      </a:r>
                    </a:p>
                  </a:txBody>
                  <a:tcPr marL="6415" marR="6415" marT="64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472C4"/>
                    </a:solidFill>
                  </a:tcPr>
                </a:tc>
                <a:tc>
                  <a:txBody>
                    <a:bodyPr/>
                    <a:lstStyle/>
                    <a:p>
                      <a:pPr algn="ctr" rtl="0" fontAlgn="ctr"/>
                      <a:r>
                        <a:rPr lang="en-US" sz="1600" b="1" i="0" u="none" strike="noStrike" dirty="0">
                          <a:solidFill>
                            <a:srgbClr val="FFFFFF"/>
                          </a:solidFill>
                          <a:effectLst/>
                          <a:latin typeface="Arial" panose="020B0604020202020204" pitchFamily="34" charset="0"/>
                        </a:rPr>
                        <a:t>1</a:t>
                      </a:r>
                    </a:p>
                  </a:txBody>
                  <a:tcPr marL="6415" marR="6415" marT="64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472C4"/>
                    </a:solidFill>
                  </a:tcPr>
                </a:tc>
                <a:tc>
                  <a:txBody>
                    <a:bodyPr/>
                    <a:lstStyle/>
                    <a:p>
                      <a:pPr algn="ctr" rtl="0" fontAlgn="ctr"/>
                      <a:r>
                        <a:rPr lang="en-US" sz="1600" b="1" i="0" u="none" strike="noStrike">
                          <a:solidFill>
                            <a:srgbClr val="FFFFFF"/>
                          </a:solidFill>
                          <a:effectLst/>
                          <a:latin typeface="Arial" panose="020B0604020202020204" pitchFamily="34" charset="0"/>
                        </a:rPr>
                        <a:t>2</a:t>
                      </a:r>
                    </a:p>
                  </a:txBody>
                  <a:tcPr marL="6415" marR="6415" marT="64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472C4"/>
                    </a:solidFill>
                  </a:tcPr>
                </a:tc>
                <a:tc>
                  <a:txBody>
                    <a:bodyPr/>
                    <a:lstStyle/>
                    <a:p>
                      <a:pPr algn="ctr" rtl="0" fontAlgn="ctr"/>
                      <a:r>
                        <a:rPr lang="en-US" sz="1600" b="1" i="0" u="none" strike="noStrike">
                          <a:solidFill>
                            <a:srgbClr val="FFFFFF"/>
                          </a:solidFill>
                          <a:effectLst/>
                          <a:latin typeface="Arial" panose="020B0604020202020204" pitchFamily="34" charset="0"/>
                        </a:rPr>
                        <a:t>3</a:t>
                      </a:r>
                    </a:p>
                  </a:txBody>
                  <a:tcPr marL="6415" marR="6415" marT="64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472C4"/>
                    </a:solidFill>
                  </a:tcPr>
                </a:tc>
                <a:tc>
                  <a:txBody>
                    <a:bodyPr/>
                    <a:lstStyle/>
                    <a:p>
                      <a:pPr algn="ctr" rtl="0" fontAlgn="ctr"/>
                      <a:r>
                        <a:rPr lang="en-US" sz="1600" b="1" i="0" u="none" strike="noStrike">
                          <a:solidFill>
                            <a:srgbClr val="FFFFFF"/>
                          </a:solidFill>
                          <a:effectLst/>
                          <a:latin typeface="Arial" panose="020B0604020202020204" pitchFamily="34" charset="0"/>
                        </a:rPr>
                        <a:t>4</a:t>
                      </a:r>
                    </a:p>
                  </a:txBody>
                  <a:tcPr marL="6415" marR="6415" marT="64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472C4"/>
                    </a:solidFill>
                  </a:tcPr>
                </a:tc>
                <a:tc>
                  <a:txBody>
                    <a:bodyPr/>
                    <a:lstStyle/>
                    <a:p>
                      <a:pPr algn="ctr" rtl="0" fontAlgn="ctr"/>
                      <a:r>
                        <a:rPr lang="en-US" sz="1600" b="1" i="0" u="none" strike="noStrike">
                          <a:solidFill>
                            <a:srgbClr val="FFFFFF"/>
                          </a:solidFill>
                          <a:effectLst/>
                          <a:latin typeface="Arial" panose="020B0604020202020204" pitchFamily="34" charset="0"/>
                        </a:rPr>
                        <a:t>5</a:t>
                      </a:r>
                    </a:p>
                  </a:txBody>
                  <a:tcPr marL="6415" marR="6415" marT="64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472C4"/>
                    </a:solidFill>
                  </a:tcPr>
                </a:tc>
                <a:tc>
                  <a:txBody>
                    <a:bodyPr/>
                    <a:lstStyle/>
                    <a:p>
                      <a:pPr algn="ctr" rtl="0" fontAlgn="ctr"/>
                      <a:r>
                        <a:rPr lang="en-US" sz="1600" b="1" i="0" u="none" strike="noStrike">
                          <a:solidFill>
                            <a:srgbClr val="FFFFFF"/>
                          </a:solidFill>
                          <a:effectLst/>
                          <a:latin typeface="Arial" panose="020B0604020202020204" pitchFamily="34" charset="0"/>
                        </a:rPr>
                        <a:t>6</a:t>
                      </a:r>
                    </a:p>
                  </a:txBody>
                  <a:tcPr marL="6415" marR="6415" marT="64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472C4"/>
                    </a:solidFill>
                  </a:tcPr>
                </a:tc>
                <a:tc>
                  <a:txBody>
                    <a:bodyPr/>
                    <a:lstStyle/>
                    <a:p>
                      <a:pPr algn="ctr" rtl="0" fontAlgn="ctr"/>
                      <a:r>
                        <a:rPr lang="en-US" sz="1600" b="1" i="0" u="none" strike="noStrike">
                          <a:solidFill>
                            <a:srgbClr val="FFFFFF"/>
                          </a:solidFill>
                          <a:effectLst/>
                          <a:latin typeface="Arial" panose="020B0604020202020204" pitchFamily="34" charset="0"/>
                        </a:rPr>
                        <a:t>7</a:t>
                      </a:r>
                    </a:p>
                  </a:txBody>
                  <a:tcPr marL="6415" marR="6415" marT="64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472C4"/>
                    </a:solidFill>
                  </a:tcPr>
                </a:tc>
                <a:extLst>
                  <a:ext uri="{0D108BD9-81ED-4DB2-BD59-A6C34878D82A}">
                    <a16:rowId xmlns:a16="http://schemas.microsoft.com/office/drawing/2014/main" val="2091918548"/>
                  </a:ext>
                </a:extLst>
              </a:tr>
              <a:tr h="211709">
                <a:tc>
                  <a:txBody>
                    <a:bodyPr/>
                    <a:lstStyle/>
                    <a:p>
                      <a:pPr algn="ctr" rtl="0" fontAlgn="ctr"/>
                      <a:r>
                        <a:rPr lang="en-US" sz="1400" b="1" i="0" u="none" strike="noStrike" dirty="0">
                          <a:solidFill>
                            <a:schemeClr val="tx1"/>
                          </a:solidFill>
                          <a:effectLst/>
                          <a:latin typeface="Arial" panose="020B0604020202020204" pitchFamily="34" charset="0"/>
                        </a:rPr>
                        <a:t>p</a:t>
                      </a:r>
                      <a:r>
                        <a:rPr lang="en-US" sz="1400" b="1" i="0" u="none" strike="noStrike" baseline="-25000" dirty="0">
                          <a:solidFill>
                            <a:schemeClr val="tx1"/>
                          </a:solidFill>
                          <a:effectLst/>
                          <a:latin typeface="Arial" panose="020B0604020202020204" pitchFamily="34" charset="0"/>
                        </a:rPr>
                        <a:t>0</a:t>
                      </a:r>
                      <a:r>
                        <a:rPr lang="en-US" sz="1400" b="1" i="0" u="none" strike="noStrike" dirty="0">
                          <a:solidFill>
                            <a:schemeClr val="tx1"/>
                          </a:solidFill>
                          <a:effectLst/>
                          <a:latin typeface="Arial" panose="020B0604020202020204" pitchFamily="34" charset="0"/>
                        </a:rPr>
                        <a:t>..p</a:t>
                      </a:r>
                      <a:r>
                        <a:rPr lang="en-US" sz="1400" b="1" i="0" u="none" strike="noStrike" baseline="-25000" dirty="0">
                          <a:solidFill>
                            <a:schemeClr val="tx1"/>
                          </a:solidFill>
                          <a:effectLst/>
                          <a:latin typeface="Arial" panose="020B0604020202020204" pitchFamily="34" charset="0"/>
                        </a:rPr>
                        <a:t>j-1</a:t>
                      </a:r>
                      <a:endParaRPr lang="en-US" sz="1400" b="1" i="0" u="none" strike="noStrike" dirty="0">
                        <a:solidFill>
                          <a:schemeClr val="tx1"/>
                        </a:solidFill>
                        <a:effectLst/>
                        <a:latin typeface="Arial" panose="020B0604020202020204" pitchFamily="34" charset="0"/>
                      </a:endParaRPr>
                    </a:p>
                  </a:txBody>
                  <a:tcPr marL="6415" marR="6415" marT="64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75000"/>
                      </a:schemeClr>
                    </a:solidFill>
                  </a:tcPr>
                </a:tc>
                <a:tc>
                  <a:txBody>
                    <a:bodyPr/>
                    <a:lstStyle/>
                    <a:p>
                      <a:pPr algn="ctr" fontAlgn="ctr"/>
                      <a:r>
                        <a:rPr lang="en-US" sz="1400" b="0" i="0" u="none" strike="noStrike" dirty="0">
                          <a:solidFill>
                            <a:schemeClr val="tx1"/>
                          </a:solidFill>
                          <a:effectLst/>
                          <a:latin typeface="Lato" panose="020F0502020204030203"/>
                        </a:rPr>
                        <a:t> </a:t>
                      </a:r>
                    </a:p>
                  </a:txBody>
                  <a:tcPr marL="6415" marR="6415" marT="64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75000"/>
                      </a:schemeClr>
                    </a:solidFill>
                  </a:tcPr>
                </a:tc>
                <a:tc>
                  <a:txBody>
                    <a:bodyPr/>
                    <a:lstStyle/>
                    <a:p>
                      <a:pPr algn="ctr" rtl="0" fontAlgn="ctr"/>
                      <a:r>
                        <a:rPr lang="en-US" sz="1400" b="1" i="0" u="none" strike="noStrike" dirty="0">
                          <a:solidFill>
                            <a:schemeClr val="tx1"/>
                          </a:solidFill>
                          <a:effectLst/>
                          <a:latin typeface="Lato" panose="020F0502020204030203"/>
                        </a:rPr>
                        <a:t>1</a:t>
                      </a:r>
                    </a:p>
                  </a:txBody>
                  <a:tcPr marL="6415" marR="6415" marT="64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75000"/>
                      </a:schemeClr>
                    </a:solidFill>
                  </a:tcPr>
                </a:tc>
                <a:tc>
                  <a:txBody>
                    <a:bodyPr/>
                    <a:lstStyle/>
                    <a:p>
                      <a:pPr algn="ctr" rtl="0" fontAlgn="ctr"/>
                      <a:r>
                        <a:rPr lang="en-US" sz="1400" b="1" i="0" u="none" strike="noStrike">
                          <a:solidFill>
                            <a:schemeClr val="tx1"/>
                          </a:solidFill>
                          <a:effectLst/>
                          <a:latin typeface="Lato" panose="020F0502020204030203"/>
                        </a:rPr>
                        <a:t>10</a:t>
                      </a:r>
                    </a:p>
                  </a:txBody>
                  <a:tcPr marL="6415" marR="6415" marT="64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75000"/>
                      </a:schemeClr>
                    </a:solidFill>
                  </a:tcPr>
                </a:tc>
                <a:tc>
                  <a:txBody>
                    <a:bodyPr/>
                    <a:lstStyle/>
                    <a:p>
                      <a:pPr algn="ctr" rtl="0" fontAlgn="ctr"/>
                      <a:r>
                        <a:rPr lang="en-US" sz="1400" b="1" i="0" u="none" strike="noStrike">
                          <a:solidFill>
                            <a:schemeClr val="tx1"/>
                          </a:solidFill>
                          <a:effectLst/>
                          <a:latin typeface="Lato" panose="020F0502020204030203"/>
                        </a:rPr>
                        <a:t>101</a:t>
                      </a:r>
                    </a:p>
                  </a:txBody>
                  <a:tcPr marL="6415" marR="6415" marT="64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75000"/>
                      </a:schemeClr>
                    </a:solidFill>
                  </a:tcPr>
                </a:tc>
                <a:tc>
                  <a:txBody>
                    <a:bodyPr/>
                    <a:lstStyle/>
                    <a:p>
                      <a:pPr algn="ctr" rtl="0" fontAlgn="ctr"/>
                      <a:r>
                        <a:rPr lang="en-US" sz="1400" b="1" i="0" u="none" strike="noStrike">
                          <a:solidFill>
                            <a:schemeClr val="tx1"/>
                          </a:solidFill>
                          <a:effectLst/>
                          <a:latin typeface="Lato" panose="020F0502020204030203"/>
                        </a:rPr>
                        <a:t>1011----</a:t>
                      </a:r>
                    </a:p>
                  </a:txBody>
                  <a:tcPr marL="6415" marR="6415" marT="64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75000"/>
                      </a:schemeClr>
                    </a:solidFill>
                  </a:tcPr>
                </a:tc>
                <a:tc>
                  <a:txBody>
                    <a:bodyPr/>
                    <a:lstStyle/>
                    <a:p>
                      <a:pPr algn="ctr" rtl="0" fontAlgn="ctr"/>
                      <a:r>
                        <a:rPr lang="en-US" sz="1400" b="1" i="0" u="none" strike="noStrike">
                          <a:solidFill>
                            <a:schemeClr val="tx1"/>
                          </a:solidFill>
                          <a:effectLst/>
                          <a:latin typeface="Lato" panose="020F0502020204030203"/>
                        </a:rPr>
                        <a:t>10110---</a:t>
                      </a:r>
                    </a:p>
                  </a:txBody>
                  <a:tcPr marL="6415" marR="6415" marT="64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75000"/>
                      </a:schemeClr>
                    </a:solidFill>
                  </a:tcPr>
                </a:tc>
                <a:tc>
                  <a:txBody>
                    <a:bodyPr/>
                    <a:lstStyle/>
                    <a:p>
                      <a:pPr algn="ctr" rtl="0" fontAlgn="ctr"/>
                      <a:r>
                        <a:rPr lang="en-US" sz="1400" b="1" i="0" u="none" strike="noStrike">
                          <a:solidFill>
                            <a:schemeClr val="tx1"/>
                          </a:solidFill>
                          <a:effectLst/>
                          <a:latin typeface="Lato" panose="020F0502020204030203"/>
                        </a:rPr>
                        <a:t>101101--</a:t>
                      </a:r>
                    </a:p>
                  </a:txBody>
                  <a:tcPr marL="6415" marR="6415" marT="64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75000"/>
                      </a:schemeClr>
                    </a:solidFill>
                  </a:tcPr>
                </a:tc>
                <a:tc>
                  <a:txBody>
                    <a:bodyPr/>
                    <a:lstStyle/>
                    <a:p>
                      <a:pPr algn="ctr" rtl="0" fontAlgn="ctr"/>
                      <a:r>
                        <a:rPr lang="en-US" sz="1400" b="1" i="0" u="none" strike="noStrike">
                          <a:solidFill>
                            <a:schemeClr val="tx1"/>
                          </a:solidFill>
                          <a:effectLst/>
                          <a:latin typeface="Lato" panose="020F0502020204030203"/>
                        </a:rPr>
                        <a:t>1011011-</a:t>
                      </a:r>
                    </a:p>
                  </a:txBody>
                  <a:tcPr marL="6415" marR="6415" marT="64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88673688"/>
                  </a:ext>
                </a:extLst>
              </a:tr>
              <a:tr h="153970">
                <a:tc rowSpan="3">
                  <a:txBody>
                    <a:bodyPr/>
                    <a:lstStyle/>
                    <a:p>
                      <a:pPr algn="ctr" rtl="0" fontAlgn="ctr"/>
                      <a:r>
                        <a:rPr lang="en-US" sz="1400" b="1" i="0" u="none" strike="noStrike" dirty="0">
                          <a:solidFill>
                            <a:schemeClr val="tx1"/>
                          </a:solidFill>
                          <a:effectLst/>
                          <a:latin typeface="Arial" panose="020B0604020202020204" pitchFamily="34" charset="0"/>
                        </a:rPr>
                        <a:t>k</a:t>
                      </a:r>
                    </a:p>
                  </a:txBody>
                  <a:tcPr marL="6415" marR="6415" marT="64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75000"/>
                      </a:schemeClr>
                    </a:solidFill>
                  </a:tcPr>
                </a:tc>
                <a:tc rowSpan="3">
                  <a:txBody>
                    <a:bodyPr/>
                    <a:lstStyle/>
                    <a:p>
                      <a:pPr algn="l" fontAlgn="ctr"/>
                      <a:r>
                        <a:rPr lang="en-US" sz="1400" b="0" i="0" u="none" strike="noStrike" dirty="0">
                          <a:solidFill>
                            <a:schemeClr val="tx1"/>
                          </a:solidFill>
                          <a:effectLst/>
                          <a:latin typeface="Lato" panose="020F0502020204030203"/>
                        </a:rPr>
                        <a:t> </a:t>
                      </a:r>
                    </a:p>
                  </a:txBody>
                  <a:tcPr marL="6415" marR="6415" marT="64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75000"/>
                      </a:schemeClr>
                    </a:solidFill>
                  </a:tcPr>
                </a:tc>
                <a:tc rowSpan="3">
                  <a:txBody>
                    <a:bodyPr/>
                    <a:lstStyle/>
                    <a:p>
                      <a:pPr algn="l" fontAlgn="ctr"/>
                      <a:r>
                        <a:rPr lang="en-US" sz="1400" b="0" i="0" u="none" strike="noStrike" dirty="0">
                          <a:solidFill>
                            <a:schemeClr val="tx1"/>
                          </a:solidFill>
                          <a:effectLst/>
                          <a:latin typeface="Lato" panose="020F0502020204030203"/>
                        </a:rPr>
                        <a:t> </a:t>
                      </a:r>
                    </a:p>
                  </a:txBody>
                  <a:tcPr marL="6415" marR="6415" marT="64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75000"/>
                      </a:schemeClr>
                    </a:solidFill>
                  </a:tcPr>
                </a:tc>
                <a:tc>
                  <a:txBody>
                    <a:bodyPr/>
                    <a:lstStyle/>
                    <a:p>
                      <a:pPr algn="l" rtl="0" fontAlgn="ctr"/>
                      <a:r>
                        <a:rPr lang="en-US" sz="1400" b="1" i="0" u="none" strike="sngStrike">
                          <a:solidFill>
                            <a:schemeClr val="tx1"/>
                          </a:solidFill>
                          <a:effectLst/>
                          <a:latin typeface="Lato" panose="020F0502020204030203"/>
                        </a:rPr>
                        <a:t>1</a:t>
                      </a:r>
                      <a:endParaRPr lang="en-US" sz="1400" b="1" i="0" u="none" strike="noStrike">
                        <a:solidFill>
                          <a:schemeClr val="tx1"/>
                        </a:solidFill>
                        <a:effectLst/>
                        <a:latin typeface="Lato" panose="020F0502020204030203"/>
                      </a:endParaRPr>
                    </a:p>
                  </a:txBody>
                  <a:tcPr marL="6415" marR="6415" marT="64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chemeClr val="bg1">
                        <a:lumMod val="75000"/>
                      </a:schemeClr>
                    </a:solidFill>
                  </a:tcPr>
                </a:tc>
                <a:tc>
                  <a:txBody>
                    <a:bodyPr/>
                    <a:lstStyle/>
                    <a:p>
                      <a:pPr algn="l" rtl="0" fontAlgn="ctr"/>
                      <a:r>
                        <a:rPr lang="en-US" sz="1400" b="1" i="0" u="none" strike="noStrike">
                          <a:solidFill>
                            <a:schemeClr val="tx1"/>
                          </a:solidFill>
                          <a:effectLst/>
                          <a:latin typeface="Lato" panose="020F0502020204030203"/>
                        </a:rPr>
                        <a:t>1, </a:t>
                      </a:r>
                      <a:r>
                        <a:rPr lang="en-US" sz="1400" b="1" i="0" u="none" strike="sngStrike">
                          <a:solidFill>
                            <a:schemeClr val="tx1"/>
                          </a:solidFill>
                          <a:effectLst/>
                          <a:latin typeface="Lato" panose="020F0502020204030203"/>
                        </a:rPr>
                        <a:t>2</a:t>
                      </a:r>
                      <a:endParaRPr lang="en-US" sz="1400" b="1" i="0" u="none" strike="noStrike">
                        <a:solidFill>
                          <a:schemeClr val="tx1"/>
                        </a:solidFill>
                        <a:effectLst/>
                        <a:latin typeface="Lato" panose="020F0502020204030203"/>
                      </a:endParaRPr>
                    </a:p>
                  </a:txBody>
                  <a:tcPr marL="6415" marR="6415" marT="64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chemeClr val="bg1">
                        <a:lumMod val="75000"/>
                      </a:schemeClr>
                    </a:solidFill>
                  </a:tcPr>
                </a:tc>
                <a:tc rowSpan="3">
                  <a:txBody>
                    <a:bodyPr/>
                    <a:lstStyle/>
                    <a:p>
                      <a:pPr algn="l" rtl="0" fontAlgn="ctr"/>
                      <a:r>
                        <a:rPr lang="en-US" sz="1400" b="1" i="0" u="none" strike="noStrike">
                          <a:solidFill>
                            <a:schemeClr val="tx1"/>
                          </a:solidFill>
                          <a:effectLst/>
                          <a:latin typeface="Lato" panose="020F0502020204030203"/>
                        </a:rPr>
                        <a:t>1, </a:t>
                      </a:r>
                      <a:r>
                        <a:rPr lang="en-US" sz="1400" b="1" i="0" u="none" strike="sngStrike">
                          <a:solidFill>
                            <a:schemeClr val="tx1"/>
                          </a:solidFill>
                          <a:effectLst/>
                          <a:latin typeface="Lato" panose="020F0502020204030203"/>
                        </a:rPr>
                        <a:t>2, 3</a:t>
                      </a:r>
                      <a:endParaRPr lang="en-US" sz="1400" b="1" i="0" u="none" strike="noStrike">
                        <a:solidFill>
                          <a:schemeClr val="tx1"/>
                        </a:solidFill>
                        <a:effectLst/>
                        <a:latin typeface="Lato" panose="020F0502020204030203"/>
                      </a:endParaRPr>
                    </a:p>
                  </a:txBody>
                  <a:tcPr marL="6415" marR="6415" marT="64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75000"/>
                      </a:schemeClr>
                    </a:solidFill>
                  </a:tcPr>
                </a:tc>
                <a:tc rowSpan="3">
                  <a:txBody>
                    <a:bodyPr/>
                    <a:lstStyle/>
                    <a:p>
                      <a:pPr algn="l" rtl="0" fontAlgn="ctr"/>
                      <a:r>
                        <a:rPr lang="en-US" sz="1400" b="1" i="0" u="none" strike="sngStrike" dirty="0">
                          <a:solidFill>
                            <a:schemeClr val="tx1"/>
                          </a:solidFill>
                          <a:effectLst/>
                          <a:latin typeface="Lato" panose="020F0502020204030203"/>
                        </a:rPr>
                        <a:t>1</a:t>
                      </a:r>
                      <a:r>
                        <a:rPr lang="en-US" sz="1400" b="1" i="0" u="none" strike="noStrike" dirty="0">
                          <a:solidFill>
                            <a:schemeClr val="tx1"/>
                          </a:solidFill>
                          <a:effectLst/>
                          <a:latin typeface="Lato" panose="020F0502020204030203"/>
                        </a:rPr>
                        <a:t>, 2, </a:t>
                      </a:r>
                      <a:r>
                        <a:rPr lang="en-US" sz="1400" b="1" i="0" u="none" strike="sngStrike" dirty="0">
                          <a:solidFill>
                            <a:schemeClr val="tx1"/>
                          </a:solidFill>
                          <a:effectLst/>
                          <a:latin typeface="Lato" panose="020F0502020204030203"/>
                        </a:rPr>
                        <a:t>3,4</a:t>
                      </a:r>
                      <a:endParaRPr lang="en-US" sz="1400" b="1" i="0" u="none" strike="noStrike" dirty="0">
                        <a:solidFill>
                          <a:schemeClr val="tx1"/>
                        </a:solidFill>
                        <a:effectLst/>
                        <a:latin typeface="Lato" panose="020F0502020204030203"/>
                      </a:endParaRPr>
                    </a:p>
                  </a:txBody>
                  <a:tcPr marL="6415" marR="6415" marT="64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75000"/>
                      </a:schemeClr>
                    </a:solidFill>
                  </a:tcPr>
                </a:tc>
                <a:tc rowSpan="3">
                  <a:txBody>
                    <a:bodyPr/>
                    <a:lstStyle/>
                    <a:p>
                      <a:pPr algn="l" rtl="0" fontAlgn="ctr"/>
                      <a:r>
                        <a:rPr lang="en-US" sz="1400" b="1" i="0" u="none" strike="noStrike">
                          <a:solidFill>
                            <a:schemeClr val="tx1"/>
                          </a:solidFill>
                          <a:effectLst/>
                          <a:latin typeface="Lato" panose="020F0502020204030203"/>
                        </a:rPr>
                        <a:t>1</a:t>
                      </a:r>
                      <a:r>
                        <a:rPr lang="en-US" sz="1400" b="1" i="0" u="none" strike="sngStrike">
                          <a:solidFill>
                            <a:schemeClr val="tx1"/>
                          </a:solidFill>
                          <a:effectLst/>
                          <a:latin typeface="Lato" panose="020F0502020204030203"/>
                        </a:rPr>
                        <a:t>,2</a:t>
                      </a:r>
                      <a:r>
                        <a:rPr lang="en-US" sz="1400" b="1" i="0" u="none" strike="noStrike">
                          <a:solidFill>
                            <a:schemeClr val="tx1"/>
                          </a:solidFill>
                          <a:effectLst/>
                          <a:latin typeface="Lato" panose="020F0502020204030203"/>
                        </a:rPr>
                        <a:t>, 3,</a:t>
                      </a:r>
                      <a:r>
                        <a:rPr lang="en-US" sz="1400" b="1" i="0" u="none" strike="sngStrike">
                          <a:solidFill>
                            <a:schemeClr val="tx1"/>
                          </a:solidFill>
                          <a:effectLst/>
                          <a:latin typeface="Lato" panose="020F0502020204030203"/>
                        </a:rPr>
                        <a:t>4,5</a:t>
                      </a:r>
                      <a:endParaRPr lang="en-US" sz="1400" b="1" i="0" u="none" strike="noStrike">
                        <a:solidFill>
                          <a:schemeClr val="tx1"/>
                        </a:solidFill>
                        <a:effectLst/>
                        <a:latin typeface="Lato" panose="020F0502020204030203"/>
                      </a:endParaRPr>
                    </a:p>
                  </a:txBody>
                  <a:tcPr marL="6415" marR="6415" marT="64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75000"/>
                      </a:schemeClr>
                    </a:solidFill>
                  </a:tcPr>
                </a:tc>
                <a:tc rowSpan="3">
                  <a:txBody>
                    <a:bodyPr/>
                    <a:lstStyle/>
                    <a:p>
                      <a:pPr algn="l" rtl="0" fontAlgn="ctr"/>
                      <a:r>
                        <a:rPr lang="en-US" sz="1400" b="1" i="0" u="none" strike="noStrike">
                          <a:solidFill>
                            <a:schemeClr val="tx1"/>
                          </a:solidFill>
                          <a:effectLst/>
                          <a:latin typeface="Lato" panose="020F0502020204030203"/>
                        </a:rPr>
                        <a:t>1,</a:t>
                      </a:r>
                      <a:r>
                        <a:rPr lang="en-US" sz="1400" b="1" i="0" u="none" strike="sngStrike">
                          <a:solidFill>
                            <a:schemeClr val="tx1"/>
                          </a:solidFill>
                          <a:effectLst/>
                          <a:latin typeface="Lato" panose="020F0502020204030203"/>
                        </a:rPr>
                        <a:t>2,3</a:t>
                      </a:r>
                      <a:r>
                        <a:rPr lang="en-US" sz="1400" b="1" i="0" u="none" strike="noStrike">
                          <a:solidFill>
                            <a:schemeClr val="tx1"/>
                          </a:solidFill>
                          <a:effectLst/>
                          <a:latin typeface="Lato" panose="020F0502020204030203"/>
                        </a:rPr>
                        <a:t>, 4, </a:t>
                      </a:r>
                      <a:r>
                        <a:rPr lang="en-US" sz="1400" b="1" i="0" u="none" strike="sngStrike">
                          <a:solidFill>
                            <a:schemeClr val="tx1"/>
                          </a:solidFill>
                          <a:effectLst/>
                          <a:latin typeface="Lato" panose="020F0502020204030203"/>
                        </a:rPr>
                        <a:t>5,6</a:t>
                      </a:r>
                      <a:endParaRPr lang="en-US" sz="1400" b="1" i="0" u="none" strike="noStrike">
                        <a:solidFill>
                          <a:schemeClr val="tx1"/>
                        </a:solidFill>
                        <a:effectLst/>
                        <a:latin typeface="Lato" panose="020F0502020204030203"/>
                      </a:endParaRPr>
                    </a:p>
                  </a:txBody>
                  <a:tcPr marL="6415" marR="6415" marT="64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005821166"/>
                  </a:ext>
                </a:extLst>
              </a:tr>
              <a:tr h="179632">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l" rtl="0" fontAlgn="ctr"/>
                      <a:r>
                        <a:rPr lang="en-US" sz="1400" b="0" i="0" u="none" strike="noStrike" dirty="0">
                          <a:solidFill>
                            <a:schemeClr val="tx1"/>
                          </a:solidFill>
                          <a:effectLst/>
                          <a:latin typeface="Lato" panose="020F0502020204030203"/>
                        </a:rPr>
                        <a:t>k=1: p</a:t>
                      </a:r>
                      <a:r>
                        <a:rPr lang="en-US" sz="1400" b="0" i="0" u="none" strike="noStrike" baseline="-25000" dirty="0">
                          <a:solidFill>
                            <a:schemeClr val="tx1"/>
                          </a:solidFill>
                          <a:effectLst/>
                          <a:latin typeface="Lato" panose="020F0502020204030203"/>
                        </a:rPr>
                        <a:t>0</a:t>
                      </a:r>
                      <a:r>
                        <a:rPr lang="en-US" sz="1400" b="0" i="0" u="none" strike="noStrike" dirty="0">
                          <a:solidFill>
                            <a:schemeClr val="tx1"/>
                          </a:solidFill>
                          <a:effectLst/>
                          <a:latin typeface="Lato" panose="020F0502020204030203"/>
                        </a:rPr>
                        <a:t> ≠p</a:t>
                      </a:r>
                      <a:r>
                        <a:rPr lang="en-US" sz="1400" b="0" i="0" u="none" strike="noStrike" baseline="-25000" dirty="0">
                          <a:solidFill>
                            <a:schemeClr val="tx1"/>
                          </a:solidFill>
                          <a:effectLst/>
                          <a:latin typeface="Lato" panose="020F0502020204030203"/>
                        </a:rPr>
                        <a:t>1</a:t>
                      </a:r>
                      <a:endParaRPr lang="en-US" sz="1400" b="0" i="0" u="none" strike="noStrike" dirty="0">
                        <a:solidFill>
                          <a:schemeClr val="tx1"/>
                        </a:solidFill>
                        <a:effectLst/>
                        <a:latin typeface="Lato" panose="020F0502020204030203"/>
                      </a:endParaRPr>
                    </a:p>
                  </a:txBody>
                  <a:tcPr marL="6415" marR="6415" marT="64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solidFill>
                      <a:schemeClr val="bg1">
                        <a:lumMod val="75000"/>
                      </a:schemeClr>
                    </a:solidFill>
                  </a:tcPr>
                </a:tc>
                <a:tc>
                  <a:txBody>
                    <a:bodyPr/>
                    <a:lstStyle/>
                    <a:p>
                      <a:pPr algn="l" rtl="0" fontAlgn="ctr"/>
                      <a:r>
                        <a:rPr lang="en-US" sz="1400" b="0" i="0" u="none" strike="noStrike" dirty="0">
                          <a:solidFill>
                            <a:schemeClr val="tx1"/>
                          </a:solidFill>
                          <a:effectLst/>
                          <a:latin typeface="Lato" panose="020F0502020204030203"/>
                        </a:rPr>
                        <a:t>k=1: p</a:t>
                      </a:r>
                      <a:r>
                        <a:rPr lang="en-US" sz="1400" b="0" i="0" u="none" strike="noStrike" baseline="-25000" dirty="0">
                          <a:solidFill>
                            <a:schemeClr val="tx1"/>
                          </a:solidFill>
                          <a:effectLst/>
                          <a:latin typeface="Lato" panose="020F0502020204030203"/>
                        </a:rPr>
                        <a:t>0</a:t>
                      </a:r>
                      <a:r>
                        <a:rPr lang="en-US" sz="1400" b="0" i="0" u="none" strike="noStrike" dirty="0">
                          <a:solidFill>
                            <a:schemeClr val="tx1"/>
                          </a:solidFill>
                          <a:effectLst/>
                          <a:latin typeface="Lato" panose="020F0502020204030203"/>
                        </a:rPr>
                        <a:t>=p</a:t>
                      </a:r>
                      <a:r>
                        <a:rPr lang="en-US" sz="1400" b="0" i="0" u="none" strike="noStrike" baseline="-25000" dirty="0">
                          <a:solidFill>
                            <a:schemeClr val="tx1"/>
                          </a:solidFill>
                          <a:effectLst/>
                          <a:latin typeface="Lato" panose="020F0502020204030203"/>
                        </a:rPr>
                        <a:t>2</a:t>
                      </a:r>
                      <a:endParaRPr lang="en-US" sz="1400" b="0" i="0" u="none" strike="noStrike" dirty="0">
                        <a:solidFill>
                          <a:schemeClr val="tx1"/>
                        </a:solidFill>
                        <a:effectLst/>
                        <a:latin typeface="Lato" panose="020F0502020204030203"/>
                      </a:endParaRPr>
                    </a:p>
                  </a:txBody>
                  <a:tcPr marL="6415" marR="6415" marT="64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solidFill>
                      <a:schemeClr val="bg1">
                        <a:lumMod val="75000"/>
                      </a:schemeClr>
                    </a:solid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423625027"/>
                  </a:ext>
                </a:extLst>
              </a:tr>
              <a:tr h="186047">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l" fontAlgn="ctr"/>
                      <a:r>
                        <a:rPr lang="en-US" sz="1400" b="0" i="0" u="none" strike="noStrike" dirty="0">
                          <a:solidFill>
                            <a:schemeClr val="tx1"/>
                          </a:solidFill>
                          <a:effectLst/>
                          <a:latin typeface="Lato" panose="020F0502020204030203"/>
                        </a:rPr>
                        <a:t> </a:t>
                      </a:r>
                    </a:p>
                  </a:txBody>
                  <a:tcPr marL="6415" marR="6415" marT="64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chemeClr val="bg1">
                        <a:lumMod val="75000"/>
                      </a:schemeClr>
                    </a:solidFill>
                  </a:tcPr>
                </a:tc>
                <a:tc>
                  <a:txBody>
                    <a:bodyPr/>
                    <a:lstStyle/>
                    <a:p>
                      <a:pPr algn="l" rtl="0" fontAlgn="ctr"/>
                      <a:r>
                        <a:rPr lang="en-US" sz="1400" b="0" i="0" u="none" strike="noStrike" dirty="0">
                          <a:solidFill>
                            <a:schemeClr val="tx1"/>
                          </a:solidFill>
                          <a:effectLst/>
                          <a:latin typeface="Lato" panose="020F0502020204030203"/>
                        </a:rPr>
                        <a:t>k=2: p</a:t>
                      </a:r>
                      <a:r>
                        <a:rPr lang="en-US" sz="1400" b="0" i="0" u="none" strike="noStrike" baseline="-25000" dirty="0">
                          <a:solidFill>
                            <a:schemeClr val="tx1"/>
                          </a:solidFill>
                          <a:effectLst/>
                          <a:latin typeface="Lato" panose="020F0502020204030203"/>
                        </a:rPr>
                        <a:t>0</a:t>
                      </a:r>
                      <a:r>
                        <a:rPr lang="en-US" sz="1400" b="0" i="0" u="none" strike="noStrike" dirty="0">
                          <a:solidFill>
                            <a:schemeClr val="tx1"/>
                          </a:solidFill>
                          <a:effectLst/>
                          <a:latin typeface="Lato" panose="020F0502020204030203"/>
                        </a:rPr>
                        <a:t>p</a:t>
                      </a:r>
                      <a:r>
                        <a:rPr lang="en-US" sz="1400" b="0" i="0" u="none" strike="noStrike" baseline="-25000" dirty="0">
                          <a:solidFill>
                            <a:schemeClr val="tx1"/>
                          </a:solidFill>
                          <a:effectLst/>
                          <a:latin typeface="Lato" panose="020F0502020204030203"/>
                        </a:rPr>
                        <a:t>1</a:t>
                      </a:r>
                      <a:r>
                        <a:rPr lang="en-US" sz="1400" b="0" i="0" u="none" strike="noStrike" dirty="0">
                          <a:solidFill>
                            <a:schemeClr val="tx1"/>
                          </a:solidFill>
                          <a:effectLst/>
                          <a:latin typeface="Lato" panose="020F0502020204030203"/>
                        </a:rPr>
                        <a:t>≠p</a:t>
                      </a:r>
                      <a:r>
                        <a:rPr lang="en-US" sz="1400" b="0" i="0" u="none" strike="noStrike" baseline="-25000" dirty="0">
                          <a:solidFill>
                            <a:schemeClr val="tx1"/>
                          </a:solidFill>
                          <a:effectLst/>
                          <a:latin typeface="Lato" panose="020F0502020204030203"/>
                        </a:rPr>
                        <a:t>1</a:t>
                      </a:r>
                      <a:r>
                        <a:rPr lang="en-US" sz="1400" b="0" i="0" u="none" strike="noStrike" dirty="0">
                          <a:solidFill>
                            <a:schemeClr val="tx1"/>
                          </a:solidFill>
                          <a:effectLst/>
                          <a:latin typeface="Lato" panose="020F0502020204030203"/>
                        </a:rPr>
                        <a:t>p</a:t>
                      </a:r>
                      <a:r>
                        <a:rPr lang="en-US" sz="1400" b="0" i="0" u="none" strike="noStrike" baseline="-25000" dirty="0">
                          <a:solidFill>
                            <a:schemeClr val="tx1"/>
                          </a:solidFill>
                          <a:effectLst/>
                          <a:latin typeface="Lato" panose="020F0502020204030203"/>
                        </a:rPr>
                        <a:t>2</a:t>
                      </a:r>
                      <a:r>
                        <a:rPr lang="en-US" sz="1400" b="0" i="0" u="none" strike="noStrike" dirty="0">
                          <a:solidFill>
                            <a:schemeClr val="tx1"/>
                          </a:solidFill>
                          <a:effectLst/>
                          <a:latin typeface="Lato" panose="020F0502020204030203"/>
                        </a:rPr>
                        <a:t> </a:t>
                      </a:r>
                    </a:p>
                  </a:txBody>
                  <a:tcPr marL="6415" marR="6415" marT="64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2700" cap="flat" cmpd="sng" algn="ctr">
                      <a:solidFill>
                        <a:srgbClr val="FFFFFF"/>
                      </a:solidFill>
                      <a:prstDash val="solid"/>
                      <a:round/>
                      <a:headEnd type="none" w="med" len="med"/>
                      <a:tailEnd type="none" w="med" len="med"/>
                    </a:lnB>
                    <a:solidFill>
                      <a:schemeClr val="bg1">
                        <a:lumMod val="75000"/>
                      </a:schemeClr>
                    </a:solid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295047175"/>
                  </a:ext>
                </a:extLst>
              </a:tr>
              <a:tr h="218125">
                <a:tc rowSpan="3">
                  <a:txBody>
                    <a:bodyPr/>
                    <a:lstStyle/>
                    <a:p>
                      <a:pPr algn="ctr" rtl="0" fontAlgn="ctr"/>
                      <a:r>
                        <a:rPr lang="en-US" sz="1400" b="1" i="0" u="none" strike="noStrike">
                          <a:solidFill>
                            <a:schemeClr val="tx1"/>
                          </a:solidFill>
                          <a:effectLst/>
                          <a:latin typeface="Arial" panose="020B0604020202020204" pitchFamily="34" charset="0"/>
                        </a:rPr>
                        <a:t>Chuỗi khớp</a:t>
                      </a:r>
                    </a:p>
                  </a:txBody>
                  <a:tcPr marL="6415" marR="6415" marT="64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lumMod val="75000"/>
                      </a:schemeClr>
                    </a:solidFill>
                  </a:tcPr>
                </a:tc>
                <a:tc rowSpan="3">
                  <a:txBody>
                    <a:bodyPr/>
                    <a:lstStyle/>
                    <a:p>
                      <a:pPr algn="l" rtl="0" fontAlgn="t"/>
                      <a:r>
                        <a:rPr lang="en-US" sz="1400" b="0" i="0" u="none" strike="noStrike" dirty="0">
                          <a:solidFill>
                            <a:schemeClr val="tx1"/>
                          </a:solidFill>
                          <a:effectLst/>
                          <a:latin typeface="Lato" panose="020F0502020204030203"/>
                        </a:rPr>
                        <a:t>∅</a:t>
                      </a:r>
                    </a:p>
                  </a:txBody>
                  <a:tcPr marL="6415" marR="6415" marT="641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lumMod val="75000"/>
                      </a:schemeClr>
                    </a:solidFill>
                  </a:tcPr>
                </a:tc>
                <a:tc rowSpan="3">
                  <a:txBody>
                    <a:bodyPr/>
                    <a:lstStyle/>
                    <a:p>
                      <a:pPr algn="l" rtl="0" fontAlgn="t"/>
                      <a:r>
                        <a:rPr lang="en-US" sz="1400" b="0" i="0" u="none" strike="noStrike">
                          <a:solidFill>
                            <a:schemeClr val="tx1"/>
                          </a:solidFill>
                          <a:effectLst/>
                          <a:latin typeface="Lato" panose="020F0502020204030203"/>
                        </a:rPr>
                        <a:t>∅</a:t>
                      </a:r>
                    </a:p>
                  </a:txBody>
                  <a:tcPr marL="6415" marR="6415" marT="641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lumMod val="75000"/>
                      </a:schemeClr>
                    </a:solidFill>
                  </a:tcPr>
                </a:tc>
                <a:tc rowSpan="3">
                  <a:txBody>
                    <a:bodyPr/>
                    <a:lstStyle/>
                    <a:p>
                      <a:pPr algn="l" rtl="0" fontAlgn="t"/>
                      <a:r>
                        <a:rPr lang="en-US" sz="1400" b="0" i="0" u="none" strike="noStrike" dirty="0">
                          <a:solidFill>
                            <a:schemeClr val="tx1"/>
                          </a:solidFill>
                          <a:effectLst/>
                          <a:latin typeface="Lato" panose="020F0502020204030203"/>
                        </a:rPr>
                        <a:t>∅</a:t>
                      </a:r>
                    </a:p>
                  </a:txBody>
                  <a:tcPr marL="6415" marR="6415" marT="641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lumMod val="75000"/>
                      </a:schemeClr>
                    </a:solidFill>
                  </a:tcPr>
                </a:tc>
                <a:tc>
                  <a:txBody>
                    <a:bodyPr/>
                    <a:lstStyle/>
                    <a:p>
                      <a:pPr algn="l" rtl="0" fontAlgn="t"/>
                      <a:r>
                        <a:rPr lang="en-US" sz="1400" b="0" i="0" u="none" strike="noStrike" dirty="0">
                          <a:solidFill>
                            <a:schemeClr val="tx1"/>
                          </a:solidFill>
                          <a:effectLst/>
                          <a:latin typeface="Lato" panose="020F0502020204030203"/>
                        </a:rPr>
                        <a:t>1</a:t>
                      </a:r>
                    </a:p>
                  </a:txBody>
                  <a:tcPr marL="6415" marR="6415" marT="641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chemeClr val="bg1">
                        <a:lumMod val="75000"/>
                      </a:schemeClr>
                    </a:solidFill>
                  </a:tcPr>
                </a:tc>
                <a:tc>
                  <a:txBody>
                    <a:bodyPr/>
                    <a:lstStyle/>
                    <a:p>
                      <a:pPr algn="l" rtl="0" fontAlgn="t"/>
                      <a:r>
                        <a:rPr lang="en-US" sz="1400" b="0" i="0" u="none" strike="noStrike" dirty="0">
                          <a:solidFill>
                            <a:schemeClr val="tx1"/>
                          </a:solidFill>
                          <a:effectLst/>
                          <a:latin typeface="Lato" panose="020F0502020204030203"/>
                        </a:rPr>
                        <a:t>1</a:t>
                      </a:r>
                    </a:p>
                  </a:txBody>
                  <a:tcPr marL="6415" marR="6415" marT="641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chemeClr val="bg1">
                        <a:lumMod val="75000"/>
                      </a:schemeClr>
                    </a:solidFill>
                  </a:tcPr>
                </a:tc>
                <a:tc>
                  <a:txBody>
                    <a:bodyPr/>
                    <a:lstStyle/>
                    <a:p>
                      <a:pPr algn="l" rtl="0" fontAlgn="t"/>
                      <a:r>
                        <a:rPr lang="en-US" sz="1400" b="0" i="0" u="none" strike="noStrike" dirty="0">
                          <a:solidFill>
                            <a:schemeClr val="tx1"/>
                          </a:solidFill>
                          <a:effectLst/>
                          <a:latin typeface="Lato" panose="020F0502020204030203"/>
                        </a:rPr>
                        <a:t>10</a:t>
                      </a:r>
                    </a:p>
                  </a:txBody>
                  <a:tcPr marL="6415" marR="6415" marT="641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chemeClr val="bg1">
                        <a:lumMod val="75000"/>
                      </a:schemeClr>
                    </a:solidFill>
                  </a:tcPr>
                </a:tc>
                <a:tc>
                  <a:txBody>
                    <a:bodyPr/>
                    <a:lstStyle/>
                    <a:p>
                      <a:pPr algn="l" rtl="0" fontAlgn="t"/>
                      <a:r>
                        <a:rPr lang="en-US" sz="1400" b="0" i="0" u="none" strike="noStrike" dirty="0">
                          <a:solidFill>
                            <a:schemeClr val="tx1"/>
                          </a:solidFill>
                          <a:effectLst/>
                          <a:latin typeface="Lato" panose="020F0502020204030203"/>
                        </a:rPr>
                        <a:t>1 </a:t>
                      </a:r>
                      <a:r>
                        <a:rPr lang="en-US" sz="1400" b="0" i="0" u="none" strike="noStrike" dirty="0" err="1">
                          <a:solidFill>
                            <a:schemeClr val="tx1"/>
                          </a:solidFill>
                          <a:effectLst/>
                          <a:latin typeface="Lato" panose="020F0502020204030203"/>
                        </a:rPr>
                        <a:t>hoặc</a:t>
                      </a:r>
                      <a:r>
                        <a:rPr lang="en-US" sz="1400" b="0" i="0" u="none" strike="noStrike" dirty="0">
                          <a:solidFill>
                            <a:schemeClr val="tx1"/>
                          </a:solidFill>
                          <a:effectLst/>
                          <a:latin typeface="Lato" panose="020F0502020204030203"/>
                        </a:rPr>
                        <a:t> 101 </a:t>
                      </a:r>
                    </a:p>
                  </a:txBody>
                  <a:tcPr marL="6415" marR="6415" marT="641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chemeClr val="bg1">
                        <a:lumMod val="75000"/>
                      </a:schemeClr>
                    </a:solidFill>
                  </a:tcPr>
                </a:tc>
                <a:tc>
                  <a:txBody>
                    <a:bodyPr/>
                    <a:lstStyle/>
                    <a:p>
                      <a:pPr algn="l" rtl="0" fontAlgn="t"/>
                      <a:r>
                        <a:rPr lang="en-US" sz="1400" b="0" i="0" u="none" strike="noStrike">
                          <a:solidFill>
                            <a:schemeClr val="tx1"/>
                          </a:solidFill>
                          <a:effectLst/>
                          <a:latin typeface="Lato" panose="020F0502020204030203"/>
                        </a:rPr>
                        <a:t>1 hoặc 1011 </a:t>
                      </a:r>
                    </a:p>
                  </a:txBody>
                  <a:tcPr marL="6415" marR="6415" marT="641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a:noFill/>
                    </a:lnB>
                    <a:solidFill>
                      <a:schemeClr val="bg1">
                        <a:lumMod val="75000"/>
                      </a:schemeClr>
                    </a:solidFill>
                  </a:tcPr>
                </a:tc>
                <a:extLst>
                  <a:ext uri="{0D108BD9-81ED-4DB2-BD59-A6C34878D82A}">
                    <a16:rowId xmlns:a16="http://schemas.microsoft.com/office/drawing/2014/main" val="2022674889"/>
                  </a:ext>
                </a:extLst>
              </a:tr>
              <a:tr h="153970">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l" rtl="0" fontAlgn="t"/>
                      <a:r>
                        <a:rPr lang="en-US" sz="1400" b="0" i="0" u="none" strike="noStrike" dirty="0">
                          <a:solidFill>
                            <a:schemeClr val="tx1"/>
                          </a:solidFill>
                          <a:effectLst/>
                          <a:latin typeface="Lato" panose="020F0502020204030203"/>
                        </a:rPr>
                        <a:t>1xx-----</a:t>
                      </a:r>
                    </a:p>
                  </a:txBody>
                  <a:tcPr marL="6415" marR="6415" marT="641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solidFill>
                      <a:schemeClr val="bg1">
                        <a:lumMod val="75000"/>
                      </a:schemeClr>
                    </a:solidFill>
                  </a:tcPr>
                </a:tc>
                <a:tc>
                  <a:txBody>
                    <a:bodyPr/>
                    <a:lstStyle/>
                    <a:p>
                      <a:pPr algn="l" rtl="0" fontAlgn="t"/>
                      <a:r>
                        <a:rPr lang="en-US" sz="1400" b="0" i="0" u="none" strike="noStrike" dirty="0">
                          <a:solidFill>
                            <a:schemeClr val="tx1"/>
                          </a:solidFill>
                          <a:effectLst/>
                          <a:latin typeface="Lato" panose="020F0502020204030203"/>
                        </a:rPr>
                        <a:t>1xxx----</a:t>
                      </a:r>
                    </a:p>
                  </a:txBody>
                  <a:tcPr marL="6415" marR="6415" marT="641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solidFill>
                      <a:schemeClr val="bg1">
                        <a:lumMod val="75000"/>
                      </a:schemeClr>
                    </a:solidFill>
                  </a:tcPr>
                </a:tc>
                <a:tc>
                  <a:txBody>
                    <a:bodyPr/>
                    <a:lstStyle/>
                    <a:p>
                      <a:pPr algn="l" rtl="0" fontAlgn="t"/>
                      <a:r>
                        <a:rPr lang="en-US" sz="1400" b="0" i="0" u="none" strike="noStrike" dirty="0">
                          <a:solidFill>
                            <a:schemeClr val="tx1"/>
                          </a:solidFill>
                          <a:effectLst/>
                          <a:latin typeface="Lato" panose="020F0502020204030203"/>
                        </a:rPr>
                        <a:t>10xxx---</a:t>
                      </a:r>
                    </a:p>
                  </a:txBody>
                  <a:tcPr marL="6415" marR="6415" marT="641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solidFill>
                      <a:schemeClr val="bg1">
                        <a:lumMod val="75000"/>
                      </a:schemeClr>
                    </a:solidFill>
                  </a:tcPr>
                </a:tc>
                <a:tc>
                  <a:txBody>
                    <a:bodyPr/>
                    <a:lstStyle/>
                    <a:p>
                      <a:pPr algn="l" rtl="0" fontAlgn="t"/>
                      <a:r>
                        <a:rPr lang="en-US" sz="1400" b="0" i="0" u="none" strike="noStrike" dirty="0">
                          <a:solidFill>
                            <a:schemeClr val="tx1"/>
                          </a:solidFill>
                          <a:effectLst/>
                          <a:latin typeface="Lato" panose="020F0502020204030203"/>
                        </a:rPr>
                        <a:t>101xxx--</a:t>
                      </a:r>
                    </a:p>
                  </a:txBody>
                  <a:tcPr marL="6415" marR="6415" marT="641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solidFill>
                      <a:schemeClr val="bg1">
                        <a:lumMod val="75000"/>
                      </a:schemeClr>
                    </a:solidFill>
                  </a:tcPr>
                </a:tc>
                <a:tc>
                  <a:txBody>
                    <a:bodyPr/>
                    <a:lstStyle/>
                    <a:p>
                      <a:pPr algn="l" rtl="0" fontAlgn="t"/>
                      <a:r>
                        <a:rPr lang="en-US" sz="1400" b="0" i="0" u="none" strike="noStrike">
                          <a:solidFill>
                            <a:schemeClr val="tx1"/>
                          </a:solidFill>
                          <a:effectLst/>
                          <a:latin typeface="Lato" panose="020F0502020204030203"/>
                        </a:rPr>
                        <a:t>1011xxx-    </a:t>
                      </a:r>
                    </a:p>
                  </a:txBody>
                  <a:tcPr marL="6415" marR="6415" marT="641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a:noFill/>
                    </a:lnB>
                    <a:solidFill>
                      <a:schemeClr val="bg1">
                        <a:lumMod val="75000"/>
                      </a:schemeClr>
                    </a:solidFill>
                  </a:tcPr>
                </a:tc>
                <a:extLst>
                  <a:ext uri="{0D108BD9-81ED-4DB2-BD59-A6C34878D82A}">
                    <a16:rowId xmlns:a16="http://schemas.microsoft.com/office/drawing/2014/main" val="2413666668"/>
                  </a:ext>
                </a:extLst>
              </a:tr>
              <a:tr h="198878">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l" rtl="0" fontAlgn="t"/>
                      <a:r>
                        <a:rPr lang="en-US" sz="1400" b="0" i="0" u="none" strike="noStrike" dirty="0">
                          <a:solidFill>
                            <a:schemeClr val="tx1"/>
                          </a:solidFill>
                          <a:effectLst/>
                          <a:latin typeface="Lato" panose="020F0502020204030203"/>
                        </a:rPr>
                        <a:t>xx1-----</a:t>
                      </a:r>
                    </a:p>
                  </a:txBody>
                  <a:tcPr marL="6415" marR="6415" marT="641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chemeClr val="bg1">
                        <a:lumMod val="75000"/>
                      </a:schemeClr>
                    </a:solidFill>
                  </a:tcPr>
                </a:tc>
                <a:tc>
                  <a:txBody>
                    <a:bodyPr/>
                    <a:lstStyle/>
                    <a:p>
                      <a:pPr algn="l" rtl="0" fontAlgn="t"/>
                      <a:r>
                        <a:rPr lang="en-US" sz="1400" b="0" i="0" u="none" strike="noStrike" dirty="0">
                          <a:solidFill>
                            <a:schemeClr val="tx1"/>
                          </a:solidFill>
                          <a:effectLst/>
                          <a:latin typeface="Lato" panose="020F0502020204030203"/>
                        </a:rPr>
                        <a:t>xxx1----</a:t>
                      </a:r>
                    </a:p>
                  </a:txBody>
                  <a:tcPr marL="6415" marR="6415" marT="641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chemeClr val="bg1">
                        <a:lumMod val="75000"/>
                      </a:schemeClr>
                    </a:solidFill>
                  </a:tcPr>
                </a:tc>
                <a:tc>
                  <a:txBody>
                    <a:bodyPr/>
                    <a:lstStyle/>
                    <a:p>
                      <a:pPr algn="l" rtl="0" fontAlgn="t"/>
                      <a:r>
                        <a:rPr lang="en-US" sz="1400" b="0" i="0" u="none" strike="noStrike" dirty="0">
                          <a:solidFill>
                            <a:schemeClr val="tx1"/>
                          </a:solidFill>
                          <a:effectLst/>
                          <a:latin typeface="Lato" panose="020F0502020204030203"/>
                        </a:rPr>
                        <a:t>xxx10---</a:t>
                      </a:r>
                    </a:p>
                  </a:txBody>
                  <a:tcPr marL="6415" marR="6415" marT="641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chemeClr val="bg1">
                        <a:lumMod val="75000"/>
                      </a:schemeClr>
                    </a:solidFill>
                  </a:tcPr>
                </a:tc>
                <a:tc>
                  <a:txBody>
                    <a:bodyPr/>
                    <a:lstStyle/>
                    <a:p>
                      <a:pPr algn="l" rtl="0" fontAlgn="t"/>
                      <a:r>
                        <a:rPr lang="en-US" sz="1400" b="0" i="0" u="none" strike="noStrike" dirty="0">
                          <a:solidFill>
                            <a:schemeClr val="tx1"/>
                          </a:solidFill>
                          <a:effectLst/>
                          <a:latin typeface="Lato" panose="020F0502020204030203"/>
                        </a:rPr>
                        <a:t>xxx101--</a:t>
                      </a:r>
                    </a:p>
                  </a:txBody>
                  <a:tcPr marL="6415" marR="6415" marT="641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chemeClr val="bg1">
                        <a:lumMod val="75000"/>
                      </a:schemeClr>
                    </a:solidFill>
                  </a:tcPr>
                </a:tc>
                <a:tc>
                  <a:txBody>
                    <a:bodyPr/>
                    <a:lstStyle/>
                    <a:p>
                      <a:pPr algn="l" rtl="0" fontAlgn="t"/>
                      <a:r>
                        <a:rPr lang="en-US" sz="1400" b="0" i="0" u="none" strike="noStrike" dirty="0">
                          <a:solidFill>
                            <a:schemeClr val="tx1"/>
                          </a:solidFill>
                          <a:effectLst/>
                          <a:latin typeface="Lato" panose="020F0502020204030203"/>
                        </a:rPr>
                        <a:t>xxx1011-</a:t>
                      </a:r>
                    </a:p>
                  </a:txBody>
                  <a:tcPr marL="6415" marR="6415" marT="641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528484082"/>
                  </a:ext>
                </a:extLst>
              </a:tr>
              <a:tr h="186047">
                <a:tc>
                  <a:txBody>
                    <a:bodyPr/>
                    <a:lstStyle/>
                    <a:p>
                      <a:pPr algn="ctr" rtl="0" fontAlgn="ctr"/>
                      <a:r>
                        <a:rPr lang="en-US" sz="1400" b="1" i="0" u="none" strike="noStrike" dirty="0" err="1">
                          <a:solidFill>
                            <a:srgbClr val="000000"/>
                          </a:solidFill>
                          <a:effectLst/>
                          <a:latin typeface="Lato" panose="020F0502020204030203"/>
                        </a:rPr>
                        <a:t>pj</a:t>
                      </a:r>
                      <a:endParaRPr lang="en-US" sz="1400" b="1" i="0" u="none" strike="noStrike" dirty="0">
                        <a:solidFill>
                          <a:srgbClr val="000000"/>
                        </a:solidFill>
                        <a:effectLst/>
                        <a:latin typeface="Lato" panose="020F0502020204030203"/>
                      </a:endParaRPr>
                    </a:p>
                  </a:txBody>
                  <a:tcPr marL="6415" marR="6415" marT="64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FAADC"/>
                    </a:solidFill>
                  </a:tcPr>
                </a:tc>
                <a:tc>
                  <a:txBody>
                    <a:bodyPr/>
                    <a:lstStyle/>
                    <a:p>
                      <a:pPr algn="ctr" rtl="0" fontAlgn="ctr"/>
                      <a:r>
                        <a:rPr lang="en-US" sz="1400" b="1" i="0" u="none" strike="noStrike" dirty="0">
                          <a:solidFill>
                            <a:srgbClr val="000000"/>
                          </a:solidFill>
                          <a:effectLst/>
                          <a:latin typeface="Lato" panose="020F0502020204030203"/>
                        </a:rPr>
                        <a:t>1</a:t>
                      </a:r>
                    </a:p>
                  </a:txBody>
                  <a:tcPr marL="6415" marR="6415" marT="64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algn="ctr" rtl="0" fontAlgn="ctr"/>
                      <a:r>
                        <a:rPr lang="en-US" sz="1400" b="1" i="0" u="none" strike="noStrike" dirty="0">
                          <a:solidFill>
                            <a:srgbClr val="000000"/>
                          </a:solidFill>
                          <a:effectLst/>
                          <a:latin typeface="Lato" panose="020F0502020204030203"/>
                        </a:rPr>
                        <a:t>0</a:t>
                      </a:r>
                    </a:p>
                  </a:txBody>
                  <a:tcPr marL="6415" marR="6415" marT="64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algn="ctr" rtl="0" fontAlgn="ctr"/>
                      <a:r>
                        <a:rPr lang="en-US" sz="1400" b="1" i="0" u="none" strike="noStrike">
                          <a:solidFill>
                            <a:srgbClr val="000000"/>
                          </a:solidFill>
                          <a:effectLst/>
                          <a:latin typeface="Lato" panose="020F0502020204030203"/>
                        </a:rPr>
                        <a:t>1</a:t>
                      </a:r>
                    </a:p>
                  </a:txBody>
                  <a:tcPr marL="6415" marR="6415" marT="64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algn="ctr" rtl="0" fontAlgn="ctr"/>
                      <a:r>
                        <a:rPr lang="en-US" sz="1400" b="1" i="0" u="none" strike="noStrike">
                          <a:solidFill>
                            <a:srgbClr val="000000"/>
                          </a:solidFill>
                          <a:effectLst/>
                          <a:latin typeface="Lato" panose="020F0502020204030203"/>
                        </a:rPr>
                        <a:t>1</a:t>
                      </a:r>
                    </a:p>
                  </a:txBody>
                  <a:tcPr marL="6415" marR="6415" marT="64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algn="ctr" rtl="0" fontAlgn="ctr"/>
                      <a:r>
                        <a:rPr lang="en-US" sz="1400" b="1" i="0" u="none" strike="noStrike">
                          <a:solidFill>
                            <a:srgbClr val="000000"/>
                          </a:solidFill>
                          <a:effectLst/>
                          <a:latin typeface="Lato" panose="020F0502020204030203"/>
                        </a:rPr>
                        <a:t>0</a:t>
                      </a:r>
                    </a:p>
                  </a:txBody>
                  <a:tcPr marL="6415" marR="6415" marT="64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algn="ctr" rtl="0" fontAlgn="ctr"/>
                      <a:r>
                        <a:rPr lang="en-US" sz="1400" b="1" i="0" u="none" strike="noStrike">
                          <a:solidFill>
                            <a:srgbClr val="000000"/>
                          </a:solidFill>
                          <a:effectLst/>
                          <a:latin typeface="Lato" panose="020F0502020204030203"/>
                        </a:rPr>
                        <a:t>1</a:t>
                      </a:r>
                    </a:p>
                  </a:txBody>
                  <a:tcPr marL="6415" marR="6415" marT="64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algn="ctr" rtl="0" fontAlgn="ctr"/>
                      <a:r>
                        <a:rPr lang="en-US" sz="1400" b="1" i="0" u="none" strike="noStrike">
                          <a:solidFill>
                            <a:srgbClr val="000000"/>
                          </a:solidFill>
                          <a:effectLst/>
                          <a:latin typeface="Lato" panose="020F0502020204030203"/>
                        </a:rPr>
                        <a:t>1</a:t>
                      </a:r>
                    </a:p>
                  </a:txBody>
                  <a:tcPr marL="6415" marR="6415" marT="64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algn="ctr" rtl="0" fontAlgn="ctr"/>
                      <a:r>
                        <a:rPr lang="en-US" sz="1400" b="1" i="0" u="none" strike="noStrike" dirty="0">
                          <a:solidFill>
                            <a:srgbClr val="000000"/>
                          </a:solidFill>
                          <a:effectLst/>
                          <a:latin typeface="Lato" panose="020F0502020204030203"/>
                        </a:rPr>
                        <a:t>1</a:t>
                      </a:r>
                    </a:p>
                  </a:txBody>
                  <a:tcPr marL="6415" marR="6415" marT="64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extLst>
                  <a:ext uri="{0D108BD9-81ED-4DB2-BD59-A6C34878D82A}">
                    <a16:rowId xmlns:a16="http://schemas.microsoft.com/office/drawing/2014/main" val="3102827180"/>
                  </a:ext>
                </a:extLst>
              </a:tr>
              <a:tr h="205294">
                <a:tc>
                  <a:txBody>
                    <a:bodyPr/>
                    <a:lstStyle/>
                    <a:p>
                      <a:pPr algn="ctr" rtl="0" fontAlgn="ctr"/>
                      <a:r>
                        <a:rPr lang="en-US" sz="1400" b="1" i="0" u="none" strike="noStrike">
                          <a:solidFill>
                            <a:srgbClr val="000000"/>
                          </a:solidFill>
                          <a:effectLst/>
                          <a:latin typeface="Lato" panose="020F0502020204030203"/>
                        </a:rPr>
                        <a:t>pk</a:t>
                      </a:r>
                    </a:p>
                  </a:txBody>
                  <a:tcPr marL="6415" marR="6415" marT="64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FAADC"/>
                    </a:solidFill>
                  </a:tcPr>
                </a:tc>
                <a:tc>
                  <a:txBody>
                    <a:bodyPr/>
                    <a:lstStyle/>
                    <a:p>
                      <a:pPr algn="ctr" fontAlgn="ctr"/>
                      <a:r>
                        <a:rPr lang="en-US" sz="1400" b="0" i="0" u="none" strike="noStrike" dirty="0">
                          <a:solidFill>
                            <a:srgbClr val="000000"/>
                          </a:solidFill>
                          <a:effectLst/>
                          <a:latin typeface="Lato" panose="020F0502020204030203"/>
                        </a:rPr>
                        <a:t> </a:t>
                      </a:r>
                    </a:p>
                  </a:txBody>
                  <a:tcPr marL="6415" marR="6415" marT="64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algn="ctr" fontAlgn="ctr"/>
                      <a:r>
                        <a:rPr lang="en-US" sz="1400" b="0" i="0" u="none" strike="noStrike" dirty="0">
                          <a:solidFill>
                            <a:srgbClr val="000000"/>
                          </a:solidFill>
                          <a:effectLst/>
                          <a:latin typeface="Lato" panose="020F0502020204030203"/>
                        </a:rPr>
                        <a:t> </a:t>
                      </a:r>
                    </a:p>
                  </a:txBody>
                  <a:tcPr marL="6415" marR="6415" marT="64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algn="ctr" fontAlgn="ctr"/>
                      <a:r>
                        <a:rPr lang="en-US" sz="1400" b="0" i="0" u="none" strike="noStrike">
                          <a:solidFill>
                            <a:srgbClr val="000000"/>
                          </a:solidFill>
                          <a:effectLst/>
                          <a:latin typeface="Lato" panose="020F0502020204030203"/>
                        </a:rPr>
                        <a:t> </a:t>
                      </a:r>
                    </a:p>
                  </a:txBody>
                  <a:tcPr marL="6415" marR="6415" marT="64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algn="ctr" rtl="0" fontAlgn="ctr"/>
                      <a:r>
                        <a:rPr lang="en-US" sz="1400" b="1" i="0" u="none" strike="noStrike">
                          <a:solidFill>
                            <a:srgbClr val="000000"/>
                          </a:solidFill>
                          <a:effectLst/>
                          <a:latin typeface="Lato" panose="020F0502020204030203"/>
                        </a:rPr>
                        <a:t>0</a:t>
                      </a:r>
                    </a:p>
                  </a:txBody>
                  <a:tcPr marL="6415" marR="6415" marT="64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algn="ctr" rtl="0" fontAlgn="ctr"/>
                      <a:r>
                        <a:rPr lang="en-US" sz="1400" b="1" i="0" u="none" strike="noStrike">
                          <a:solidFill>
                            <a:srgbClr val="000000"/>
                          </a:solidFill>
                          <a:effectLst/>
                          <a:latin typeface="Lato" panose="020F0502020204030203"/>
                        </a:rPr>
                        <a:t>0</a:t>
                      </a:r>
                    </a:p>
                  </a:txBody>
                  <a:tcPr marL="6415" marR="6415" marT="64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algn="ctr" rtl="0" fontAlgn="ctr"/>
                      <a:r>
                        <a:rPr lang="en-US" sz="1400" b="1" i="0" u="none" strike="noStrike">
                          <a:solidFill>
                            <a:srgbClr val="000000"/>
                          </a:solidFill>
                          <a:effectLst/>
                          <a:latin typeface="Lato" panose="020F0502020204030203"/>
                        </a:rPr>
                        <a:t>1</a:t>
                      </a:r>
                    </a:p>
                  </a:txBody>
                  <a:tcPr marL="6415" marR="6415" marT="64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algn="ctr" rtl="0" fontAlgn="ctr"/>
                      <a:r>
                        <a:rPr lang="en-US" sz="1400" b="1" i="0" u="none" strike="noStrike">
                          <a:solidFill>
                            <a:srgbClr val="000000"/>
                          </a:solidFill>
                          <a:effectLst/>
                          <a:latin typeface="Lato" panose="020F0502020204030203"/>
                        </a:rPr>
                        <a:t>0, 1</a:t>
                      </a:r>
                    </a:p>
                  </a:txBody>
                  <a:tcPr marL="6415" marR="6415" marT="64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algn="ctr" rtl="0" fontAlgn="ctr"/>
                      <a:r>
                        <a:rPr lang="en-US" sz="1400" b="1" i="0" u="none" strike="noStrike" dirty="0">
                          <a:solidFill>
                            <a:srgbClr val="000000"/>
                          </a:solidFill>
                          <a:effectLst/>
                          <a:latin typeface="Lato" panose="020F0502020204030203"/>
                        </a:rPr>
                        <a:t>0, 0</a:t>
                      </a:r>
                    </a:p>
                  </a:txBody>
                  <a:tcPr marL="6415" marR="6415" marT="64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extLst>
                  <a:ext uri="{0D108BD9-81ED-4DB2-BD59-A6C34878D82A}">
                    <a16:rowId xmlns:a16="http://schemas.microsoft.com/office/drawing/2014/main" val="2512407125"/>
                  </a:ext>
                </a:extLst>
              </a:tr>
              <a:tr h="352849">
                <a:tc>
                  <a:txBody>
                    <a:bodyPr/>
                    <a:lstStyle/>
                    <a:p>
                      <a:pPr algn="l" fontAlgn="t"/>
                      <a:r>
                        <a:rPr lang="en-US" sz="1600" b="0" i="0" u="none" strike="noStrike">
                          <a:solidFill>
                            <a:srgbClr val="000000"/>
                          </a:solidFill>
                          <a:effectLst/>
                          <a:latin typeface="Arial" panose="020B0604020202020204" pitchFamily="34" charset="0"/>
                        </a:rPr>
                        <a:t> </a:t>
                      </a:r>
                    </a:p>
                  </a:txBody>
                  <a:tcPr marL="6415" marR="6415" marT="641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FAADC"/>
                    </a:solidFill>
                  </a:tcPr>
                </a:tc>
                <a:tc>
                  <a:txBody>
                    <a:bodyPr/>
                    <a:lstStyle/>
                    <a:p>
                      <a:pPr algn="l" fontAlgn="t"/>
                      <a:r>
                        <a:rPr lang="en-US" sz="1600" b="0" i="0" u="none" strike="noStrike">
                          <a:solidFill>
                            <a:srgbClr val="000000"/>
                          </a:solidFill>
                          <a:effectLst/>
                          <a:latin typeface="Arial" panose="020B0604020202020204" pitchFamily="34" charset="0"/>
                        </a:rPr>
                        <a:t> </a:t>
                      </a:r>
                    </a:p>
                  </a:txBody>
                  <a:tcPr marL="6415" marR="6415" marT="641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algn="l" fontAlgn="t"/>
                      <a:r>
                        <a:rPr lang="en-US" sz="1600" b="0" i="0" u="none" strike="noStrike">
                          <a:solidFill>
                            <a:srgbClr val="000000"/>
                          </a:solidFill>
                          <a:effectLst/>
                          <a:latin typeface="Arial" panose="020B0604020202020204" pitchFamily="34" charset="0"/>
                        </a:rPr>
                        <a:t> </a:t>
                      </a:r>
                    </a:p>
                  </a:txBody>
                  <a:tcPr marL="6415" marR="6415" marT="641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algn="l" fontAlgn="t"/>
                      <a:r>
                        <a:rPr lang="en-US" sz="1600" b="0" i="0" u="none" strike="noStrike" dirty="0">
                          <a:solidFill>
                            <a:srgbClr val="000000"/>
                          </a:solidFill>
                          <a:effectLst/>
                          <a:latin typeface="Arial" panose="020B0604020202020204" pitchFamily="34" charset="0"/>
                        </a:rPr>
                        <a:t> </a:t>
                      </a:r>
                    </a:p>
                  </a:txBody>
                  <a:tcPr marL="6415" marR="6415" marT="641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algn="l" rtl="0" fontAlgn="t"/>
                      <a:r>
                        <a:rPr lang="en-US" sz="1400" b="1" i="0" u="none" strike="noStrike" dirty="0" err="1">
                          <a:solidFill>
                            <a:srgbClr val="000000"/>
                          </a:solidFill>
                          <a:effectLst/>
                          <a:latin typeface="Lato" panose="020F0502020204030203"/>
                        </a:rPr>
                        <a:t>pk≠pj</a:t>
                      </a:r>
                      <a:endParaRPr lang="en-US" sz="1400" b="1" i="0" u="none" strike="noStrike" dirty="0">
                        <a:solidFill>
                          <a:srgbClr val="000000"/>
                        </a:solidFill>
                        <a:effectLst/>
                        <a:latin typeface="Lato" panose="020F0502020204030203"/>
                      </a:endParaRPr>
                    </a:p>
                  </a:txBody>
                  <a:tcPr marL="6415" marR="6415" marT="641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algn="l" rtl="0" fontAlgn="t"/>
                      <a:r>
                        <a:rPr lang="en-US" sz="1400" b="1" i="0" u="none" strike="noStrike" dirty="0" err="1">
                          <a:solidFill>
                            <a:srgbClr val="000000"/>
                          </a:solidFill>
                          <a:effectLst/>
                          <a:latin typeface="Lato" panose="020F0502020204030203"/>
                        </a:rPr>
                        <a:t>Không</a:t>
                      </a:r>
                      <a:r>
                        <a:rPr lang="en-US" sz="1400" b="1" i="0" u="none" strike="noStrike" dirty="0">
                          <a:solidFill>
                            <a:srgbClr val="000000"/>
                          </a:solidFill>
                          <a:effectLst/>
                          <a:latin typeface="Lato" panose="020F0502020204030203"/>
                        </a:rPr>
                        <a:t> </a:t>
                      </a:r>
                      <a:r>
                        <a:rPr lang="en-US" sz="1400" b="1" i="0" u="none" strike="noStrike" dirty="0" err="1">
                          <a:solidFill>
                            <a:srgbClr val="000000"/>
                          </a:solidFill>
                          <a:effectLst/>
                          <a:latin typeface="Lato" panose="020F0502020204030203"/>
                        </a:rPr>
                        <a:t>thỏa</a:t>
                      </a:r>
                      <a:r>
                        <a:rPr lang="en-US" sz="1400" b="1" i="0" u="none" strike="noStrike" dirty="0">
                          <a:solidFill>
                            <a:srgbClr val="000000"/>
                          </a:solidFill>
                          <a:effectLst/>
                          <a:latin typeface="Lato" panose="020F0502020204030203"/>
                        </a:rPr>
                        <a:t> </a:t>
                      </a:r>
                      <a:r>
                        <a:rPr lang="en-US" sz="1400" b="1" i="0" u="none" strike="noStrike" dirty="0" err="1">
                          <a:solidFill>
                            <a:srgbClr val="000000"/>
                          </a:solidFill>
                          <a:effectLst/>
                          <a:latin typeface="Lato" panose="020F0502020204030203"/>
                        </a:rPr>
                        <a:t>mãn</a:t>
                      </a:r>
                      <a:endParaRPr lang="en-US" sz="1400" b="1" i="0" u="none" strike="noStrike" dirty="0">
                        <a:solidFill>
                          <a:srgbClr val="000000"/>
                        </a:solidFill>
                        <a:effectLst/>
                        <a:latin typeface="Lato" panose="020F0502020204030203"/>
                      </a:endParaRPr>
                    </a:p>
                  </a:txBody>
                  <a:tcPr marL="6415" marR="6415" marT="641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algn="l" rtl="0" fontAlgn="t"/>
                      <a:r>
                        <a:rPr lang="en-US" sz="1400" b="1" i="0" u="none" strike="noStrike">
                          <a:solidFill>
                            <a:srgbClr val="000000"/>
                          </a:solidFill>
                          <a:effectLst/>
                          <a:latin typeface="Lato" panose="020F0502020204030203"/>
                        </a:rPr>
                        <a:t>Không thỏa mãn</a:t>
                      </a:r>
                    </a:p>
                  </a:txBody>
                  <a:tcPr marL="6415" marR="6415" marT="641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algn="l" rtl="0" fontAlgn="t"/>
                      <a:r>
                        <a:rPr lang="en-US" sz="1400" b="1" i="0" u="none" strike="noStrike">
                          <a:solidFill>
                            <a:srgbClr val="000000"/>
                          </a:solidFill>
                          <a:effectLst/>
                          <a:latin typeface="Lato" panose="020F0502020204030203"/>
                        </a:rPr>
                        <a:t>k=1 =&gt; pk≠pj</a:t>
                      </a:r>
                    </a:p>
                  </a:txBody>
                  <a:tcPr marL="6415" marR="6415" marT="641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algn="l" rtl="0" fontAlgn="t"/>
                      <a:r>
                        <a:rPr lang="en-US" sz="1400" b="1" i="0" u="none" strike="noStrike">
                          <a:solidFill>
                            <a:srgbClr val="000000"/>
                          </a:solidFill>
                          <a:effectLst/>
                          <a:latin typeface="Lato" panose="020F0502020204030203"/>
                        </a:rPr>
                        <a:t>pk≠pj</a:t>
                      </a:r>
                    </a:p>
                  </a:txBody>
                  <a:tcPr marL="6415" marR="6415" marT="641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extLst>
                  <a:ext uri="{0D108BD9-81ED-4DB2-BD59-A6C34878D82A}">
                    <a16:rowId xmlns:a16="http://schemas.microsoft.com/office/drawing/2014/main" val="3208576726"/>
                  </a:ext>
                </a:extLst>
              </a:tr>
              <a:tr h="519650">
                <a:tc>
                  <a:txBody>
                    <a:bodyPr/>
                    <a:lstStyle/>
                    <a:p>
                      <a:pPr algn="ctr" rtl="0" fontAlgn="t"/>
                      <a:r>
                        <a:rPr lang="en-US" sz="1400" b="1" i="0" u="none" strike="noStrike">
                          <a:solidFill>
                            <a:srgbClr val="000000"/>
                          </a:solidFill>
                          <a:effectLst/>
                          <a:latin typeface="Lato" panose="020F0502020204030203"/>
                        </a:rPr>
                        <a:t>Chuỗi khớp mới</a:t>
                      </a:r>
                    </a:p>
                  </a:txBody>
                  <a:tcPr marL="6415" marR="6415" marT="641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FAADC"/>
                    </a:solidFill>
                  </a:tcPr>
                </a:tc>
                <a:tc>
                  <a:txBody>
                    <a:bodyPr/>
                    <a:lstStyle/>
                    <a:p>
                      <a:pPr algn="ctr" rtl="0" fontAlgn="t"/>
                      <a:r>
                        <a:rPr lang="en-US" sz="1400" b="1" i="0" u="none" strike="noStrike">
                          <a:solidFill>
                            <a:srgbClr val="000000"/>
                          </a:solidFill>
                          <a:effectLst/>
                          <a:latin typeface="Cambria Math" panose="02040503050406030204" pitchFamily="18" charset="0"/>
                        </a:rPr>
                        <a:t>∅</a:t>
                      </a:r>
                    </a:p>
                  </a:txBody>
                  <a:tcPr marL="6415" marR="6415" marT="641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algn="ctr" rtl="0" fontAlgn="t"/>
                      <a:r>
                        <a:rPr lang="en-US" sz="1400" b="1" i="0" u="none" strike="noStrike">
                          <a:solidFill>
                            <a:srgbClr val="000000"/>
                          </a:solidFill>
                          <a:effectLst/>
                          <a:latin typeface="Cambria Math" panose="02040503050406030204" pitchFamily="18" charset="0"/>
                        </a:rPr>
                        <a:t>∅</a:t>
                      </a:r>
                    </a:p>
                  </a:txBody>
                  <a:tcPr marL="6415" marR="6415" marT="641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algn="ctr" rtl="0" fontAlgn="t"/>
                      <a:r>
                        <a:rPr lang="en-US" sz="1400" b="1" i="0" u="none" strike="noStrike">
                          <a:solidFill>
                            <a:srgbClr val="000000"/>
                          </a:solidFill>
                          <a:effectLst/>
                          <a:latin typeface="Cambria Math" panose="02040503050406030204" pitchFamily="18" charset="0"/>
                        </a:rPr>
                        <a:t>∅</a:t>
                      </a:r>
                    </a:p>
                  </a:txBody>
                  <a:tcPr marL="6415" marR="6415" marT="641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algn="ctr" rtl="0" fontAlgn="t"/>
                      <a:r>
                        <a:rPr lang="en-US" sz="1400" b="1" i="0" u="none" strike="noStrike">
                          <a:solidFill>
                            <a:srgbClr val="000000"/>
                          </a:solidFill>
                          <a:effectLst/>
                          <a:latin typeface="Lato" panose="020F0502020204030203"/>
                        </a:rPr>
                        <a:t>1</a:t>
                      </a:r>
                    </a:p>
                  </a:txBody>
                  <a:tcPr marL="6415" marR="6415" marT="641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algn="ctr" rtl="0" fontAlgn="t"/>
                      <a:r>
                        <a:rPr lang="en-US" sz="1400" b="1" i="0" u="none" strike="noStrike" dirty="0">
                          <a:solidFill>
                            <a:srgbClr val="000000"/>
                          </a:solidFill>
                          <a:effectLst/>
                          <a:latin typeface="Cambria Math" panose="02040503050406030204" pitchFamily="18" charset="0"/>
                        </a:rPr>
                        <a:t>∅</a:t>
                      </a:r>
                    </a:p>
                  </a:txBody>
                  <a:tcPr marL="6415" marR="6415" marT="641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algn="ctr" rtl="0" fontAlgn="t"/>
                      <a:r>
                        <a:rPr lang="en-US" sz="1400" b="1" i="0" u="none" strike="noStrike" dirty="0">
                          <a:solidFill>
                            <a:srgbClr val="000000"/>
                          </a:solidFill>
                          <a:effectLst/>
                          <a:latin typeface="Cambria Math" panose="02040503050406030204" pitchFamily="18" charset="0"/>
                        </a:rPr>
                        <a:t>∅</a:t>
                      </a:r>
                    </a:p>
                  </a:txBody>
                  <a:tcPr marL="6415" marR="6415" marT="641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algn="ctr" rtl="0" fontAlgn="t"/>
                      <a:r>
                        <a:rPr lang="en-US" sz="1400" b="1" i="0" u="none" strike="noStrike" dirty="0">
                          <a:solidFill>
                            <a:srgbClr val="000000"/>
                          </a:solidFill>
                          <a:effectLst/>
                          <a:latin typeface="Lato" panose="020F0502020204030203"/>
                        </a:rPr>
                        <a:t>1</a:t>
                      </a:r>
                    </a:p>
                  </a:txBody>
                  <a:tcPr marL="6415" marR="6415" marT="641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tc>
                  <a:txBody>
                    <a:bodyPr/>
                    <a:lstStyle/>
                    <a:p>
                      <a:pPr algn="ctr" rtl="0" fontAlgn="t"/>
                      <a:r>
                        <a:rPr lang="en-US" sz="1400" b="1" i="0" u="none" strike="noStrike" dirty="0">
                          <a:solidFill>
                            <a:srgbClr val="000000"/>
                          </a:solidFill>
                          <a:effectLst/>
                          <a:latin typeface="Lato" panose="020F0502020204030203"/>
                        </a:rPr>
                        <a:t>1011</a:t>
                      </a:r>
                    </a:p>
                  </a:txBody>
                  <a:tcPr marL="6415" marR="6415" marT="641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solidFill>
                  </a:tcPr>
                </a:tc>
                <a:extLst>
                  <a:ext uri="{0D108BD9-81ED-4DB2-BD59-A6C34878D82A}">
                    <a16:rowId xmlns:a16="http://schemas.microsoft.com/office/drawing/2014/main" val="2357285701"/>
                  </a:ext>
                </a:extLst>
              </a:tr>
              <a:tr h="179632">
                <a:tc>
                  <a:txBody>
                    <a:bodyPr/>
                    <a:lstStyle/>
                    <a:p>
                      <a:pPr algn="ctr" rtl="0" fontAlgn="ctr"/>
                      <a:r>
                        <a:rPr lang="en-US" sz="1400" b="1" i="0" u="none" strike="noStrike" dirty="0">
                          <a:solidFill>
                            <a:srgbClr val="000000"/>
                          </a:solidFill>
                          <a:effectLst/>
                          <a:latin typeface="Lato" panose="020F0502020204030203"/>
                        </a:rPr>
                        <a:t>k </a:t>
                      </a:r>
                      <a:r>
                        <a:rPr lang="en-US" sz="1400" b="1" i="0" u="none" strike="noStrike" dirty="0" err="1">
                          <a:solidFill>
                            <a:srgbClr val="000000"/>
                          </a:solidFill>
                          <a:effectLst/>
                          <a:latin typeface="Lato" panose="020F0502020204030203"/>
                        </a:rPr>
                        <a:t>mới</a:t>
                      </a:r>
                      <a:endParaRPr lang="en-US" sz="1400" b="1" i="0" u="none" strike="noStrike" dirty="0">
                        <a:solidFill>
                          <a:srgbClr val="000000"/>
                        </a:solidFill>
                        <a:effectLst/>
                        <a:latin typeface="Lato" panose="020F0502020204030203"/>
                      </a:endParaRPr>
                    </a:p>
                  </a:txBody>
                  <a:tcPr marL="6415" marR="6415" marT="64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FAADC"/>
                    </a:solidFill>
                  </a:tcPr>
                </a:tc>
                <a:tc>
                  <a:txBody>
                    <a:bodyPr/>
                    <a:lstStyle/>
                    <a:p>
                      <a:pPr algn="ctr" rtl="0" fontAlgn="ctr"/>
                      <a:r>
                        <a:rPr lang="en-US" sz="1400" b="1" i="0" u="none" strike="noStrike">
                          <a:solidFill>
                            <a:srgbClr val="000000"/>
                          </a:solidFill>
                          <a:effectLst/>
                          <a:latin typeface="Lato" panose="020F0502020204030203"/>
                        </a:rPr>
                        <a:t>0</a:t>
                      </a:r>
                    </a:p>
                  </a:txBody>
                  <a:tcPr marL="6415" marR="6415" marT="64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algn="ctr" rtl="0" fontAlgn="ctr"/>
                      <a:r>
                        <a:rPr lang="en-US" sz="1400" b="1" i="0" u="none" strike="noStrike">
                          <a:solidFill>
                            <a:srgbClr val="000000"/>
                          </a:solidFill>
                          <a:effectLst/>
                          <a:latin typeface="Lato" panose="020F0502020204030203"/>
                        </a:rPr>
                        <a:t>0</a:t>
                      </a:r>
                    </a:p>
                  </a:txBody>
                  <a:tcPr marL="6415" marR="6415" marT="64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algn="ctr" rtl="0" fontAlgn="ctr"/>
                      <a:r>
                        <a:rPr lang="en-US" sz="1400" b="1" i="0" u="none" strike="noStrike">
                          <a:solidFill>
                            <a:srgbClr val="000000"/>
                          </a:solidFill>
                          <a:effectLst/>
                          <a:latin typeface="Lato" panose="020F0502020204030203"/>
                        </a:rPr>
                        <a:t>0</a:t>
                      </a:r>
                    </a:p>
                  </a:txBody>
                  <a:tcPr marL="6415" marR="6415" marT="64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algn="ctr" rtl="0" fontAlgn="ctr"/>
                      <a:r>
                        <a:rPr lang="en-US" sz="1400" b="1" i="0" u="none" strike="noStrike">
                          <a:solidFill>
                            <a:srgbClr val="000000"/>
                          </a:solidFill>
                          <a:effectLst/>
                          <a:latin typeface="Lato" panose="020F0502020204030203"/>
                        </a:rPr>
                        <a:t>1</a:t>
                      </a:r>
                    </a:p>
                  </a:txBody>
                  <a:tcPr marL="6415" marR="6415" marT="64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algn="ctr" rtl="0" fontAlgn="ctr"/>
                      <a:r>
                        <a:rPr lang="en-US" sz="1400" b="1" i="0" u="none" strike="noStrike">
                          <a:solidFill>
                            <a:srgbClr val="000000"/>
                          </a:solidFill>
                          <a:effectLst/>
                          <a:latin typeface="Lato" panose="020F0502020204030203"/>
                        </a:rPr>
                        <a:t>0</a:t>
                      </a:r>
                    </a:p>
                  </a:txBody>
                  <a:tcPr marL="6415" marR="6415" marT="64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algn="ctr" rtl="0" fontAlgn="ctr"/>
                      <a:r>
                        <a:rPr lang="en-US" sz="1400" b="1" i="0" u="none" strike="noStrike">
                          <a:solidFill>
                            <a:srgbClr val="000000"/>
                          </a:solidFill>
                          <a:effectLst/>
                          <a:latin typeface="Lato" panose="020F0502020204030203"/>
                        </a:rPr>
                        <a:t>0</a:t>
                      </a:r>
                    </a:p>
                  </a:txBody>
                  <a:tcPr marL="6415" marR="6415" marT="64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algn="ctr" rtl="0" fontAlgn="ctr"/>
                      <a:r>
                        <a:rPr lang="en-US" sz="1400" b="1" i="0" u="none" strike="noStrike">
                          <a:solidFill>
                            <a:srgbClr val="000000"/>
                          </a:solidFill>
                          <a:effectLst/>
                          <a:latin typeface="Lato" panose="020F0502020204030203"/>
                        </a:rPr>
                        <a:t>1</a:t>
                      </a:r>
                    </a:p>
                  </a:txBody>
                  <a:tcPr marL="6415" marR="6415" marT="64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tc>
                  <a:txBody>
                    <a:bodyPr/>
                    <a:lstStyle/>
                    <a:p>
                      <a:pPr algn="ctr" rtl="0" fontAlgn="ctr"/>
                      <a:r>
                        <a:rPr lang="en-US" sz="1400" b="1" i="0" u="none" strike="noStrike" dirty="0">
                          <a:solidFill>
                            <a:srgbClr val="000000"/>
                          </a:solidFill>
                          <a:effectLst/>
                          <a:latin typeface="Lato" panose="020F0502020204030203"/>
                        </a:rPr>
                        <a:t>4 (max)</a:t>
                      </a:r>
                    </a:p>
                  </a:txBody>
                  <a:tcPr marL="6415" marR="6415" marT="641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solidFill>
                  </a:tcPr>
                </a:tc>
                <a:extLst>
                  <a:ext uri="{0D108BD9-81ED-4DB2-BD59-A6C34878D82A}">
                    <a16:rowId xmlns:a16="http://schemas.microsoft.com/office/drawing/2014/main" val="2171540038"/>
                  </a:ext>
                </a:extLst>
              </a:tr>
            </a:tbl>
          </a:graphicData>
        </a:graphic>
      </p:graphicFrame>
      <p:pic>
        <p:nvPicPr>
          <p:cNvPr id="6" name="Picture 5"/>
          <p:cNvPicPr>
            <a:picLocks noChangeAspect="1"/>
          </p:cNvPicPr>
          <p:nvPr/>
        </p:nvPicPr>
        <p:blipFill>
          <a:blip r:embed="rId3"/>
          <a:stretch>
            <a:fillRect/>
          </a:stretch>
        </p:blipFill>
        <p:spPr>
          <a:xfrm>
            <a:off x="4635257" y="53215"/>
            <a:ext cx="4273666" cy="2536156"/>
          </a:xfrm>
          <a:prstGeom prst="rect">
            <a:avLst/>
          </a:prstGeom>
        </p:spPr>
      </p:pic>
      <p:pic>
        <p:nvPicPr>
          <p:cNvPr id="7" name="Picture 6"/>
          <p:cNvPicPr>
            <a:picLocks noChangeAspect="1"/>
          </p:cNvPicPr>
          <p:nvPr/>
        </p:nvPicPr>
        <p:blipFill rotWithShape="1">
          <a:blip r:embed="rId4"/>
          <a:srcRect b="48785"/>
          <a:stretch/>
        </p:blipFill>
        <p:spPr>
          <a:xfrm>
            <a:off x="423312" y="2818493"/>
            <a:ext cx="8297375" cy="1829707"/>
          </a:xfrm>
          <a:prstGeom prst="rect">
            <a:avLst/>
          </a:prstGeom>
        </p:spPr>
      </p:pic>
      <p:pic>
        <p:nvPicPr>
          <p:cNvPr id="10" name="Picture 9"/>
          <p:cNvPicPr>
            <a:picLocks noChangeAspect="1"/>
          </p:cNvPicPr>
          <p:nvPr/>
        </p:nvPicPr>
        <p:blipFill>
          <a:blip r:embed="rId4"/>
          <a:stretch>
            <a:fillRect/>
          </a:stretch>
        </p:blipFill>
        <p:spPr>
          <a:xfrm>
            <a:off x="423312" y="2818493"/>
            <a:ext cx="8297375" cy="3572566"/>
          </a:xfrm>
          <a:prstGeom prst="rect">
            <a:avLst/>
          </a:prstGeom>
        </p:spPr>
      </p:pic>
    </p:spTree>
    <p:extLst>
      <p:ext uri="{BB962C8B-B14F-4D97-AF65-F5344CB8AC3E}">
        <p14:creationId xmlns:p14="http://schemas.microsoft.com/office/powerpoint/2010/main" val="772447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C24317B-5122-4A99-A6E9-FA23C146A7E0}" type="slidenum">
              <a:rPr lang="en-US" smtClean="0"/>
              <a:pPr/>
              <a:t>17</a:t>
            </a:fld>
            <a:endParaRPr lang="en-US" dirty="0"/>
          </a:p>
        </p:txBody>
      </p:sp>
      <p:sp>
        <p:nvSpPr>
          <p:cNvPr id="4" name="Title 3"/>
          <p:cNvSpPr>
            <a:spLocks noGrp="1"/>
          </p:cNvSpPr>
          <p:nvPr>
            <p:ph type="title"/>
          </p:nvPr>
        </p:nvSpPr>
        <p:spPr/>
        <p:txBody>
          <a:bodyPr>
            <a:normAutofit/>
          </a:bodyPr>
          <a:lstStyle/>
          <a:p>
            <a:r>
              <a:rPr lang="en-US" sz="2400" dirty="0" smtClean="0"/>
              <a:t>3. </a:t>
            </a:r>
            <a:r>
              <a:rPr lang="en-US" sz="2400" dirty="0" err="1" smtClean="0"/>
              <a:t>Tìm</a:t>
            </a:r>
            <a:r>
              <a:rPr lang="en-US" sz="2400" dirty="0" smtClean="0"/>
              <a:t> </a:t>
            </a:r>
            <a:r>
              <a:rPr lang="en-US" sz="2400" dirty="0" err="1" smtClean="0"/>
              <a:t>kiếm</a:t>
            </a:r>
            <a:r>
              <a:rPr lang="en-US" sz="2400" dirty="0" smtClean="0"/>
              <a:t> </a:t>
            </a:r>
            <a:r>
              <a:rPr lang="en-US" sz="2400" dirty="0" err="1" smtClean="0"/>
              <a:t>chuỗi</a:t>
            </a:r>
            <a:r>
              <a:rPr lang="en-US" sz="2400" dirty="0" smtClean="0"/>
              <a:t> con</a:t>
            </a:r>
            <a:endParaRPr lang="en-US" sz="2400" dirty="0"/>
          </a:p>
        </p:txBody>
      </p:sp>
      <p:sp>
        <p:nvSpPr>
          <p:cNvPr id="5" name="Text Placeholder 4"/>
          <p:cNvSpPr>
            <a:spLocks noGrp="1"/>
          </p:cNvSpPr>
          <p:nvPr>
            <p:ph type="body" sz="quarter" idx="13"/>
          </p:nvPr>
        </p:nvSpPr>
        <p:spPr/>
        <p:txBody>
          <a:bodyPr>
            <a:normAutofit/>
          </a:bodyPr>
          <a:lstStyle/>
          <a:p>
            <a:r>
              <a:rPr lang="en-US" sz="2400" dirty="0" err="1"/>
              <a:t>Giải</a:t>
            </a:r>
            <a:r>
              <a:rPr lang="en-US" sz="2400" dirty="0"/>
              <a:t> </a:t>
            </a:r>
            <a:r>
              <a:rPr lang="en-US" sz="2400" dirty="0" err="1"/>
              <a:t>thuật</a:t>
            </a:r>
            <a:r>
              <a:rPr lang="en-US" sz="2400" dirty="0"/>
              <a:t> </a:t>
            </a:r>
            <a:r>
              <a:rPr lang="en-US" sz="2400" dirty="0" smtClean="0"/>
              <a:t>Knuth-Morris-Pratt</a:t>
            </a:r>
          </a:p>
          <a:p>
            <a:pPr lvl="1"/>
            <a:r>
              <a:rPr lang="en-US" sz="2400" i="1" dirty="0" err="1"/>
              <a:t>G</a:t>
            </a:r>
            <a:r>
              <a:rPr lang="en-US" sz="2400" i="1" dirty="0" err="1" smtClean="0"/>
              <a:t>iải</a:t>
            </a:r>
            <a:r>
              <a:rPr lang="en-US" sz="2400" i="1" dirty="0" smtClean="0"/>
              <a:t> </a:t>
            </a:r>
            <a:r>
              <a:rPr lang="en-US" sz="2400" i="1" dirty="0" err="1" smtClean="0"/>
              <a:t>thuật</a:t>
            </a:r>
            <a:r>
              <a:rPr lang="en-US" sz="2400" i="1" dirty="0" smtClean="0"/>
              <a:t> </a:t>
            </a:r>
            <a:r>
              <a:rPr lang="en-US" sz="2400" i="1" dirty="0" err="1" smtClean="0"/>
              <a:t>tìm</a:t>
            </a:r>
            <a:r>
              <a:rPr lang="en-US" sz="2400" i="1" dirty="0"/>
              <a:t> k</a:t>
            </a:r>
            <a:r>
              <a:rPr lang="en-US" sz="2400" i="1" dirty="0" smtClean="0"/>
              <a:t>:</a:t>
            </a:r>
            <a:endParaRPr lang="en-US" sz="2000" dirty="0" smtClean="0"/>
          </a:p>
          <a:p>
            <a:pPr lvl="2"/>
            <a:r>
              <a:rPr lang="en-US" sz="2000" dirty="0" err="1" smtClean="0">
                <a:solidFill>
                  <a:prstClr val="black"/>
                </a:solidFill>
              </a:rPr>
              <a:t>Trả</a:t>
            </a:r>
            <a:r>
              <a:rPr lang="en-US" sz="2000" dirty="0" smtClean="0">
                <a:solidFill>
                  <a:prstClr val="black"/>
                </a:solidFill>
              </a:rPr>
              <a:t> </a:t>
            </a:r>
            <a:r>
              <a:rPr lang="en-US" sz="2000" dirty="0" err="1">
                <a:solidFill>
                  <a:prstClr val="black"/>
                </a:solidFill>
              </a:rPr>
              <a:t>về</a:t>
            </a:r>
            <a:r>
              <a:rPr lang="en-US" sz="2000" dirty="0">
                <a:solidFill>
                  <a:prstClr val="black"/>
                </a:solidFill>
              </a:rPr>
              <a:t> </a:t>
            </a:r>
            <a:r>
              <a:rPr lang="en-US" sz="2000" dirty="0" err="1">
                <a:solidFill>
                  <a:prstClr val="black"/>
                </a:solidFill>
              </a:rPr>
              <a:t>mảng</a:t>
            </a:r>
            <a:r>
              <a:rPr lang="en-US" sz="2000" dirty="0">
                <a:solidFill>
                  <a:prstClr val="black"/>
                </a:solidFill>
              </a:rPr>
              <a:t> next[]: </a:t>
            </a:r>
            <a:r>
              <a:rPr lang="vi-VN" sz="2000" dirty="0">
                <a:solidFill>
                  <a:prstClr val="black"/>
                </a:solidFill>
              </a:rPr>
              <a:t>next[j]=</a:t>
            </a:r>
            <a:r>
              <a:rPr lang="vi-VN" sz="2000" dirty="0" smtClean="0">
                <a:solidFill>
                  <a:prstClr val="black"/>
                </a:solidFill>
              </a:rPr>
              <a:t>k</a:t>
            </a:r>
            <a:endParaRPr lang="en-US" sz="2000" i="1" dirty="0" smtClean="0"/>
          </a:p>
          <a:p>
            <a:pPr lvl="2"/>
            <a:r>
              <a:rPr lang="en-US" sz="2000" i="1" dirty="0" smtClean="0"/>
              <a:t>j</a:t>
            </a:r>
            <a:r>
              <a:rPr lang="en-US" sz="2000" dirty="0" smtClean="0"/>
              <a:t>: </a:t>
            </a:r>
            <a:r>
              <a:rPr lang="en-US" sz="2000" dirty="0" err="1" smtClean="0"/>
              <a:t>vị</a:t>
            </a:r>
            <a:r>
              <a:rPr lang="en-US" sz="2000" dirty="0" smtClean="0"/>
              <a:t> </a:t>
            </a:r>
            <a:r>
              <a:rPr lang="en-US" sz="2000" dirty="0" err="1" smtClean="0"/>
              <a:t>trí</a:t>
            </a:r>
            <a:r>
              <a:rPr lang="en-US" sz="2000" dirty="0" smtClean="0"/>
              <a:t> </a:t>
            </a:r>
            <a:r>
              <a:rPr lang="en-US" sz="2000" dirty="0" err="1" smtClean="0"/>
              <a:t>trong</a:t>
            </a:r>
            <a:r>
              <a:rPr lang="en-US" sz="2000" dirty="0" smtClean="0"/>
              <a:t> </a:t>
            </a:r>
            <a:r>
              <a:rPr lang="en-US" sz="2000" dirty="0" err="1" smtClean="0"/>
              <a:t>mẫu</a:t>
            </a:r>
            <a:r>
              <a:rPr lang="en-US" sz="2000" dirty="0" smtClean="0"/>
              <a:t> (0≤ j </a:t>
            </a:r>
            <a:r>
              <a:rPr lang="en-US" sz="2000" dirty="0"/>
              <a:t>≤ </a:t>
            </a:r>
            <a:r>
              <a:rPr lang="en-US" sz="2000" dirty="0" smtClean="0"/>
              <a:t>M-1)</a:t>
            </a:r>
          </a:p>
          <a:p>
            <a:pPr lvl="2"/>
            <a:r>
              <a:rPr lang="en-US" sz="2000" i="1" dirty="0" smtClean="0"/>
              <a:t>k:</a:t>
            </a:r>
            <a:r>
              <a:rPr lang="en-US" sz="2000" dirty="0" smtClean="0"/>
              <a:t> </a:t>
            </a:r>
            <a:r>
              <a:rPr lang="en-US" sz="2000" dirty="0" err="1" smtClean="0"/>
              <a:t>vị</a:t>
            </a:r>
            <a:r>
              <a:rPr lang="en-US" sz="2000" dirty="0" smtClean="0"/>
              <a:t> </a:t>
            </a:r>
            <a:r>
              <a:rPr lang="en-US" sz="2000" dirty="0" err="1"/>
              <a:t>trí</a:t>
            </a:r>
            <a:r>
              <a:rPr lang="en-US" sz="2000" dirty="0"/>
              <a:t> so </a:t>
            </a:r>
            <a:r>
              <a:rPr lang="en-US" sz="2000" dirty="0" err="1"/>
              <a:t>khớp</a:t>
            </a:r>
            <a:r>
              <a:rPr lang="en-US" sz="2000" dirty="0"/>
              <a:t> </a:t>
            </a:r>
            <a:r>
              <a:rPr lang="en-US" sz="2000" dirty="0" err="1"/>
              <a:t>tiếp</a:t>
            </a:r>
            <a:r>
              <a:rPr lang="en-US" sz="2000" dirty="0"/>
              <a:t> </a:t>
            </a:r>
            <a:r>
              <a:rPr lang="en-US" sz="2000" dirty="0" err="1"/>
              <a:t>theo</a:t>
            </a:r>
            <a:r>
              <a:rPr lang="en-US" sz="2000" dirty="0"/>
              <a:t> </a:t>
            </a:r>
            <a:r>
              <a:rPr lang="en-US" sz="2000" dirty="0" smtClean="0"/>
              <a:t>(0</a:t>
            </a:r>
            <a:r>
              <a:rPr lang="en-US" sz="2000" dirty="0"/>
              <a:t> </a:t>
            </a:r>
            <a:r>
              <a:rPr lang="en-US" sz="2000" dirty="0" smtClean="0"/>
              <a:t>≤k&lt;j) (</a:t>
            </a:r>
            <a:r>
              <a:rPr lang="en-US" sz="2000" dirty="0" err="1" smtClean="0"/>
              <a:t>chọn</a:t>
            </a:r>
            <a:r>
              <a:rPr lang="en-US" sz="2000" dirty="0" smtClean="0"/>
              <a:t> </a:t>
            </a:r>
            <a:r>
              <a:rPr lang="en-US" sz="2000" dirty="0" err="1" smtClean="0"/>
              <a:t>giá</a:t>
            </a:r>
            <a:r>
              <a:rPr lang="en-US" sz="2000" dirty="0" smtClean="0"/>
              <a:t> </a:t>
            </a:r>
            <a:r>
              <a:rPr lang="en-US" sz="2000" dirty="0" err="1" smtClean="0"/>
              <a:t>trị</a:t>
            </a:r>
            <a:r>
              <a:rPr lang="en-US" sz="2000" dirty="0" smtClean="0"/>
              <a:t> </a:t>
            </a:r>
            <a:r>
              <a:rPr lang="en-US" sz="2000" i="1" dirty="0" smtClean="0"/>
              <a:t>k</a:t>
            </a:r>
            <a:r>
              <a:rPr lang="en-US" sz="2000" dirty="0" smtClean="0"/>
              <a:t> </a:t>
            </a:r>
            <a:r>
              <a:rPr lang="en-US" sz="2000" dirty="0" err="1" smtClean="0"/>
              <a:t>lớn</a:t>
            </a:r>
            <a:r>
              <a:rPr lang="en-US" sz="2000" dirty="0" smtClean="0"/>
              <a:t> </a:t>
            </a:r>
            <a:r>
              <a:rPr lang="en-US" sz="2000" dirty="0" err="1" smtClean="0"/>
              <a:t>nhất</a:t>
            </a:r>
            <a:r>
              <a:rPr lang="en-US" sz="2000" dirty="0" smtClean="0"/>
              <a:t> </a:t>
            </a:r>
            <a:r>
              <a:rPr lang="en-US" sz="2000" dirty="0" err="1" smtClean="0"/>
              <a:t>có</a:t>
            </a:r>
            <a:r>
              <a:rPr lang="en-US" sz="2000" dirty="0" smtClean="0"/>
              <a:t> </a:t>
            </a:r>
            <a:r>
              <a:rPr lang="en-US" sz="2000" dirty="0" err="1" smtClean="0"/>
              <a:t>thể</a:t>
            </a:r>
            <a:r>
              <a:rPr lang="en-US" sz="2000" dirty="0" smtClean="0"/>
              <a:t>)</a:t>
            </a:r>
            <a:endParaRPr lang="en-US" sz="1600" dirty="0"/>
          </a:p>
        </p:txBody>
      </p:sp>
      <p:sp>
        <p:nvSpPr>
          <p:cNvPr id="2" name="Rectangle 1"/>
          <p:cNvSpPr/>
          <p:nvPr/>
        </p:nvSpPr>
        <p:spPr>
          <a:xfrm>
            <a:off x="762000" y="2971800"/>
            <a:ext cx="8001000" cy="2862322"/>
          </a:xfrm>
          <a:prstGeom prst="rect">
            <a:avLst/>
          </a:prstGeom>
        </p:spPr>
        <p:txBody>
          <a:bodyPr wrap="square">
            <a:spAutoFit/>
          </a:bodyPr>
          <a:lstStyle/>
          <a:p>
            <a:r>
              <a:rPr lang="en-US" dirty="0" err="1">
                <a:latin typeface="Courier New" panose="02070309020205020404" pitchFamily="49" charset="0"/>
                <a:cs typeface="Courier New" panose="02070309020205020404" pitchFamily="49" charset="0"/>
              </a:rPr>
              <a:t>Bước</a:t>
            </a:r>
            <a:r>
              <a:rPr lang="en-US" dirty="0">
                <a:latin typeface="Courier New" panose="02070309020205020404" pitchFamily="49" charset="0"/>
                <a:cs typeface="Courier New" panose="02070309020205020404" pitchFamily="49" charset="0"/>
              </a:rPr>
              <a:t> 1: k = j-1;</a:t>
            </a:r>
          </a:p>
          <a:p>
            <a:r>
              <a:rPr lang="en-US" dirty="0" err="1">
                <a:latin typeface="Courier New" panose="02070309020205020404" pitchFamily="49" charset="0"/>
                <a:cs typeface="Courier New" panose="02070309020205020404" pitchFamily="49" charset="0"/>
              </a:rPr>
              <a:t>Bước</a:t>
            </a:r>
            <a:r>
              <a:rPr lang="en-US" dirty="0">
                <a:latin typeface="Courier New" panose="02070309020205020404" pitchFamily="49" charset="0"/>
                <a:cs typeface="Courier New" panose="02070309020205020404" pitchFamily="49" charset="0"/>
              </a:rPr>
              <a:t> 2: </a:t>
            </a:r>
            <a:r>
              <a:rPr lang="en-US" dirty="0" err="1">
                <a:latin typeface="Courier New" panose="02070309020205020404" pitchFamily="49" charset="0"/>
                <a:cs typeface="Courier New" panose="02070309020205020404" pitchFamily="49" charset="0"/>
              </a:rPr>
              <a:t>Tìm</a:t>
            </a:r>
            <a:r>
              <a:rPr lang="en-US" dirty="0">
                <a:latin typeface="Courier New" panose="02070309020205020404" pitchFamily="49" charset="0"/>
                <a:cs typeface="Courier New" panose="02070309020205020404" pitchFamily="49" charset="0"/>
              </a:rPr>
              <a:t> </a:t>
            </a:r>
            <a:r>
              <a:rPr lang="en-US" dirty="0" smtClean="0">
                <a:latin typeface="Courier New" panose="02070309020205020404" pitchFamily="49" charset="0"/>
                <a:cs typeface="Courier New" panose="02070309020205020404" pitchFamily="49" charset="0"/>
              </a:rPr>
              <a:t>k </a:t>
            </a:r>
            <a:r>
              <a:rPr lang="en-US" dirty="0" err="1" smtClean="0">
                <a:latin typeface="Courier New" panose="02070309020205020404" pitchFamily="49" charset="0"/>
                <a:cs typeface="Courier New" panose="02070309020205020404" pitchFamily="49" charset="0"/>
              </a:rPr>
              <a:t>lớn</a:t>
            </a:r>
            <a:r>
              <a:rPr lang="en-US" dirty="0" smtClean="0">
                <a:latin typeface="Courier New" panose="02070309020205020404" pitchFamily="49" charset="0"/>
                <a:cs typeface="Courier New" panose="02070309020205020404" pitchFamily="49" charset="0"/>
              </a:rPr>
              <a:t> </a:t>
            </a:r>
            <a:r>
              <a:rPr lang="en-US" dirty="0" err="1" smtClean="0">
                <a:latin typeface="Courier New" panose="02070309020205020404" pitchFamily="49" charset="0"/>
                <a:cs typeface="Courier New" panose="02070309020205020404" pitchFamily="49" charset="0"/>
              </a:rPr>
              <a:t>nhất</a:t>
            </a:r>
            <a:r>
              <a:rPr lang="en-US" dirty="0" smtClean="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sao</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cho</a:t>
            </a:r>
            <a:r>
              <a:rPr lang="en-US" dirty="0">
                <a:latin typeface="Courier New" panose="02070309020205020404" pitchFamily="49" charset="0"/>
                <a:cs typeface="Courier New" panose="02070309020205020404" pitchFamily="49" charset="0"/>
              </a:rPr>
              <a:t> p[k] ≠ p[j];</a:t>
            </a:r>
          </a:p>
          <a:p>
            <a:r>
              <a:rPr lang="en-US" dirty="0" err="1">
                <a:latin typeface="Courier New" panose="02070309020205020404" pitchFamily="49" charset="0"/>
                <a:cs typeface="Courier New" panose="02070309020205020404" pitchFamily="49" charset="0"/>
              </a:rPr>
              <a:t>Bước</a:t>
            </a:r>
            <a:r>
              <a:rPr lang="en-US" dirty="0">
                <a:latin typeface="Courier New" panose="02070309020205020404" pitchFamily="49" charset="0"/>
                <a:cs typeface="Courier New" panose="02070309020205020404" pitchFamily="49" charset="0"/>
              </a:rPr>
              <a:t> 3: So </a:t>
            </a:r>
            <a:r>
              <a:rPr lang="en-US" dirty="0" err="1">
                <a:latin typeface="Courier New" panose="02070309020205020404" pitchFamily="49" charset="0"/>
                <a:cs typeface="Courier New" panose="02070309020205020404" pitchFamily="49" charset="0"/>
              </a:rPr>
              <a:t>sánh</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hai</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chuỗi</a:t>
            </a:r>
            <a:r>
              <a:rPr lang="en-US" dirty="0">
                <a:latin typeface="Courier New" panose="02070309020205020404" pitchFamily="49" charset="0"/>
                <a:cs typeface="Courier New" panose="02070309020205020404" pitchFamily="49" charset="0"/>
              </a:rPr>
              <a:t> </a:t>
            </a:r>
            <a:endParaRPr lang="en-US" dirty="0" smtClean="0">
              <a:latin typeface="Courier New" panose="02070309020205020404" pitchFamily="49" charset="0"/>
              <a:cs typeface="Courier New" panose="02070309020205020404" pitchFamily="49" charset="0"/>
            </a:endParaRPr>
          </a:p>
          <a:p>
            <a:r>
              <a:rPr lang="en-US" dirty="0">
                <a:latin typeface="Courier New" panose="02070309020205020404" pitchFamily="49" charset="0"/>
                <a:cs typeface="Courier New" panose="02070309020205020404" pitchFamily="49" charset="0"/>
              </a:rPr>
              <a:t> </a:t>
            </a:r>
            <a:r>
              <a:rPr lang="en-US" dirty="0" smtClean="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p[0] p[1] .. p[k-1]) </a:t>
            </a:r>
            <a:r>
              <a:rPr lang="en-US" dirty="0" err="1">
                <a:latin typeface="Courier New" panose="02070309020205020404" pitchFamily="49" charset="0"/>
                <a:cs typeface="Courier New" panose="02070309020205020404" pitchFamily="49" charset="0"/>
              </a:rPr>
              <a:t>và</a:t>
            </a:r>
            <a:r>
              <a:rPr lang="en-US" dirty="0">
                <a:latin typeface="Courier New" panose="02070309020205020404" pitchFamily="49" charset="0"/>
                <a:cs typeface="Courier New" panose="02070309020205020404" pitchFamily="49" charset="0"/>
              </a:rPr>
              <a:t> (p[j-k] p[1] .. p[j-1</a:t>
            </a:r>
            <a:r>
              <a:rPr lang="en-US" dirty="0" smtClean="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 </a:t>
            </a:r>
            <a:r>
              <a:rPr lang="en-US" dirty="0" smtClean="0">
                <a:latin typeface="Courier New" panose="02070309020205020404" pitchFamily="49" charset="0"/>
                <a:cs typeface="Courier New" panose="02070309020205020404" pitchFamily="49" charset="0"/>
              </a:rPr>
              <a:t>      </a:t>
            </a:r>
            <a:r>
              <a:rPr lang="en-US" dirty="0" err="1" smtClean="0">
                <a:latin typeface="Courier New" panose="02070309020205020404" pitchFamily="49" charset="0"/>
                <a:cs typeface="Courier New" panose="02070309020205020404" pitchFamily="49" charset="0"/>
              </a:rPr>
              <a:t>Nếu</a:t>
            </a:r>
            <a:r>
              <a:rPr lang="en-US" dirty="0" smtClean="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chúng</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bằng</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nhau</a:t>
            </a:r>
            <a:r>
              <a:rPr lang="en-US" dirty="0">
                <a:latin typeface="Courier New" panose="02070309020205020404" pitchFamily="49" charset="0"/>
                <a:cs typeface="Courier New" panose="02070309020205020404" pitchFamily="49" charset="0"/>
              </a:rPr>
              <a:t> </a:t>
            </a:r>
            <a:r>
              <a:rPr lang="en-US" dirty="0" err="1" smtClean="0">
                <a:latin typeface="Courier New" panose="02070309020205020404" pitchFamily="49" charset="0"/>
                <a:cs typeface="Courier New" panose="02070309020205020404" pitchFamily="49" charset="0"/>
              </a:rPr>
              <a:t>thì</a:t>
            </a:r>
            <a:r>
              <a:rPr lang="en-US" dirty="0" smtClean="0">
                <a:latin typeface="Courier New" panose="02070309020205020404" pitchFamily="49" charset="0"/>
                <a:cs typeface="Courier New" panose="02070309020205020404" pitchFamily="49" charset="0"/>
              </a:rPr>
              <a:t> </a:t>
            </a:r>
          </a:p>
          <a:p>
            <a:r>
              <a:rPr lang="en-US" dirty="0">
                <a:latin typeface="Courier New" panose="02070309020205020404" pitchFamily="49" charset="0"/>
                <a:cs typeface="Courier New" panose="02070309020205020404" pitchFamily="49" charset="0"/>
              </a:rPr>
              <a:t> </a:t>
            </a:r>
            <a:r>
              <a:rPr lang="en-US" dirty="0" smtClean="0">
                <a:latin typeface="Courier New" panose="02070309020205020404" pitchFamily="49" charset="0"/>
                <a:cs typeface="Courier New" panose="02070309020205020404" pitchFamily="49" charset="0"/>
              </a:rPr>
              <a:t>          next[j</a:t>
            </a:r>
            <a:r>
              <a:rPr lang="en-US" dirty="0">
                <a:latin typeface="Courier New" panose="02070309020205020404" pitchFamily="49" charset="0"/>
                <a:cs typeface="Courier New" panose="02070309020205020404" pitchFamily="49" charset="0"/>
              </a:rPr>
              <a:t>] = k;</a:t>
            </a:r>
          </a:p>
          <a:p>
            <a:r>
              <a:rPr lang="en-US" dirty="0" smtClean="0">
                <a:latin typeface="Courier New" panose="02070309020205020404" pitchFamily="49" charset="0"/>
                <a:cs typeface="Courier New" panose="02070309020205020404" pitchFamily="49" charset="0"/>
              </a:rPr>
              <a:t>           </a:t>
            </a:r>
            <a:r>
              <a:rPr lang="en-US" dirty="0" err="1" smtClean="0">
                <a:latin typeface="Courier New" panose="02070309020205020404" pitchFamily="49" charset="0"/>
                <a:cs typeface="Courier New" panose="02070309020205020404" pitchFamily="49" charset="0"/>
              </a:rPr>
              <a:t>Kết</a:t>
            </a:r>
            <a:r>
              <a:rPr lang="en-US" dirty="0" smtClean="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thúc</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giải</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thuật</a:t>
            </a:r>
            <a:r>
              <a:rPr lang="en-US" dirty="0">
                <a:latin typeface="Courier New" panose="02070309020205020404" pitchFamily="49" charset="0"/>
                <a:cs typeface="Courier New" panose="02070309020205020404" pitchFamily="49" charset="0"/>
              </a:rPr>
              <a:t>;</a:t>
            </a:r>
          </a:p>
          <a:p>
            <a:r>
              <a:rPr lang="en-US" dirty="0" smtClean="0">
                <a:latin typeface="Courier New" panose="02070309020205020404" pitchFamily="49" charset="0"/>
                <a:cs typeface="Courier New" panose="02070309020205020404" pitchFamily="49" charset="0"/>
              </a:rPr>
              <a:t>       </a:t>
            </a:r>
            <a:r>
              <a:rPr lang="en-US" dirty="0" err="1" smtClean="0">
                <a:latin typeface="Courier New" panose="02070309020205020404" pitchFamily="49" charset="0"/>
                <a:cs typeface="Courier New" panose="02070309020205020404" pitchFamily="49" charset="0"/>
              </a:rPr>
              <a:t>Trái</a:t>
            </a:r>
            <a:r>
              <a:rPr lang="en-US" dirty="0" smtClean="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lại</a:t>
            </a:r>
            <a:r>
              <a:rPr lang="en-US" dirty="0">
                <a:latin typeface="Courier New" panose="02070309020205020404" pitchFamily="49" charset="0"/>
                <a:cs typeface="Courier New" panose="02070309020205020404" pitchFamily="49" charset="0"/>
              </a:rPr>
              <a:t>,</a:t>
            </a:r>
          </a:p>
          <a:p>
            <a:r>
              <a:rPr lang="en-US" dirty="0" smtClean="0">
                <a:latin typeface="Courier New" panose="02070309020205020404" pitchFamily="49" charset="0"/>
                <a:cs typeface="Courier New" panose="02070309020205020404" pitchFamily="49" charset="0"/>
              </a:rPr>
              <a:t>           k </a:t>
            </a:r>
            <a:r>
              <a:rPr lang="en-US" dirty="0">
                <a:latin typeface="Courier New" panose="02070309020205020404" pitchFamily="49" charset="0"/>
                <a:cs typeface="Courier New" panose="02070309020205020404" pitchFamily="49" charset="0"/>
              </a:rPr>
              <a:t>= k – 1;</a:t>
            </a:r>
          </a:p>
          <a:p>
            <a:r>
              <a:rPr lang="en-US" dirty="0" smtClean="0">
                <a:latin typeface="Courier New" panose="02070309020205020404" pitchFamily="49" charset="0"/>
                <a:cs typeface="Courier New" panose="02070309020205020404" pitchFamily="49" charset="0"/>
              </a:rPr>
              <a:t>           </a:t>
            </a:r>
            <a:r>
              <a:rPr lang="en-US" dirty="0" err="1" smtClean="0">
                <a:latin typeface="Courier New" panose="02070309020205020404" pitchFamily="49" charset="0"/>
                <a:cs typeface="Courier New" panose="02070309020205020404" pitchFamily="49" charset="0"/>
              </a:rPr>
              <a:t>Lặp</a:t>
            </a:r>
            <a:r>
              <a:rPr lang="en-US" dirty="0" smtClean="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lại</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từ</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bước</a:t>
            </a:r>
            <a:r>
              <a:rPr lang="en-US" dirty="0">
                <a:latin typeface="Courier New" panose="02070309020205020404" pitchFamily="49" charset="0"/>
                <a:cs typeface="Courier New" panose="02070309020205020404" pitchFamily="49" charset="0"/>
              </a:rPr>
              <a:t> 2 </a:t>
            </a:r>
            <a:r>
              <a:rPr lang="en-US" dirty="0" err="1">
                <a:latin typeface="Courier New" panose="02070309020205020404" pitchFamily="49" charset="0"/>
                <a:cs typeface="Courier New" panose="02070309020205020404" pitchFamily="49" charset="0"/>
              </a:rPr>
              <a:t>của</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giải</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thuật</a:t>
            </a:r>
            <a:r>
              <a:rPr lang="en-US"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214877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C24317B-5122-4A99-A6E9-FA23C146A7E0}" type="slidenum">
              <a:rPr lang="en-US" smtClean="0"/>
              <a:pPr/>
              <a:t>18</a:t>
            </a:fld>
            <a:endParaRPr lang="en-US" dirty="0"/>
          </a:p>
        </p:txBody>
      </p:sp>
      <p:sp>
        <p:nvSpPr>
          <p:cNvPr id="4" name="Title 3"/>
          <p:cNvSpPr>
            <a:spLocks noGrp="1"/>
          </p:cNvSpPr>
          <p:nvPr>
            <p:ph type="title"/>
          </p:nvPr>
        </p:nvSpPr>
        <p:spPr/>
        <p:txBody>
          <a:bodyPr>
            <a:normAutofit/>
          </a:bodyPr>
          <a:lstStyle/>
          <a:p>
            <a:r>
              <a:rPr lang="en-US" sz="2400" dirty="0" smtClean="0"/>
              <a:t>3. </a:t>
            </a:r>
            <a:r>
              <a:rPr lang="en-US" sz="2400" dirty="0" err="1" smtClean="0"/>
              <a:t>Tìm</a:t>
            </a:r>
            <a:r>
              <a:rPr lang="en-US" sz="2400" dirty="0" smtClean="0"/>
              <a:t> </a:t>
            </a:r>
            <a:r>
              <a:rPr lang="en-US" sz="2400" dirty="0" err="1" smtClean="0"/>
              <a:t>kiếm</a:t>
            </a:r>
            <a:r>
              <a:rPr lang="en-US" sz="2400" dirty="0" smtClean="0"/>
              <a:t> </a:t>
            </a:r>
            <a:r>
              <a:rPr lang="en-US" sz="2400" dirty="0" err="1" smtClean="0"/>
              <a:t>chuỗi</a:t>
            </a:r>
            <a:r>
              <a:rPr lang="en-US" sz="2400" dirty="0" smtClean="0"/>
              <a:t> con</a:t>
            </a:r>
            <a:endParaRPr lang="en-US" sz="2400" dirty="0"/>
          </a:p>
        </p:txBody>
      </p:sp>
      <p:sp>
        <p:nvSpPr>
          <p:cNvPr id="5" name="Text Placeholder 4"/>
          <p:cNvSpPr>
            <a:spLocks noGrp="1"/>
          </p:cNvSpPr>
          <p:nvPr>
            <p:ph type="body" sz="quarter" idx="13"/>
          </p:nvPr>
        </p:nvSpPr>
        <p:spPr>
          <a:xfrm>
            <a:off x="234951" y="963168"/>
            <a:ext cx="8375649" cy="5132832"/>
          </a:xfrm>
        </p:spPr>
        <p:txBody>
          <a:bodyPr>
            <a:normAutofit/>
          </a:bodyPr>
          <a:lstStyle/>
          <a:p>
            <a:r>
              <a:rPr lang="en-US" sz="2400" dirty="0" err="1"/>
              <a:t>Giải</a:t>
            </a:r>
            <a:r>
              <a:rPr lang="en-US" sz="2400" dirty="0"/>
              <a:t> </a:t>
            </a:r>
            <a:r>
              <a:rPr lang="en-US" sz="2400" dirty="0" err="1"/>
              <a:t>thuật</a:t>
            </a:r>
            <a:r>
              <a:rPr lang="en-US" sz="2400" dirty="0"/>
              <a:t> </a:t>
            </a:r>
            <a:r>
              <a:rPr lang="en-US" sz="2400" dirty="0" smtClean="0"/>
              <a:t>Knuth-Morris-Pratt</a:t>
            </a:r>
          </a:p>
          <a:p>
            <a:pPr lvl="1"/>
            <a:r>
              <a:rPr lang="en-US" sz="2400" i="1" dirty="0" err="1"/>
              <a:t>G</a:t>
            </a:r>
            <a:r>
              <a:rPr lang="en-US" sz="2400" i="1" dirty="0" err="1" smtClean="0"/>
              <a:t>iải</a:t>
            </a:r>
            <a:r>
              <a:rPr lang="en-US" sz="2400" i="1" dirty="0" smtClean="0"/>
              <a:t> </a:t>
            </a:r>
            <a:r>
              <a:rPr lang="en-US" sz="2400" i="1" dirty="0" err="1" smtClean="0"/>
              <a:t>thuật</a:t>
            </a:r>
            <a:r>
              <a:rPr lang="en-US" sz="2400" i="1" dirty="0" smtClean="0"/>
              <a:t> </a:t>
            </a:r>
            <a:r>
              <a:rPr lang="en-US" sz="2400" i="1" dirty="0" err="1" smtClean="0"/>
              <a:t>tìm</a:t>
            </a:r>
            <a:r>
              <a:rPr lang="en-US" sz="2400" i="1" dirty="0"/>
              <a:t> k: </a:t>
            </a:r>
            <a:endParaRPr lang="en-US" sz="2400" i="1" dirty="0" smtClean="0"/>
          </a:p>
          <a:p>
            <a:pPr lvl="2"/>
            <a:r>
              <a:rPr lang="en-US" sz="2000" dirty="0" err="1" smtClean="0"/>
              <a:t>Cài</a:t>
            </a:r>
            <a:r>
              <a:rPr lang="en-US" sz="2000" dirty="0" smtClean="0"/>
              <a:t> </a:t>
            </a:r>
            <a:r>
              <a:rPr lang="en-US" sz="2000" dirty="0" err="1" smtClean="0"/>
              <a:t>đặt</a:t>
            </a:r>
            <a:r>
              <a:rPr lang="en-US" sz="2000" dirty="0" smtClean="0"/>
              <a:t>: </a:t>
            </a:r>
            <a:endParaRPr lang="en-US" sz="2000" dirty="0"/>
          </a:p>
        </p:txBody>
      </p:sp>
      <p:sp>
        <p:nvSpPr>
          <p:cNvPr id="6" name="Rectangle 5"/>
          <p:cNvSpPr/>
          <p:nvPr/>
        </p:nvSpPr>
        <p:spPr>
          <a:xfrm>
            <a:off x="2743200" y="1979099"/>
            <a:ext cx="6781800" cy="4770537"/>
          </a:xfrm>
          <a:prstGeom prst="rect">
            <a:avLst/>
          </a:prstGeom>
        </p:spPr>
        <p:txBody>
          <a:bodyPr wrap="square">
            <a:spAutoFit/>
          </a:bodyPr>
          <a:lstStyle/>
          <a:p>
            <a:r>
              <a:rPr lang="en-US" sz="1600" dirty="0">
                <a:latin typeface="Courier New" panose="02070309020205020404" pitchFamily="49" charset="0"/>
                <a:cs typeface="Courier New" panose="02070309020205020404" pitchFamily="49" charset="0"/>
              </a:rPr>
              <a:t>void </a:t>
            </a:r>
            <a:r>
              <a:rPr lang="en-US" sz="1600" dirty="0" err="1">
                <a:latin typeface="Courier New" panose="02070309020205020404" pitchFamily="49" charset="0"/>
                <a:cs typeface="Courier New" panose="02070309020205020404" pitchFamily="49" charset="0"/>
              </a:rPr>
              <a:t>initNext</a:t>
            </a:r>
            <a:r>
              <a:rPr lang="en-US" sz="1600" dirty="0">
                <a:latin typeface="Courier New" panose="02070309020205020404" pitchFamily="49" charset="0"/>
                <a:cs typeface="Courier New" panose="02070309020205020404" pitchFamily="49" charset="0"/>
              </a:rPr>
              <a:t>(char p[], </a:t>
            </a:r>
            <a:r>
              <a:rPr lang="en-US" sz="1600" dirty="0" err="1">
                <a:latin typeface="Courier New" panose="02070309020205020404" pitchFamily="49" charset="0"/>
                <a:cs typeface="Courier New" panose="02070309020205020404" pitchFamily="49" charset="0"/>
              </a:rPr>
              <a:t>int</a:t>
            </a:r>
            <a:r>
              <a:rPr lang="en-US" sz="1600" dirty="0">
                <a:latin typeface="Courier New" panose="02070309020205020404" pitchFamily="49" charset="0"/>
                <a:cs typeface="Courier New" panose="02070309020205020404" pitchFamily="49" charset="0"/>
              </a:rPr>
              <a:t> next[], </a:t>
            </a:r>
            <a:r>
              <a:rPr lang="en-US" sz="1600" dirty="0" err="1">
                <a:latin typeface="Courier New" panose="02070309020205020404" pitchFamily="49" charset="0"/>
                <a:cs typeface="Courier New" panose="02070309020205020404" pitchFamily="49" charset="0"/>
              </a:rPr>
              <a:t>int</a:t>
            </a:r>
            <a:r>
              <a:rPr lang="en-US" sz="1600" dirty="0">
                <a:latin typeface="Courier New" panose="02070309020205020404" pitchFamily="49" charset="0"/>
                <a:cs typeface="Courier New" panose="02070309020205020404" pitchFamily="49" charset="0"/>
              </a:rPr>
              <a:t> M </a:t>
            </a:r>
            <a:r>
              <a:rPr lang="en-US" sz="1600" dirty="0" smtClean="0">
                <a:latin typeface="Courier New" panose="02070309020205020404" pitchFamily="49" charset="0"/>
                <a:cs typeface="Courier New" panose="02070309020205020404" pitchFamily="49" charset="0"/>
              </a:rPr>
              <a:t>){</a:t>
            </a:r>
          </a:p>
          <a:p>
            <a:r>
              <a:rPr lang="en-US" sz="1600" dirty="0" smtClean="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int</a:t>
            </a: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j,k</a:t>
            </a:r>
            <a:r>
              <a:rPr lang="en-US" sz="1600" dirty="0" smtClean="0">
                <a:latin typeface="Courier New" panose="02070309020205020404" pitchFamily="49" charset="0"/>
                <a:cs typeface="Courier New" panose="02070309020205020404" pitchFamily="49" charset="0"/>
              </a:rPr>
              <a:t>;</a:t>
            </a:r>
          </a:p>
          <a:p>
            <a:r>
              <a:rPr lang="en-US" sz="1600" dirty="0" smtClean="0">
                <a:latin typeface="Courier New" panose="02070309020205020404" pitchFamily="49" charset="0"/>
                <a:cs typeface="Courier New" panose="02070309020205020404" pitchFamily="49" charset="0"/>
              </a:rPr>
              <a:t>    </a:t>
            </a:r>
            <a:r>
              <a:rPr lang="en-US" sz="1600" dirty="0">
                <a:latin typeface="Courier New" panose="02070309020205020404" pitchFamily="49" charset="0"/>
                <a:cs typeface="Courier New" panose="02070309020205020404" pitchFamily="49" charset="0"/>
              </a:rPr>
              <a:t>for (j=0; j&lt;M; </a:t>
            </a:r>
            <a:r>
              <a:rPr lang="en-US" sz="1600" dirty="0" err="1">
                <a:latin typeface="Courier New" panose="02070309020205020404" pitchFamily="49" charset="0"/>
                <a:cs typeface="Courier New" panose="02070309020205020404" pitchFamily="49" charset="0"/>
              </a:rPr>
              <a:t>j++</a:t>
            </a:r>
            <a:r>
              <a:rPr lang="en-US" sz="1600" dirty="0">
                <a:latin typeface="Courier New" panose="02070309020205020404" pitchFamily="49" charset="0"/>
                <a:cs typeface="Courier New" panose="02070309020205020404" pitchFamily="49" charset="0"/>
              </a:rPr>
              <a:t>) next[j] = 0</a:t>
            </a:r>
            <a:r>
              <a:rPr lang="en-US" sz="1600" dirty="0" smtClean="0">
                <a:latin typeface="Courier New" panose="02070309020205020404" pitchFamily="49" charset="0"/>
                <a:cs typeface="Courier New" panose="02070309020205020404" pitchFamily="49" charset="0"/>
              </a:rPr>
              <a:t>;</a:t>
            </a:r>
          </a:p>
          <a:p>
            <a:r>
              <a:rPr lang="en-US" sz="1600" dirty="0" smtClean="0">
                <a:latin typeface="Courier New" panose="02070309020205020404" pitchFamily="49" charset="0"/>
                <a:cs typeface="Courier New" panose="02070309020205020404" pitchFamily="49" charset="0"/>
              </a:rPr>
              <a:t>    </a:t>
            </a:r>
            <a:r>
              <a:rPr lang="en-US" sz="1600" dirty="0">
                <a:latin typeface="Courier New" panose="02070309020205020404" pitchFamily="49" charset="0"/>
                <a:cs typeface="Courier New" panose="02070309020205020404" pitchFamily="49" charset="0"/>
              </a:rPr>
              <a:t>for (j=2; j&lt;M; </a:t>
            </a:r>
            <a:r>
              <a:rPr lang="en-US" sz="1600" dirty="0" err="1">
                <a:latin typeface="Courier New" panose="02070309020205020404" pitchFamily="49" charset="0"/>
                <a:cs typeface="Courier New" panose="02070309020205020404" pitchFamily="49" charset="0"/>
              </a:rPr>
              <a:t>j</a:t>
            </a:r>
            <a:r>
              <a:rPr lang="en-US" sz="1600" dirty="0" err="1" smtClean="0">
                <a:latin typeface="Courier New" panose="02070309020205020404" pitchFamily="49" charset="0"/>
                <a:cs typeface="Courier New" panose="02070309020205020404" pitchFamily="49" charset="0"/>
              </a:rPr>
              <a:t>++</a:t>
            </a:r>
            <a:r>
              <a:rPr lang="en-US" sz="1600" dirty="0" smtClean="0">
                <a:latin typeface="Courier New" panose="02070309020205020404" pitchFamily="49" charset="0"/>
                <a:cs typeface="Courier New" panose="02070309020205020404" pitchFamily="49" charset="0"/>
              </a:rPr>
              <a:t>){</a:t>
            </a:r>
          </a:p>
          <a:p>
            <a:r>
              <a:rPr lang="en-US" sz="1600" dirty="0" smtClean="0">
                <a:latin typeface="Courier New" panose="02070309020205020404" pitchFamily="49" charset="0"/>
                <a:cs typeface="Courier New" panose="02070309020205020404" pitchFamily="49" charset="0"/>
              </a:rPr>
              <a:t>        </a:t>
            </a:r>
            <a:r>
              <a:rPr lang="en-US" sz="1600" dirty="0">
                <a:latin typeface="Courier New" panose="02070309020205020404" pitchFamily="49" charset="0"/>
                <a:cs typeface="Courier New" panose="02070309020205020404" pitchFamily="49" charset="0"/>
              </a:rPr>
              <a:t>k = j-1</a:t>
            </a:r>
            <a:r>
              <a:rPr lang="en-US" sz="1600" dirty="0" smtClean="0">
                <a:latin typeface="Courier New" panose="02070309020205020404" pitchFamily="49" charset="0"/>
                <a:cs typeface="Courier New" panose="02070309020205020404" pitchFamily="49" charset="0"/>
              </a:rPr>
              <a:t>;</a:t>
            </a:r>
          </a:p>
          <a:p>
            <a:r>
              <a:rPr lang="en-US" sz="1600" dirty="0" smtClean="0">
                <a:latin typeface="Courier New" panose="02070309020205020404" pitchFamily="49" charset="0"/>
                <a:cs typeface="Courier New" panose="02070309020205020404" pitchFamily="49" charset="0"/>
              </a:rPr>
              <a:t>        </a:t>
            </a:r>
            <a:r>
              <a:rPr lang="en-US" sz="1600" dirty="0">
                <a:latin typeface="Courier New" panose="02070309020205020404" pitchFamily="49" charset="0"/>
                <a:cs typeface="Courier New" panose="02070309020205020404" pitchFamily="49" charset="0"/>
              </a:rPr>
              <a:t>do </a:t>
            </a:r>
            <a:r>
              <a:rPr lang="en-US" sz="1600" dirty="0" smtClean="0">
                <a:latin typeface="Courier New" panose="02070309020205020404" pitchFamily="49" charset="0"/>
                <a:cs typeface="Courier New" panose="02070309020205020404" pitchFamily="49" charset="0"/>
              </a:rPr>
              <a:t>{</a:t>
            </a:r>
          </a:p>
          <a:p>
            <a:r>
              <a:rPr lang="en-US" sz="1600" dirty="0" smtClean="0">
                <a:latin typeface="Courier New" panose="02070309020205020404" pitchFamily="49" charset="0"/>
                <a:cs typeface="Courier New" panose="02070309020205020404" pitchFamily="49" charset="0"/>
              </a:rPr>
              <a:t>        </a:t>
            </a:r>
            <a:r>
              <a:rPr lang="en-US" sz="1600" dirty="0">
                <a:latin typeface="Courier New" panose="02070309020205020404" pitchFamily="49" charset="0"/>
                <a:cs typeface="Courier New" panose="02070309020205020404" pitchFamily="49" charset="0"/>
              </a:rPr>
              <a:t>	while (</a:t>
            </a:r>
            <a:r>
              <a:rPr lang="en-US" sz="1600" dirty="0" smtClean="0">
                <a:latin typeface="Courier New" panose="02070309020205020404" pitchFamily="49" charset="0"/>
                <a:cs typeface="Courier New" panose="02070309020205020404" pitchFamily="49" charset="0"/>
              </a:rPr>
              <a:t>k&gt;0 &amp;&amp; p[k</a:t>
            </a:r>
            <a:r>
              <a:rPr lang="en-US" sz="1600" dirty="0">
                <a:latin typeface="Courier New" panose="02070309020205020404" pitchFamily="49" charset="0"/>
                <a:cs typeface="Courier New" panose="02070309020205020404" pitchFamily="49" charset="0"/>
              </a:rPr>
              <a:t>]==p[j]) k--;        </a:t>
            </a:r>
            <a:endParaRPr lang="en-US" sz="1600" dirty="0" smtClean="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	</a:t>
            </a:r>
            <a:r>
              <a:rPr lang="en-US" sz="1600" dirty="0" smtClean="0">
                <a:latin typeface="Courier New" panose="02070309020205020404" pitchFamily="49" charset="0"/>
                <a:cs typeface="Courier New" panose="02070309020205020404" pitchFamily="49" charset="0"/>
              </a:rPr>
              <a:t>	</a:t>
            </a:r>
            <a:r>
              <a:rPr lang="en-US" sz="1600" dirty="0">
                <a:latin typeface="Courier New" panose="02070309020205020404" pitchFamily="49" charset="0"/>
                <a:cs typeface="Courier New" panose="02070309020205020404" pitchFamily="49" charset="0"/>
              </a:rPr>
              <a:t>	if (k&gt;0</a:t>
            </a:r>
            <a:r>
              <a:rPr lang="en-US" sz="1600" dirty="0" smtClean="0">
                <a:latin typeface="Courier New" panose="02070309020205020404" pitchFamily="49" charset="0"/>
                <a:cs typeface="Courier New" panose="02070309020205020404" pitchFamily="49" charset="0"/>
              </a:rPr>
              <a:t>){</a:t>
            </a:r>
          </a:p>
          <a:p>
            <a:r>
              <a:rPr lang="en-US" sz="1600" dirty="0" smtClean="0">
                <a:latin typeface="Courier New" panose="02070309020205020404" pitchFamily="49" charset="0"/>
                <a:cs typeface="Courier New" panose="02070309020205020404" pitchFamily="49" charset="0"/>
              </a:rPr>
              <a:t>        </a:t>
            </a: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int</a:t>
            </a: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i</a:t>
            </a:r>
            <a:r>
              <a:rPr lang="en-US" sz="1600" dirty="0">
                <a:latin typeface="Courier New" panose="02070309020205020404" pitchFamily="49" charset="0"/>
                <a:cs typeface="Courier New" panose="02070309020205020404" pitchFamily="49" charset="0"/>
              </a:rPr>
              <a:t> = 1</a:t>
            </a:r>
            <a:r>
              <a:rPr lang="en-US" sz="1600" dirty="0" smtClean="0">
                <a:latin typeface="Courier New" panose="02070309020205020404" pitchFamily="49" charset="0"/>
                <a:cs typeface="Courier New" panose="02070309020205020404" pitchFamily="49" charset="0"/>
              </a:rPr>
              <a:t>;</a:t>
            </a:r>
          </a:p>
          <a:p>
            <a:r>
              <a:rPr lang="en-US" sz="1600" dirty="0" smtClean="0">
                <a:latin typeface="Courier New" panose="02070309020205020404" pitchFamily="49" charset="0"/>
                <a:cs typeface="Courier New" panose="02070309020205020404" pitchFamily="49" charset="0"/>
              </a:rPr>
              <a:t>        </a:t>
            </a:r>
            <a:r>
              <a:rPr lang="en-US" sz="1600" dirty="0">
                <a:latin typeface="Courier New" panose="02070309020205020404" pitchFamily="49" charset="0"/>
                <a:cs typeface="Courier New" panose="02070309020205020404" pitchFamily="49" charset="0"/>
              </a:rPr>
              <a:t>		while (</a:t>
            </a:r>
            <a:r>
              <a:rPr lang="en-US" sz="1600" dirty="0" err="1">
                <a:latin typeface="Courier New" panose="02070309020205020404" pitchFamily="49" charset="0"/>
                <a:cs typeface="Courier New" panose="02070309020205020404" pitchFamily="49" charset="0"/>
              </a:rPr>
              <a:t>i</a:t>
            </a:r>
            <a:r>
              <a:rPr lang="en-US" sz="1600" dirty="0">
                <a:latin typeface="Courier New" panose="02070309020205020404" pitchFamily="49" charset="0"/>
                <a:cs typeface="Courier New" panose="02070309020205020404" pitchFamily="49" charset="0"/>
              </a:rPr>
              <a:t>&lt;=k &amp;&amp; p[k-</a:t>
            </a:r>
            <a:r>
              <a:rPr lang="en-US" sz="1600" dirty="0" err="1">
                <a:latin typeface="Courier New" panose="02070309020205020404" pitchFamily="49" charset="0"/>
                <a:cs typeface="Courier New" panose="02070309020205020404" pitchFamily="49" charset="0"/>
              </a:rPr>
              <a:t>i</a:t>
            </a:r>
            <a:r>
              <a:rPr lang="en-US" sz="1600" dirty="0">
                <a:latin typeface="Courier New" panose="02070309020205020404" pitchFamily="49" charset="0"/>
                <a:cs typeface="Courier New" panose="02070309020205020404" pitchFamily="49" charset="0"/>
              </a:rPr>
              <a:t>]==p[j-</a:t>
            </a:r>
            <a:r>
              <a:rPr lang="en-US" sz="1600" dirty="0" err="1">
                <a:latin typeface="Courier New" panose="02070309020205020404" pitchFamily="49" charset="0"/>
                <a:cs typeface="Courier New" panose="02070309020205020404" pitchFamily="49" charset="0"/>
              </a:rPr>
              <a:t>i</a:t>
            </a:r>
            <a:r>
              <a:rPr lang="en-US" sz="1600" dirty="0">
                <a:latin typeface="Courier New" panose="02070309020205020404" pitchFamily="49" charset="0"/>
                <a:cs typeface="Courier New" panose="02070309020205020404" pitchFamily="49" charset="0"/>
              </a:rPr>
              <a:t>]) </a:t>
            </a:r>
            <a:r>
              <a:rPr lang="en-US" sz="1600" dirty="0" err="1" smtClean="0">
                <a:latin typeface="Courier New" panose="02070309020205020404" pitchFamily="49" charset="0"/>
                <a:cs typeface="Courier New" panose="02070309020205020404" pitchFamily="49" charset="0"/>
              </a:rPr>
              <a:t>i</a:t>
            </a:r>
            <a:r>
              <a:rPr lang="en-US" sz="1600" dirty="0">
                <a:latin typeface="Courier New" panose="02070309020205020404" pitchFamily="49" charset="0"/>
                <a:cs typeface="Courier New" panose="02070309020205020404" pitchFamily="49" charset="0"/>
              </a:rPr>
              <a:t>++;        </a:t>
            </a:r>
            <a:endParaRPr lang="en-US" sz="1600" dirty="0" smtClean="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			</a:t>
            </a:r>
            <a:r>
              <a:rPr lang="en-US" sz="1600" dirty="0" smtClean="0">
                <a:latin typeface="Courier New" panose="02070309020205020404" pitchFamily="49" charset="0"/>
                <a:cs typeface="Courier New" panose="02070309020205020404" pitchFamily="49" charset="0"/>
              </a:rPr>
              <a:t>	if </a:t>
            </a:r>
            <a:r>
              <a:rPr lang="en-US" sz="1600" dirty="0">
                <a:latin typeface="Courier New" panose="02070309020205020404" pitchFamily="49" charset="0"/>
                <a:cs typeface="Courier New" panose="02070309020205020404" pitchFamily="49" charset="0"/>
              </a:rPr>
              <a:t>(</a:t>
            </a:r>
            <a:r>
              <a:rPr lang="en-US" sz="1600" dirty="0" err="1">
                <a:latin typeface="Courier New" panose="02070309020205020404" pitchFamily="49" charset="0"/>
                <a:cs typeface="Courier New" panose="02070309020205020404" pitchFamily="49" charset="0"/>
              </a:rPr>
              <a:t>i</a:t>
            </a:r>
            <a:r>
              <a:rPr lang="en-US" sz="1600" dirty="0">
                <a:latin typeface="Courier New" panose="02070309020205020404" pitchFamily="49" charset="0"/>
                <a:cs typeface="Courier New" panose="02070309020205020404" pitchFamily="49" charset="0"/>
              </a:rPr>
              <a:t>&gt;k</a:t>
            </a:r>
            <a:r>
              <a:rPr lang="en-US" sz="1600" dirty="0" smtClean="0">
                <a:latin typeface="Courier New" panose="02070309020205020404" pitchFamily="49" charset="0"/>
                <a:cs typeface="Courier New" panose="02070309020205020404" pitchFamily="49" charset="0"/>
              </a:rPr>
              <a:t>){</a:t>
            </a:r>
          </a:p>
          <a:p>
            <a:r>
              <a:rPr lang="en-US" sz="1600" dirty="0" smtClean="0">
                <a:latin typeface="Courier New" panose="02070309020205020404" pitchFamily="49" charset="0"/>
                <a:cs typeface="Courier New" panose="02070309020205020404" pitchFamily="49" charset="0"/>
              </a:rPr>
              <a:t>       </a:t>
            </a:r>
            <a:r>
              <a:rPr lang="en-US" sz="1600" dirty="0">
                <a:latin typeface="Courier New" panose="02070309020205020404" pitchFamily="49" charset="0"/>
                <a:cs typeface="Courier New" panose="02070309020205020404" pitchFamily="49" charset="0"/>
              </a:rPr>
              <a:t>			</a:t>
            </a:r>
            <a:r>
              <a:rPr lang="en-US" sz="1600" dirty="0" smtClean="0">
                <a:latin typeface="Courier New" panose="02070309020205020404" pitchFamily="49" charset="0"/>
                <a:cs typeface="Courier New" panose="02070309020205020404" pitchFamily="49" charset="0"/>
              </a:rPr>
              <a:t>	next[j</a:t>
            </a:r>
            <a:r>
              <a:rPr lang="en-US" sz="1600" dirty="0">
                <a:latin typeface="Courier New" panose="02070309020205020404" pitchFamily="49" charset="0"/>
                <a:cs typeface="Courier New" panose="02070309020205020404" pitchFamily="49" charset="0"/>
              </a:rPr>
              <a:t>] = k</a:t>
            </a:r>
            <a:r>
              <a:rPr lang="en-US" sz="1600" dirty="0" smtClean="0">
                <a:latin typeface="Courier New" panose="02070309020205020404" pitchFamily="49" charset="0"/>
                <a:cs typeface="Courier New" panose="02070309020205020404" pitchFamily="49" charset="0"/>
              </a:rPr>
              <a:t>;</a:t>
            </a:r>
          </a:p>
          <a:p>
            <a:r>
              <a:rPr lang="en-US" sz="1600" dirty="0">
                <a:latin typeface="Courier New" panose="02070309020205020404" pitchFamily="49" charset="0"/>
                <a:cs typeface="Courier New" panose="02070309020205020404" pitchFamily="49" charset="0"/>
              </a:rPr>
              <a:t>	</a:t>
            </a:r>
            <a:r>
              <a:rPr lang="en-US" sz="1600" dirty="0" smtClean="0">
                <a:latin typeface="Courier New" panose="02070309020205020404" pitchFamily="49" charset="0"/>
                <a:cs typeface="Courier New" panose="02070309020205020404" pitchFamily="49" charset="0"/>
              </a:rPr>
              <a:t>				break;</a:t>
            </a:r>
          </a:p>
          <a:p>
            <a:r>
              <a:rPr lang="en-US" sz="1600" dirty="0" smtClean="0">
                <a:latin typeface="Courier New" panose="02070309020205020404" pitchFamily="49" charset="0"/>
                <a:cs typeface="Courier New" panose="02070309020205020404" pitchFamily="49" charset="0"/>
              </a:rPr>
              <a:t>       </a:t>
            </a:r>
            <a:r>
              <a:rPr lang="en-US" sz="1600" dirty="0">
                <a:latin typeface="Courier New" panose="02070309020205020404" pitchFamily="49" charset="0"/>
                <a:cs typeface="Courier New" panose="02070309020205020404" pitchFamily="49" charset="0"/>
              </a:rPr>
              <a:t>		</a:t>
            </a:r>
            <a:r>
              <a:rPr lang="en-US" sz="1600" dirty="0" smtClean="0">
                <a:latin typeface="Courier New" panose="02070309020205020404" pitchFamily="49" charset="0"/>
                <a:cs typeface="Courier New" panose="02070309020205020404" pitchFamily="49" charset="0"/>
              </a:rPr>
              <a:t>	}</a:t>
            </a:r>
          </a:p>
          <a:p>
            <a:r>
              <a:rPr lang="en-US" sz="1600" dirty="0" smtClean="0">
                <a:latin typeface="Courier New" panose="02070309020205020404" pitchFamily="49" charset="0"/>
                <a:cs typeface="Courier New" panose="02070309020205020404" pitchFamily="49" charset="0"/>
              </a:rPr>
              <a:t>        </a:t>
            </a:r>
            <a:r>
              <a:rPr lang="en-US" sz="1600" dirty="0">
                <a:latin typeface="Courier New" panose="02070309020205020404" pitchFamily="49" charset="0"/>
                <a:cs typeface="Courier New" panose="02070309020205020404" pitchFamily="49" charset="0"/>
              </a:rPr>
              <a:t>	</a:t>
            </a:r>
            <a:r>
              <a:rPr lang="en-US" sz="1600" dirty="0" smtClean="0">
                <a:latin typeface="Courier New" panose="02070309020205020404" pitchFamily="49" charset="0"/>
                <a:cs typeface="Courier New" panose="02070309020205020404" pitchFamily="49" charset="0"/>
              </a:rPr>
              <a:t>}</a:t>
            </a:r>
          </a:p>
          <a:p>
            <a:r>
              <a:rPr lang="en-US" sz="1600" dirty="0" smtClean="0">
                <a:latin typeface="Courier New" panose="02070309020205020404" pitchFamily="49" charset="0"/>
                <a:cs typeface="Courier New" panose="02070309020205020404" pitchFamily="49" charset="0"/>
              </a:rPr>
              <a:t>        </a:t>
            </a:r>
            <a:r>
              <a:rPr lang="en-US" sz="1600" dirty="0">
                <a:latin typeface="Courier New" panose="02070309020205020404" pitchFamily="49" charset="0"/>
                <a:cs typeface="Courier New" panose="02070309020205020404" pitchFamily="49" charset="0"/>
              </a:rPr>
              <a:t>	k-</a:t>
            </a:r>
            <a:r>
              <a:rPr lang="en-US" sz="1600" dirty="0" smtClean="0">
                <a:latin typeface="Courier New" panose="02070309020205020404" pitchFamily="49" charset="0"/>
                <a:cs typeface="Courier New" panose="02070309020205020404" pitchFamily="49" charset="0"/>
              </a:rPr>
              <a:t>-;</a:t>
            </a:r>
          </a:p>
          <a:p>
            <a:r>
              <a:rPr lang="en-US" sz="1600" dirty="0" smtClean="0">
                <a:latin typeface="Courier New" panose="02070309020205020404" pitchFamily="49" charset="0"/>
                <a:cs typeface="Courier New" panose="02070309020205020404" pitchFamily="49" charset="0"/>
              </a:rPr>
              <a:t>        </a:t>
            </a:r>
            <a:r>
              <a:rPr lang="en-US" sz="1600" dirty="0">
                <a:latin typeface="Courier New" panose="02070309020205020404" pitchFamily="49" charset="0"/>
                <a:cs typeface="Courier New" panose="02070309020205020404" pitchFamily="49" charset="0"/>
              </a:rPr>
              <a:t>} while (k&gt;0</a:t>
            </a:r>
            <a:r>
              <a:rPr lang="en-US" sz="1600" dirty="0" smtClean="0">
                <a:latin typeface="Courier New" panose="02070309020205020404" pitchFamily="49" charset="0"/>
                <a:cs typeface="Courier New" panose="02070309020205020404" pitchFamily="49" charset="0"/>
              </a:rPr>
              <a:t>);</a:t>
            </a:r>
          </a:p>
          <a:p>
            <a:r>
              <a:rPr lang="en-US" sz="1600" dirty="0" smtClean="0">
                <a:latin typeface="Courier New" panose="02070309020205020404" pitchFamily="49" charset="0"/>
                <a:cs typeface="Courier New" panose="02070309020205020404" pitchFamily="49" charset="0"/>
              </a:rPr>
              <a:t>    }</a:t>
            </a:r>
          </a:p>
          <a:p>
            <a:r>
              <a:rPr lang="en-US" sz="1600" dirty="0" smtClean="0">
                <a:latin typeface="Courier New" panose="02070309020205020404" pitchFamily="49" charset="0"/>
                <a:cs typeface="Courier New" panose="02070309020205020404" pitchFamily="49" charset="0"/>
              </a:rPr>
              <a:t>}</a:t>
            </a:r>
            <a:endParaRPr lang="en-US" sz="1600" dirty="0">
              <a:latin typeface="Courier New" panose="02070309020205020404" pitchFamily="49" charset="0"/>
              <a:cs typeface="Courier New" panose="02070309020205020404" pitchFamily="49" charset="0"/>
            </a:endParaRPr>
          </a:p>
        </p:txBody>
      </p:sp>
      <p:sp>
        <p:nvSpPr>
          <p:cNvPr id="7" name="Rectangle 6"/>
          <p:cNvSpPr/>
          <p:nvPr/>
        </p:nvSpPr>
        <p:spPr>
          <a:xfrm>
            <a:off x="1" y="3529584"/>
            <a:ext cx="4191000" cy="1708160"/>
          </a:xfrm>
          <a:prstGeom prst="rect">
            <a:avLst/>
          </a:prstGeom>
        </p:spPr>
        <p:txBody>
          <a:bodyPr wrap="square">
            <a:spAutoFit/>
          </a:bodyPr>
          <a:lstStyle/>
          <a:p>
            <a:r>
              <a:rPr lang="en-US" sz="1050" dirty="0" smtClean="0">
                <a:latin typeface="Courier New" panose="02070309020205020404" pitchFamily="49" charset="0"/>
                <a:cs typeface="Courier New" panose="02070309020205020404" pitchFamily="49" charset="0"/>
              </a:rPr>
              <a:t>B1</a:t>
            </a:r>
            <a:r>
              <a:rPr lang="en-US" sz="1050" dirty="0">
                <a:latin typeface="Courier New" panose="02070309020205020404" pitchFamily="49" charset="0"/>
                <a:cs typeface="Courier New" panose="02070309020205020404" pitchFamily="49" charset="0"/>
              </a:rPr>
              <a:t>: k = j-1;</a:t>
            </a:r>
          </a:p>
          <a:p>
            <a:r>
              <a:rPr lang="en-US" sz="1050" dirty="0" smtClean="0">
                <a:latin typeface="Courier New" panose="02070309020205020404" pitchFamily="49" charset="0"/>
                <a:cs typeface="Courier New" panose="02070309020205020404" pitchFamily="49" charset="0"/>
              </a:rPr>
              <a:t>B2</a:t>
            </a:r>
            <a:r>
              <a:rPr lang="en-US" sz="1050" dirty="0">
                <a:latin typeface="Courier New" panose="02070309020205020404" pitchFamily="49" charset="0"/>
                <a:cs typeface="Courier New" panose="02070309020205020404" pitchFamily="49" charset="0"/>
              </a:rPr>
              <a:t>: </a:t>
            </a:r>
            <a:r>
              <a:rPr lang="en-US" sz="1050" dirty="0" err="1">
                <a:latin typeface="Courier New" panose="02070309020205020404" pitchFamily="49" charset="0"/>
                <a:cs typeface="Courier New" panose="02070309020205020404" pitchFamily="49" charset="0"/>
              </a:rPr>
              <a:t>Tìm</a:t>
            </a:r>
            <a:r>
              <a:rPr lang="en-US" sz="1050" dirty="0">
                <a:latin typeface="Courier New" panose="02070309020205020404" pitchFamily="49" charset="0"/>
                <a:cs typeface="Courier New" panose="02070309020205020404" pitchFamily="49" charset="0"/>
              </a:rPr>
              <a:t> </a:t>
            </a:r>
            <a:r>
              <a:rPr lang="en-US" sz="1050" dirty="0" smtClean="0">
                <a:latin typeface="Courier New" panose="02070309020205020404" pitchFamily="49" charset="0"/>
                <a:cs typeface="Courier New" panose="02070309020205020404" pitchFamily="49" charset="0"/>
              </a:rPr>
              <a:t>k </a:t>
            </a:r>
            <a:r>
              <a:rPr lang="en-US" sz="1050" dirty="0" err="1" smtClean="0">
                <a:latin typeface="Courier New" panose="02070309020205020404" pitchFamily="49" charset="0"/>
                <a:cs typeface="Courier New" panose="02070309020205020404" pitchFamily="49" charset="0"/>
              </a:rPr>
              <a:t>lớn</a:t>
            </a:r>
            <a:r>
              <a:rPr lang="en-US" sz="1050" dirty="0" smtClean="0">
                <a:latin typeface="Courier New" panose="02070309020205020404" pitchFamily="49" charset="0"/>
                <a:cs typeface="Courier New" panose="02070309020205020404" pitchFamily="49" charset="0"/>
              </a:rPr>
              <a:t> </a:t>
            </a:r>
            <a:r>
              <a:rPr lang="en-US" sz="1050" dirty="0" err="1" smtClean="0">
                <a:latin typeface="Courier New" panose="02070309020205020404" pitchFamily="49" charset="0"/>
                <a:cs typeface="Courier New" panose="02070309020205020404" pitchFamily="49" charset="0"/>
              </a:rPr>
              <a:t>nhất</a:t>
            </a:r>
            <a:r>
              <a:rPr lang="en-US" sz="1050" dirty="0" smtClean="0">
                <a:latin typeface="Courier New" panose="02070309020205020404" pitchFamily="49" charset="0"/>
                <a:cs typeface="Courier New" panose="02070309020205020404" pitchFamily="49" charset="0"/>
              </a:rPr>
              <a:t> </a:t>
            </a:r>
            <a:r>
              <a:rPr lang="en-US" sz="1050" dirty="0" err="1">
                <a:latin typeface="Courier New" panose="02070309020205020404" pitchFamily="49" charset="0"/>
                <a:cs typeface="Courier New" panose="02070309020205020404" pitchFamily="49" charset="0"/>
              </a:rPr>
              <a:t>sao</a:t>
            </a:r>
            <a:r>
              <a:rPr lang="en-US" sz="1050" dirty="0">
                <a:latin typeface="Courier New" panose="02070309020205020404" pitchFamily="49" charset="0"/>
                <a:cs typeface="Courier New" panose="02070309020205020404" pitchFamily="49" charset="0"/>
              </a:rPr>
              <a:t> </a:t>
            </a:r>
            <a:r>
              <a:rPr lang="en-US" sz="1050" dirty="0" err="1">
                <a:latin typeface="Courier New" panose="02070309020205020404" pitchFamily="49" charset="0"/>
                <a:cs typeface="Courier New" panose="02070309020205020404" pitchFamily="49" charset="0"/>
              </a:rPr>
              <a:t>cho</a:t>
            </a:r>
            <a:r>
              <a:rPr lang="en-US" sz="1050" dirty="0">
                <a:latin typeface="Courier New" panose="02070309020205020404" pitchFamily="49" charset="0"/>
                <a:cs typeface="Courier New" panose="02070309020205020404" pitchFamily="49" charset="0"/>
              </a:rPr>
              <a:t> p[k] ≠ p[j];</a:t>
            </a:r>
          </a:p>
          <a:p>
            <a:r>
              <a:rPr lang="en-US" sz="1050" dirty="0" smtClean="0">
                <a:latin typeface="Courier New" panose="02070309020205020404" pitchFamily="49" charset="0"/>
                <a:cs typeface="Courier New" panose="02070309020205020404" pitchFamily="49" charset="0"/>
              </a:rPr>
              <a:t>B3</a:t>
            </a:r>
            <a:r>
              <a:rPr lang="en-US" sz="1050" dirty="0">
                <a:latin typeface="Courier New" panose="02070309020205020404" pitchFamily="49" charset="0"/>
                <a:cs typeface="Courier New" panose="02070309020205020404" pitchFamily="49" charset="0"/>
              </a:rPr>
              <a:t>: So </a:t>
            </a:r>
            <a:r>
              <a:rPr lang="en-US" sz="1050" dirty="0" err="1">
                <a:latin typeface="Courier New" panose="02070309020205020404" pitchFamily="49" charset="0"/>
                <a:cs typeface="Courier New" panose="02070309020205020404" pitchFamily="49" charset="0"/>
              </a:rPr>
              <a:t>sánh</a:t>
            </a:r>
            <a:r>
              <a:rPr lang="en-US" sz="1050" dirty="0">
                <a:latin typeface="Courier New" panose="02070309020205020404" pitchFamily="49" charset="0"/>
                <a:cs typeface="Courier New" panose="02070309020205020404" pitchFamily="49" charset="0"/>
              </a:rPr>
              <a:t> </a:t>
            </a:r>
            <a:r>
              <a:rPr lang="en-US" sz="1050" dirty="0" err="1">
                <a:latin typeface="Courier New" panose="02070309020205020404" pitchFamily="49" charset="0"/>
                <a:cs typeface="Courier New" panose="02070309020205020404" pitchFamily="49" charset="0"/>
              </a:rPr>
              <a:t>hai</a:t>
            </a:r>
            <a:r>
              <a:rPr lang="en-US" sz="1050" dirty="0">
                <a:latin typeface="Courier New" panose="02070309020205020404" pitchFamily="49" charset="0"/>
                <a:cs typeface="Courier New" panose="02070309020205020404" pitchFamily="49" charset="0"/>
              </a:rPr>
              <a:t> </a:t>
            </a:r>
            <a:r>
              <a:rPr lang="en-US" sz="1050" dirty="0" err="1">
                <a:latin typeface="Courier New" panose="02070309020205020404" pitchFamily="49" charset="0"/>
                <a:cs typeface="Courier New" panose="02070309020205020404" pitchFamily="49" charset="0"/>
              </a:rPr>
              <a:t>chuỗi</a:t>
            </a:r>
            <a:r>
              <a:rPr lang="en-US" sz="1050" dirty="0">
                <a:latin typeface="Courier New" panose="02070309020205020404" pitchFamily="49" charset="0"/>
                <a:cs typeface="Courier New" panose="02070309020205020404" pitchFamily="49" charset="0"/>
              </a:rPr>
              <a:t> </a:t>
            </a:r>
            <a:endParaRPr lang="en-US" sz="1050" dirty="0" smtClean="0">
              <a:latin typeface="Courier New" panose="02070309020205020404" pitchFamily="49" charset="0"/>
              <a:cs typeface="Courier New" panose="02070309020205020404" pitchFamily="49" charset="0"/>
            </a:endParaRPr>
          </a:p>
          <a:p>
            <a:r>
              <a:rPr lang="en-US" sz="1050" dirty="0">
                <a:latin typeface="Courier New" panose="02070309020205020404" pitchFamily="49" charset="0"/>
                <a:cs typeface="Courier New" panose="02070309020205020404" pitchFamily="49" charset="0"/>
              </a:rPr>
              <a:t> </a:t>
            </a:r>
            <a:r>
              <a:rPr lang="en-US" sz="1050" dirty="0" smtClean="0">
                <a:latin typeface="Courier New" panose="02070309020205020404" pitchFamily="49" charset="0"/>
                <a:cs typeface="Courier New" panose="02070309020205020404" pitchFamily="49" charset="0"/>
              </a:rPr>
              <a:t>      (p[0]p[1]..p[k-1])</a:t>
            </a:r>
            <a:r>
              <a:rPr lang="en-US" sz="1050" dirty="0" err="1" smtClean="0">
                <a:latin typeface="Courier New" panose="02070309020205020404" pitchFamily="49" charset="0"/>
                <a:cs typeface="Courier New" panose="02070309020205020404" pitchFamily="49" charset="0"/>
              </a:rPr>
              <a:t>và</a:t>
            </a:r>
            <a:r>
              <a:rPr lang="en-US" sz="1050" dirty="0" smtClean="0">
                <a:latin typeface="Courier New" panose="02070309020205020404" pitchFamily="49" charset="0"/>
                <a:cs typeface="Courier New" panose="02070309020205020404" pitchFamily="49" charset="0"/>
              </a:rPr>
              <a:t>(p[j-k]p[1]..p[j-1])</a:t>
            </a:r>
          </a:p>
          <a:p>
            <a:r>
              <a:rPr lang="en-US" sz="1050" dirty="0">
                <a:latin typeface="Courier New" panose="02070309020205020404" pitchFamily="49" charset="0"/>
                <a:cs typeface="Courier New" panose="02070309020205020404" pitchFamily="49" charset="0"/>
              </a:rPr>
              <a:t> </a:t>
            </a:r>
            <a:r>
              <a:rPr lang="en-US" sz="1050" dirty="0" smtClean="0">
                <a:latin typeface="Courier New" panose="02070309020205020404" pitchFamily="49" charset="0"/>
                <a:cs typeface="Courier New" panose="02070309020205020404" pitchFamily="49" charset="0"/>
              </a:rPr>
              <a:t>      </a:t>
            </a:r>
            <a:r>
              <a:rPr lang="en-US" sz="1050" dirty="0" err="1" smtClean="0">
                <a:latin typeface="Courier New" panose="02070309020205020404" pitchFamily="49" charset="0"/>
                <a:cs typeface="Courier New" panose="02070309020205020404" pitchFamily="49" charset="0"/>
              </a:rPr>
              <a:t>Nếu</a:t>
            </a:r>
            <a:r>
              <a:rPr lang="en-US" sz="1050" dirty="0" smtClean="0">
                <a:latin typeface="Courier New" panose="02070309020205020404" pitchFamily="49" charset="0"/>
                <a:cs typeface="Courier New" panose="02070309020205020404" pitchFamily="49" charset="0"/>
              </a:rPr>
              <a:t> </a:t>
            </a:r>
            <a:r>
              <a:rPr lang="en-US" sz="1050" dirty="0" err="1">
                <a:latin typeface="Courier New" panose="02070309020205020404" pitchFamily="49" charset="0"/>
                <a:cs typeface="Courier New" panose="02070309020205020404" pitchFamily="49" charset="0"/>
              </a:rPr>
              <a:t>chúng</a:t>
            </a:r>
            <a:r>
              <a:rPr lang="en-US" sz="1050" dirty="0">
                <a:latin typeface="Courier New" panose="02070309020205020404" pitchFamily="49" charset="0"/>
                <a:cs typeface="Courier New" panose="02070309020205020404" pitchFamily="49" charset="0"/>
              </a:rPr>
              <a:t> </a:t>
            </a:r>
            <a:r>
              <a:rPr lang="en-US" sz="1050" dirty="0" err="1">
                <a:latin typeface="Courier New" panose="02070309020205020404" pitchFamily="49" charset="0"/>
                <a:cs typeface="Courier New" panose="02070309020205020404" pitchFamily="49" charset="0"/>
              </a:rPr>
              <a:t>bằng</a:t>
            </a:r>
            <a:r>
              <a:rPr lang="en-US" sz="1050" dirty="0">
                <a:latin typeface="Courier New" panose="02070309020205020404" pitchFamily="49" charset="0"/>
                <a:cs typeface="Courier New" panose="02070309020205020404" pitchFamily="49" charset="0"/>
              </a:rPr>
              <a:t> </a:t>
            </a:r>
            <a:r>
              <a:rPr lang="en-US" sz="1050" dirty="0" err="1">
                <a:latin typeface="Courier New" panose="02070309020205020404" pitchFamily="49" charset="0"/>
                <a:cs typeface="Courier New" panose="02070309020205020404" pitchFamily="49" charset="0"/>
              </a:rPr>
              <a:t>nhau</a:t>
            </a:r>
            <a:r>
              <a:rPr lang="en-US" sz="1050" dirty="0">
                <a:latin typeface="Courier New" panose="02070309020205020404" pitchFamily="49" charset="0"/>
                <a:cs typeface="Courier New" panose="02070309020205020404" pitchFamily="49" charset="0"/>
              </a:rPr>
              <a:t> </a:t>
            </a:r>
            <a:r>
              <a:rPr lang="en-US" sz="1050" dirty="0" err="1" smtClean="0">
                <a:latin typeface="Courier New" panose="02070309020205020404" pitchFamily="49" charset="0"/>
                <a:cs typeface="Courier New" panose="02070309020205020404" pitchFamily="49" charset="0"/>
              </a:rPr>
              <a:t>thì</a:t>
            </a:r>
            <a:r>
              <a:rPr lang="en-US" sz="1050" dirty="0" smtClean="0">
                <a:latin typeface="Courier New" panose="02070309020205020404" pitchFamily="49" charset="0"/>
                <a:cs typeface="Courier New" panose="02070309020205020404" pitchFamily="49" charset="0"/>
              </a:rPr>
              <a:t> </a:t>
            </a:r>
          </a:p>
          <a:p>
            <a:r>
              <a:rPr lang="en-US" sz="1050" dirty="0">
                <a:latin typeface="Courier New" panose="02070309020205020404" pitchFamily="49" charset="0"/>
                <a:cs typeface="Courier New" panose="02070309020205020404" pitchFamily="49" charset="0"/>
              </a:rPr>
              <a:t> </a:t>
            </a:r>
            <a:r>
              <a:rPr lang="en-US" sz="1050" dirty="0" smtClean="0">
                <a:latin typeface="Courier New" panose="02070309020205020404" pitchFamily="49" charset="0"/>
                <a:cs typeface="Courier New" panose="02070309020205020404" pitchFamily="49" charset="0"/>
              </a:rPr>
              <a:t>          next[j</a:t>
            </a:r>
            <a:r>
              <a:rPr lang="en-US" sz="1050" dirty="0">
                <a:latin typeface="Courier New" panose="02070309020205020404" pitchFamily="49" charset="0"/>
                <a:cs typeface="Courier New" panose="02070309020205020404" pitchFamily="49" charset="0"/>
              </a:rPr>
              <a:t>] = k;</a:t>
            </a:r>
          </a:p>
          <a:p>
            <a:r>
              <a:rPr lang="en-US" sz="1050" dirty="0" smtClean="0">
                <a:latin typeface="Courier New" panose="02070309020205020404" pitchFamily="49" charset="0"/>
                <a:cs typeface="Courier New" panose="02070309020205020404" pitchFamily="49" charset="0"/>
              </a:rPr>
              <a:t>           </a:t>
            </a:r>
            <a:r>
              <a:rPr lang="en-US" sz="1050" dirty="0" err="1" smtClean="0">
                <a:latin typeface="Courier New" panose="02070309020205020404" pitchFamily="49" charset="0"/>
                <a:cs typeface="Courier New" panose="02070309020205020404" pitchFamily="49" charset="0"/>
              </a:rPr>
              <a:t>Kết</a:t>
            </a:r>
            <a:r>
              <a:rPr lang="en-US" sz="1050" dirty="0" smtClean="0">
                <a:latin typeface="Courier New" panose="02070309020205020404" pitchFamily="49" charset="0"/>
                <a:cs typeface="Courier New" panose="02070309020205020404" pitchFamily="49" charset="0"/>
              </a:rPr>
              <a:t> </a:t>
            </a:r>
            <a:r>
              <a:rPr lang="en-US" sz="1050" dirty="0" err="1">
                <a:latin typeface="Courier New" panose="02070309020205020404" pitchFamily="49" charset="0"/>
                <a:cs typeface="Courier New" panose="02070309020205020404" pitchFamily="49" charset="0"/>
              </a:rPr>
              <a:t>thúc</a:t>
            </a:r>
            <a:r>
              <a:rPr lang="en-US" sz="1050" dirty="0">
                <a:latin typeface="Courier New" panose="02070309020205020404" pitchFamily="49" charset="0"/>
                <a:cs typeface="Courier New" panose="02070309020205020404" pitchFamily="49" charset="0"/>
              </a:rPr>
              <a:t> </a:t>
            </a:r>
            <a:r>
              <a:rPr lang="en-US" sz="1050" dirty="0" err="1">
                <a:latin typeface="Courier New" panose="02070309020205020404" pitchFamily="49" charset="0"/>
                <a:cs typeface="Courier New" panose="02070309020205020404" pitchFamily="49" charset="0"/>
              </a:rPr>
              <a:t>giải</a:t>
            </a:r>
            <a:r>
              <a:rPr lang="en-US" sz="1050" dirty="0">
                <a:latin typeface="Courier New" panose="02070309020205020404" pitchFamily="49" charset="0"/>
                <a:cs typeface="Courier New" panose="02070309020205020404" pitchFamily="49" charset="0"/>
              </a:rPr>
              <a:t> </a:t>
            </a:r>
            <a:r>
              <a:rPr lang="en-US" sz="1050" dirty="0" err="1">
                <a:latin typeface="Courier New" panose="02070309020205020404" pitchFamily="49" charset="0"/>
                <a:cs typeface="Courier New" panose="02070309020205020404" pitchFamily="49" charset="0"/>
              </a:rPr>
              <a:t>thuật</a:t>
            </a:r>
            <a:r>
              <a:rPr lang="en-US" sz="1050" dirty="0">
                <a:latin typeface="Courier New" panose="02070309020205020404" pitchFamily="49" charset="0"/>
                <a:cs typeface="Courier New" panose="02070309020205020404" pitchFamily="49" charset="0"/>
              </a:rPr>
              <a:t>;</a:t>
            </a:r>
          </a:p>
          <a:p>
            <a:r>
              <a:rPr lang="en-US" sz="1050" dirty="0" smtClean="0">
                <a:latin typeface="Courier New" panose="02070309020205020404" pitchFamily="49" charset="0"/>
                <a:cs typeface="Courier New" panose="02070309020205020404" pitchFamily="49" charset="0"/>
              </a:rPr>
              <a:t>       </a:t>
            </a:r>
            <a:r>
              <a:rPr lang="en-US" sz="1050" dirty="0" err="1" smtClean="0">
                <a:latin typeface="Courier New" panose="02070309020205020404" pitchFamily="49" charset="0"/>
                <a:cs typeface="Courier New" panose="02070309020205020404" pitchFamily="49" charset="0"/>
              </a:rPr>
              <a:t>Trái</a:t>
            </a:r>
            <a:r>
              <a:rPr lang="en-US" sz="1050" dirty="0" smtClean="0">
                <a:latin typeface="Courier New" panose="02070309020205020404" pitchFamily="49" charset="0"/>
                <a:cs typeface="Courier New" panose="02070309020205020404" pitchFamily="49" charset="0"/>
              </a:rPr>
              <a:t> </a:t>
            </a:r>
            <a:r>
              <a:rPr lang="en-US" sz="1050" dirty="0" err="1">
                <a:latin typeface="Courier New" panose="02070309020205020404" pitchFamily="49" charset="0"/>
                <a:cs typeface="Courier New" panose="02070309020205020404" pitchFamily="49" charset="0"/>
              </a:rPr>
              <a:t>lại</a:t>
            </a:r>
            <a:r>
              <a:rPr lang="en-US" sz="1050" dirty="0">
                <a:latin typeface="Courier New" panose="02070309020205020404" pitchFamily="49" charset="0"/>
                <a:cs typeface="Courier New" panose="02070309020205020404" pitchFamily="49" charset="0"/>
              </a:rPr>
              <a:t>,</a:t>
            </a:r>
          </a:p>
          <a:p>
            <a:r>
              <a:rPr lang="en-US" sz="1050" dirty="0" smtClean="0">
                <a:latin typeface="Courier New" panose="02070309020205020404" pitchFamily="49" charset="0"/>
                <a:cs typeface="Courier New" panose="02070309020205020404" pitchFamily="49" charset="0"/>
              </a:rPr>
              <a:t>           k </a:t>
            </a:r>
            <a:r>
              <a:rPr lang="en-US" sz="1050" dirty="0">
                <a:latin typeface="Courier New" panose="02070309020205020404" pitchFamily="49" charset="0"/>
                <a:cs typeface="Courier New" panose="02070309020205020404" pitchFamily="49" charset="0"/>
              </a:rPr>
              <a:t>= k – 1;</a:t>
            </a:r>
          </a:p>
          <a:p>
            <a:r>
              <a:rPr lang="en-US" sz="1050" dirty="0" smtClean="0">
                <a:latin typeface="Courier New" panose="02070309020205020404" pitchFamily="49" charset="0"/>
                <a:cs typeface="Courier New" panose="02070309020205020404" pitchFamily="49" charset="0"/>
              </a:rPr>
              <a:t>           </a:t>
            </a:r>
            <a:r>
              <a:rPr lang="en-US" sz="1050" dirty="0" err="1" smtClean="0">
                <a:latin typeface="Courier New" panose="02070309020205020404" pitchFamily="49" charset="0"/>
                <a:cs typeface="Courier New" panose="02070309020205020404" pitchFamily="49" charset="0"/>
              </a:rPr>
              <a:t>Lặp</a:t>
            </a:r>
            <a:r>
              <a:rPr lang="en-US" sz="1050" dirty="0" smtClean="0">
                <a:latin typeface="Courier New" panose="02070309020205020404" pitchFamily="49" charset="0"/>
                <a:cs typeface="Courier New" panose="02070309020205020404" pitchFamily="49" charset="0"/>
              </a:rPr>
              <a:t> </a:t>
            </a:r>
            <a:r>
              <a:rPr lang="en-US" sz="1050" dirty="0" err="1">
                <a:latin typeface="Courier New" panose="02070309020205020404" pitchFamily="49" charset="0"/>
                <a:cs typeface="Courier New" panose="02070309020205020404" pitchFamily="49" charset="0"/>
              </a:rPr>
              <a:t>lại</a:t>
            </a:r>
            <a:r>
              <a:rPr lang="en-US" sz="1050" dirty="0">
                <a:latin typeface="Courier New" panose="02070309020205020404" pitchFamily="49" charset="0"/>
                <a:cs typeface="Courier New" panose="02070309020205020404" pitchFamily="49" charset="0"/>
              </a:rPr>
              <a:t> </a:t>
            </a:r>
            <a:r>
              <a:rPr lang="en-US" sz="1050" dirty="0" err="1">
                <a:latin typeface="Courier New" panose="02070309020205020404" pitchFamily="49" charset="0"/>
                <a:cs typeface="Courier New" panose="02070309020205020404" pitchFamily="49" charset="0"/>
              </a:rPr>
              <a:t>từ</a:t>
            </a:r>
            <a:r>
              <a:rPr lang="en-US" sz="1050" dirty="0">
                <a:latin typeface="Courier New" panose="02070309020205020404" pitchFamily="49" charset="0"/>
                <a:cs typeface="Courier New" panose="02070309020205020404" pitchFamily="49" charset="0"/>
              </a:rPr>
              <a:t> </a:t>
            </a:r>
            <a:r>
              <a:rPr lang="en-US" sz="1050" dirty="0" err="1">
                <a:latin typeface="Courier New" panose="02070309020205020404" pitchFamily="49" charset="0"/>
                <a:cs typeface="Courier New" panose="02070309020205020404" pitchFamily="49" charset="0"/>
              </a:rPr>
              <a:t>bước</a:t>
            </a:r>
            <a:r>
              <a:rPr lang="en-US" sz="1050" dirty="0">
                <a:latin typeface="Courier New" panose="02070309020205020404" pitchFamily="49" charset="0"/>
                <a:cs typeface="Courier New" panose="02070309020205020404" pitchFamily="49" charset="0"/>
              </a:rPr>
              <a:t> 2 </a:t>
            </a:r>
            <a:r>
              <a:rPr lang="en-US" sz="1050" dirty="0" err="1">
                <a:latin typeface="Courier New" panose="02070309020205020404" pitchFamily="49" charset="0"/>
                <a:cs typeface="Courier New" panose="02070309020205020404" pitchFamily="49" charset="0"/>
              </a:rPr>
              <a:t>của</a:t>
            </a:r>
            <a:r>
              <a:rPr lang="en-US" sz="1050" dirty="0">
                <a:latin typeface="Courier New" panose="02070309020205020404" pitchFamily="49" charset="0"/>
                <a:cs typeface="Courier New" panose="02070309020205020404" pitchFamily="49" charset="0"/>
              </a:rPr>
              <a:t> </a:t>
            </a:r>
            <a:r>
              <a:rPr lang="en-US" sz="1050" dirty="0" err="1">
                <a:latin typeface="Courier New" panose="02070309020205020404" pitchFamily="49" charset="0"/>
                <a:cs typeface="Courier New" panose="02070309020205020404" pitchFamily="49" charset="0"/>
              </a:rPr>
              <a:t>giải</a:t>
            </a:r>
            <a:r>
              <a:rPr lang="en-US" sz="1050" dirty="0">
                <a:latin typeface="Courier New" panose="02070309020205020404" pitchFamily="49" charset="0"/>
                <a:cs typeface="Courier New" panose="02070309020205020404" pitchFamily="49" charset="0"/>
              </a:rPr>
              <a:t> </a:t>
            </a:r>
            <a:r>
              <a:rPr lang="en-US" sz="1050" dirty="0" err="1">
                <a:latin typeface="Courier New" panose="02070309020205020404" pitchFamily="49" charset="0"/>
                <a:cs typeface="Courier New" panose="02070309020205020404" pitchFamily="49" charset="0"/>
              </a:rPr>
              <a:t>thuật</a:t>
            </a:r>
            <a:r>
              <a:rPr lang="en-US" sz="105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72096487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C24317B-5122-4A99-A6E9-FA23C146A7E0}" type="slidenum">
              <a:rPr lang="en-US" smtClean="0"/>
              <a:pPr/>
              <a:t>19</a:t>
            </a:fld>
            <a:endParaRPr lang="en-US" dirty="0"/>
          </a:p>
        </p:txBody>
      </p:sp>
      <p:sp>
        <p:nvSpPr>
          <p:cNvPr id="4" name="Title 3"/>
          <p:cNvSpPr>
            <a:spLocks noGrp="1"/>
          </p:cNvSpPr>
          <p:nvPr>
            <p:ph type="title"/>
          </p:nvPr>
        </p:nvSpPr>
        <p:spPr/>
        <p:txBody>
          <a:bodyPr>
            <a:normAutofit/>
          </a:bodyPr>
          <a:lstStyle/>
          <a:p>
            <a:r>
              <a:rPr lang="en-US" sz="2400" dirty="0" smtClean="0"/>
              <a:t>3. </a:t>
            </a:r>
            <a:r>
              <a:rPr lang="en-US" sz="2400" dirty="0" err="1" smtClean="0"/>
              <a:t>Tìm</a:t>
            </a:r>
            <a:r>
              <a:rPr lang="en-US" sz="2400" dirty="0" smtClean="0"/>
              <a:t> </a:t>
            </a:r>
            <a:r>
              <a:rPr lang="en-US" sz="2400" dirty="0" err="1" smtClean="0"/>
              <a:t>kiếm</a:t>
            </a:r>
            <a:r>
              <a:rPr lang="en-US" sz="2400" dirty="0" smtClean="0"/>
              <a:t> </a:t>
            </a:r>
            <a:r>
              <a:rPr lang="en-US" sz="2400" dirty="0" err="1" smtClean="0"/>
              <a:t>chuỗi</a:t>
            </a:r>
            <a:r>
              <a:rPr lang="en-US" sz="2400" dirty="0" smtClean="0"/>
              <a:t> con</a:t>
            </a:r>
            <a:endParaRPr lang="en-US" sz="2400" dirty="0"/>
          </a:p>
        </p:txBody>
      </p:sp>
      <p:sp>
        <p:nvSpPr>
          <p:cNvPr id="5" name="Text Placeholder 4"/>
          <p:cNvSpPr>
            <a:spLocks noGrp="1"/>
          </p:cNvSpPr>
          <p:nvPr>
            <p:ph type="body" sz="quarter" idx="13"/>
          </p:nvPr>
        </p:nvSpPr>
        <p:spPr>
          <a:xfrm>
            <a:off x="0" y="1019485"/>
            <a:ext cx="3956049" cy="5132832"/>
          </a:xfrm>
        </p:spPr>
        <p:txBody>
          <a:bodyPr>
            <a:normAutofit/>
          </a:bodyPr>
          <a:lstStyle/>
          <a:p>
            <a:r>
              <a:rPr lang="en-US" sz="2400" dirty="0" err="1"/>
              <a:t>Giải</a:t>
            </a:r>
            <a:r>
              <a:rPr lang="en-US" sz="2400" dirty="0"/>
              <a:t> </a:t>
            </a:r>
            <a:r>
              <a:rPr lang="en-US" sz="2400" dirty="0" err="1"/>
              <a:t>thuật</a:t>
            </a:r>
            <a:r>
              <a:rPr lang="en-US" sz="2400" dirty="0"/>
              <a:t> </a:t>
            </a:r>
            <a:r>
              <a:rPr lang="en-US" sz="2400" dirty="0" smtClean="0"/>
              <a:t>Knuth-Morris-Pratt</a:t>
            </a:r>
          </a:p>
          <a:p>
            <a:pPr lvl="1"/>
            <a:r>
              <a:rPr lang="en-US" sz="2300" dirty="0" err="1" smtClean="0"/>
              <a:t>Cài</a:t>
            </a:r>
            <a:r>
              <a:rPr lang="en-US" sz="2300" dirty="0" smtClean="0"/>
              <a:t> </a:t>
            </a:r>
            <a:r>
              <a:rPr lang="en-US" sz="2300" dirty="0" err="1" smtClean="0"/>
              <a:t>đặt</a:t>
            </a:r>
            <a:r>
              <a:rPr lang="en-US" sz="2300" dirty="0" smtClean="0"/>
              <a:t>: </a:t>
            </a:r>
          </a:p>
          <a:p>
            <a:pPr lvl="1"/>
            <a:endParaRPr lang="en-US" sz="2300" dirty="0"/>
          </a:p>
        </p:txBody>
      </p:sp>
      <p:sp>
        <p:nvSpPr>
          <p:cNvPr id="2" name="Rectangle 1"/>
          <p:cNvSpPr/>
          <p:nvPr/>
        </p:nvSpPr>
        <p:spPr>
          <a:xfrm>
            <a:off x="1495283" y="1853153"/>
            <a:ext cx="6400800" cy="3785652"/>
          </a:xfrm>
          <a:prstGeom prst="rect">
            <a:avLst/>
          </a:prstGeom>
        </p:spPr>
        <p:txBody>
          <a:bodyPr wrap="square">
            <a:spAutoFit/>
          </a:bodyPr>
          <a:lstStyle/>
          <a:p>
            <a:r>
              <a:rPr lang="en-US" sz="1600" dirty="0" err="1">
                <a:latin typeface="Courier New" panose="02070309020205020404" pitchFamily="49" charset="0"/>
                <a:cs typeface="Courier New" panose="02070309020205020404" pitchFamily="49" charset="0"/>
              </a:rPr>
              <a:t>int</a:t>
            </a: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KMPSearch</a:t>
            </a:r>
            <a:r>
              <a:rPr lang="en-US" sz="1600" dirty="0">
                <a:latin typeface="Courier New" panose="02070309020205020404" pitchFamily="49" charset="0"/>
                <a:cs typeface="Courier New" panose="02070309020205020404" pitchFamily="49" charset="0"/>
              </a:rPr>
              <a:t>(char V[], </a:t>
            </a:r>
            <a:r>
              <a:rPr lang="en-US" sz="1600" dirty="0" err="1">
                <a:latin typeface="Courier New" panose="02070309020205020404" pitchFamily="49" charset="0"/>
                <a:cs typeface="Courier New" panose="02070309020205020404" pitchFamily="49" charset="0"/>
              </a:rPr>
              <a:t>int</a:t>
            </a:r>
            <a:r>
              <a:rPr lang="en-US" sz="1600" dirty="0">
                <a:latin typeface="Courier New" panose="02070309020205020404" pitchFamily="49" charset="0"/>
                <a:cs typeface="Courier New" panose="02070309020205020404" pitchFamily="49" charset="0"/>
              </a:rPr>
              <a:t> N, char P[], </a:t>
            </a:r>
            <a:r>
              <a:rPr lang="en-US" sz="1600" dirty="0" err="1">
                <a:latin typeface="Courier New" panose="02070309020205020404" pitchFamily="49" charset="0"/>
                <a:cs typeface="Courier New" panose="02070309020205020404" pitchFamily="49" charset="0"/>
              </a:rPr>
              <a:t>int</a:t>
            </a:r>
            <a:r>
              <a:rPr lang="en-US" sz="1600" dirty="0">
                <a:latin typeface="Courier New" panose="02070309020205020404" pitchFamily="49" charset="0"/>
                <a:cs typeface="Courier New" panose="02070309020205020404" pitchFamily="49" charset="0"/>
              </a:rPr>
              <a:t> M </a:t>
            </a:r>
            <a:r>
              <a:rPr lang="en-US" sz="1600" dirty="0" smtClean="0">
                <a:latin typeface="Courier New" panose="02070309020205020404" pitchFamily="49" charset="0"/>
                <a:cs typeface="Courier New" panose="02070309020205020404" pitchFamily="49" charset="0"/>
              </a:rPr>
              <a:t>){</a:t>
            </a:r>
          </a:p>
          <a:p>
            <a:r>
              <a:rPr lang="en-US" sz="1600" dirty="0" smtClean="0">
                <a:latin typeface="Courier New" panose="02070309020205020404" pitchFamily="49" charset="0"/>
                <a:cs typeface="Courier New" panose="02070309020205020404" pitchFamily="49" charset="0"/>
              </a:rPr>
              <a:t>	if </a:t>
            </a:r>
            <a:r>
              <a:rPr lang="en-US" sz="1600" dirty="0">
                <a:latin typeface="Courier New" panose="02070309020205020404" pitchFamily="49" charset="0"/>
                <a:cs typeface="Courier New" panose="02070309020205020404" pitchFamily="49" charset="0"/>
              </a:rPr>
              <a:t>(N&lt;M) return -1;</a:t>
            </a:r>
            <a:endParaRPr lang="en-US" sz="1600" dirty="0" smtClean="0">
              <a:latin typeface="Courier New" panose="02070309020205020404" pitchFamily="49" charset="0"/>
              <a:cs typeface="Courier New" panose="02070309020205020404" pitchFamily="49" charset="0"/>
            </a:endParaRPr>
          </a:p>
          <a:p>
            <a:r>
              <a:rPr lang="en-US" sz="1600" dirty="0" smtClean="0">
                <a:latin typeface="Courier New" panose="02070309020205020404" pitchFamily="49" charset="0"/>
                <a:cs typeface="Courier New" panose="02070309020205020404" pitchFamily="49" charset="0"/>
              </a:rPr>
              <a:t>	</a:t>
            </a:r>
            <a:r>
              <a:rPr lang="en-US" sz="1600" dirty="0" err="1" smtClean="0">
                <a:latin typeface="Courier New" panose="02070309020205020404" pitchFamily="49" charset="0"/>
                <a:cs typeface="Courier New" panose="02070309020205020404" pitchFamily="49" charset="0"/>
              </a:rPr>
              <a:t>int</a:t>
            </a:r>
            <a:r>
              <a:rPr lang="en-US" sz="1600" dirty="0" smtClean="0">
                <a:latin typeface="Courier New" panose="02070309020205020404" pitchFamily="49" charset="0"/>
                <a:cs typeface="Courier New" panose="02070309020205020404" pitchFamily="49" charset="0"/>
              </a:rPr>
              <a:t> </a:t>
            </a:r>
            <a:r>
              <a:rPr lang="en-US" sz="1600" dirty="0">
                <a:latin typeface="Courier New" panose="02070309020205020404" pitchFamily="49" charset="0"/>
                <a:cs typeface="Courier New" panose="02070309020205020404" pitchFamily="49" charset="0"/>
              </a:rPr>
              <a:t>next[M</a:t>
            </a:r>
            <a:r>
              <a:rPr lang="en-US" sz="1600" dirty="0" smtClean="0">
                <a:latin typeface="Courier New" panose="02070309020205020404" pitchFamily="49" charset="0"/>
                <a:cs typeface="Courier New" panose="02070309020205020404" pitchFamily="49" charset="0"/>
              </a:rPr>
              <a:t>];</a:t>
            </a:r>
          </a:p>
          <a:p>
            <a:r>
              <a:rPr lang="en-US" sz="1600" dirty="0" smtClean="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initNext</a:t>
            </a:r>
            <a:r>
              <a:rPr lang="en-US" sz="1600" dirty="0">
                <a:latin typeface="Courier New" panose="02070309020205020404" pitchFamily="49" charset="0"/>
                <a:cs typeface="Courier New" panose="02070309020205020404" pitchFamily="49" charset="0"/>
              </a:rPr>
              <a:t>(P, next, M</a:t>
            </a:r>
            <a:r>
              <a:rPr lang="en-US" sz="1600" dirty="0" smtClean="0">
                <a:latin typeface="Courier New" panose="02070309020205020404" pitchFamily="49" charset="0"/>
                <a:cs typeface="Courier New" panose="02070309020205020404" pitchFamily="49" charset="0"/>
              </a:rPr>
              <a:t>);</a:t>
            </a:r>
          </a:p>
          <a:p>
            <a:r>
              <a:rPr lang="en-US" sz="1600" dirty="0" smtClean="0">
                <a:latin typeface="Courier New" panose="02070309020205020404" pitchFamily="49" charset="0"/>
                <a:cs typeface="Courier New" panose="02070309020205020404" pitchFamily="49" charset="0"/>
              </a:rPr>
              <a:t>	</a:t>
            </a:r>
            <a:r>
              <a:rPr lang="en-US" sz="1600" dirty="0" err="1" smtClean="0">
                <a:latin typeface="Courier New" panose="02070309020205020404" pitchFamily="49" charset="0"/>
                <a:cs typeface="Courier New" panose="02070309020205020404" pitchFamily="49" charset="0"/>
              </a:rPr>
              <a:t>int</a:t>
            </a:r>
            <a:r>
              <a:rPr lang="en-US" sz="1600" dirty="0" smtClean="0">
                <a:latin typeface="Courier New" panose="02070309020205020404" pitchFamily="49" charset="0"/>
                <a:cs typeface="Courier New" panose="02070309020205020404" pitchFamily="49" charset="0"/>
              </a:rPr>
              <a:t> </a:t>
            </a:r>
            <a:r>
              <a:rPr lang="en-US" sz="1600" dirty="0" err="1" smtClean="0">
                <a:latin typeface="Courier New" panose="02070309020205020404" pitchFamily="49" charset="0"/>
                <a:cs typeface="Courier New" panose="02070309020205020404" pitchFamily="49" charset="0"/>
              </a:rPr>
              <a:t>i,j</a:t>
            </a:r>
            <a:r>
              <a:rPr lang="en-US" sz="1600" dirty="0" smtClean="0">
                <a:latin typeface="Courier New" panose="02070309020205020404" pitchFamily="49" charset="0"/>
                <a:cs typeface="Courier New" panose="02070309020205020404" pitchFamily="49" charset="0"/>
              </a:rPr>
              <a:t>; </a:t>
            </a:r>
            <a:r>
              <a:rPr lang="en-US" sz="1600" dirty="0" err="1" smtClean="0">
                <a:latin typeface="Courier New" panose="02070309020205020404" pitchFamily="49" charset="0"/>
                <a:cs typeface="Courier New" panose="02070309020205020404" pitchFamily="49" charset="0"/>
              </a:rPr>
              <a:t>i</a:t>
            </a:r>
            <a:r>
              <a:rPr lang="en-US" sz="1600" dirty="0" smtClean="0">
                <a:latin typeface="Courier New" panose="02070309020205020404" pitchFamily="49" charset="0"/>
                <a:cs typeface="Courier New" panose="02070309020205020404" pitchFamily="49" charset="0"/>
              </a:rPr>
              <a:t>=j=0;</a:t>
            </a:r>
          </a:p>
          <a:p>
            <a:r>
              <a:rPr lang="en-US" sz="1600" dirty="0" smtClean="0">
                <a:latin typeface="Courier New" panose="02070309020205020404" pitchFamily="49" charset="0"/>
                <a:cs typeface="Courier New" panose="02070309020205020404" pitchFamily="49" charset="0"/>
              </a:rPr>
              <a:t>    do {</a:t>
            </a:r>
          </a:p>
          <a:p>
            <a:r>
              <a:rPr lang="en-US" sz="1600" dirty="0" smtClean="0">
                <a:latin typeface="Courier New" panose="02070309020205020404" pitchFamily="49" charset="0"/>
                <a:cs typeface="Courier New" panose="02070309020205020404" pitchFamily="49" charset="0"/>
              </a:rPr>
              <a:t>       </a:t>
            </a:r>
            <a:r>
              <a:rPr lang="en-US" sz="1600" dirty="0">
                <a:latin typeface="Courier New" panose="02070309020205020404" pitchFamily="49" charset="0"/>
                <a:cs typeface="Courier New" panose="02070309020205020404" pitchFamily="49" charset="0"/>
              </a:rPr>
              <a:t>while (j&lt;M &amp;&amp; V[</a:t>
            </a:r>
            <a:r>
              <a:rPr lang="en-US" sz="1600" dirty="0" err="1">
                <a:latin typeface="Courier New" panose="02070309020205020404" pitchFamily="49" charset="0"/>
                <a:cs typeface="Courier New" panose="02070309020205020404" pitchFamily="49" charset="0"/>
              </a:rPr>
              <a:t>i</a:t>
            </a:r>
            <a:r>
              <a:rPr lang="en-US" sz="1600" dirty="0">
                <a:latin typeface="Courier New" panose="02070309020205020404" pitchFamily="49" charset="0"/>
                <a:cs typeface="Courier New" panose="02070309020205020404" pitchFamily="49" charset="0"/>
              </a:rPr>
              <a:t>]==P[j]){</a:t>
            </a:r>
            <a:r>
              <a:rPr lang="en-US" sz="1600" dirty="0" err="1">
                <a:latin typeface="Courier New" panose="02070309020205020404" pitchFamily="49" charset="0"/>
                <a:cs typeface="Courier New" panose="02070309020205020404" pitchFamily="49" charset="0"/>
              </a:rPr>
              <a:t>i</a:t>
            </a: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j</a:t>
            </a:r>
            <a:r>
              <a:rPr lang="en-US" sz="1600" dirty="0" err="1" smtClean="0">
                <a:latin typeface="Courier New" panose="02070309020205020404" pitchFamily="49" charset="0"/>
                <a:cs typeface="Courier New" panose="02070309020205020404" pitchFamily="49" charset="0"/>
              </a:rPr>
              <a:t>++</a:t>
            </a:r>
            <a:r>
              <a:rPr lang="en-US" sz="1600" dirty="0" smtClean="0">
                <a:latin typeface="Courier New" panose="02070309020205020404" pitchFamily="49" charset="0"/>
                <a:cs typeface="Courier New" panose="02070309020205020404" pitchFamily="49" charset="0"/>
              </a:rPr>
              <a:t>;}</a:t>
            </a:r>
          </a:p>
          <a:p>
            <a:r>
              <a:rPr lang="en-US" sz="1600" dirty="0" smtClean="0">
                <a:latin typeface="Courier New" panose="02070309020205020404" pitchFamily="49" charset="0"/>
                <a:cs typeface="Courier New" panose="02070309020205020404" pitchFamily="49" charset="0"/>
              </a:rPr>
              <a:t>       </a:t>
            </a:r>
            <a:r>
              <a:rPr lang="en-US" sz="1600" dirty="0">
                <a:latin typeface="Courier New" panose="02070309020205020404" pitchFamily="49" charset="0"/>
                <a:cs typeface="Courier New" panose="02070309020205020404" pitchFamily="49" charset="0"/>
              </a:rPr>
              <a:t>if (</a:t>
            </a:r>
            <a:r>
              <a:rPr lang="en-US" sz="1600" dirty="0" err="1">
                <a:latin typeface="Courier New" panose="02070309020205020404" pitchFamily="49" charset="0"/>
                <a:cs typeface="Courier New" panose="02070309020205020404" pitchFamily="49" charset="0"/>
              </a:rPr>
              <a:t>i</a:t>
            </a:r>
            <a:r>
              <a:rPr lang="en-US" sz="1600" dirty="0">
                <a:latin typeface="Courier New" panose="02070309020205020404" pitchFamily="49" charset="0"/>
                <a:cs typeface="Courier New" panose="02070309020205020404" pitchFamily="49" charset="0"/>
              </a:rPr>
              <a:t>&lt;=N-M &amp;&amp; j&lt;M ) </a:t>
            </a:r>
            <a:r>
              <a:rPr lang="en-US" sz="1600" dirty="0" smtClean="0">
                <a:latin typeface="Courier New" panose="02070309020205020404" pitchFamily="49" charset="0"/>
                <a:cs typeface="Courier New" panose="02070309020205020404" pitchFamily="49" charset="0"/>
              </a:rPr>
              <a:t>{</a:t>
            </a:r>
          </a:p>
          <a:p>
            <a:r>
              <a:rPr lang="en-US" sz="1600" dirty="0" smtClean="0">
                <a:latin typeface="Courier New" panose="02070309020205020404" pitchFamily="49" charset="0"/>
                <a:cs typeface="Courier New" panose="02070309020205020404" pitchFamily="49" charset="0"/>
              </a:rPr>
              <a:t>    </a:t>
            </a:r>
            <a:r>
              <a:rPr lang="en-US" sz="1600" dirty="0">
                <a:latin typeface="Courier New" panose="02070309020205020404" pitchFamily="49" charset="0"/>
                <a:cs typeface="Courier New" panose="02070309020205020404" pitchFamily="49" charset="0"/>
              </a:rPr>
              <a:t>		if (j==0) </a:t>
            </a:r>
            <a:r>
              <a:rPr lang="en-US" sz="1600" dirty="0" err="1">
                <a:latin typeface="Courier New" panose="02070309020205020404" pitchFamily="49" charset="0"/>
                <a:cs typeface="Courier New" panose="02070309020205020404" pitchFamily="49" charset="0"/>
              </a:rPr>
              <a:t>i</a:t>
            </a:r>
            <a:r>
              <a:rPr lang="en-US" sz="1600" dirty="0" smtClean="0">
                <a:latin typeface="Courier New" panose="02070309020205020404" pitchFamily="49" charset="0"/>
                <a:cs typeface="Courier New" panose="02070309020205020404" pitchFamily="49" charset="0"/>
              </a:rPr>
              <a:t>++;</a:t>
            </a:r>
          </a:p>
          <a:p>
            <a:r>
              <a:rPr lang="en-US" sz="1600" dirty="0" smtClean="0">
                <a:latin typeface="Courier New" panose="02070309020205020404" pitchFamily="49" charset="0"/>
                <a:cs typeface="Courier New" panose="02070309020205020404" pitchFamily="49" charset="0"/>
              </a:rPr>
              <a:t>    </a:t>
            </a:r>
            <a:r>
              <a:rPr lang="en-US" sz="1600" dirty="0">
                <a:latin typeface="Courier New" panose="02070309020205020404" pitchFamily="49" charset="0"/>
                <a:cs typeface="Courier New" panose="02070309020205020404" pitchFamily="49" charset="0"/>
              </a:rPr>
              <a:t>		else j = next[j</a:t>
            </a:r>
            <a:r>
              <a:rPr lang="en-US" sz="1600" dirty="0" smtClean="0">
                <a:latin typeface="Courier New" panose="02070309020205020404" pitchFamily="49" charset="0"/>
                <a:cs typeface="Courier New" panose="02070309020205020404" pitchFamily="49" charset="0"/>
              </a:rPr>
              <a:t>];</a:t>
            </a:r>
          </a:p>
          <a:p>
            <a:r>
              <a:rPr lang="en-US" sz="1600" dirty="0" smtClean="0">
                <a:latin typeface="Courier New" panose="02070309020205020404" pitchFamily="49" charset="0"/>
                <a:cs typeface="Courier New" panose="02070309020205020404" pitchFamily="49" charset="0"/>
              </a:rPr>
              <a:t>       }</a:t>
            </a:r>
          </a:p>
          <a:p>
            <a:r>
              <a:rPr lang="en-US" sz="1600" dirty="0" smtClean="0">
                <a:latin typeface="Courier New" panose="02070309020205020404" pitchFamily="49" charset="0"/>
                <a:cs typeface="Courier New" panose="02070309020205020404" pitchFamily="49" charset="0"/>
              </a:rPr>
              <a:t>    </a:t>
            </a:r>
            <a:r>
              <a:rPr lang="en-US" sz="1600" dirty="0">
                <a:latin typeface="Courier New" panose="02070309020205020404" pitchFamily="49" charset="0"/>
                <a:cs typeface="Courier New" panose="02070309020205020404" pitchFamily="49" charset="0"/>
              </a:rPr>
              <a:t>} while (</a:t>
            </a:r>
            <a:r>
              <a:rPr lang="en-US" sz="1600" dirty="0" err="1">
                <a:latin typeface="Courier New" panose="02070309020205020404" pitchFamily="49" charset="0"/>
                <a:cs typeface="Courier New" panose="02070309020205020404" pitchFamily="49" charset="0"/>
              </a:rPr>
              <a:t>i</a:t>
            </a:r>
            <a:r>
              <a:rPr lang="en-US" sz="1600" dirty="0">
                <a:latin typeface="Courier New" panose="02070309020205020404" pitchFamily="49" charset="0"/>
                <a:cs typeface="Courier New" panose="02070309020205020404" pitchFamily="49" charset="0"/>
              </a:rPr>
              <a:t>&lt;=N-M &amp;&amp; j&lt;M) </a:t>
            </a:r>
            <a:r>
              <a:rPr lang="en-US" sz="1600" dirty="0" smtClean="0">
                <a:latin typeface="Courier New" panose="02070309020205020404" pitchFamily="49" charset="0"/>
                <a:cs typeface="Courier New" panose="02070309020205020404" pitchFamily="49" charset="0"/>
              </a:rPr>
              <a:t>;</a:t>
            </a:r>
          </a:p>
          <a:p>
            <a:r>
              <a:rPr lang="en-US" sz="1600" dirty="0" smtClean="0">
                <a:latin typeface="Courier New" panose="02070309020205020404" pitchFamily="49" charset="0"/>
                <a:cs typeface="Courier New" panose="02070309020205020404" pitchFamily="49" charset="0"/>
              </a:rPr>
              <a:t>    </a:t>
            </a:r>
            <a:r>
              <a:rPr lang="en-US" sz="1600" dirty="0">
                <a:latin typeface="Courier New" panose="02070309020205020404" pitchFamily="49" charset="0"/>
                <a:cs typeface="Courier New" panose="02070309020205020404" pitchFamily="49" charset="0"/>
              </a:rPr>
              <a:t>if (j==M) return (</a:t>
            </a:r>
            <a:r>
              <a:rPr lang="en-US" sz="1600" dirty="0" err="1">
                <a:latin typeface="Courier New" panose="02070309020205020404" pitchFamily="49" charset="0"/>
                <a:cs typeface="Courier New" panose="02070309020205020404" pitchFamily="49" charset="0"/>
              </a:rPr>
              <a:t>i</a:t>
            </a:r>
            <a:r>
              <a:rPr lang="en-US" sz="1600" dirty="0">
                <a:latin typeface="Courier New" panose="02070309020205020404" pitchFamily="49" charset="0"/>
                <a:cs typeface="Courier New" panose="02070309020205020404" pitchFamily="49" charset="0"/>
              </a:rPr>
              <a:t>-M</a:t>
            </a:r>
            <a:r>
              <a:rPr lang="en-US" sz="1600" dirty="0" smtClean="0">
                <a:latin typeface="Courier New" panose="02070309020205020404" pitchFamily="49" charset="0"/>
                <a:cs typeface="Courier New" panose="02070309020205020404" pitchFamily="49" charset="0"/>
              </a:rPr>
              <a:t>);</a:t>
            </a:r>
          </a:p>
          <a:p>
            <a:r>
              <a:rPr lang="en-US" sz="1600" dirty="0" smtClean="0">
                <a:latin typeface="Courier New" panose="02070309020205020404" pitchFamily="49" charset="0"/>
                <a:cs typeface="Courier New" panose="02070309020205020404" pitchFamily="49" charset="0"/>
              </a:rPr>
              <a:t>    </a:t>
            </a:r>
            <a:r>
              <a:rPr lang="en-US" sz="1600" dirty="0">
                <a:latin typeface="Courier New" panose="02070309020205020404" pitchFamily="49" charset="0"/>
                <a:cs typeface="Courier New" panose="02070309020205020404" pitchFamily="49" charset="0"/>
              </a:rPr>
              <a:t>else return -1</a:t>
            </a:r>
            <a:r>
              <a:rPr lang="en-US" sz="1600" dirty="0" smtClean="0">
                <a:latin typeface="Courier New" panose="02070309020205020404" pitchFamily="49" charset="0"/>
                <a:cs typeface="Courier New" panose="02070309020205020404" pitchFamily="49" charset="0"/>
              </a:rPr>
              <a:t>;</a:t>
            </a:r>
          </a:p>
          <a:p>
            <a:r>
              <a:rPr lang="en-US" sz="1600" dirty="0" smtClean="0">
                <a:latin typeface="Courier New" panose="02070309020205020404" pitchFamily="49" charset="0"/>
                <a:cs typeface="Courier New" panose="02070309020205020404" pitchFamily="49" charset="0"/>
              </a:rPr>
              <a:t>}</a:t>
            </a:r>
            <a:endParaRPr lang="en-US" sz="1600" dirty="0">
              <a:latin typeface="Courier New" panose="02070309020205020404" pitchFamily="49" charset="0"/>
              <a:cs typeface="Courier New" panose="02070309020205020404" pitchFamily="49" charset="0"/>
            </a:endParaRPr>
          </a:p>
        </p:txBody>
      </p:sp>
      <p:pic>
        <p:nvPicPr>
          <p:cNvPr id="39" name="Picture 38"/>
          <p:cNvPicPr>
            <a:picLocks noChangeAspect="1"/>
          </p:cNvPicPr>
          <p:nvPr/>
        </p:nvPicPr>
        <p:blipFill>
          <a:blip r:embed="rId3"/>
          <a:stretch>
            <a:fillRect/>
          </a:stretch>
        </p:blipFill>
        <p:spPr>
          <a:xfrm>
            <a:off x="5819433" y="0"/>
            <a:ext cx="3122741" cy="1853153"/>
          </a:xfrm>
          <a:prstGeom prst="rect">
            <a:avLst/>
          </a:prstGeom>
        </p:spPr>
      </p:pic>
      <p:sp>
        <p:nvSpPr>
          <p:cNvPr id="40" name="Rectangle 39"/>
          <p:cNvSpPr/>
          <p:nvPr/>
        </p:nvSpPr>
        <p:spPr>
          <a:xfrm>
            <a:off x="-92540" y="5685083"/>
            <a:ext cx="9329079" cy="739177"/>
          </a:xfrm>
          <a:prstGeom prst="rect">
            <a:avLst/>
          </a:prstGeom>
        </p:spPr>
        <p:txBody>
          <a:bodyPr wrap="square">
            <a:spAutoFit/>
          </a:bodyPr>
          <a:lstStyle/>
          <a:p>
            <a:pPr marL="514350" lvl="1" indent="-171450" defTabSz="685800">
              <a:lnSpc>
                <a:spcPct val="90000"/>
              </a:lnSpc>
              <a:spcBef>
                <a:spcPts val="375"/>
              </a:spcBef>
              <a:buFont typeface="Arial" panose="020B0604020202020204" pitchFamily="34" charset="0"/>
              <a:buChar char="•"/>
            </a:pPr>
            <a:r>
              <a:rPr lang="en-US" sz="2300" dirty="0" err="1">
                <a:latin typeface="Lato" panose="020F0502020204030203" pitchFamily="34" charset="0"/>
                <a:ea typeface="Lato" panose="020F0502020204030203" pitchFamily="34" charset="0"/>
                <a:cs typeface="Lato" panose="020F0502020204030203" pitchFamily="34" charset="0"/>
              </a:rPr>
              <a:t>Đánh</a:t>
            </a:r>
            <a:r>
              <a:rPr lang="en-US" sz="2300" dirty="0">
                <a:latin typeface="Lato" panose="020F0502020204030203" pitchFamily="34" charset="0"/>
                <a:ea typeface="Lato" panose="020F0502020204030203" pitchFamily="34" charset="0"/>
                <a:cs typeface="Lato" panose="020F0502020204030203" pitchFamily="34" charset="0"/>
              </a:rPr>
              <a:t> </a:t>
            </a:r>
            <a:r>
              <a:rPr lang="en-US" sz="2300" dirty="0" err="1">
                <a:latin typeface="Lato" panose="020F0502020204030203" pitchFamily="34" charset="0"/>
                <a:ea typeface="Lato" panose="020F0502020204030203" pitchFamily="34" charset="0"/>
                <a:cs typeface="Lato" panose="020F0502020204030203" pitchFamily="34" charset="0"/>
              </a:rPr>
              <a:t>giá</a:t>
            </a:r>
            <a:r>
              <a:rPr lang="en-US" sz="2300" dirty="0">
                <a:latin typeface="Lato" panose="020F0502020204030203" pitchFamily="34" charset="0"/>
                <a:ea typeface="Lato" panose="020F0502020204030203" pitchFamily="34" charset="0"/>
                <a:cs typeface="Lato" panose="020F0502020204030203" pitchFamily="34" charset="0"/>
              </a:rPr>
              <a:t> </a:t>
            </a:r>
            <a:r>
              <a:rPr lang="en-US" sz="2300" dirty="0" err="1">
                <a:latin typeface="Lato" panose="020F0502020204030203" pitchFamily="34" charset="0"/>
                <a:ea typeface="Lato" panose="020F0502020204030203" pitchFamily="34" charset="0"/>
                <a:cs typeface="Lato" panose="020F0502020204030203" pitchFamily="34" charset="0"/>
              </a:rPr>
              <a:t>giải</a:t>
            </a:r>
            <a:r>
              <a:rPr lang="en-US" sz="2300" dirty="0">
                <a:latin typeface="Lato" panose="020F0502020204030203" pitchFamily="34" charset="0"/>
                <a:ea typeface="Lato" panose="020F0502020204030203" pitchFamily="34" charset="0"/>
                <a:cs typeface="Lato" panose="020F0502020204030203" pitchFamily="34" charset="0"/>
              </a:rPr>
              <a:t> </a:t>
            </a:r>
            <a:r>
              <a:rPr lang="en-US" sz="2300" dirty="0" err="1">
                <a:latin typeface="Lato" panose="020F0502020204030203" pitchFamily="34" charset="0"/>
                <a:ea typeface="Lato" panose="020F0502020204030203" pitchFamily="34" charset="0"/>
                <a:cs typeface="Lato" panose="020F0502020204030203" pitchFamily="34" charset="0"/>
              </a:rPr>
              <a:t>thuật</a:t>
            </a:r>
            <a:r>
              <a:rPr lang="en-US" sz="2300" dirty="0">
                <a:latin typeface="Lato" panose="020F0502020204030203" pitchFamily="34" charset="0"/>
                <a:ea typeface="Lato" panose="020F0502020204030203" pitchFamily="34" charset="0"/>
                <a:cs typeface="Lato" panose="020F0502020204030203" pitchFamily="34" charset="0"/>
              </a:rPr>
              <a:t>:</a:t>
            </a:r>
          </a:p>
          <a:p>
            <a:pPr marL="971550" lvl="2" indent="-171450" defTabSz="685800">
              <a:lnSpc>
                <a:spcPct val="90000"/>
              </a:lnSpc>
              <a:spcBef>
                <a:spcPts val="375"/>
              </a:spcBef>
              <a:buFont typeface="Arial" panose="020B0604020202020204" pitchFamily="34" charset="0"/>
              <a:buChar char="•"/>
            </a:pPr>
            <a:r>
              <a:rPr lang="en-US" sz="2000" dirty="0">
                <a:latin typeface="Lato" panose="020F0502020204030203" pitchFamily="34" charset="0"/>
                <a:ea typeface="Lato" panose="020F0502020204030203" pitchFamily="34" charset="0"/>
                <a:cs typeface="Lato" panose="020F0502020204030203" pitchFamily="34" charset="0"/>
              </a:rPr>
              <a:t>T</a:t>
            </a:r>
            <a:r>
              <a:rPr lang="vi-VN" sz="2000" dirty="0">
                <a:latin typeface="Lato" panose="020F0502020204030203" pitchFamily="34" charset="0"/>
                <a:ea typeface="Lato" panose="020F0502020204030203" pitchFamily="34" charset="0"/>
                <a:cs typeface="Lato" panose="020F0502020204030203" pitchFamily="34" charset="0"/>
              </a:rPr>
              <a:t>rường hợp xấu nhất, số thao tác so sánh kí tự của giải thuật chỉ là M+N</a:t>
            </a:r>
            <a:r>
              <a:rPr lang="en-US" sz="2000" dirty="0">
                <a:latin typeface="Lato" panose="020F0502020204030203" pitchFamily="34" charset="0"/>
                <a:ea typeface="Lato" panose="020F0502020204030203" pitchFamily="34" charset="0"/>
                <a:cs typeface="Lato" panose="020F0502020204030203" pitchFamily="34" charset="0"/>
              </a:rPr>
              <a:t> </a:t>
            </a:r>
            <a:r>
              <a:rPr lang="en-US" sz="2000" dirty="0" smtClean="0">
                <a:latin typeface="Lato" panose="020F0502020204030203" pitchFamily="34" charset="0"/>
                <a:ea typeface="Lato" panose="020F0502020204030203" pitchFamily="34" charset="0"/>
                <a:cs typeface="Lato" panose="020F0502020204030203" pitchFamily="34" charset="0"/>
              </a:rPr>
              <a:t>=&gt; </a:t>
            </a:r>
            <a:r>
              <a:rPr lang="en-US" sz="2000" dirty="0">
                <a:latin typeface="Lato" panose="020F0502020204030203" pitchFamily="34" charset="0"/>
                <a:ea typeface="Lato" panose="020F0502020204030203" pitchFamily="34" charset="0"/>
                <a:cs typeface="Lato" panose="020F0502020204030203" pitchFamily="34" charset="0"/>
              </a:rPr>
              <a:t>O(N)</a:t>
            </a:r>
          </a:p>
        </p:txBody>
      </p:sp>
    </p:spTree>
    <p:extLst>
      <p:ext uri="{BB962C8B-B14F-4D97-AF65-F5344CB8AC3E}">
        <p14:creationId xmlns:p14="http://schemas.microsoft.com/office/powerpoint/2010/main" val="264898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C24317B-5122-4A99-A6E9-FA23C146A7E0}" type="slidenum">
              <a:rPr lang="en-US" smtClean="0"/>
              <a:pPr/>
              <a:t>20</a:t>
            </a:fld>
            <a:endParaRPr lang="en-US"/>
          </a:p>
        </p:txBody>
      </p:sp>
      <p:sp>
        <p:nvSpPr>
          <p:cNvPr id="4" name="Title 3"/>
          <p:cNvSpPr>
            <a:spLocks noGrp="1"/>
          </p:cNvSpPr>
          <p:nvPr>
            <p:ph type="title"/>
          </p:nvPr>
        </p:nvSpPr>
        <p:spPr/>
        <p:txBody>
          <a:bodyPr>
            <a:normAutofit/>
          </a:bodyPr>
          <a:lstStyle/>
          <a:p>
            <a:r>
              <a:rPr lang="en-US" altLang="en-US" sz="2400" dirty="0" smtClean="0"/>
              <a:t>4. </a:t>
            </a:r>
            <a:r>
              <a:rPr lang="en-US" altLang="en-US" sz="2400" dirty="0" err="1" smtClean="0"/>
              <a:t>Các</a:t>
            </a:r>
            <a:r>
              <a:rPr lang="en-US" altLang="en-US" sz="2400" dirty="0" smtClean="0"/>
              <a:t> </a:t>
            </a:r>
            <a:r>
              <a:rPr lang="en-US" altLang="en-US" sz="2400" dirty="0" err="1"/>
              <a:t>giải</a:t>
            </a:r>
            <a:r>
              <a:rPr lang="en-US" altLang="en-US" sz="2400" dirty="0"/>
              <a:t> </a:t>
            </a:r>
            <a:r>
              <a:rPr lang="en-US" altLang="en-US" sz="2400" dirty="0" err="1"/>
              <a:t>thuật</a:t>
            </a:r>
            <a:r>
              <a:rPr lang="en-US" altLang="en-US" sz="2400" dirty="0"/>
              <a:t> </a:t>
            </a:r>
            <a:r>
              <a:rPr lang="en-US" altLang="en-US" sz="2400" dirty="0" err="1"/>
              <a:t>tìm</a:t>
            </a:r>
            <a:r>
              <a:rPr lang="en-US" altLang="en-US" sz="2400" dirty="0"/>
              <a:t> </a:t>
            </a:r>
            <a:r>
              <a:rPr lang="en-US" altLang="en-US" sz="2400" dirty="0" err="1"/>
              <a:t>kiếm</a:t>
            </a:r>
            <a:r>
              <a:rPr lang="en-US" altLang="en-US" sz="2400" dirty="0"/>
              <a:t> </a:t>
            </a:r>
            <a:r>
              <a:rPr lang="en-US" altLang="en-US" sz="2400" dirty="0" err="1"/>
              <a:t>trực</a:t>
            </a:r>
            <a:r>
              <a:rPr lang="en-US" altLang="en-US" sz="2400" dirty="0"/>
              <a:t> </a:t>
            </a:r>
            <a:r>
              <a:rPr lang="en-US" altLang="en-US" sz="2400" dirty="0" err="1" smtClean="0"/>
              <a:t>tiếp</a:t>
            </a:r>
            <a:endParaRPr lang="en-US" sz="2400" dirty="0"/>
          </a:p>
        </p:txBody>
      </p:sp>
      <mc:AlternateContent xmlns:mc="http://schemas.openxmlformats.org/markup-compatibility/2006" xmlns:a14="http://schemas.microsoft.com/office/drawing/2010/main">
        <mc:Choice Requires="a14">
          <p:sp>
            <p:nvSpPr>
              <p:cNvPr id="5" name="Text Placeholder 4"/>
              <p:cNvSpPr>
                <a:spLocks noGrp="1"/>
              </p:cNvSpPr>
              <p:nvPr>
                <p:ph type="body" sz="quarter" idx="13"/>
              </p:nvPr>
            </p:nvSpPr>
            <p:spPr/>
            <p:txBody>
              <a:bodyPr/>
              <a:lstStyle/>
              <a:p>
                <a:r>
                  <a:rPr lang="en-US" sz="2400" dirty="0" smtClean="0"/>
                  <a:t>Bài </a:t>
                </a:r>
                <a:r>
                  <a:rPr lang="en-US" sz="2400" dirty="0" err="1" smtClean="0"/>
                  <a:t>toán</a:t>
                </a:r>
                <a:r>
                  <a:rPr lang="en-US" sz="2400" dirty="0" smtClean="0"/>
                  <a:t>: </a:t>
                </a:r>
                <a:r>
                  <a:rPr lang="en-US" dirty="0" err="1" smtClean="0"/>
                  <a:t>Tìm</a:t>
                </a:r>
                <a:r>
                  <a:rPr lang="en-US" dirty="0" smtClean="0"/>
                  <a:t> </a:t>
                </a:r>
                <a:r>
                  <a:rPr lang="en-US" dirty="0" err="1"/>
                  <a:t>phần</a:t>
                </a:r>
                <a:r>
                  <a:rPr lang="en-US" dirty="0"/>
                  <a:t> </a:t>
                </a:r>
                <a:r>
                  <a:rPr lang="en-US" dirty="0" err="1"/>
                  <a:t>tử</a:t>
                </a:r>
                <a:r>
                  <a:rPr lang="en-US" dirty="0"/>
                  <a:t> </a:t>
                </a:r>
                <a:r>
                  <a:rPr lang="en-US" dirty="0" err="1"/>
                  <a:t>bằng</a:t>
                </a:r>
                <a:r>
                  <a:rPr lang="en-US" dirty="0"/>
                  <a:t> K </a:t>
                </a:r>
                <a:r>
                  <a:rPr lang="en-US" dirty="0" err="1"/>
                  <a:t>trong</a:t>
                </a:r>
                <a:r>
                  <a:rPr lang="en-US" dirty="0"/>
                  <a:t> </a:t>
                </a:r>
                <a:r>
                  <a:rPr lang="en-US" dirty="0" err="1"/>
                  <a:t>dãy</a:t>
                </a:r>
                <a:r>
                  <a:rPr lang="en-US" dirty="0"/>
                  <a:t> N </a:t>
                </a:r>
                <a:r>
                  <a:rPr lang="en-US" dirty="0" err="1" smtClean="0"/>
                  <a:t>số</a:t>
                </a:r>
                <a:r>
                  <a:rPr lang="en-US" dirty="0" smtClean="0"/>
                  <a:t>: </a:t>
                </a:r>
                <a:r>
                  <a:rPr lang="en-US" dirty="0"/>
                  <a:t>A = (a</a:t>
                </a:r>
                <a:r>
                  <a:rPr lang="en-US" baseline="-25000" dirty="0"/>
                  <a:t>0</a:t>
                </a:r>
                <a:r>
                  <a:rPr lang="en-US" dirty="0"/>
                  <a:t>, a</a:t>
                </a:r>
                <a:r>
                  <a:rPr lang="en-US" baseline="-25000" dirty="0"/>
                  <a:t>1</a:t>
                </a:r>
                <a:r>
                  <a:rPr lang="en-US" dirty="0"/>
                  <a:t>,…, a</a:t>
                </a:r>
                <a:r>
                  <a:rPr lang="en-US" baseline="-25000" dirty="0"/>
                  <a:t>N-1</a:t>
                </a:r>
                <a:r>
                  <a:rPr lang="en-US" dirty="0" smtClean="0"/>
                  <a:t>)</a:t>
                </a:r>
              </a:p>
              <a:p>
                <a:r>
                  <a:rPr lang="vi-VN" sz="2400" dirty="0"/>
                  <a:t>Nguyên tắc lưu trữ, tìm kiếm:</a:t>
                </a:r>
              </a:p>
              <a:p>
                <a:pPr lvl="1"/>
                <a:r>
                  <a:rPr lang="vi-VN" sz="2100" dirty="0"/>
                  <a:t>Không thông qua so sánh </a:t>
                </a:r>
              </a:p>
              <a:p>
                <a:pPr lvl="1"/>
                <a:r>
                  <a:rPr lang="vi-VN" sz="2100" dirty="0"/>
                  <a:t>Thông qua địa chỉ ô nhớ tính trực tiếp trên các giá trị </a:t>
                </a:r>
                <a:r>
                  <a:rPr lang="vi-VN" sz="2100" dirty="0" smtClean="0"/>
                  <a:t>khóa</a:t>
                </a:r>
                <a:r>
                  <a:rPr lang="en-US" sz="2100" dirty="0" smtClean="0"/>
                  <a:t> (</a:t>
                </a:r>
                <a:r>
                  <a:rPr lang="en-US" altLang="en-US" sz="2000" dirty="0" err="1">
                    <a:cs typeface="Times New Roman" panose="02020603050405020304" pitchFamily="18" charset="0"/>
                  </a:rPr>
                  <a:t>Tìm</a:t>
                </a:r>
                <a:r>
                  <a:rPr lang="en-US" altLang="en-US" sz="2000" dirty="0">
                    <a:cs typeface="Times New Roman" panose="02020603050405020304" pitchFamily="18" charset="0"/>
                  </a:rPr>
                  <a:t> </a:t>
                </a:r>
                <a:r>
                  <a:rPr lang="en-US" altLang="en-US" sz="2000" dirty="0" err="1">
                    <a:cs typeface="Times New Roman" panose="02020603050405020304" pitchFamily="18" charset="0"/>
                  </a:rPr>
                  <a:t>kiếm</a:t>
                </a:r>
                <a:r>
                  <a:rPr lang="en-US" altLang="en-US" sz="2000" dirty="0">
                    <a:cs typeface="Times New Roman" panose="02020603050405020304" pitchFamily="18" charset="0"/>
                  </a:rPr>
                  <a:t> </a:t>
                </a:r>
                <a:r>
                  <a:rPr lang="en-US" altLang="en-US" sz="2000" dirty="0" err="1">
                    <a:cs typeface="Times New Roman" panose="02020603050405020304" pitchFamily="18" charset="0"/>
                  </a:rPr>
                  <a:t>dựa</a:t>
                </a:r>
                <a:r>
                  <a:rPr lang="en-US" altLang="en-US" sz="2000" dirty="0">
                    <a:cs typeface="Times New Roman" panose="02020603050405020304" pitchFamily="18" charset="0"/>
                  </a:rPr>
                  <a:t> </a:t>
                </a:r>
                <a:r>
                  <a:rPr lang="en-US" altLang="en-US" sz="2000" dirty="0" err="1" smtClean="0">
                    <a:cs typeface="Times New Roman" panose="02020603050405020304" pitchFamily="18" charset="0"/>
                  </a:rPr>
                  <a:t>vào</a:t>
                </a:r>
                <a:r>
                  <a:rPr lang="en-US" altLang="en-US" sz="2000" dirty="0" smtClean="0">
                    <a:cs typeface="Times New Roman" panose="02020603050405020304" pitchFamily="18" charset="0"/>
                  </a:rPr>
                  <a:t>/</a:t>
                </a:r>
                <a:r>
                  <a:rPr lang="en-US" altLang="en-US" sz="2000" dirty="0" err="1" smtClean="0">
                    <a:cs typeface="Times New Roman" panose="02020603050405020304" pitchFamily="18" charset="0"/>
                  </a:rPr>
                  <a:t>từ</a:t>
                </a:r>
                <a:r>
                  <a:rPr lang="en-US" altLang="en-US" sz="2000" dirty="0" smtClean="0">
                    <a:cs typeface="Times New Roman" panose="02020603050405020304" pitchFamily="18" charset="0"/>
                  </a:rPr>
                  <a:t> </a:t>
                </a:r>
                <a:r>
                  <a:rPr lang="en-US" altLang="en-US" sz="2000" dirty="0" err="1">
                    <a:cs typeface="Times New Roman" panose="02020603050405020304" pitchFamily="18" charset="0"/>
                  </a:rPr>
                  <a:t>giá</a:t>
                </a:r>
                <a:r>
                  <a:rPr lang="en-US" altLang="en-US" sz="2000" dirty="0">
                    <a:cs typeface="Times New Roman" panose="02020603050405020304" pitchFamily="18" charset="0"/>
                  </a:rPr>
                  <a:t> </a:t>
                </a:r>
                <a:r>
                  <a:rPr lang="en-US" altLang="en-US" sz="2000" dirty="0" err="1">
                    <a:cs typeface="Times New Roman" panose="02020603050405020304" pitchFamily="18" charset="0"/>
                  </a:rPr>
                  <a:t>trị</a:t>
                </a:r>
                <a:r>
                  <a:rPr lang="en-US" altLang="en-US" sz="2000" dirty="0">
                    <a:cs typeface="Times New Roman" panose="02020603050405020304" pitchFamily="18" charset="0"/>
                  </a:rPr>
                  <a:t> </a:t>
                </a:r>
                <a:r>
                  <a:rPr lang="en-US" altLang="en-US" sz="2000" dirty="0" err="1" smtClean="0">
                    <a:cs typeface="Times New Roman" panose="02020603050405020304" pitchFamily="18" charset="0"/>
                  </a:rPr>
                  <a:t>khóa</a:t>
                </a:r>
                <a:r>
                  <a:rPr lang="en-US" altLang="en-US" sz="2000" dirty="0" smtClean="0">
                    <a:cs typeface="Times New Roman" panose="02020603050405020304" pitchFamily="18" charset="0"/>
                  </a:rPr>
                  <a:t>)</a:t>
                </a:r>
              </a:p>
              <a:p>
                <a:pPr lvl="1"/>
                <a:endParaRPr lang="en-US" sz="2100" dirty="0" smtClean="0"/>
              </a:p>
              <a:p>
                <a:r>
                  <a:rPr lang="en-US" sz="2400" dirty="0" err="1" smtClean="0"/>
                  <a:t>Hàm</a:t>
                </a:r>
                <a:r>
                  <a:rPr lang="en-US" sz="2400" dirty="0"/>
                  <a:t> </a:t>
                </a:r>
                <a:r>
                  <a:rPr lang="en-US" sz="2400" dirty="0" err="1"/>
                  <a:t>băm</a:t>
                </a:r>
                <a:r>
                  <a:rPr lang="en-US" sz="2400" dirty="0"/>
                  <a:t> (hash function): </a:t>
                </a:r>
                <a:r>
                  <a:rPr lang="vi-VN" sz="2400" dirty="0" smtClean="0"/>
                  <a:t>công </a:t>
                </a:r>
                <a:r>
                  <a:rPr lang="vi-VN" sz="2400" dirty="0"/>
                  <a:t>thức </a:t>
                </a:r>
                <a:r>
                  <a:rPr lang="vi-VN" sz="2400" dirty="0" smtClean="0"/>
                  <a:t>tính trực </a:t>
                </a:r>
                <a:r>
                  <a:rPr lang="vi-VN" sz="2400" dirty="0"/>
                  <a:t>tiếp </a:t>
                </a:r>
                <a:r>
                  <a:rPr lang="vi-VN" sz="2400" dirty="0" smtClean="0"/>
                  <a:t>vị</a:t>
                </a:r>
                <a:r>
                  <a:rPr lang="en-US" sz="2400" dirty="0" smtClean="0"/>
                  <a:t> </a:t>
                </a:r>
                <a:r>
                  <a:rPr lang="vi-VN" sz="2400" dirty="0" smtClean="0"/>
                  <a:t>trí </a:t>
                </a:r>
                <a:r>
                  <a:rPr lang="vi-VN" sz="2400" dirty="0"/>
                  <a:t>của phần tử cần tìm </a:t>
                </a:r>
                <a:r>
                  <a:rPr lang="vi-VN" sz="2400" dirty="0" smtClean="0"/>
                  <a:t>thông </a:t>
                </a:r>
                <a:r>
                  <a:rPr lang="vi-VN" sz="2400" dirty="0"/>
                  <a:t>qua giá trị của </a:t>
                </a:r>
                <a:r>
                  <a:rPr lang="vi-VN" sz="2400" dirty="0" smtClean="0"/>
                  <a:t>nó</a:t>
                </a:r>
                <a:endParaRPr lang="en-US" sz="2400" dirty="0" smtClean="0"/>
              </a:p>
              <a:p>
                <a:pPr lvl="1"/>
                <a:r>
                  <a:rPr lang="en-US" sz="2100" dirty="0"/>
                  <a:t>y = h(k): k → y</a:t>
                </a:r>
                <a:endParaRPr lang="en-US" sz="2100" dirty="0" smtClean="0">
                  <a:sym typeface="Wingdings" panose="05000000000000000000" pitchFamily="2" charset="2"/>
                </a:endParaRPr>
              </a:p>
              <a:p>
                <a:pPr lvl="1"/>
                <a:r>
                  <a:rPr lang="en-US" sz="2100" dirty="0" smtClean="0"/>
                  <a:t>k </a:t>
                </a:r>
                <a14:m>
                  <m:oMath xmlns:m="http://schemas.openxmlformats.org/officeDocument/2006/math">
                    <m:r>
                      <a:rPr lang="en-US" sz="2100" i="1" smtClean="0">
                        <a:latin typeface="Cambria Math" panose="02040503050406030204" pitchFamily="18" charset="0"/>
                        <a:ea typeface="Cambria Math" panose="02040503050406030204" pitchFamily="18" charset="0"/>
                      </a:rPr>
                      <m:t>∈</m:t>
                    </m:r>
                  </m:oMath>
                </a14:m>
                <a:r>
                  <a:rPr lang="en-US" sz="2100" dirty="0" smtClean="0"/>
                  <a:t> D: </a:t>
                </a:r>
                <a:r>
                  <a:rPr lang="en-US" sz="2100" dirty="0" err="1" smtClean="0"/>
                  <a:t>miền</a:t>
                </a:r>
                <a:r>
                  <a:rPr lang="en-US" sz="2100" dirty="0" smtClean="0"/>
                  <a:t> </a:t>
                </a:r>
                <a:r>
                  <a:rPr lang="en-US" sz="2100" dirty="0" err="1"/>
                  <a:t>giá</a:t>
                </a:r>
                <a:r>
                  <a:rPr lang="en-US" sz="2100" dirty="0"/>
                  <a:t> </a:t>
                </a:r>
                <a:r>
                  <a:rPr lang="en-US" sz="2100" dirty="0" err="1"/>
                  <a:t>trị</a:t>
                </a:r>
                <a:r>
                  <a:rPr lang="en-US" sz="2100" dirty="0"/>
                  <a:t> </a:t>
                </a:r>
                <a:r>
                  <a:rPr lang="en-US" sz="2100" dirty="0" err="1" smtClean="0"/>
                  <a:t>khóa</a:t>
                </a:r>
                <a:r>
                  <a:rPr lang="en-US" sz="2100" dirty="0" smtClean="0"/>
                  <a:t> </a:t>
                </a:r>
                <a:r>
                  <a:rPr lang="en-US" sz="2100" dirty="0" err="1" smtClean="0"/>
                  <a:t>của</a:t>
                </a:r>
                <a:r>
                  <a:rPr lang="en-US" sz="2100" dirty="0" smtClean="0"/>
                  <a:t> </a:t>
                </a:r>
                <a:r>
                  <a:rPr lang="en-US" sz="2100" dirty="0" err="1" smtClean="0"/>
                  <a:t>các</a:t>
                </a:r>
                <a:r>
                  <a:rPr lang="en-US" sz="2100" dirty="0" smtClean="0"/>
                  <a:t> </a:t>
                </a:r>
                <a:r>
                  <a:rPr lang="en-US" sz="2100" dirty="0" err="1" smtClean="0"/>
                  <a:t>phần</a:t>
                </a:r>
                <a:r>
                  <a:rPr lang="en-US" sz="2100" dirty="0" smtClean="0"/>
                  <a:t> </a:t>
                </a:r>
                <a:r>
                  <a:rPr lang="en-US" sz="2100" dirty="0" err="1" smtClean="0"/>
                  <a:t>tử</a:t>
                </a:r>
                <a:endParaRPr lang="en-US" sz="2100" dirty="0" smtClean="0"/>
              </a:p>
              <a:p>
                <a:pPr lvl="1"/>
                <a:r>
                  <a:rPr lang="en-US" sz="2100" dirty="0" smtClean="0"/>
                  <a:t>y </a:t>
                </a:r>
                <a14:m>
                  <m:oMath xmlns:m="http://schemas.openxmlformats.org/officeDocument/2006/math">
                    <m:r>
                      <a:rPr lang="en-US" sz="2100" i="1">
                        <a:latin typeface="Cambria Math" panose="02040503050406030204" pitchFamily="18" charset="0"/>
                        <a:ea typeface="Cambria Math" panose="02040503050406030204" pitchFamily="18" charset="0"/>
                      </a:rPr>
                      <m:t>∈ </m:t>
                    </m:r>
                  </m:oMath>
                </a14:m>
                <a:r>
                  <a:rPr lang="en-US" sz="2100" dirty="0" smtClean="0"/>
                  <a:t>P: </a:t>
                </a:r>
                <a:r>
                  <a:rPr lang="en-US" sz="2100" dirty="0" err="1"/>
                  <a:t>miền</a:t>
                </a:r>
                <a:r>
                  <a:rPr lang="en-US" sz="2100" dirty="0"/>
                  <a:t> </a:t>
                </a:r>
                <a:r>
                  <a:rPr lang="en-US" sz="2100" dirty="0" err="1"/>
                  <a:t>giá</a:t>
                </a:r>
                <a:r>
                  <a:rPr lang="en-US" sz="2100" dirty="0"/>
                  <a:t> </a:t>
                </a:r>
                <a:r>
                  <a:rPr lang="en-US" sz="2100" dirty="0" err="1"/>
                  <a:t>trị</a:t>
                </a:r>
                <a:r>
                  <a:rPr lang="en-US" sz="2100" dirty="0"/>
                  <a:t> </a:t>
                </a:r>
                <a:r>
                  <a:rPr lang="en-US" sz="2100" dirty="0" err="1"/>
                  <a:t>của</a:t>
                </a:r>
                <a:r>
                  <a:rPr lang="en-US" sz="2100" dirty="0"/>
                  <a:t> </a:t>
                </a:r>
                <a:r>
                  <a:rPr lang="en-US" sz="2100" dirty="0" err="1"/>
                  <a:t>các</a:t>
                </a:r>
                <a:r>
                  <a:rPr lang="en-US" sz="2100" dirty="0"/>
                  <a:t> </a:t>
                </a:r>
                <a:r>
                  <a:rPr lang="en-US" sz="2100" dirty="0" err="1"/>
                  <a:t>địa</a:t>
                </a:r>
                <a:r>
                  <a:rPr lang="en-US" sz="2100" dirty="0"/>
                  <a:t> </a:t>
                </a:r>
                <a:r>
                  <a:rPr lang="en-US" sz="2100" dirty="0" err="1" smtClean="0"/>
                  <a:t>chỉ</a:t>
                </a:r>
                <a:r>
                  <a:rPr lang="en-US" sz="2100" dirty="0" smtClean="0"/>
                  <a:t> </a:t>
                </a:r>
                <a:r>
                  <a:rPr lang="en-US" sz="2100" dirty="0" err="1" smtClean="0"/>
                  <a:t>của</a:t>
                </a:r>
                <a:r>
                  <a:rPr lang="en-US" sz="2100" dirty="0" smtClean="0"/>
                  <a:t> </a:t>
                </a:r>
                <a:r>
                  <a:rPr lang="en-US" sz="2100" dirty="0" err="1"/>
                  <a:t>các</a:t>
                </a:r>
                <a:r>
                  <a:rPr lang="en-US" sz="2100" dirty="0"/>
                  <a:t> </a:t>
                </a:r>
                <a:r>
                  <a:rPr lang="en-US" sz="2100" dirty="0" err="1"/>
                  <a:t>phần</a:t>
                </a:r>
                <a:r>
                  <a:rPr lang="en-US" sz="2100" dirty="0"/>
                  <a:t> </a:t>
                </a:r>
                <a:r>
                  <a:rPr lang="en-US" sz="2100" dirty="0" err="1" smtClean="0"/>
                  <a:t>tử</a:t>
                </a:r>
                <a:endParaRPr lang="en-US" sz="2100" dirty="0" smtClean="0"/>
              </a:p>
              <a:p>
                <a:endParaRPr lang="en-US" sz="2400" dirty="0" smtClean="0"/>
              </a:p>
              <a:p>
                <a:r>
                  <a:rPr lang="en-US" sz="2400" dirty="0" err="1" smtClean="0"/>
                  <a:t>Bài</a:t>
                </a:r>
                <a:r>
                  <a:rPr lang="en-US" sz="2400" dirty="0" smtClean="0"/>
                  <a:t> </a:t>
                </a:r>
                <a:r>
                  <a:rPr lang="en-US" sz="2400" dirty="0" err="1" smtClean="0"/>
                  <a:t>toán</a:t>
                </a:r>
                <a:r>
                  <a:rPr lang="en-US" sz="2400" dirty="0" smtClean="0"/>
                  <a:t> </a:t>
                </a:r>
                <a:r>
                  <a:rPr lang="en-US" sz="2400" dirty="0" err="1" smtClean="0"/>
                  <a:t>tìm</a:t>
                </a:r>
                <a:r>
                  <a:rPr lang="en-US" sz="2400" dirty="0" smtClean="0"/>
                  <a:t> </a:t>
                </a:r>
                <a:r>
                  <a:rPr lang="en-US" sz="2400" dirty="0" err="1" smtClean="0"/>
                  <a:t>kiếm</a:t>
                </a:r>
                <a:r>
                  <a:rPr lang="en-US" sz="2400" dirty="0" smtClean="0"/>
                  <a:t> </a:t>
                </a:r>
                <a:r>
                  <a:rPr lang="en-US" sz="2400" dirty="0" smtClean="0">
                    <a:sym typeface="Symbol" panose="05050102010706020507" pitchFamily="18" charset="2"/>
                  </a:rPr>
                  <a:t> </a:t>
                </a:r>
                <a:r>
                  <a:rPr lang="en-US" sz="2400" dirty="0" err="1" smtClean="0">
                    <a:sym typeface="Wingdings" panose="05000000000000000000" pitchFamily="2" charset="2"/>
                  </a:rPr>
                  <a:t>Tính</a:t>
                </a:r>
                <a:r>
                  <a:rPr lang="en-US" sz="2400" dirty="0" smtClean="0">
                    <a:sym typeface="Wingdings" panose="05000000000000000000" pitchFamily="2" charset="2"/>
                  </a:rPr>
                  <a:t> h(K)</a:t>
                </a:r>
                <a:endParaRPr lang="en-US" sz="2400" dirty="0" smtClean="0"/>
              </a:p>
              <a:p>
                <a:endParaRPr lang="en-US" dirty="0"/>
              </a:p>
            </p:txBody>
          </p:sp>
        </mc:Choice>
        <mc:Fallback xmlns="">
          <p:sp>
            <p:nvSpPr>
              <p:cNvPr id="5" name="Text Placeholder 4"/>
              <p:cNvSpPr>
                <a:spLocks noGrp="1" noRot="1" noChangeAspect="1" noMove="1" noResize="1" noEditPoints="1" noAdjustHandles="1" noChangeArrowheads="1" noChangeShapeType="1" noTextEdit="1"/>
              </p:cNvSpPr>
              <p:nvPr>
                <p:ph type="body" sz="quarter" idx="13"/>
              </p:nvPr>
            </p:nvSpPr>
            <p:spPr>
              <a:blipFill>
                <a:blip r:embed="rId3"/>
                <a:stretch>
                  <a:fillRect l="-985" t="-1544"/>
                </a:stretch>
              </a:blipFill>
            </p:spPr>
            <p:txBody>
              <a:bodyPr/>
              <a:lstStyle/>
              <a:p>
                <a:r>
                  <a:rPr lang="en-US">
                    <a:noFill/>
                  </a:rPr>
                  <a:t> </a:t>
                </a:r>
              </a:p>
            </p:txBody>
          </p:sp>
        </mc:Fallback>
      </mc:AlternateContent>
    </p:spTree>
    <p:extLst>
      <p:ext uri="{BB962C8B-B14F-4D97-AF65-F5344CB8AC3E}">
        <p14:creationId xmlns:p14="http://schemas.microsoft.com/office/powerpoint/2010/main" val="746705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C3E9395-A63D-4A9A-A8B1-E32C35BE450E}"/>
              </a:ext>
            </a:extLst>
          </p:cNvPr>
          <p:cNvSpPr>
            <a:spLocks noGrp="1"/>
          </p:cNvSpPr>
          <p:nvPr>
            <p:ph type="sldNum" sz="quarter" idx="12"/>
          </p:nvPr>
        </p:nvSpPr>
        <p:spPr/>
        <p:txBody>
          <a:bodyPr/>
          <a:lstStyle/>
          <a:p>
            <a:fld id="{166CD369-894E-430B-9D67-EC4CA6258711}" type="slidenum">
              <a:rPr lang="en-US" altLang="en-US"/>
              <a:pPr/>
              <a:t>21</a:t>
            </a:fld>
            <a:endParaRPr lang="en-US" altLang="en-US"/>
          </a:p>
        </p:txBody>
      </p:sp>
      <p:sp>
        <p:nvSpPr>
          <p:cNvPr id="173058" name="Rectangle 2">
            <a:extLst>
              <a:ext uri="{FF2B5EF4-FFF2-40B4-BE49-F238E27FC236}">
                <a16:creationId xmlns:a16="http://schemas.microsoft.com/office/drawing/2014/main" id="{81A44250-52A4-4F8A-9359-2749C7C8789A}"/>
              </a:ext>
            </a:extLst>
          </p:cNvPr>
          <p:cNvSpPr>
            <a:spLocks noGrp="1" noChangeArrowheads="1"/>
          </p:cNvSpPr>
          <p:nvPr>
            <p:ph type="title"/>
          </p:nvPr>
        </p:nvSpPr>
        <p:spPr/>
        <p:txBody>
          <a:bodyPr>
            <a:normAutofit/>
          </a:bodyPr>
          <a:lstStyle/>
          <a:p>
            <a:r>
              <a:rPr lang="en-US" altLang="en-US" sz="2400" dirty="0"/>
              <a:t>3. </a:t>
            </a:r>
            <a:r>
              <a:rPr lang="en-US" altLang="en-US" sz="2400" dirty="0" err="1"/>
              <a:t>Các</a:t>
            </a:r>
            <a:r>
              <a:rPr lang="en-US" altLang="en-US" sz="2400" dirty="0"/>
              <a:t> </a:t>
            </a:r>
            <a:r>
              <a:rPr lang="en-US" altLang="en-US" sz="2400" dirty="0" err="1"/>
              <a:t>giải</a:t>
            </a:r>
            <a:r>
              <a:rPr lang="en-US" altLang="en-US" sz="2400" dirty="0"/>
              <a:t> </a:t>
            </a:r>
            <a:r>
              <a:rPr lang="en-US" altLang="en-US" sz="2400" dirty="0" err="1"/>
              <a:t>thuật</a:t>
            </a:r>
            <a:r>
              <a:rPr lang="en-US" altLang="en-US" sz="2400" dirty="0"/>
              <a:t> </a:t>
            </a:r>
            <a:r>
              <a:rPr lang="en-US" altLang="en-US" sz="2400" dirty="0" err="1"/>
              <a:t>tìm</a:t>
            </a:r>
            <a:r>
              <a:rPr lang="en-US" altLang="en-US" sz="2400" dirty="0"/>
              <a:t> </a:t>
            </a:r>
            <a:r>
              <a:rPr lang="en-US" altLang="en-US" sz="2400" dirty="0" err="1"/>
              <a:t>kiếm</a:t>
            </a:r>
            <a:r>
              <a:rPr lang="en-US" altLang="en-US" sz="2400" dirty="0"/>
              <a:t> </a:t>
            </a:r>
            <a:r>
              <a:rPr lang="en-US" altLang="en-US" sz="2400" dirty="0" err="1"/>
              <a:t>trực</a:t>
            </a:r>
            <a:r>
              <a:rPr lang="en-US" altLang="en-US" sz="2400" dirty="0"/>
              <a:t> </a:t>
            </a:r>
            <a:r>
              <a:rPr lang="en-US" altLang="en-US" sz="2400" dirty="0" err="1"/>
              <a:t>tiếp</a:t>
            </a:r>
            <a:endParaRPr lang="en-US" altLang="en-US" sz="2400" dirty="0"/>
          </a:p>
        </p:txBody>
      </p:sp>
      <p:sp>
        <p:nvSpPr>
          <p:cNvPr id="173059" name="Rectangle 3">
            <a:extLst>
              <a:ext uri="{FF2B5EF4-FFF2-40B4-BE49-F238E27FC236}">
                <a16:creationId xmlns:a16="http://schemas.microsoft.com/office/drawing/2014/main" id="{A2EA8454-22A3-449C-89D0-D69CC9ACCBDD}"/>
              </a:ext>
            </a:extLst>
          </p:cNvPr>
          <p:cNvSpPr>
            <a:spLocks noGrp="1" noChangeArrowheads="1"/>
          </p:cNvSpPr>
          <p:nvPr>
            <p:ph type="body" sz="quarter" idx="13"/>
          </p:nvPr>
        </p:nvSpPr>
        <p:spPr>
          <a:xfrm>
            <a:off x="381000" y="1146358"/>
            <a:ext cx="8674100" cy="5132832"/>
          </a:xfrm>
          <a:noFill/>
          <a:ln/>
        </p:spPr>
        <p:txBody>
          <a:bodyPr>
            <a:normAutofit/>
          </a:bodyPr>
          <a:lstStyle/>
          <a:p>
            <a:r>
              <a:rPr lang="en-US" altLang="en-US" sz="2000" dirty="0" err="1"/>
              <a:t>Lưu</a:t>
            </a:r>
            <a:r>
              <a:rPr lang="en-US" altLang="en-US" sz="2000" dirty="0"/>
              <a:t> </a:t>
            </a:r>
            <a:r>
              <a:rPr lang="en-US" altLang="en-US" sz="2000" dirty="0" err="1"/>
              <a:t>trữ</a:t>
            </a:r>
            <a:r>
              <a:rPr lang="en-US" altLang="en-US" sz="2000" dirty="0" smtClean="0"/>
              <a:t>:</a:t>
            </a:r>
          </a:p>
          <a:p>
            <a:pPr lvl="1"/>
            <a:r>
              <a:rPr lang="en-US" altLang="en-US" dirty="0" smtClean="0"/>
              <a:t>Cho </a:t>
            </a:r>
            <a:r>
              <a:rPr lang="en-US" altLang="en-US" i="1" dirty="0" smtClean="0"/>
              <a:t>k </a:t>
            </a:r>
            <a:r>
              <a:rPr lang="en-US" altLang="en-US" dirty="0" smtClean="0">
                <a:sym typeface="Wingdings" panose="05000000000000000000" pitchFamily="2" charset="2"/>
              </a:rPr>
              <a:t></a:t>
            </a:r>
            <a:r>
              <a:rPr lang="en-US" altLang="en-US" dirty="0" smtClean="0"/>
              <a:t> </a:t>
            </a:r>
            <a:r>
              <a:rPr lang="en-US" altLang="en-US" dirty="0" err="1"/>
              <a:t>tính</a:t>
            </a:r>
            <a:r>
              <a:rPr lang="en-US" altLang="en-US" dirty="0"/>
              <a:t> </a:t>
            </a:r>
            <a:r>
              <a:rPr lang="en-US" altLang="en-US" i="1" dirty="0"/>
              <a:t>h(k</a:t>
            </a:r>
            <a:r>
              <a:rPr lang="en-US" altLang="en-US" i="1" dirty="0" smtClean="0"/>
              <a:t>) </a:t>
            </a:r>
            <a:r>
              <a:rPr lang="en-US" altLang="en-US" dirty="0">
                <a:sym typeface="Wingdings" panose="05000000000000000000" pitchFamily="2" charset="2"/>
              </a:rPr>
              <a:t></a:t>
            </a:r>
            <a:r>
              <a:rPr lang="en-US" altLang="en-US" dirty="0" smtClean="0"/>
              <a:t> </a:t>
            </a:r>
            <a:r>
              <a:rPr lang="en-US" altLang="en-US" dirty="0" err="1" smtClean="0"/>
              <a:t>lưu</a:t>
            </a:r>
            <a:r>
              <a:rPr lang="en-US" altLang="en-US" dirty="0" smtClean="0"/>
              <a:t> </a:t>
            </a:r>
            <a:r>
              <a:rPr lang="en-US" altLang="en-US" dirty="0" err="1" smtClean="0"/>
              <a:t>giá</a:t>
            </a:r>
            <a:r>
              <a:rPr lang="en-US" altLang="en-US" dirty="0" smtClean="0"/>
              <a:t> </a:t>
            </a:r>
            <a:r>
              <a:rPr lang="en-US" altLang="en-US" dirty="0" err="1" smtClean="0"/>
              <a:t>trị</a:t>
            </a:r>
            <a:r>
              <a:rPr lang="en-US" altLang="en-US" dirty="0" smtClean="0"/>
              <a:t> </a:t>
            </a:r>
            <a:r>
              <a:rPr lang="en-US" altLang="en-US" dirty="0" err="1" smtClean="0"/>
              <a:t>khóa</a:t>
            </a:r>
            <a:r>
              <a:rPr lang="en-US" altLang="en-US" dirty="0" smtClean="0"/>
              <a:t> </a:t>
            </a:r>
            <a:r>
              <a:rPr lang="en-US" altLang="en-US" i="1" dirty="0" smtClean="0"/>
              <a:t>k</a:t>
            </a:r>
            <a:r>
              <a:rPr lang="en-US" altLang="en-US" dirty="0" smtClean="0"/>
              <a:t> </a:t>
            </a:r>
            <a:r>
              <a:rPr lang="en-US" altLang="en-US" dirty="0" err="1" smtClean="0"/>
              <a:t>và</a:t>
            </a:r>
            <a:r>
              <a:rPr lang="en-US" altLang="en-US" dirty="0" smtClean="0"/>
              <a:t> </a:t>
            </a:r>
            <a:r>
              <a:rPr lang="en-US" altLang="en-US" dirty="0" err="1" smtClean="0"/>
              <a:t>bản</a:t>
            </a:r>
            <a:r>
              <a:rPr lang="en-US" altLang="en-US" dirty="0" smtClean="0"/>
              <a:t> </a:t>
            </a:r>
            <a:r>
              <a:rPr lang="en-US" altLang="en-US" dirty="0" err="1" smtClean="0"/>
              <a:t>ghi</a:t>
            </a:r>
            <a:r>
              <a:rPr lang="en-US" altLang="en-US" dirty="0" smtClean="0"/>
              <a:t> </a:t>
            </a:r>
            <a:r>
              <a:rPr lang="en-US" altLang="en-US" dirty="0" err="1" smtClean="0"/>
              <a:t>tương</a:t>
            </a:r>
            <a:r>
              <a:rPr lang="en-US" altLang="en-US" dirty="0" smtClean="0"/>
              <a:t> </a:t>
            </a:r>
            <a:r>
              <a:rPr lang="en-US" altLang="en-US" dirty="0" err="1" smtClean="0"/>
              <a:t>ứng</a:t>
            </a:r>
            <a:r>
              <a:rPr lang="en-US" altLang="en-US" dirty="0" smtClean="0"/>
              <a:t> </a:t>
            </a:r>
            <a:r>
              <a:rPr lang="en-US" altLang="en-US" dirty="0" err="1" smtClean="0"/>
              <a:t>vào</a:t>
            </a:r>
            <a:r>
              <a:rPr lang="en-US" altLang="en-US" dirty="0" smtClean="0"/>
              <a:t> ô </a:t>
            </a:r>
            <a:r>
              <a:rPr lang="en-US" altLang="en-US" dirty="0" err="1"/>
              <a:t>nhớ</a:t>
            </a:r>
            <a:r>
              <a:rPr lang="en-US" altLang="en-US" dirty="0"/>
              <a:t> </a:t>
            </a:r>
            <a:r>
              <a:rPr lang="en-US" altLang="en-US" dirty="0" err="1"/>
              <a:t>địa</a:t>
            </a:r>
            <a:r>
              <a:rPr lang="en-US" altLang="en-US" dirty="0"/>
              <a:t> </a:t>
            </a:r>
            <a:r>
              <a:rPr lang="en-US" altLang="en-US" dirty="0" err="1"/>
              <a:t>chỉ</a:t>
            </a:r>
            <a:r>
              <a:rPr lang="en-US" altLang="en-US" dirty="0"/>
              <a:t> </a:t>
            </a:r>
            <a:r>
              <a:rPr lang="en-US" altLang="en-US" i="1" dirty="0"/>
              <a:t>A</a:t>
            </a:r>
            <a:r>
              <a:rPr lang="en-US" altLang="en-US" i="1" baseline="-25000" dirty="0"/>
              <a:t>0 </a:t>
            </a:r>
            <a:r>
              <a:rPr lang="en-US" altLang="en-US" i="1" dirty="0"/>
              <a:t>+ h(k) </a:t>
            </a:r>
            <a:endParaRPr lang="en-US" altLang="en-US" i="1" dirty="0" smtClean="0"/>
          </a:p>
          <a:p>
            <a:pPr lvl="1"/>
            <a:r>
              <a:rPr lang="en-US" altLang="en-US" dirty="0" err="1"/>
              <a:t>Địa</a:t>
            </a:r>
            <a:r>
              <a:rPr lang="en-US" altLang="en-US" dirty="0"/>
              <a:t> </a:t>
            </a:r>
            <a:r>
              <a:rPr lang="en-US" altLang="en-US" dirty="0" err="1"/>
              <a:t>chỉ</a:t>
            </a:r>
            <a:r>
              <a:rPr lang="en-US" altLang="en-US" dirty="0"/>
              <a:t> </a:t>
            </a:r>
            <a:r>
              <a:rPr lang="en-US" altLang="en-US" dirty="0" err="1"/>
              <a:t>thực</a:t>
            </a:r>
            <a:r>
              <a:rPr lang="en-US" altLang="en-US" dirty="0">
                <a:cs typeface="Times New Roman" panose="02020603050405020304" pitchFamily="18" charset="0"/>
              </a:rPr>
              <a:t> = A</a:t>
            </a:r>
            <a:r>
              <a:rPr lang="en-US" altLang="en-US" baseline="-25000" dirty="0">
                <a:cs typeface="Times New Roman" panose="02020603050405020304" pitchFamily="18" charset="0"/>
              </a:rPr>
              <a:t>0</a:t>
            </a:r>
            <a:r>
              <a:rPr lang="en-US" altLang="en-US" dirty="0">
                <a:cs typeface="Times New Roman" panose="02020603050405020304" pitchFamily="18" charset="0"/>
              </a:rPr>
              <a:t> + </a:t>
            </a:r>
            <a:r>
              <a:rPr lang="en-US" altLang="en-US" i="1" dirty="0"/>
              <a:t>h(k) </a:t>
            </a:r>
            <a:r>
              <a:rPr lang="en-US" altLang="en-US" dirty="0" smtClean="0"/>
              <a:t>(</a:t>
            </a:r>
            <a:r>
              <a:rPr lang="en-US" altLang="en-US" dirty="0" err="1"/>
              <a:t>Quy</a:t>
            </a:r>
            <a:r>
              <a:rPr lang="en-US" altLang="en-US" dirty="0"/>
              <a:t> </a:t>
            </a:r>
            <a:r>
              <a:rPr lang="en-US" altLang="en-US" dirty="0" err="1"/>
              <a:t>ước</a:t>
            </a:r>
            <a:r>
              <a:rPr lang="en-US" altLang="en-US" dirty="0"/>
              <a:t>: </a:t>
            </a:r>
            <a:r>
              <a:rPr lang="en-US" altLang="en-US" dirty="0">
                <a:cs typeface="Times New Roman" panose="02020603050405020304" pitchFamily="18" charset="0"/>
              </a:rPr>
              <a:t>A</a:t>
            </a:r>
            <a:r>
              <a:rPr lang="en-US" altLang="en-US" baseline="-25000" dirty="0">
                <a:cs typeface="Times New Roman" panose="02020603050405020304" pitchFamily="18" charset="0"/>
              </a:rPr>
              <a:t>0</a:t>
            </a:r>
            <a:r>
              <a:rPr lang="en-US" altLang="en-US" dirty="0">
                <a:cs typeface="Times New Roman" panose="02020603050405020304" pitchFamily="18" charset="0"/>
              </a:rPr>
              <a:t> = 0)</a:t>
            </a:r>
            <a:endParaRPr lang="en-US" altLang="en-US" dirty="0" smtClean="0"/>
          </a:p>
          <a:p>
            <a:r>
              <a:rPr lang="en-US" altLang="en-US" sz="2000" dirty="0" err="1"/>
              <a:t>Tìm</a:t>
            </a:r>
            <a:r>
              <a:rPr lang="en-US" altLang="en-US" sz="2000" dirty="0"/>
              <a:t> </a:t>
            </a:r>
            <a:r>
              <a:rPr lang="en-US" altLang="en-US" sz="2000" dirty="0" err="1"/>
              <a:t>kiếm</a:t>
            </a:r>
            <a:r>
              <a:rPr lang="en-US" altLang="en-US" sz="2000" dirty="0"/>
              <a:t>: </a:t>
            </a:r>
            <a:endParaRPr lang="en-US" altLang="en-US" sz="2000" dirty="0" smtClean="0"/>
          </a:p>
          <a:p>
            <a:pPr lvl="1"/>
            <a:r>
              <a:rPr lang="en-US" altLang="en-US" dirty="0" smtClean="0"/>
              <a:t>Cho </a:t>
            </a:r>
            <a:r>
              <a:rPr lang="en-US" altLang="en-US" i="1" dirty="0" smtClean="0"/>
              <a:t>k </a:t>
            </a:r>
            <a:r>
              <a:rPr lang="en-US" altLang="en-US" dirty="0">
                <a:sym typeface="Wingdings" panose="05000000000000000000" pitchFamily="2" charset="2"/>
              </a:rPr>
              <a:t></a:t>
            </a:r>
            <a:r>
              <a:rPr lang="en-US" altLang="en-US" dirty="0" smtClean="0"/>
              <a:t> </a:t>
            </a:r>
            <a:r>
              <a:rPr lang="en-US" altLang="en-US" dirty="0" err="1" smtClean="0"/>
              <a:t>tính</a:t>
            </a:r>
            <a:r>
              <a:rPr lang="en-US" altLang="en-US" dirty="0" smtClean="0"/>
              <a:t> </a:t>
            </a:r>
            <a:r>
              <a:rPr lang="en-US" altLang="en-US" i="1" dirty="0" smtClean="0"/>
              <a:t>h(k) </a:t>
            </a:r>
            <a:r>
              <a:rPr lang="en-US" altLang="en-US" dirty="0">
                <a:sym typeface="Wingdings" panose="05000000000000000000" pitchFamily="2" charset="2"/>
              </a:rPr>
              <a:t></a:t>
            </a:r>
            <a:r>
              <a:rPr lang="en-US" altLang="en-US" dirty="0" smtClean="0"/>
              <a:t> </a:t>
            </a:r>
            <a:r>
              <a:rPr lang="en-US" altLang="en-US" dirty="0" err="1" smtClean="0"/>
              <a:t>vào</a:t>
            </a:r>
            <a:r>
              <a:rPr lang="en-US" altLang="en-US" dirty="0" smtClean="0"/>
              <a:t> </a:t>
            </a:r>
            <a:r>
              <a:rPr lang="en-US" altLang="en-US" dirty="0" err="1"/>
              <a:t>địa</a:t>
            </a:r>
            <a:r>
              <a:rPr lang="en-US" altLang="en-US" dirty="0"/>
              <a:t> </a:t>
            </a:r>
            <a:r>
              <a:rPr lang="en-US" altLang="en-US" dirty="0" err="1"/>
              <a:t>chỉ</a:t>
            </a:r>
            <a:r>
              <a:rPr lang="en-US" altLang="en-US" dirty="0"/>
              <a:t> </a:t>
            </a:r>
            <a:r>
              <a:rPr lang="en-US" altLang="en-US" i="1" dirty="0"/>
              <a:t>A</a:t>
            </a:r>
            <a:r>
              <a:rPr lang="en-US" altLang="en-US" i="1" baseline="-25000" dirty="0"/>
              <a:t>0 </a:t>
            </a:r>
            <a:r>
              <a:rPr lang="en-US" altLang="en-US" i="1" dirty="0"/>
              <a:t>+ </a:t>
            </a:r>
            <a:r>
              <a:rPr lang="en-US" altLang="en-US" i="1" dirty="0" smtClean="0"/>
              <a:t>h(k), </a:t>
            </a:r>
            <a:r>
              <a:rPr lang="en-US" altLang="en-US" dirty="0" err="1" smtClean="0">
                <a:sym typeface="Wingdings" panose="05000000000000000000" pitchFamily="2" charset="2"/>
              </a:rPr>
              <a:t>lấy</a:t>
            </a:r>
            <a:r>
              <a:rPr lang="en-US" altLang="en-US" dirty="0" smtClean="0">
                <a:sym typeface="Wingdings" panose="05000000000000000000" pitchFamily="2" charset="2"/>
              </a:rPr>
              <a:t> </a:t>
            </a:r>
            <a:r>
              <a:rPr lang="en-US" altLang="en-US" dirty="0" err="1" smtClean="0"/>
              <a:t>ra</a:t>
            </a:r>
            <a:r>
              <a:rPr lang="en-US" altLang="en-US" dirty="0" smtClean="0"/>
              <a:t> </a:t>
            </a:r>
            <a:r>
              <a:rPr lang="en-US" altLang="en-US" dirty="0" err="1" smtClean="0"/>
              <a:t>giá</a:t>
            </a:r>
            <a:r>
              <a:rPr lang="en-US" altLang="en-US" dirty="0" smtClean="0"/>
              <a:t> </a:t>
            </a:r>
            <a:r>
              <a:rPr lang="en-US" altLang="en-US" dirty="0" err="1" smtClean="0"/>
              <a:t>trị</a:t>
            </a:r>
            <a:r>
              <a:rPr lang="en-US" altLang="en-US" dirty="0" smtClean="0"/>
              <a:t> </a:t>
            </a:r>
            <a:r>
              <a:rPr lang="en-US" altLang="en-US" dirty="0" err="1" smtClean="0"/>
              <a:t>khóa</a:t>
            </a:r>
            <a:r>
              <a:rPr lang="en-US" altLang="en-US" dirty="0" smtClean="0"/>
              <a:t> </a:t>
            </a:r>
            <a:r>
              <a:rPr lang="en-US" altLang="en-US" i="1" dirty="0" smtClean="0"/>
              <a:t>k</a:t>
            </a:r>
            <a:r>
              <a:rPr lang="en-US" altLang="en-US" dirty="0" smtClean="0"/>
              <a:t> </a:t>
            </a:r>
            <a:r>
              <a:rPr lang="en-US" altLang="en-US" dirty="0" err="1" smtClean="0"/>
              <a:t>và</a:t>
            </a:r>
            <a:r>
              <a:rPr lang="en-US" altLang="en-US" dirty="0" smtClean="0"/>
              <a:t> </a:t>
            </a:r>
            <a:r>
              <a:rPr lang="en-US" altLang="en-US" dirty="0" err="1" smtClean="0"/>
              <a:t>bản</a:t>
            </a:r>
            <a:r>
              <a:rPr lang="en-US" altLang="en-US" dirty="0" smtClean="0"/>
              <a:t> </a:t>
            </a:r>
            <a:r>
              <a:rPr lang="en-US" altLang="en-US" dirty="0" err="1" smtClean="0"/>
              <a:t>ghi</a:t>
            </a:r>
            <a:r>
              <a:rPr lang="en-US" altLang="en-US" dirty="0" smtClean="0"/>
              <a:t> </a:t>
            </a:r>
            <a:r>
              <a:rPr lang="en-US" altLang="en-US" dirty="0" err="1" smtClean="0"/>
              <a:t>tương</a:t>
            </a:r>
            <a:r>
              <a:rPr lang="en-US" altLang="en-US" dirty="0" smtClean="0"/>
              <a:t> </a:t>
            </a:r>
            <a:r>
              <a:rPr lang="en-US" altLang="en-US" dirty="0" err="1" smtClean="0"/>
              <a:t>ứng</a:t>
            </a:r>
            <a:endParaRPr lang="en-US" altLang="en-US" dirty="0" smtClean="0"/>
          </a:p>
          <a:p>
            <a:pPr lvl="1"/>
            <a:r>
              <a:rPr lang="en-US" dirty="0" smtClean="0"/>
              <a:t>Thao </a:t>
            </a:r>
            <a:r>
              <a:rPr lang="en-US" dirty="0" err="1"/>
              <a:t>tác</a:t>
            </a:r>
            <a:r>
              <a:rPr lang="en-US" dirty="0"/>
              <a:t> </a:t>
            </a:r>
            <a:r>
              <a:rPr lang="en-US" dirty="0" err="1"/>
              <a:t>tìm</a:t>
            </a:r>
            <a:r>
              <a:rPr lang="en-US" dirty="0"/>
              <a:t> </a:t>
            </a:r>
            <a:r>
              <a:rPr lang="en-US" dirty="0" err="1"/>
              <a:t>kiếm</a:t>
            </a:r>
            <a:r>
              <a:rPr lang="en-US" dirty="0"/>
              <a:t>: O(1)</a:t>
            </a:r>
            <a:endParaRPr lang="en-US" altLang="en-US" dirty="0"/>
          </a:p>
        </p:txBody>
      </p:sp>
      <p:graphicFrame>
        <p:nvGraphicFramePr>
          <p:cNvPr id="6" name="Group 117">
            <a:extLst>
              <a:ext uri="{FF2B5EF4-FFF2-40B4-BE49-F238E27FC236}">
                <a16:creationId xmlns:a16="http://schemas.microsoft.com/office/drawing/2014/main" id="{610344AF-9599-43F4-A1EA-C159E5314D52}"/>
              </a:ext>
            </a:extLst>
          </p:cNvPr>
          <p:cNvGraphicFramePr>
            <a:graphicFrameLocks noGrp="1"/>
          </p:cNvGraphicFramePr>
          <p:nvPr>
            <p:extLst>
              <p:ext uri="{D42A27DB-BD31-4B8C-83A1-F6EECF244321}">
                <p14:modId xmlns:p14="http://schemas.microsoft.com/office/powerpoint/2010/main" val="797154068"/>
              </p:ext>
            </p:extLst>
          </p:nvPr>
        </p:nvGraphicFramePr>
        <p:xfrm>
          <a:off x="457200" y="3865245"/>
          <a:ext cx="863600" cy="1755648"/>
        </p:xfrm>
        <a:graphic>
          <a:graphicData uri="http://schemas.openxmlformats.org/drawingml/2006/table">
            <a:tbl>
              <a:tblPr/>
              <a:tblGrid>
                <a:gridCol w="863600">
                  <a:extLst>
                    <a:ext uri="{9D8B030D-6E8A-4147-A177-3AD203B41FA5}">
                      <a16:colId xmlns:a16="http://schemas.microsoft.com/office/drawing/2014/main" val="3103274713"/>
                    </a:ext>
                  </a:extLst>
                </a:gridCol>
              </a:tblGrid>
              <a:tr h="288925">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rPr>
                        <a:t>2398</a:t>
                      </a:r>
                    </a:p>
                  </a:txBody>
                  <a:tcPr marT="9144" marB="914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99979418"/>
                  </a:ext>
                </a:extLst>
              </a:tr>
              <a:tr h="288925">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rPr>
                        <a:t>3487</a:t>
                      </a:r>
                    </a:p>
                  </a:txBody>
                  <a:tcPr marT="9144" marB="914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29865175"/>
                  </a:ext>
                </a:extLst>
              </a:tr>
              <a:tr h="288925">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rPr>
                        <a:t>1728</a:t>
                      </a:r>
                    </a:p>
                  </a:txBody>
                  <a:tcPr marT="9144" marB="914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74698291"/>
                  </a:ext>
                </a:extLst>
              </a:tr>
              <a:tr h="288925">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rPr>
                        <a:t>4567</a:t>
                      </a:r>
                    </a:p>
                  </a:txBody>
                  <a:tcPr marT="9144" marB="914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92223830"/>
                  </a:ext>
                </a:extLst>
              </a:tr>
              <a:tr h="292100">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1" i="1" u="none" strike="noStrike" cap="none" normalizeH="0" baseline="0" dirty="0" smtClean="0">
                          <a:ln>
                            <a:noFill/>
                          </a:ln>
                          <a:solidFill>
                            <a:schemeClr val="tx1"/>
                          </a:solidFill>
                          <a:effectLst/>
                          <a:latin typeface="Times New Roman" panose="02020603050405020304" pitchFamily="18" charset="0"/>
                        </a:rPr>
                        <a:t>...</a:t>
                      </a:r>
                      <a:endParaRPr kumimoji="0" lang="en-US" altLang="en-US" sz="1800" b="1" i="1" u="none" strike="noStrike" cap="none" normalizeH="0" baseline="0" dirty="0">
                        <a:ln>
                          <a:noFill/>
                        </a:ln>
                        <a:solidFill>
                          <a:schemeClr val="tx1"/>
                        </a:solidFill>
                        <a:effectLst/>
                        <a:latin typeface="Times New Roman" panose="02020603050405020304" pitchFamily="18" charset="0"/>
                      </a:endParaRPr>
                    </a:p>
                  </a:txBody>
                  <a:tcPr marT="9144" marB="914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6669494"/>
                  </a:ext>
                </a:extLst>
              </a:tr>
              <a:tr h="288925">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1" i="1" u="none" strike="noStrike" cap="none" normalizeH="0" baseline="0" dirty="0">
                          <a:ln>
                            <a:noFill/>
                          </a:ln>
                          <a:solidFill>
                            <a:schemeClr val="tx1"/>
                          </a:solidFill>
                          <a:effectLst/>
                          <a:latin typeface="Times New Roman" panose="02020603050405020304" pitchFamily="18" charset="0"/>
                        </a:rPr>
                        <a:t>...</a:t>
                      </a:r>
                    </a:p>
                  </a:txBody>
                  <a:tcPr marT="9144" marB="914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91108866"/>
                  </a:ext>
                </a:extLst>
              </a:tr>
            </a:tbl>
          </a:graphicData>
        </a:graphic>
      </p:graphicFrame>
      <p:graphicFrame>
        <p:nvGraphicFramePr>
          <p:cNvPr id="7" name="Group 274">
            <a:extLst>
              <a:ext uri="{FF2B5EF4-FFF2-40B4-BE49-F238E27FC236}">
                <a16:creationId xmlns:a16="http://schemas.microsoft.com/office/drawing/2014/main" id="{00DE6DF1-B972-4BB1-8D6E-6919C2A29F91}"/>
              </a:ext>
            </a:extLst>
          </p:cNvPr>
          <p:cNvGraphicFramePr>
            <a:graphicFrameLocks noGrp="1"/>
          </p:cNvGraphicFramePr>
          <p:nvPr>
            <p:extLst>
              <p:ext uri="{D42A27DB-BD31-4B8C-83A1-F6EECF244321}">
                <p14:modId xmlns:p14="http://schemas.microsoft.com/office/powerpoint/2010/main" val="1044838192"/>
              </p:ext>
            </p:extLst>
          </p:nvPr>
        </p:nvGraphicFramePr>
        <p:xfrm>
          <a:off x="2508249" y="3855720"/>
          <a:ext cx="2819400" cy="2926080"/>
        </p:xfrm>
        <a:graphic>
          <a:graphicData uri="http://schemas.openxmlformats.org/drawingml/2006/table">
            <a:tbl>
              <a:tblPr/>
              <a:tblGrid>
                <a:gridCol w="1295400">
                  <a:extLst>
                    <a:ext uri="{9D8B030D-6E8A-4147-A177-3AD203B41FA5}">
                      <a16:colId xmlns:a16="http://schemas.microsoft.com/office/drawing/2014/main" val="217254532"/>
                    </a:ext>
                  </a:extLst>
                </a:gridCol>
                <a:gridCol w="920751">
                  <a:extLst>
                    <a:ext uri="{9D8B030D-6E8A-4147-A177-3AD203B41FA5}">
                      <a16:colId xmlns:a16="http://schemas.microsoft.com/office/drawing/2014/main" val="431129494"/>
                    </a:ext>
                  </a:extLst>
                </a:gridCol>
                <a:gridCol w="603249">
                  <a:extLst>
                    <a:ext uri="{9D8B030D-6E8A-4147-A177-3AD203B41FA5}">
                      <a16:colId xmlns:a16="http://schemas.microsoft.com/office/drawing/2014/main" val="1497592635"/>
                    </a:ext>
                  </a:extLst>
                </a:gridCol>
              </a:tblGrid>
              <a:tr h="288925">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dirty="0" err="1" smtClean="0">
                          <a:ln>
                            <a:noFill/>
                          </a:ln>
                          <a:solidFill>
                            <a:schemeClr val="tx1"/>
                          </a:solidFill>
                          <a:effectLst/>
                          <a:latin typeface="Times New Roman" panose="02020603050405020304" pitchFamily="18" charset="0"/>
                        </a:rPr>
                        <a:t>Chỉ</a:t>
                      </a:r>
                      <a:r>
                        <a:rPr kumimoji="0" lang="en-US" altLang="en-US" sz="1800" b="0" i="0" u="none" strike="noStrike" cap="none" normalizeH="0" baseline="0" dirty="0" smtClean="0">
                          <a:ln>
                            <a:noFill/>
                          </a:ln>
                          <a:solidFill>
                            <a:schemeClr val="tx1"/>
                          </a:solidFill>
                          <a:effectLst/>
                          <a:latin typeface="Times New Roman" panose="02020603050405020304" pitchFamily="18" charset="0"/>
                        </a:rPr>
                        <a:t> </a:t>
                      </a:r>
                      <a:r>
                        <a:rPr kumimoji="0" lang="en-US" altLang="en-US" sz="1800" b="0" i="0" u="none" strike="noStrike" cap="none" normalizeH="0" baseline="0" dirty="0" err="1" smtClean="0">
                          <a:ln>
                            <a:noFill/>
                          </a:ln>
                          <a:solidFill>
                            <a:schemeClr val="tx1"/>
                          </a:solidFill>
                          <a:effectLst/>
                          <a:latin typeface="Times New Roman" panose="02020603050405020304" pitchFamily="18" charset="0"/>
                        </a:rPr>
                        <a:t>số</a:t>
                      </a:r>
                      <a:r>
                        <a:rPr kumimoji="0" lang="en-US" altLang="en-US" sz="1800" b="0" i="0" u="none" strike="noStrike" cap="none" normalizeH="0" baseline="0" dirty="0" smtClean="0">
                          <a:ln>
                            <a:noFill/>
                          </a:ln>
                          <a:solidFill>
                            <a:schemeClr val="tx1"/>
                          </a:solidFill>
                          <a:effectLst/>
                          <a:latin typeface="Times New Roman" panose="02020603050405020304" pitchFamily="18" charset="0"/>
                        </a:rPr>
                        <a:t>/STT</a:t>
                      </a:r>
                      <a:endParaRPr kumimoji="0" lang="en-US" altLang="en-US" sz="1800" b="0" i="0" u="none" strike="noStrike" cap="none" normalizeH="0" baseline="0" dirty="0">
                        <a:ln>
                          <a:noFill/>
                        </a:ln>
                        <a:solidFill>
                          <a:schemeClr val="tx1"/>
                        </a:solidFill>
                        <a:effectLst/>
                        <a:latin typeface="Times New Roman" panose="02020603050405020304" pitchFamily="18" charset="0"/>
                      </a:endParaRPr>
                    </a:p>
                  </a:txBody>
                  <a:tcPr marT="9144" marB="914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Times New Roman" panose="02020603050405020304" pitchFamily="18" charset="0"/>
                        </a:rPr>
                        <a:t>  Key     || Info</a:t>
                      </a:r>
                      <a:endParaRPr kumimoji="0" lang="en-US" altLang="en-US" sz="1800" b="0" i="0" u="none" strike="noStrike" cap="none" normalizeH="0" baseline="0" dirty="0">
                        <a:ln>
                          <a:noFill/>
                        </a:ln>
                        <a:solidFill>
                          <a:schemeClr val="tx1"/>
                        </a:solidFill>
                        <a:effectLst/>
                        <a:latin typeface="Times New Roman" panose="02020603050405020304" pitchFamily="18" charset="0"/>
                      </a:endParaRPr>
                    </a:p>
                  </a:txBody>
                  <a:tcPr marT="9144" marB="914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2912675563"/>
                  </a:ext>
                </a:extLst>
              </a:tr>
              <a:tr h="288925">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rPr>
                        <a:t>...</a:t>
                      </a:r>
                    </a:p>
                  </a:txBody>
                  <a:tcPr marT="9144" marB="914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rPr>
                        <a:t>...</a:t>
                      </a:r>
                    </a:p>
                  </a:txBody>
                  <a:tcPr marT="9144" marB="914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T="9144" marB="914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53937212"/>
                  </a:ext>
                </a:extLst>
              </a:tr>
              <a:tr h="288925">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rPr>
                        <a:t>398</a:t>
                      </a:r>
                    </a:p>
                  </a:txBody>
                  <a:tcPr marT="9144" marB="914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rPr>
                        <a:t>2398</a:t>
                      </a:r>
                    </a:p>
                  </a:txBody>
                  <a:tcPr marT="9144" marB="914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T="9144" marB="914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76560992"/>
                  </a:ext>
                </a:extLst>
              </a:tr>
              <a:tr h="288925">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rPr>
                        <a:t>...</a:t>
                      </a:r>
                    </a:p>
                  </a:txBody>
                  <a:tcPr marT="9144" marB="914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rPr>
                        <a:t>...</a:t>
                      </a:r>
                    </a:p>
                  </a:txBody>
                  <a:tcPr marT="9144" marB="914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T="9144" marB="914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24389743"/>
                  </a:ext>
                </a:extLst>
              </a:tr>
              <a:tr h="288925">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rPr>
                        <a:t>487</a:t>
                      </a:r>
                    </a:p>
                  </a:txBody>
                  <a:tcPr marT="9144" marB="914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rPr>
                        <a:t>3487</a:t>
                      </a:r>
                    </a:p>
                  </a:txBody>
                  <a:tcPr marT="9144" marB="914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T="9144" marB="914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526781550"/>
                  </a:ext>
                </a:extLst>
              </a:tr>
              <a:tr h="288925">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rPr>
                        <a:t>...</a:t>
                      </a:r>
                    </a:p>
                  </a:txBody>
                  <a:tcPr marT="9144" marB="914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rPr>
                        <a:t>...</a:t>
                      </a:r>
                    </a:p>
                  </a:txBody>
                  <a:tcPr marT="9144" marB="914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T="9144" marB="914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73818651"/>
                  </a:ext>
                </a:extLst>
              </a:tr>
              <a:tr h="292100">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rPr>
                        <a:t>567</a:t>
                      </a:r>
                    </a:p>
                  </a:txBody>
                  <a:tcPr marT="9144" marB="914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rPr>
                        <a:t>4567</a:t>
                      </a:r>
                    </a:p>
                  </a:txBody>
                  <a:tcPr marT="9144" marB="914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T="9144" marB="914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12481787"/>
                  </a:ext>
                </a:extLst>
              </a:tr>
              <a:tr h="292100">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1" i="1" u="none" strike="noStrike" cap="none" normalizeH="0" baseline="0">
                          <a:ln>
                            <a:noFill/>
                          </a:ln>
                          <a:solidFill>
                            <a:schemeClr val="tx1"/>
                          </a:solidFill>
                          <a:effectLst/>
                          <a:latin typeface="Times New Roman" panose="02020603050405020304" pitchFamily="18" charset="0"/>
                        </a:rPr>
                        <a:t>...</a:t>
                      </a:r>
                    </a:p>
                  </a:txBody>
                  <a:tcPr marT="9144" marB="914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1" i="1" u="none" strike="noStrike" cap="none" normalizeH="0" baseline="0">
                          <a:ln>
                            <a:noFill/>
                          </a:ln>
                          <a:solidFill>
                            <a:schemeClr val="tx1"/>
                          </a:solidFill>
                          <a:effectLst/>
                          <a:latin typeface="Times New Roman" panose="02020603050405020304" pitchFamily="18" charset="0"/>
                        </a:rPr>
                        <a:t>...</a:t>
                      </a:r>
                    </a:p>
                  </a:txBody>
                  <a:tcPr marT="9144" marB="914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800" b="1" i="1" u="none" strike="noStrike" cap="none" normalizeH="0" baseline="0">
                        <a:ln>
                          <a:noFill/>
                        </a:ln>
                        <a:solidFill>
                          <a:schemeClr val="tx1"/>
                        </a:solidFill>
                        <a:effectLst/>
                        <a:latin typeface="Times New Roman" panose="02020603050405020304" pitchFamily="18" charset="0"/>
                      </a:endParaRPr>
                    </a:p>
                  </a:txBody>
                  <a:tcPr marT="9144" marB="914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65198858"/>
                  </a:ext>
                </a:extLst>
              </a:tr>
              <a:tr h="292100">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rPr>
                        <a:t>728</a:t>
                      </a:r>
                    </a:p>
                  </a:txBody>
                  <a:tcPr marT="9144" marB="914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rPr>
                        <a:t>1728</a:t>
                      </a:r>
                    </a:p>
                  </a:txBody>
                  <a:tcPr marT="9144" marB="914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marT="9144" marB="914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581044587"/>
                  </a:ext>
                </a:extLst>
              </a:tr>
              <a:tr h="288925">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1" i="1" u="none" strike="noStrike" cap="none" normalizeH="0" baseline="0">
                          <a:ln>
                            <a:noFill/>
                          </a:ln>
                          <a:solidFill>
                            <a:schemeClr val="tx1"/>
                          </a:solidFill>
                          <a:effectLst/>
                          <a:latin typeface="Times New Roman" panose="02020603050405020304" pitchFamily="18" charset="0"/>
                        </a:rPr>
                        <a:t>...</a:t>
                      </a:r>
                    </a:p>
                  </a:txBody>
                  <a:tcPr marT="9144" marB="914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1" i="1" u="none" strike="noStrike" cap="none" normalizeH="0" baseline="0">
                          <a:ln>
                            <a:noFill/>
                          </a:ln>
                          <a:solidFill>
                            <a:schemeClr val="tx1"/>
                          </a:solidFill>
                          <a:effectLst/>
                          <a:latin typeface="Times New Roman" panose="02020603050405020304" pitchFamily="18" charset="0"/>
                        </a:rPr>
                        <a:t>...</a:t>
                      </a:r>
                    </a:p>
                  </a:txBody>
                  <a:tcPr marT="9144" marB="914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altLang="en-US" sz="1800" b="1" i="1" u="none" strike="noStrike" cap="none" normalizeH="0" baseline="0" dirty="0">
                        <a:ln>
                          <a:noFill/>
                        </a:ln>
                        <a:solidFill>
                          <a:schemeClr val="tx1"/>
                        </a:solidFill>
                        <a:effectLst/>
                        <a:latin typeface="Times New Roman" panose="02020603050405020304" pitchFamily="18" charset="0"/>
                      </a:endParaRPr>
                    </a:p>
                  </a:txBody>
                  <a:tcPr marT="9144" marB="9144"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43688514"/>
                  </a:ext>
                </a:extLst>
              </a:tr>
            </a:tbl>
          </a:graphicData>
        </a:graphic>
      </p:graphicFrame>
      <p:sp>
        <p:nvSpPr>
          <p:cNvPr id="8" name="Text Box 68">
            <a:extLst>
              <a:ext uri="{FF2B5EF4-FFF2-40B4-BE49-F238E27FC236}">
                <a16:creationId xmlns:a16="http://schemas.microsoft.com/office/drawing/2014/main" id="{4957A4D2-5AB5-4AC2-B077-2F495CD148DC}"/>
              </a:ext>
            </a:extLst>
          </p:cNvPr>
          <p:cNvSpPr txBox="1">
            <a:spLocks noChangeArrowheads="1"/>
          </p:cNvSpPr>
          <p:nvPr/>
        </p:nvSpPr>
        <p:spPr bwMode="auto">
          <a:xfrm>
            <a:off x="381000" y="3566161"/>
            <a:ext cx="85613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a:t>Key table</a:t>
            </a:r>
          </a:p>
        </p:txBody>
      </p:sp>
      <p:sp>
        <p:nvSpPr>
          <p:cNvPr id="9" name="Text Box 71">
            <a:extLst>
              <a:ext uri="{FF2B5EF4-FFF2-40B4-BE49-F238E27FC236}">
                <a16:creationId xmlns:a16="http://schemas.microsoft.com/office/drawing/2014/main" id="{14FD261D-B67A-4BCF-BCD0-BB1F3B72F0B9}"/>
              </a:ext>
            </a:extLst>
          </p:cNvPr>
          <p:cNvSpPr txBox="1">
            <a:spLocks noChangeArrowheads="1"/>
          </p:cNvSpPr>
          <p:nvPr/>
        </p:nvSpPr>
        <p:spPr bwMode="auto">
          <a:xfrm>
            <a:off x="2508249" y="3526917"/>
            <a:ext cx="106792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err="1" smtClean="0"/>
              <a:t>Bảng</a:t>
            </a:r>
            <a:r>
              <a:rPr lang="en-US" altLang="en-US" sz="1400" dirty="0" smtClean="0"/>
              <a:t> </a:t>
            </a:r>
            <a:r>
              <a:rPr lang="en-US" altLang="en-US" sz="1400" dirty="0" err="1" smtClean="0"/>
              <a:t>địa</a:t>
            </a:r>
            <a:r>
              <a:rPr lang="en-US" altLang="en-US" sz="1400" dirty="0" smtClean="0"/>
              <a:t> </a:t>
            </a:r>
            <a:r>
              <a:rPr lang="en-US" altLang="en-US" sz="1400" dirty="0" err="1" smtClean="0"/>
              <a:t>chỉ</a:t>
            </a:r>
            <a:endParaRPr lang="en-US" altLang="en-US" sz="1400" dirty="0"/>
          </a:p>
        </p:txBody>
      </p:sp>
      <p:sp>
        <p:nvSpPr>
          <p:cNvPr id="10" name="Line 105">
            <a:extLst>
              <a:ext uri="{FF2B5EF4-FFF2-40B4-BE49-F238E27FC236}">
                <a16:creationId xmlns:a16="http://schemas.microsoft.com/office/drawing/2014/main" id="{5ADD562F-EAC1-4EE3-AEEC-3A978725BF79}"/>
              </a:ext>
            </a:extLst>
          </p:cNvPr>
          <p:cNvSpPr>
            <a:spLocks noChangeShapeType="1"/>
          </p:cNvSpPr>
          <p:nvPr/>
        </p:nvSpPr>
        <p:spPr bwMode="auto">
          <a:xfrm>
            <a:off x="1219200" y="4017645"/>
            <a:ext cx="1289049" cy="57912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 name="Line 106">
            <a:extLst>
              <a:ext uri="{FF2B5EF4-FFF2-40B4-BE49-F238E27FC236}">
                <a16:creationId xmlns:a16="http://schemas.microsoft.com/office/drawing/2014/main" id="{4545DFD9-19D7-4600-8B5A-43998E50D603}"/>
              </a:ext>
            </a:extLst>
          </p:cNvPr>
          <p:cNvSpPr>
            <a:spLocks noChangeShapeType="1"/>
          </p:cNvSpPr>
          <p:nvPr/>
        </p:nvSpPr>
        <p:spPr bwMode="auto">
          <a:xfrm>
            <a:off x="1219200" y="4322445"/>
            <a:ext cx="1289049" cy="80772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 name="Line 107">
            <a:extLst>
              <a:ext uri="{FF2B5EF4-FFF2-40B4-BE49-F238E27FC236}">
                <a16:creationId xmlns:a16="http://schemas.microsoft.com/office/drawing/2014/main" id="{CD00FBF3-CFDA-4596-B455-B7482882A5D7}"/>
              </a:ext>
            </a:extLst>
          </p:cNvPr>
          <p:cNvSpPr>
            <a:spLocks noChangeShapeType="1"/>
          </p:cNvSpPr>
          <p:nvPr/>
        </p:nvSpPr>
        <p:spPr bwMode="auto">
          <a:xfrm>
            <a:off x="1219200" y="4551044"/>
            <a:ext cx="1244600" cy="181927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 name="Line 108">
            <a:extLst>
              <a:ext uri="{FF2B5EF4-FFF2-40B4-BE49-F238E27FC236}">
                <a16:creationId xmlns:a16="http://schemas.microsoft.com/office/drawing/2014/main" id="{707BB452-FCBD-42BD-B2CE-BACD39F66DD7}"/>
              </a:ext>
            </a:extLst>
          </p:cNvPr>
          <p:cNvSpPr>
            <a:spLocks noChangeShapeType="1"/>
          </p:cNvSpPr>
          <p:nvPr/>
        </p:nvSpPr>
        <p:spPr bwMode="auto">
          <a:xfrm>
            <a:off x="1219200" y="4932045"/>
            <a:ext cx="1289049" cy="762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 name="Rectangle 1"/>
          <p:cNvSpPr/>
          <p:nvPr/>
        </p:nvSpPr>
        <p:spPr>
          <a:xfrm>
            <a:off x="6172200" y="3457607"/>
            <a:ext cx="2191626" cy="646331"/>
          </a:xfrm>
          <a:prstGeom prst="rect">
            <a:avLst/>
          </a:prstGeom>
        </p:spPr>
        <p:txBody>
          <a:bodyPr wrap="none">
            <a:spAutoFit/>
          </a:bodyPr>
          <a:lstStyle/>
          <a:p>
            <a:r>
              <a:rPr lang="en-US" altLang="en-US" dirty="0" err="1" smtClean="0"/>
              <a:t>Ví</a:t>
            </a:r>
            <a:r>
              <a:rPr lang="en-US" altLang="en-US" dirty="0" smtClean="0"/>
              <a:t> </a:t>
            </a:r>
            <a:r>
              <a:rPr lang="en-US" altLang="en-US" dirty="0" err="1" smtClean="0"/>
              <a:t>dụ</a:t>
            </a:r>
            <a:r>
              <a:rPr lang="en-US" altLang="en-US" dirty="0" smtClean="0"/>
              <a:t>: h(k</a:t>
            </a:r>
            <a:r>
              <a:rPr lang="en-US" altLang="en-US" dirty="0"/>
              <a:t>) = k mod </a:t>
            </a:r>
            <a:r>
              <a:rPr lang="en-US" altLang="en-US" dirty="0" smtClean="0"/>
              <a:t>m</a:t>
            </a:r>
          </a:p>
          <a:p>
            <a:r>
              <a:rPr lang="en-US" altLang="en-US" dirty="0" smtClean="0"/>
              <a:t>            m=1000</a:t>
            </a:r>
            <a:endParaRPr lang="en-US" dirty="0"/>
          </a:p>
        </p:txBody>
      </p:sp>
      <p:sp>
        <p:nvSpPr>
          <p:cNvPr id="3" name="Rectangle 2"/>
          <p:cNvSpPr/>
          <p:nvPr/>
        </p:nvSpPr>
        <p:spPr>
          <a:xfrm>
            <a:off x="5980182" y="4180582"/>
            <a:ext cx="2973318" cy="1077218"/>
          </a:xfrm>
          <a:prstGeom prst="rect">
            <a:avLst/>
          </a:prstGeom>
        </p:spPr>
        <p:txBody>
          <a:bodyPr wrap="square">
            <a:spAutoFit/>
          </a:bodyPr>
          <a:lstStyle/>
          <a:p>
            <a:pPr marL="342900" lvl="2" indent="-285750">
              <a:buFont typeface="Arial" panose="020B0604020202020204" pitchFamily="34" charset="0"/>
              <a:buChar char="•"/>
            </a:pPr>
            <a:r>
              <a:rPr lang="en-US" altLang="en-US" sz="1600" dirty="0" err="1" smtClean="0">
                <a:latin typeface="Lato" panose="020F0502020204030203"/>
              </a:rPr>
              <a:t>Bảng</a:t>
            </a:r>
            <a:r>
              <a:rPr lang="en-US" altLang="en-US" sz="1600" dirty="0" smtClean="0">
                <a:latin typeface="Lato" panose="020F0502020204030203"/>
              </a:rPr>
              <a:t> </a:t>
            </a:r>
            <a:r>
              <a:rPr lang="en-US" altLang="en-US" sz="1600" dirty="0" err="1">
                <a:latin typeface="Lato" panose="020F0502020204030203"/>
              </a:rPr>
              <a:t>khóa</a:t>
            </a:r>
            <a:r>
              <a:rPr lang="en-US" altLang="en-US" sz="1600" dirty="0">
                <a:latin typeface="Lato" panose="020F0502020204030203"/>
              </a:rPr>
              <a:t> </a:t>
            </a:r>
            <a:r>
              <a:rPr lang="en-US" altLang="en-US" sz="1600" dirty="0" smtClean="0">
                <a:latin typeface="Lato" panose="020F0502020204030203"/>
              </a:rPr>
              <a:t>(key </a:t>
            </a:r>
            <a:r>
              <a:rPr lang="en-US" altLang="en-US" sz="1600" dirty="0">
                <a:latin typeface="Lato" panose="020F0502020204030203"/>
              </a:rPr>
              <a:t>table</a:t>
            </a:r>
            <a:r>
              <a:rPr lang="en-US" altLang="en-US" sz="1600" dirty="0" smtClean="0">
                <a:latin typeface="Lato" panose="020F0502020204030203"/>
              </a:rPr>
              <a:t>):</a:t>
            </a:r>
            <a:r>
              <a:rPr lang="en-US" altLang="en-US" sz="1600" dirty="0" smtClean="0">
                <a:latin typeface="Lato" panose="020F0502020204030203"/>
                <a:cs typeface="Times New Roman" panose="02020603050405020304" pitchFamily="18" charset="0"/>
              </a:rPr>
              <a:t> </a:t>
            </a:r>
            <a:r>
              <a:rPr lang="en-US" altLang="en-US" sz="1600" dirty="0" err="1">
                <a:latin typeface="Lato" panose="020F0502020204030203"/>
                <a:cs typeface="Times New Roman" panose="02020603050405020304" pitchFamily="18" charset="0"/>
              </a:rPr>
              <a:t>c</a:t>
            </a:r>
            <a:r>
              <a:rPr lang="en-US" altLang="en-US" sz="1600" dirty="0" err="1">
                <a:latin typeface="Lato" panose="020F0502020204030203"/>
              </a:rPr>
              <a:t>ác</a:t>
            </a:r>
            <a:r>
              <a:rPr lang="en-US" altLang="en-US" sz="1600" dirty="0">
                <a:latin typeface="Lato" panose="020F0502020204030203"/>
              </a:rPr>
              <a:t> </a:t>
            </a:r>
            <a:r>
              <a:rPr lang="en-US" altLang="en-US" sz="1600" dirty="0" err="1">
                <a:latin typeface="Lato" panose="020F0502020204030203"/>
              </a:rPr>
              <a:t>giá</a:t>
            </a:r>
            <a:r>
              <a:rPr lang="en-US" altLang="en-US" sz="1600" dirty="0">
                <a:latin typeface="Lato" panose="020F0502020204030203"/>
              </a:rPr>
              <a:t> </a:t>
            </a:r>
            <a:r>
              <a:rPr lang="en-US" altLang="en-US" sz="1600" dirty="0" err="1">
                <a:latin typeface="Lato" panose="020F0502020204030203"/>
              </a:rPr>
              <a:t>trị</a:t>
            </a:r>
            <a:r>
              <a:rPr lang="en-US" altLang="en-US" sz="1600" dirty="0">
                <a:latin typeface="Lato" panose="020F0502020204030203"/>
              </a:rPr>
              <a:t> </a:t>
            </a:r>
            <a:r>
              <a:rPr lang="en-US" altLang="en-US" sz="1600" dirty="0" err="1">
                <a:latin typeface="Lato" panose="020F0502020204030203"/>
              </a:rPr>
              <a:t>khóa</a:t>
            </a:r>
            <a:r>
              <a:rPr lang="en-US" altLang="en-US" sz="1600" dirty="0">
                <a:latin typeface="Lato" panose="020F0502020204030203"/>
              </a:rPr>
              <a:t> </a:t>
            </a:r>
            <a:r>
              <a:rPr lang="en-US" altLang="en-US" sz="1600" i="1" dirty="0">
                <a:latin typeface="Lato" panose="020F0502020204030203"/>
              </a:rPr>
              <a:t>k</a:t>
            </a:r>
          </a:p>
          <a:p>
            <a:pPr marL="342900" lvl="2" indent="-285750">
              <a:buFont typeface="Arial" panose="020B0604020202020204" pitchFamily="34" charset="0"/>
              <a:buChar char="•"/>
            </a:pPr>
            <a:r>
              <a:rPr lang="en-US" altLang="en-US" sz="1600" dirty="0" err="1" smtClean="0">
                <a:latin typeface="Lato" panose="020F0502020204030203"/>
              </a:rPr>
              <a:t>Bảng</a:t>
            </a:r>
            <a:r>
              <a:rPr lang="en-US" altLang="en-US" sz="1600" dirty="0" smtClean="0">
                <a:latin typeface="Lato" panose="020F0502020204030203"/>
              </a:rPr>
              <a:t> </a:t>
            </a:r>
            <a:r>
              <a:rPr lang="en-US" altLang="en-US" sz="1600" dirty="0" err="1">
                <a:latin typeface="Lato" panose="020F0502020204030203"/>
              </a:rPr>
              <a:t>địa</a:t>
            </a:r>
            <a:r>
              <a:rPr lang="en-US" altLang="en-US" sz="1600" dirty="0">
                <a:latin typeface="Lato" panose="020F0502020204030203"/>
              </a:rPr>
              <a:t> </a:t>
            </a:r>
            <a:r>
              <a:rPr lang="en-US" altLang="en-US" sz="1600" dirty="0" err="1">
                <a:latin typeface="Lato" panose="020F0502020204030203"/>
              </a:rPr>
              <a:t>chỉ</a:t>
            </a:r>
            <a:r>
              <a:rPr lang="en-US" altLang="en-US" sz="1600" dirty="0">
                <a:latin typeface="Lato" panose="020F0502020204030203"/>
              </a:rPr>
              <a:t> </a:t>
            </a:r>
            <a:r>
              <a:rPr lang="en-US" altLang="en-US" sz="1600" dirty="0" smtClean="0">
                <a:latin typeface="Lato" panose="020F0502020204030203"/>
              </a:rPr>
              <a:t>- </a:t>
            </a:r>
            <a:r>
              <a:rPr lang="en-US" altLang="en-US" sz="1600" dirty="0" err="1" smtClean="0">
                <a:latin typeface="Lato" panose="020F0502020204030203"/>
              </a:rPr>
              <a:t>bảng</a:t>
            </a:r>
            <a:r>
              <a:rPr lang="en-US" altLang="en-US" sz="1600" dirty="0" smtClean="0">
                <a:latin typeface="Lato" panose="020F0502020204030203"/>
              </a:rPr>
              <a:t> </a:t>
            </a:r>
            <a:r>
              <a:rPr lang="en-US" altLang="en-US" sz="1600" dirty="0" err="1">
                <a:latin typeface="Lato" panose="020F0502020204030203"/>
              </a:rPr>
              <a:t>băm</a:t>
            </a:r>
            <a:r>
              <a:rPr lang="en-US" altLang="en-US" sz="1600" dirty="0">
                <a:latin typeface="Lato" panose="020F0502020204030203"/>
              </a:rPr>
              <a:t> (hash table) </a:t>
            </a:r>
            <a:r>
              <a:rPr lang="en-US" altLang="en-US" sz="1600" dirty="0" err="1">
                <a:latin typeface="Lato" panose="020F0502020204030203"/>
              </a:rPr>
              <a:t>kích</a:t>
            </a:r>
            <a:r>
              <a:rPr lang="en-US" altLang="en-US" sz="1600" dirty="0">
                <a:latin typeface="Lato" panose="020F0502020204030203"/>
              </a:rPr>
              <a:t> </a:t>
            </a:r>
            <a:r>
              <a:rPr lang="en-US" altLang="en-US" sz="1600" dirty="0" err="1">
                <a:latin typeface="Lato" panose="020F0502020204030203"/>
              </a:rPr>
              <a:t>thước</a:t>
            </a:r>
            <a:r>
              <a:rPr lang="en-US" altLang="en-US" sz="1600" dirty="0">
                <a:latin typeface="Lato" panose="020F0502020204030203"/>
              </a:rPr>
              <a:t> </a:t>
            </a:r>
            <a:r>
              <a:rPr lang="en-US" altLang="en-US" sz="1600" i="1" dirty="0" smtClean="0">
                <a:latin typeface="Lato" panose="020F0502020204030203"/>
              </a:rPr>
              <a:t>m</a:t>
            </a:r>
            <a:endParaRPr lang="en-US" altLang="en-US" sz="1600" i="1" dirty="0">
              <a:latin typeface="Lato" panose="020F0502020204030203"/>
              <a:cs typeface="Times New Roman" panose="02020603050405020304" pitchFamily="18" charset="0"/>
            </a:endParaRPr>
          </a:p>
        </p:txBody>
      </p:sp>
      <p:sp>
        <p:nvSpPr>
          <p:cNvPr id="20" name="Text Box 71">
            <a:extLst>
              <a:ext uri="{FF2B5EF4-FFF2-40B4-BE49-F238E27FC236}">
                <a16:creationId xmlns:a16="http://schemas.microsoft.com/office/drawing/2014/main" id="{14FD261D-B67A-4BCF-BCD0-BB1F3B72F0B9}"/>
              </a:ext>
            </a:extLst>
          </p:cNvPr>
          <p:cNvSpPr txBox="1">
            <a:spLocks noChangeArrowheads="1"/>
          </p:cNvSpPr>
          <p:nvPr/>
        </p:nvSpPr>
        <p:spPr bwMode="auto">
          <a:xfrm>
            <a:off x="4623549" y="3527568"/>
            <a:ext cx="71045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dirty="0" err="1" smtClean="0"/>
              <a:t>Bộ</a:t>
            </a:r>
            <a:r>
              <a:rPr lang="en-US" altLang="en-US" sz="1400" dirty="0" smtClean="0"/>
              <a:t> </a:t>
            </a:r>
            <a:r>
              <a:rPr lang="en-US" altLang="en-US" sz="1400" dirty="0" err="1" smtClean="0"/>
              <a:t>nhớ</a:t>
            </a:r>
            <a:endParaRPr lang="en-US" altLang="en-US" sz="1400" dirty="0"/>
          </a:p>
        </p:txBody>
      </p:sp>
      <p:sp>
        <p:nvSpPr>
          <p:cNvPr id="4" name="Rectangle 3"/>
          <p:cNvSpPr/>
          <p:nvPr/>
        </p:nvSpPr>
        <p:spPr>
          <a:xfrm>
            <a:off x="260477" y="711334"/>
            <a:ext cx="2488182" cy="461665"/>
          </a:xfrm>
          <a:prstGeom prst="rect">
            <a:avLst/>
          </a:prstGeom>
        </p:spPr>
        <p:txBody>
          <a:bodyPr wrap="none">
            <a:spAutoFit/>
          </a:bodyPr>
          <a:lstStyle/>
          <a:p>
            <a:r>
              <a:rPr lang="en-US" sz="2400" dirty="0" err="1" smtClean="0">
                <a:latin typeface="Lato" panose="020F0502020204030203"/>
              </a:rPr>
              <a:t>Sử</a:t>
            </a:r>
            <a:r>
              <a:rPr lang="en-US" sz="2400" dirty="0" smtClean="0">
                <a:latin typeface="Lato" panose="020F0502020204030203"/>
              </a:rPr>
              <a:t> </a:t>
            </a:r>
            <a:r>
              <a:rPr lang="en-US" sz="2400" dirty="0" err="1" smtClean="0">
                <a:latin typeface="Lato" panose="020F0502020204030203"/>
              </a:rPr>
              <a:t>dụng</a:t>
            </a:r>
            <a:r>
              <a:rPr lang="en-US" sz="2400" dirty="0" smtClean="0">
                <a:latin typeface="Lato" panose="020F0502020204030203"/>
              </a:rPr>
              <a:t> </a:t>
            </a:r>
            <a:r>
              <a:rPr lang="en-US" sz="2400" dirty="0" err="1" smtClean="0">
                <a:latin typeface="Lato" panose="020F0502020204030203"/>
              </a:rPr>
              <a:t>Hàm</a:t>
            </a:r>
            <a:r>
              <a:rPr lang="en-US" sz="2400" dirty="0" smtClean="0">
                <a:latin typeface="Lato" panose="020F0502020204030203"/>
              </a:rPr>
              <a:t> </a:t>
            </a:r>
            <a:r>
              <a:rPr lang="en-US" sz="2400" dirty="0" err="1">
                <a:latin typeface="Lato" panose="020F0502020204030203"/>
              </a:rPr>
              <a:t>băm</a:t>
            </a:r>
            <a:endParaRPr lang="en-US" sz="2400" dirty="0">
              <a:latin typeface="Lato" panose="020F0502020204030203"/>
            </a:endParaRPr>
          </a:p>
        </p:txBody>
      </p:sp>
    </p:spTree>
    <p:extLst>
      <p:ext uri="{BB962C8B-B14F-4D97-AF65-F5344CB8AC3E}">
        <p14:creationId xmlns:p14="http://schemas.microsoft.com/office/powerpoint/2010/main" val="1189887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3059">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3059">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73059">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73059">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animBg="1"/>
      <p:bldP spid="11" grpId="0" animBg="1"/>
      <p:bldP spid="12" grpId="0" animBg="1"/>
      <p:bldP spid="13" grpId="0" animBg="1"/>
      <p:bldP spid="2" grpId="0"/>
      <p:bldP spid="3" grpId="0"/>
      <p:bldP spid="20"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C24317B-5122-4A99-A6E9-FA23C146A7E0}" type="slidenum">
              <a:rPr lang="en-US" smtClean="0"/>
              <a:pPr/>
              <a:t>22</a:t>
            </a:fld>
            <a:endParaRPr lang="en-US"/>
          </a:p>
        </p:txBody>
      </p:sp>
      <p:sp>
        <p:nvSpPr>
          <p:cNvPr id="4" name="Title 3"/>
          <p:cNvSpPr>
            <a:spLocks noGrp="1"/>
          </p:cNvSpPr>
          <p:nvPr>
            <p:ph type="title"/>
          </p:nvPr>
        </p:nvSpPr>
        <p:spPr/>
        <p:txBody>
          <a:bodyPr>
            <a:normAutofit/>
          </a:bodyPr>
          <a:lstStyle/>
          <a:p>
            <a:r>
              <a:rPr lang="en-US" altLang="en-US" sz="2400" dirty="0" smtClean="0"/>
              <a:t>4. </a:t>
            </a:r>
            <a:r>
              <a:rPr lang="en-US" altLang="en-US" sz="2400" dirty="0" err="1" smtClean="0"/>
              <a:t>Các</a:t>
            </a:r>
            <a:r>
              <a:rPr lang="en-US" altLang="en-US" sz="2400" dirty="0" smtClean="0"/>
              <a:t> </a:t>
            </a:r>
            <a:r>
              <a:rPr lang="en-US" altLang="en-US" sz="2400" dirty="0" err="1"/>
              <a:t>giải</a:t>
            </a:r>
            <a:r>
              <a:rPr lang="en-US" altLang="en-US" sz="2400" dirty="0"/>
              <a:t> </a:t>
            </a:r>
            <a:r>
              <a:rPr lang="en-US" altLang="en-US" sz="2400" dirty="0" err="1"/>
              <a:t>thuật</a:t>
            </a:r>
            <a:r>
              <a:rPr lang="en-US" altLang="en-US" sz="2400" dirty="0"/>
              <a:t> </a:t>
            </a:r>
            <a:r>
              <a:rPr lang="en-US" altLang="en-US" sz="2400" dirty="0" err="1"/>
              <a:t>tìm</a:t>
            </a:r>
            <a:r>
              <a:rPr lang="en-US" altLang="en-US" sz="2400" dirty="0"/>
              <a:t> </a:t>
            </a:r>
            <a:r>
              <a:rPr lang="en-US" altLang="en-US" sz="2400" dirty="0" err="1"/>
              <a:t>kiếm</a:t>
            </a:r>
            <a:r>
              <a:rPr lang="en-US" altLang="en-US" sz="2400" dirty="0"/>
              <a:t> </a:t>
            </a:r>
            <a:r>
              <a:rPr lang="en-US" altLang="en-US" sz="2400" dirty="0" err="1"/>
              <a:t>trực</a:t>
            </a:r>
            <a:r>
              <a:rPr lang="en-US" altLang="en-US" sz="2400" dirty="0"/>
              <a:t> </a:t>
            </a:r>
            <a:r>
              <a:rPr lang="en-US" altLang="en-US" sz="2400" dirty="0" err="1" smtClean="0"/>
              <a:t>tiếp</a:t>
            </a:r>
            <a:endParaRPr lang="en-US" sz="2400" dirty="0"/>
          </a:p>
        </p:txBody>
      </p:sp>
      <p:sp>
        <p:nvSpPr>
          <p:cNvPr id="5" name="Text Placeholder 4"/>
          <p:cNvSpPr>
            <a:spLocks noGrp="1"/>
          </p:cNvSpPr>
          <p:nvPr>
            <p:ph type="body" sz="quarter" idx="13"/>
          </p:nvPr>
        </p:nvSpPr>
        <p:spPr>
          <a:xfrm>
            <a:off x="234951" y="963168"/>
            <a:ext cx="8674100" cy="5513832"/>
          </a:xfrm>
        </p:spPr>
        <p:txBody>
          <a:bodyPr>
            <a:normAutofit/>
          </a:bodyPr>
          <a:lstStyle/>
          <a:p>
            <a:r>
              <a:rPr lang="vi-VN" sz="2400" dirty="0" smtClean="0"/>
              <a:t>Hàm </a:t>
            </a:r>
            <a:r>
              <a:rPr lang="vi-VN" sz="2400" dirty="0"/>
              <a:t>băm </a:t>
            </a:r>
            <a:r>
              <a:rPr lang="vi-VN" sz="2400" dirty="0" smtClean="0"/>
              <a:t>tố</a:t>
            </a:r>
            <a:r>
              <a:rPr lang="en-US" sz="2400" dirty="0" smtClean="0"/>
              <a:t>t:</a:t>
            </a:r>
          </a:p>
          <a:p>
            <a:pPr lvl="1"/>
            <a:r>
              <a:rPr lang="vi-VN" sz="2100" dirty="0" smtClean="0"/>
              <a:t>đơn </a:t>
            </a:r>
            <a:r>
              <a:rPr lang="vi-VN" sz="2100" dirty="0"/>
              <a:t>giản và có thể tính toán được trong thời gian ngắn</a:t>
            </a:r>
          </a:p>
          <a:p>
            <a:pPr lvl="1"/>
            <a:r>
              <a:rPr lang="vi-VN" sz="2100" dirty="0" smtClean="0"/>
              <a:t>phân </a:t>
            </a:r>
            <a:r>
              <a:rPr lang="vi-VN" sz="2100" dirty="0"/>
              <a:t>bổ </a:t>
            </a:r>
            <a:r>
              <a:rPr lang="vi-VN" sz="2100" dirty="0" smtClean="0"/>
              <a:t>một tập </a:t>
            </a:r>
            <a:r>
              <a:rPr lang="vi-VN" sz="2100" dirty="0"/>
              <a:t>các giá </a:t>
            </a:r>
            <a:r>
              <a:rPr lang="vi-VN" sz="2100" dirty="0" smtClean="0"/>
              <a:t>trị</a:t>
            </a:r>
            <a:r>
              <a:rPr lang="en-US" sz="2100" dirty="0" smtClean="0"/>
              <a:t> </a:t>
            </a:r>
            <a:r>
              <a:rPr lang="vi-VN" sz="2100" dirty="0" smtClean="0"/>
              <a:t>khóa </a:t>
            </a:r>
            <a:r>
              <a:rPr lang="vi-VN" sz="2100" dirty="0"/>
              <a:t>một cách ngẫu nhiên và đều trên một tập các </a:t>
            </a:r>
            <a:r>
              <a:rPr lang="vi-VN" sz="2100" dirty="0" smtClean="0"/>
              <a:t>ô</a:t>
            </a:r>
            <a:r>
              <a:rPr lang="en-US" sz="2100" dirty="0" smtClean="0"/>
              <a:t> </a:t>
            </a:r>
            <a:r>
              <a:rPr lang="vi-VN" sz="2100" dirty="0" smtClean="0"/>
              <a:t>trong bảng</a:t>
            </a:r>
            <a:endParaRPr lang="en-US" sz="2100" dirty="0" smtClean="0"/>
          </a:p>
          <a:p>
            <a:r>
              <a:rPr lang="en-US" sz="2400" dirty="0" err="1"/>
              <a:t>Tính</a:t>
            </a:r>
            <a:r>
              <a:rPr lang="en-US" sz="2400" dirty="0"/>
              <a:t> </a:t>
            </a:r>
            <a:r>
              <a:rPr lang="en-US" sz="2400" dirty="0" err="1"/>
              <a:t>chất</a:t>
            </a:r>
            <a:r>
              <a:rPr lang="en-US" sz="2400" dirty="0"/>
              <a:t>: </a:t>
            </a:r>
            <a:r>
              <a:rPr lang="en-US" sz="2400" dirty="0" err="1" smtClean="0"/>
              <a:t>hàm</a:t>
            </a:r>
            <a:r>
              <a:rPr lang="en-US" sz="2400" dirty="0" smtClean="0"/>
              <a:t> </a:t>
            </a:r>
            <a:r>
              <a:rPr lang="en-US" sz="2400" dirty="0" err="1"/>
              <a:t>băm</a:t>
            </a:r>
            <a:r>
              <a:rPr lang="en-US" sz="2400" dirty="0"/>
              <a:t> </a:t>
            </a:r>
            <a:r>
              <a:rPr lang="en-US" sz="2400" i="1" dirty="0"/>
              <a:t>h</a:t>
            </a:r>
            <a:r>
              <a:rPr lang="en-US" sz="2400" dirty="0"/>
              <a:t> </a:t>
            </a:r>
            <a:r>
              <a:rPr lang="en-US" sz="2400" dirty="0" err="1" smtClean="0"/>
              <a:t>thỏa</a:t>
            </a:r>
            <a:r>
              <a:rPr lang="en-US" sz="2400" dirty="0" smtClean="0"/>
              <a:t> </a:t>
            </a:r>
            <a:r>
              <a:rPr lang="en-US" sz="2400" dirty="0" err="1"/>
              <a:t>mãn</a:t>
            </a:r>
            <a:r>
              <a:rPr lang="en-US" sz="2400" dirty="0"/>
              <a:t> 2 </a:t>
            </a:r>
            <a:r>
              <a:rPr lang="en-US" sz="2400" dirty="0" err="1"/>
              <a:t>điều</a:t>
            </a:r>
            <a:r>
              <a:rPr lang="en-US" sz="2400" dirty="0"/>
              <a:t> </a:t>
            </a:r>
            <a:r>
              <a:rPr lang="en-US" sz="2400" dirty="0" err="1" smtClean="0"/>
              <a:t>kiện</a:t>
            </a:r>
            <a:endParaRPr lang="en-US" sz="2400" dirty="0"/>
          </a:p>
          <a:p>
            <a:pPr lvl="1"/>
            <a:r>
              <a:rPr lang="en-US" sz="2100" b="1" dirty="0" err="1"/>
              <a:t>Đầy</a:t>
            </a:r>
            <a:r>
              <a:rPr lang="en-US" sz="2100" b="1" dirty="0"/>
              <a:t> </a:t>
            </a:r>
            <a:r>
              <a:rPr lang="en-US" sz="2100" b="1" dirty="0" err="1"/>
              <a:t>đủ</a:t>
            </a:r>
            <a:r>
              <a:rPr lang="en-US" sz="2100" b="1" dirty="0"/>
              <a:t>: </a:t>
            </a:r>
            <a:r>
              <a:rPr lang="vi-VN" sz="2100" dirty="0"/>
              <a:t>miền xác định của </a:t>
            </a:r>
            <a:r>
              <a:rPr lang="vi-VN" sz="2100" i="1" dirty="0"/>
              <a:t>h</a:t>
            </a:r>
            <a:r>
              <a:rPr lang="vi-VN" sz="2100" dirty="0"/>
              <a:t> </a:t>
            </a:r>
            <a:r>
              <a:rPr lang="vi-VN" sz="2100" dirty="0" smtClean="0"/>
              <a:t>bao </a:t>
            </a:r>
            <a:r>
              <a:rPr lang="vi-VN" sz="2100" dirty="0"/>
              <a:t>phủ hết miền giá trị</a:t>
            </a:r>
            <a:r>
              <a:rPr lang="en-US" sz="2100" dirty="0"/>
              <a:t> </a:t>
            </a:r>
            <a:r>
              <a:rPr lang="vi-VN" sz="2100" dirty="0"/>
              <a:t>các địa chỉ mà các phần tử có thể được lưu trữ (ánh xạ </a:t>
            </a:r>
            <a:r>
              <a:rPr lang="vi-VN" sz="2100" i="1" dirty="0"/>
              <a:t>h</a:t>
            </a:r>
            <a:r>
              <a:rPr lang="vi-VN" sz="2100" dirty="0"/>
              <a:t> là một toàn ánh)</a:t>
            </a:r>
            <a:endParaRPr lang="en-US" sz="2100" dirty="0"/>
          </a:p>
          <a:p>
            <a:pPr lvl="2"/>
            <a:r>
              <a:rPr lang="en-US" sz="2000" dirty="0"/>
              <a:t>Đ</a:t>
            </a:r>
            <a:r>
              <a:rPr lang="vi-VN" sz="2000" dirty="0"/>
              <a:t>ảm bảo có thể tìm được bất kỳ phần tử nào dù cho nó nằm ở</a:t>
            </a:r>
            <a:r>
              <a:rPr lang="en-US" sz="2000" dirty="0"/>
              <a:t> </a:t>
            </a:r>
            <a:r>
              <a:rPr lang="vi-VN" sz="2000" dirty="0"/>
              <a:t>đâu trong miền lưu trữ</a:t>
            </a:r>
            <a:endParaRPr lang="en-US" sz="2000" dirty="0"/>
          </a:p>
          <a:p>
            <a:pPr lvl="1"/>
            <a:r>
              <a:rPr lang="en-US" sz="2100" b="1" dirty="0" err="1"/>
              <a:t>Không</a:t>
            </a:r>
            <a:r>
              <a:rPr lang="en-US" sz="2100" b="1" dirty="0"/>
              <a:t> </a:t>
            </a:r>
            <a:r>
              <a:rPr lang="en-US" sz="2100" b="1" dirty="0" err="1"/>
              <a:t>đụng</a:t>
            </a:r>
            <a:r>
              <a:rPr lang="en-US" sz="2100" b="1" dirty="0"/>
              <a:t> </a:t>
            </a:r>
            <a:r>
              <a:rPr lang="en-US" sz="2100" b="1" dirty="0" err="1"/>
              <a:t>độ</a:t>
            </a:r>
            <a:r>
              <a:rPr lang="en-US" sz="2100" dirty="0"/>
              <a:t>: </a:t>
            </a:r>
          </a:p>
          <a:p>
            <a:pPr lvl="2"/>
            <a:r>
              <a:rPr lang="vi-VN" sz="2000" dirty="0"/>
              <a:t>Hiện tượng đụng độ</a:t>
            </a:r>
            <a:r>
              <a:rPr lang="en-US" sz="2000" dirty="0"/>
              <a:t>: </a:t>
            </a:r>
            <a:r>
              <a:rPr lang="vi-VN" sz="2000" dirty="0"/>
              <a:t>Xảy ra khi giá trị hàm băm trên hai khóa tìm kiếm khác nhau lại bằng nhau: </a:t>
            </a:r>
            <a:r>
              <a:rPr lang="vi-VN" sz="2400" dirty="0"/>
              <a:t>∃ 𝐾</a:t>
            </a:r>
            <a:r>
              <a:rPr lang="vi-VN" sz="2400" baseline="-25000" dirty="0"/>
              <a:t>1</a:t>
            </a:r>
            <a:r>
              <a:rPr lang="vi-VN" sz="2400" dirty="0"/>
              <a:t>≠𝐾</a:t>
            </a:r>
            <a:r>
              <a:rPr lang="vi-VN" sz="2400" baseline="-25000" dirty="0"/>
              <a:t>2</a:t>
            </a:r>
            <a:r>
              <a:rPr lang="vi-VN" sz="2400" dirty="0"/>
              <a:t>:</a:t>
            </a:r>
            <a:r>
              <a:rPr lang="en-US" sz="2400" dirty="0"/>
              <a:t> </a:t>
            </a:r>
            <a:r>
              <a:rPr lang="vi-VN" sz="2400" dirty="0"/>
              <a:t>ℎ(𝐾</a:t>
            </a:r>
            <a:r>
              <a:rPr lang="vi-VN" sz="2400" baseline="-25000" dirty="0"/>
              <a:t>1</a:t>
            </a:r>
            <a:r>
              <a:rPr lang="vi-VN" sz="2400" dirty="0"/>
              <a:t>)=ℎ(𝐾</a:t>
            </a:r>
            <a:r>
              <a:rPr lang="vi-VN" sz="2400" baseline="-25000" dirty="0"/>
              <a:t>2</a:t>
            </a:r>
            <a:r>
              <a:rPr lang="vi-VN" sz="2400" dirty="0"/>
              <a:t>)</a:t>
            </a:r>
            <a:endParaRPr lang="en-US" sz="2400" dirty="0"/>
          </a:p>
          <a:p>
            <a:pPr lvl="2"/>
            <a:r>
              <a:rPr lang="en-US" sz="2000" dirty="0"/>
              <a:t>K</a:t>
            </a:r>
            <a:r>
              <a:rPr lang="vi-VN" sz="2000" dirty="0"/>
              <a:t>hông đụng độ</a:t>
            </a:r>
            <a:r>
              <a:rPr lang="en-US" sz="2000" dirty="0"/>
              <a:t> </a:t>
            </a:r>
            <a:r>
              <a:rPr lang="vi-VN" sz="2000" dirty="0"/>
              <a:t>sẽ đảm bảo ánh xạ </a:t>
            </a:r>
            <a:r>
              <a:rPr lang="vi-VN" sz="2000" i="1" dirty="0"/>
              <a:t>h</a:t>
            </a:r>
            <a:r>
              <a:rPr lang="vi-VN" sz="2000" dirty="0"/>
              <a:t> là một đơn ánh</a:t>
            </a:r>
            <a:endParaRPr lang="en-US" sz="2000" dirty="0"/>
          </a:p>
          <a:p>
            <a:endParaRPr lang="en-US" sz="2600" dirty="0" smtClean="0"/>
          </a:p>
          <a:p>
            <a:pPr marL="342900" lvl="1" indent="0">
              <a:buNone/>
            </a:pPr>
            <a:endParaRPr lang="vi-VN" dirty="0"/>
          </a:p>
          <a:p>
            <a:pPr lvl="2"/>
            <a:endParaRPr lang="en-US" sz="1800" dirty="0" smtClean="0"/>
          </a:p>
          <a:p>
            <a:pPr lvl="1"/>
            <a:endParaRPr lang="en-US" dirty="0"/>
          </a:p>
        </p:txBody>
      </p:sp>
    </p:spTree>
    <p:extLst>
      <p:ext uri="{BB962C8B-B14F-4D97-AF65-F5344CB8AC3E}">
        <p14:creationId xmlns:p14="http://schemas.microsoft.com/office/powerpoint/2010/main" val="1266946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C24317B-5122-4A99-A6E9-FA23C146A7E0}" type="slidenum">
              <a:rPr lang="en-US" smtClean="0"/>
              <a:pPr/>
              <a:t>23</a:t>
            </a:fld>
            <a:endParaRPr lang="en-US"/>
          </a:p>
        </p:txBody>
      </p:sp>
      <p:sp>
        <p:nvSpPr>
          <p:cNvPr id="4" name="Title 3"/>
          <p:cNvSpPr>
            <a:spLocks noGrp="1"/>
          </p:cNvSpPr>
          <p:nvPr>
            <p:ph type="title"/>
          </p:nvPr>
        </p:nvSpPr>
        <p:spPr/>
        <p:txBody>
          <a:bodyPr>
            <a:normAutofit/>
          </a:bodyPr>
          <a:lstStyle/>
          <a:p>
            <a:r>
              <a:rPr lang="en-US" altLang="en-US" sz="2400" dirty="0"/>
              <a:t>4</a:t>
            </a:r>
            <a:r>
              <a:rPr lang="en-US" altLang="en-US" sz="2400" dirty="0" smtClean="0"/>
              <a:t>. </a:t>
            </a:r>
            <a:r>
              <a:rPr lang="en-US" altLang="en-US" sz="2400" dirty="0" err="1" smtClean="0"/>
              <a:t>Các</a:t>
            </a:r>
            <a:r>
              <a:rPr lang="en-US" altLang="en-US" sz="2400" dirty="0" smtClean="0"/>
              <a:t> </a:t>
            </a:r>
            <a:r>
              <a:rPr lang="en-US" altLang="en-US" sz="2400" dirty="0" err="1"/>
              <a:t>giải</a:t>
            </a:r>
            <a:r>
              <a:rPr lang="en-US" altLang="en-US" sz="2400" dirty="0"/>
              <a:t> </a:t>
            </a:r>
            <a:r>
              <a:rPr lang="en-US" altLang="en-US" sz="2400" dirty="0" err="1"/>
              <a:t>thuật</a:t>
            </a:r>
            <a:r>
              <a:rPr lang="en-US" altLang="en-US" sz="2400" dirty="0"/>
              <a:t> </a:t>
            </a:r>
            <a:r>
              <a:rPr lang="en-US" altLang="en-US" sz="2400" dirty="0" err="1"/>
              <a:t>tìm</a:t>
            </a:r>
            <a:r>
              <a:rPr lang="en-US" altLang="en-US" sz="2400" dirty="0"/>
              <a:t> </a:t>
            </a:r>
            <a:r>
              <a:rPr lang="en-US" altLang="en-US" sz="2400" dirty="0" err="1"/>
              <a:t>kiếm</a:t>
            </a:r>
            <a:r>
              <a:rPr lang="en-US" altLang="en-US" sz="2400" dirty="0"/>
              <a:t> </a:t>
            </a:r>
            <a:r>
              <a:rPr lang="en-US" altLang="en-US" sz="2400" dirty="0" err="1"/>
              <a:t>trực</a:t>
            </a:r>
            <a:r>
              <a:rPr lang="en-US" altLang="en-US" sz="2400" dirty="0"/>
              <a:t> </a:t>
            </a:r>
            <a:r>
              <a:rPr lang="en-US" altLang="en-US" sz="2400" dirty="0" err="1" smtClean="0"/>
              <a:t>tiếp</a:t>
            </a:r>
            <a:endParaRPr lang="en-US" sz="2400" dirty="0"/>
          </a:p>
        </p:txBody>
      </p:sp>
      <p:sp>
        <p:nvSpPr>
          <p:cNvPr id="5" name="Text Placeholder 4"/>
          <p:cNvSpPr>
            <a:spLocks noGrp="1"/>
          </p:cNvSpPr>
          <p:nvPr>
            <p:ph type="body" sz="quarter" idx="13"/>
          </p:nvPr>
        </p:nvSpPr>
        <p:spPr>
          <a:xfrm>
            <a:off x="234951" y="963168"/>
            <a:ext cx="8674100" cy="5513832"/>
          </a:xfrm>
        </p:spPr>
        <p:txBody>
          <a:bodyPr>
            <a:normAutofit/>
          </a:bodyPr>
          <a:lstStyle/>
          <a:p>
            <a:r>
              <a:rPr lang="en-US" sz="2400" dirty="0" err="1" smtClean="0"/>
              <a:t>Xét</a:t>
            </a:r>
            <a:r>
              <a:rPr lang="en-US" sz="2400" dirty="0" smtClean="0"/>
              <a:t> c</a:t>
            </a:r>
            <a:r>
              <a:rPr lang="vi-VN" sz="2400" dirty="0" smtClean="0"/>
              <a:t>ấu </a:t>
            </a:r>
            <a:r>
              <a:rPr lang="vi-VN" sz="2400" dirty="0"/>
              <a:t>trúc lưu </a:t>
            </a:r>
            <a:r>
              <a:rPr lang="vi-VN" sz="2400" dirty="0" smtClean="0"/>
              <a:t>trữ</a:t>
            </a:r>
            <a:r>
              <a:rPr lang="en-US" sz="2400" dirty="0" smtClean="0"/>
              <a:t> </a:t>
            </a:r>
            <a:r>
              <a:rPr lang="en-US" sz="2400" dirty="0" err="1" smtClean="0"/>
              <a:t>danh</a:t>
            </a:r>
            <a:r>
              <a:rPr lang="en-US" sz="2400" dirty="0" smtClean="0"/>
              <a:t> </a:t>
            </a:r>
            <a:r>
              <a:rPr lang="en-US" sz="2400" dirty="0" err="1" smtClean="0"/>
              <a:t>sách</a:t>
            </a:r>
            <a:r>
              <a:rPr lang="en-US" sz="2400" dirty="0" smtClean="0"/>
              <a:t>:</a:t>
            </a:r>
          </a:p>
          <a:p>
            <a:pPr lvl="1"/>
            <a:r>
              <a:rPr lang="en-US" sz="2100" dirty="0" smtClean="0"/>
              <a:t>C</a:t>
            </a:r>
            <a:r>
              <a:rPr lang="vi-VN" sz="2100" dirty="0" smtClean="0"/>
              <a:t>ấu </a:t>
            </a:r>
            <a:r>
              <a:rPr lang="vi-VN" sz="2100" dirty="0"/>
              <a:t>trúc móc </a:t>
            </a:r>
            <a:r>
              <a:rPr lang="vi-VN" sz="2100" dirty="0" smtClean="0"/>
              <a:t>nối</a:t>
            </a:r>
            <a:r>
              <a:rPr lang="en-US" sz="2100" dirty="0" smtClean="0"/>
              <a:t>: </a:t>
            </a:r>
          </a:p>
          <a:p>
            <a:pPr lvl="2"/>
            <a:r>
              <a:rPr lang="en-US" sz="2000" dirty="0"/>
              <a:t>Đ</a:t>
            </a:r>
            <a:r>
              <a:rPr lang="vi-VN" sz="2000" dirty="0" smtClean="0"/>
              <a:t>ộng</a:t>
            </a:r>
            <a:r>
              <a:rPr lang="vi-VN" sz="2000" dirty="0"/>
              <a:t>, </a:t>
            </a:r>
            <a:r>
              <a:rPr lang="vi-VN" sz="2000" dirty="0" smtClean="0"/>
              <a:t>địa </a:t>
            </a:r>
            <a:r>
              <a:rPr lang="vi-VN" sz="2000" dirty="0"/>
              <a:t>chỉ </a:t>
            </a:r>
            <a:r>
              <a:rPr lang="vi-VN" sz="2000" dirty="0" smtClean="0"/>
              <a:t>các</a:t>
            </a:r>
            <a:r>
              <a:rPr lang="en-US" sz="2000" dirty="0" smtClean="0"/>
              <a:t> </a:t>
            </a:r>
            <a:r>
              <a:rPr lang="vi-VN" sz="2000" dirty="0" smtClean="0"/>
              <a:t>nút </a:t>
            </a:r>
            <a:r>
              <a:rPr lang="vi-VN" sz="2000" dirty="0"/>
              <a:t>để lưu các phần tử là không cố định </a:t>
            </a:r>
            <a:endParaRPr lang="en-US" sz="2000" dirty="0" smtClean="0"/>
          </a:p>
          <a:p>
            <a:pPr lvl="2"/>
            <a:r>
              <a:rPr lang="en-US" sz="2000" dirty="0" smtClean="0"/>
              <a:t>K</a:t>
            </a:r>
            <a:r>
              <a:rPr lang="vi-VN" sz="2000" dirty="0" smtClean="0"/>
              <a:t>hó xác </a:t>
            </a:r>
            <a:r>
              <a:rPr lang="vi-VN" sz="2000" dirty="0"/>
              <a:t>định được miền giá trị cho các </a:t>
            </a:r>
            <a:r>
              <a:rPr lang="vi-VN" sz="2000" dirty="0" smtClean="0"/>
              <a:t>địa</a:t>
            </a:r>
            <a:r>
              <a:rPr lang="en-US" sz="2000" dirty="0" smtClean="0"/>
              <a:t> </a:t>
            </a:r>
            <a:r>
              <a:rPr lang="vi-VN" sz="2000" dirty="0" smtClean="0"/>
              <a:t>chỉ </a:t>
            </a:r>
            <a:r>
              <a:rPr lang="vi-VN" sz="2000" dirty="0"/>
              <a:t>của các nút</a:t>
            </a:r>
            <a:endParaRPr lang="en-US" sz="2000" dirty="0" smtClean="0"/>
          </a:p>
          <a:p>
            <a:pPr lvl="1"/>
            <a:r>
              <a:rPr lang="en-US" sz="2100" dirty="0" err="1"/>
              <a:t>Cấu</a:t>
            </a:r>
            <a:r>
              <a:rPr lang="en-US" sz="2100" dirty="0"/>
              <a:t> </a:t>
            </a:r>
            <a:r>
              <a:rPr lang="en-US" sz="2100" dirty="0" err="1"/>
              <a:t>trúc</a:t>
            </a:r>
            <a:r>
              <a:rPr lang="en-US" sz="2100" dirty="0"/>
              <a:t> </a:t>
            </a:r>
            <a:r>
              <a:rPr lang="en-US" sz="2100" dirty="0" err="1"/>
              <a:t>mảng</a:t>
            </a:r>
            <a:r>
              <a:rPr lang="en-US" sz="2100" dirty="0"/>
              <a:t>: </a:t>
            </a:r>
          </a:p>
          <a:p>
            <a:pPr lvl="2"/>
            <a:r>
              <a:rPr lang="en-US" sz="2000" dirty="0" err="1"/>
              <a:t>Đ</a:t>
            </a:r>
            <a:r>
              <a:rPr lang="en-US" sz="2000" dirty="0" err="1" smtClean="0"/>
              <a:t>ịa</a:t>
            </a:r>
            <a:r>
              <a:rPr lang="en-US" sz="2000" dirty="0" smtClean="0"/>
              <a:t> </a:t>
            </a:r>
            <a:r>
              <a:rPr lang="en-US" sz="2000" dirty="0" err="1"/>
              <a:t>chỉ</a:t>
            </a:r>
            <a:r>
              <a:rPr lang="en-US" sz="2000" dirty="0"/>
              <a:t> </a:t>
            </a:r>
            <a:r>
              <a:rPr lang="en-US" sz="2000" dirty="0" err="1"/>
              <a:t>của</a:t>
            </a:r>
            <a:r>
              <a:rPr lang="en-US" sz="2000" dirty="0"/>
              <a:t> </a:t>
            </a:r>
            <a:r>
              <a:rPr lang="en-US" sz="2000" dirty="0" err="1"/>
              <a:t>các</a:t>
            </a:r>
            <a:r>
              <a:rPr lang="en-US" sz="2000" dirty="0"/>
              <a:t> </a:t>
            </a:r>
            <a:r>
              <a:rPr lang="en-US" sz="2000" dirty="0" err="1"/>
              <a:t>phần</a:t>
            </a:r>
            <a:r>
              <a:rPr lang="en-US" sz="2000" dirty="0"/>
              <a:t> </a:t>
            </a:r>
            <a:r>
              <a:rPr lang="en-US" sz="2000" dirty="0" err="1"/>
              <a:t>tử</a:t>
            </a:r>
            <a:r>
              <a:rPr lang="en-US" sz="2000" dirty="0"/>
              <a:t> </a:t>
            </a:r>
            <a:r>
              <a:rPr lang="en-US" sz="2000" dirty="0" err="1"/>
              <a:t>có</a:t>
            </a:r>
            <a:r>
              <a:rPr lang="en-US" sz="2000" dirty="0"/>
              <a:t> </a:t>
            </a:r>
            <a:r>
              <a:rPr lang="en-US" sz="2000" dirty="0" err="1"/>
              <a:t>thể</a:t>
            </a:r>
            <a:r>
              <a:rPr lang="en-US" sz="2000" dirty="0"/>
              <a:t> </a:t>
            </a:r>
            <a:r>
              <a:rPr lang="en-US" sz="2000" dirty="0" err="1"/>
              <a:t>tính</a:t>
            </a:r>
            <a:r>
              <a:rPr lang="en-US" sz="2000" dirty="0"/>
              <a:t> </a:t>
            </a:r>
            <a:r>
              <a:rPr lang="en-US" sz="2000" dirty="0" err="1"/>
              <a:t>từ</a:t>
            </a:r>
            <a:r>
              <a:rPr lang="en-US" sz="2000" dirty="0"/>
              <a:t> </a:t>
            </a:r>
            <a:r>
              <a:rPr lang="en-US" sz="2000" dirty="0" err="1"/>
              <a:t>chỉ</a:t>
            </a:r>
            <a:r>
              <a:rPr lang="en-US" sz="2000" dirty="0"/>
              <a:t> </a:t>
            </a:r>
            <a:r>
              <a:rPr lang="en-US" sz="2000" dirty="0" err="1"/>
              <a:t>số</a:t>
            </a:r>
            <a:r>
              <a:rPr lang="en-US" sz="2000" dirty="0"/>
              <a:t> </a:t>
            </a:r>
            <a:r>
              <a:rPr lang="en-US" sz="2000" dirty="0" err="1"/>
              <a:t>của</a:t>
            </a:r>
            <a:r>
              <a:rPr lang="en-US" sz="2000" dirty="0"/>
              <a:t> </a:t>
            </a:r>
            <a:r>
              <a:rPr lang="en-US" sz="2000" dirty="0" err="1" smtClean="0"/>
              <a:t>mảng</a:t>
            </a:r>
            <a:endParaRPr lang="en-US" sz="2000" dirty="0" smtClean="0"/>
          </a:p>
          <a:p>
            <a:pPr lvl="2"/>
            <a:r>
              <a:rPr lang="en-US" sz="2000" dirty="0" err="1" smtClean="0"/>
              <a:t>Tính</a:t>
            </a:r>
            <a:r>
              <a:rPr lang="en-US" sz="2000" dirty="0" smtClean="0"/>
              <a:t> </a:t>
            </a:r>
            <a:r>
              <a:rPr lang="en-US" sz="2000" dirty="0" err="1" smtClean="0"/>
              <a:t>không</a:t>
            </a:r>
            <a:r>
              <a:rPr lang="en-US" sz="2000" dirty="0" smtClean="0"/>
              <a:t> </a:t>
            </a:r>
            <a:r>
              <a:rPr lang="en-US" sz="2000" dirty="0" err="1" smtClean="0"/>
              <a:t>đụng</a:t>
            </a:r>
            <a:r>
              <a:rPr lang="en-US" sz="2000" dirty="0" smtClean="0"/>
              <a:t> </a:t>
            </a:r>
            <a:r>
              <a:rPr lang="en-US" sz="2000" dirty="0" err="1" smtClean="0"/>
              <a:t>độ</a:t>
            </a:r>
            <a:r>
              <a:rPr lang="en-US" sz="2000" dirty="0" smtClean="0"/>
              <a:t> </a:t>
            </a:r>
            <a:r>
              <a:rPr lang="vi-VN" sz="2000" dirty="0" smtClean="0"/>
              <a:t>thường </a:t>
            </a:r>
            <a:r>
              <a:rPr lang="vi-VN" sz="2000" dirty="0"/>
              <a:t>không thể đạt </a:t>
            </a:r>
            <a:r>
              <a:rPr lang="vi-VN" sz="2000" dirty="0" smtClean="0"/>
              <a:t>được</a:t>
            </a:r>
            <a:r>
              <a:rPr lang="en-US" sz="2000" dirty="0" smtClean="0"/>
              <a:t> </a:t>
            </a:r>
            <a:r>
              <a:rPr lang="vi-VN" sz="2000" dirty="0" smtClean="0"/>
              <a:t>hoàn toàn</a:t>
            </a:r>
            <a:r>
              <a:rPr lang="en-US" sz="2000" dirty="0" smtClean="0"/>
              <a:t> (</a:t>
            </a:r>
            <a:r>
              <a:rPr lang="en-US" sz="2000" dirty="0" err="1" smtClean="0"/>
              <a:t>cần</a:t>
            </a:r>
            <a:r>
              <a:rPr lang="en-US" sz="2000" dirty="0" smtClean="0"/>
              <a:t> </a:t>
            </a:r>
            <a:r>
              <a:rPr lang="en-US" sz="2000" dirty="0" err="1" smtClean="0"/>
              <a:t>giảm</a:t>
            </a:r>
            <a:r>
              <a:rPr lang="en-US" sz="2000" dirty="0" smtClean="0"/>
              <a:t> </a:t>
            </a:r>
            <a:r>
              <a:rPr lang="en-US" sz="2000" dirty="0" err="1" smtClean="0"/>
              <a:t>khả</a:t>
            </a:r>
            <a:r>
              <a:rPr lang="en-US" sz="2000" dirty="0" smtClean="0"/>
              <a:t> </a:t>
            </a:r>
            <a:r>
              <a:rPr lang="en-US" sz="2000" dirty="0" err="1" smtClean="0"/>
              <a:t>năng</a:t>
            </a:r>
            <a:r>
              <a:rPr lang="en-US" sz="2000" dirty="0" smtClean="0"/>
              <a:t> </a:t>
            </a:r>
            <a:r>
              <a:rPr lang="en-US" sz="2000" dirty="0" err="1" smtClean="0"/>
              <a:t>đụng</a:t>
            </a:r>
            <a:r>
              <a:rPr lang="en-US" sz="2000" dirty="0" smtClean="0"/>
              <a:t> </a:t>
            </a:r>
            <a:r>
              <a:rPr lang="en-US" sz="2000" dirty="0" err="1" smtClean="0"/>
              <a:t>độ</a:t>
            </a:r>
            <a:r>
              <a:rPr lang="en-US" sz="2000" dirty="0" smtClean="0"/>
              <a:t> </a:t>
            </a:r>
            <a:r>
              <a:rPr lang="en-US" sz="2000" dirty="0" err="1" smtClean="0"/>
              <a:t>thấp</a:t>
            </a:r>
            <a:r>
              <a:rPr lang="en-US" sz="2000" dirty="0" smtClean="0"/>
              <a:t> </a:t>
            </a:r>
            <a:r>
              <a:rPr lang="en-US" sz="2000" dirty="0" err="1" smtClean="0"/>
              <a:t>nhất</a:t>
            </a:r>
            <a:r>
              <a:rPr lang="en-US" sz="2000" dirty="0" smtClean="0"/>
              <a:t>)</a:t>
            </a:r>
            <a:endParaRPr lang="en-US" sz="2000" dirty="0"/>
          </a:p>
          <a:p>
            <a:pPr lvl="1"/>
            <a:endParaRPr lang="vi-VN" dirty="0"/>
          </a:p>
          <a:p>
            <a:pPr lvl="2"/>
            <a:endParaRPr lang="en-US" sz="1800" dirty="0" smtClean="0"/>
          </a:p>
          <a:p>
            <a:pPr lvl="1"/>
            <a:endParaRPr lang="en-US" dirty="0"/>
          </a:p>
        </p:txBody>
      </p:sp>
      <p:sp>
        <p:nvSpPr>
          <p:cNvPr id="6" name="Rectangle 5"/>
          <p:cNvSpPr/>
          <p:nvPr/>
        </p:nvSpPr>
        <p:spPr>
          <a:xfrm>
            <a:off x="5264277" y="4343400"/>
            <a:ext cx="3879723" cy="646331"/>
          </a:xfrm>
          <a:prstGeom prst="rect">
            <a:avLst/>
          </a:prstGeom>
        </p:spPr>
        <p:txBody>
          <a:bodyPr wrap="square">
            <a:spAutoFit/>
          </a:bodyPr>
          <a:lstStyle/>
          <a:p>
            <a:pPr marL="0" lvl="3"/>
            <a:r>
              <a:rPr lang="en-US" altLang="en-US" dirty="0" err="1">
                <a:latin typeface="Lato" panose="020F0502020204030203"/>
              </a:rPr>
              <a:t>Kích</a:t>
            </a:r>
            <a:r>
              <a:rPr lang="en-US" altLang="en-US" dirty="0">
                <a:latin typeface="Lato" panose="020F0502020204030203"/>
              </a:rPr>
              <a:t> </a:t>
            </a:r>
            <a:r>
              <a:rPr lang="en-US" altLang="en-US" dirty="0" err="1">
                <a:latin typeface="Lato" panose="020F0502020204030203"/>
              </a:rPr>
              <a:t>thước</a:t>
            </a:r>
            <a:r>
              <a:rPr lang="en-US" altLang="en-US" dirty="0">
                <a:latin typeface="Lato" panose="020F0502020204030203"/>
              </a:rPr>
              <a:t> </a:t>
            </a:r>
            <a:r>
              <a:rPr lang="en-US" altLang="en-US" dirty="0" err="1">
                <a:latin typeface="Lato" panose="020F0502020204030203"/>
              </a:rPr>
              <a:t>của</a:t>
            </a:r>
            <a:r>
              <a:rPr lang="en-US" altLang="en-US" dirty="0">
                <a:latin typeface="Lato" panose="020F0502020204030203"/>
              </a:rPr>
              <a:t> </a:t>
            </a:r>
            <a:r>
              <a:rPr lang="en-US" altLang="en-US" dirty="0" err="1">
                <a:latin typeface="Lato" panose="020F0502020204030203"/>
              </a:rPr>
              <a:t>bảng</a:t>
            </a:r>
            <a:r>
              <a:rPr lang="en-US" altLang="en-US" dirty="0">
                <a:latin typeface="Lato" panose="020F0502020204030203"/>
              </a:rPr>
              <a:t> </a:t>
            </a:r>
            <a:r>
              <a:rPr lang="en-US" altLang="en-US" dirty="0" err="1">
                <a:latin typeface="Lato" panose="020F0502020204030203"/>
              </a:rPr>
              <a:t>địa</a:t>
            </a:r>
            <a:r>
              <a:rPr lang="en-US" altLang="en-US" dirty="0">
                <a:latin typeface="Lato" panose="020F0502020204030203"/>
              </a:rPr>
              <a:t> </a:t>
            </a:r>
            <a:r>
              <a:rPr lang="en-US" altLang="en-US" dirty="0" err="1">
                <a:latin typeface="Lato" panose="020F0502020204030203"/>
              </a:rPr>
              <a:t>chỉ</a:t>
            </a:r>
            <a:r>
              <a:rPr lang="en-US" altLang="en-US" dirty="0">
                <a:latin typeface="Lato" panose="020F0502020204030203"/>
              </a:rPr>
              <a:t> </a:t>
            </a:r>
            <a:r>
              <a:rPr lang="en-US" altLang="en-US" dirty="0" err="1">
                <a:latin typeface="Lato" panose="020F0502020204030203"/>
              </a:rPr>
              <a:t>có</a:t>
            </a:r>
            <a:r>
              <a:rPr lang="en-US" altLang="en-US" dirty="0">
                <a:latin typeface="Lato" panose="020F0502020204030203"/>
              </a:rPr>
              <a:t> </a:t>
            </a:r>
            <a:r>
              <a:rPr lang="en-US" altLang="en-US" dirty="0" err="1">
                <a:latin typeface="Lato" panose="020F0502020204030203"/>
              </a:rPr>
              <a:t>giới</a:t>
            </a:r>
            <a:r>
              <a:rPr lang="en-US" altLang="en-US" dirty="0">
                <a:latin typeface="Lato" panose="020F0502020204030203"/>
              </a:rPr>
              <a:t> </a:t>
            </a:r>
            <a:r>
              <a:rPr lang="en-US" altLang="en-US" dirty="0" err="1">
                <a:latin typeface="Lato" panose="020F0502020204030203"/>
              </a:rPr>
              <a:t>hạn</a:t>
            </a:r>
            <a:r>
              <a:rPr lang="en-US" altLang="en-US" dirty="0">
                <a:latin typeface="Lato" panose="020F0502020204030203"/>
              </a:rPr>
              <a:t> =&gt; </a:t>
            </a:r>
            <a:r>
              <a:rPr lang="en-US" altLang="en-US" dirty="0" err="1">
                <a:latin typeface="Lato" panose="020F0502020204030203"/>
              </a:rPr>
              <a:t>hiện</a:t>
            </a:r>
            <a:r>
              <a:rPr lang="en-US" altLang="en-US" dirty="0">
                <a:latin typeface="Lato" panose="020F0502020204030203"/>
              </a:rPr>
              <a:t> </a:t>
            </a:r>
            <a:r>
              <a:rPr lang="en-US" altLang="en-US" dirty="0" err="1">
                <a:latin typeface="Lato" panose="020F0502020204030203"/>
              </a:rPr>
              <a:t>tượng</a:t>
            </a:r>
            <a:r>
              <a:rPr lang="en-US" altLang="en-US" dirty="0">
                <a:latin typeface="Lato" panose="020F0502020204030203"/>
              </a:rPr>
              <a:t> </a:t>
            </a:r>
            <a:r>
              <a:rPr lang="en-US" altLang="en-US" dirty="0" err="1">
                <a:latin typeface="Lato" panose="020F0502020204030203"/>
              </a:rPr>
              <a:t>đụng</a:t>
            </a:r>
            <a:r>
              <a:rPr lang="en-US" altLang="en-US" dirty="0">
                <a:latin typeface="Lato" panose="020F0502020204030203"/>
              </a:rPr>
              <a:t> </a:t>
            </a:r>
            <a:r>
              <a:rPr lang="en-US" altLang="en-US" dirty="0" err="1">
                <a:latin typeface="Lato" panose="020F0502020204030203"/>
              </a:rPr>
              <a:t>độ</a:t>
            </a:r>
            <a:r>
              <a:rPr lang="en-US" altLang="en-US" dirty="0">
                <a:latin typeface="Lato" panose="020F0502020204030203"/>
              </a:rPr>
              <a:t> </a:t>
            </a:r>
            <a:r>
              <a:rPr lang="en-US" altLang="en-US" dirty="0" err="1">
                <a:latin typeface="Lato" panose="020F0502020204030203"/>
              </a:rPr>
              <a:t>địa</a:t>
            </a:r>
            <a:r>
              <a:rPr lang="en-US" altLang="en-US" dirty="0">
                <a:latin typeface="Lato" panose="020F0502020204030203"/>
              </a:rPr>
              <a:t> </a:t>
            </a:r>
            <a:r>
              <a:rPr lang="en-US" altLang="en-US" dirty="0" err="1">
                <a:latin typeface="Lato" panose="020F0502020204030203"/>
              </a:rPr>
              <a:t>chỉ</a:t>
            </a:r>
            <a:endParaRPr lang="en-US" altLang="en-US" dirty="0">
              <a:latin typeface="Lato" panose="020F0502020204030203"/>
            </a:endParaRPr>
          </a:p>
        </p:txBody>
      </p:sp>
      <p:pic>
        <p:nvPicPr>
          <p:cNvPr id="7" name="Picture 6"/>
          <p:cNvPicPr>
            <a:picLocks noChangeAspect="1"/>
          </p:cNvPicPr>
          <p:nvPr/>
        </p:nvPicPr>
        <p:blipFill>
          <a:blip r:embed="rId3"/>
          <a:stretch>
            <a:fillRect/>
          </a:stretch>
        </p:blipFill>
        <p:spPr>
          <a:xfrm>
            <a:off x="1080433" y="3810000"/>
            <a:ext cx="3987891" cy="2514600"/>
          </a:xfrm>
          <a:prstGeom prst="rect">
            <a:avLst/>
          </a:prstGeom>
        </p:spPr>
      </p:pic>
    </p:spTree>
    <p:extLst>
      <p:ext uri="{BB962C8B-B14F-4D97-AF65-F5344CB8AC3E}">
        <p14:creationId xmlns:p14="http://schemas.microsoft.com/office/powerpoint/2010/main" val="344037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C24317B-5122-4A99-A6E9-FA23C146A7E0}" type="slidenum">
              <a:rPr lang="en-US" smtClean="0"/>
              <a:pPr/>
              <a:t>24</a:t>
            </a:fld>
            <a:endParaRPr lang="en-US"/>
          </a:p>
        </p:txBody>
      </p:sp>
      <p:sp>
        <p:nvSpPr>
          <p:cNvPr id="4" name="Title 3"/>
          <p:cNvSpPr>
            <a:spLocks noGrp="1"/>
          </p:cNvSpPr>
          <p:nvPr>
            <p:ph type="title"/>
          </p:nvPr>
        </p:nvSpPr>
        <p:spPr/>
        <p:txBody>
          <a:bodyPr>
            <a:normAutofit/>
          </a:bodyPr>
          <a:lstStyle/>
          <a:p>
            <a:r>
              <a:rPr lang="en-US" altLang="en-US" sz="2400" dirty="0" smtClean="0"/>
              <a:t>4. </a:t>
            </a:r>
            <a:r>
              <a:rPr lang="en-US" altLang="en-US" sz="2400" dirty="0" err="1" smtClean="0"/>
              <a:t>Các</a:t>
            </a:r>
            <a:r>
              <a:rPr lang="en-US" altLang="en-US" sz="2400" dirty="0" smtClean="0"/>
              <a:t> </a:t>
            </a:r>
            <a:r>
              <a:rPr lang="en-US" altLang="en-US" sz="2400" dirty="0" err="1"/>
              <a:t>giải</a:t>
            </a:r>
            <a:r>
              <a:rPr lang="en-US" altLang="en-US" sz="2400" dirty="0"/>
              <a:t> </a:t>
            </a:r>
            <a:r>
              <a:rPr lang="en-US" altLang="en-US" sz="2400" dirty="0" err="1"/>
              <a:t>thuật</a:t>
            </a:r>
            <a:r>
              <a:rPr lang="en-US" altLang="en-US" sz="2400" dirty="0"/>
              <a:t> </a:t>
            </a:r>
            <a:r>
              <a:rPr lang="en-US" altLang="en-US" sz="2400" dirty="0" err="1"/>
              <a:t>tìm</a:t>
            </a:r>
            <a:r>
              <a:rPr lang="en-US" altLang="en-US" sz="2400" dirty="0"/>
              <a:t> </a:t>
            </a:r>
            <a:r>
              <a:rPr lang="en-US" altLang="en-US" sz="2400" dirty="0" err="1"/>
              <a:t>kiếm</a:t>
            </a:r>
            <a:r>
              <a:rPr lang="en-US" altLang="en-US" sz="2400" dirty="0"/>
              <a:t> </a:t>
            </a:r>
            <a:r>
              <a:rPr lang="en-US" altLang="en-US" sz="2400" dirty="0" err="1"/>
              <a:t>trực</a:t>
            </a:r>
            <a:r>
              <a:rPr lang="en-US" altLang="en-US" sz="2400" dirty="0"/>
              <a:t> </a:t>
            </a:r>
            <a:r>
              <a:rPr lang="en-US" altLang="en-US" sz="2400" dirty="0" err="1" smtClean="0"/>
              <a:t>tiếp</a:t>
            </a:r>
            <a:endParaRPr lang="en-US" sz="2400" dirty="0"/>
          </a:p>
        </p:txBody>
      </p:sp>
      <p:sp>
        <p:nvSpPr>
          <p:cNvPr id="5" name="Text Placeholder 4"/>
          <p:cNvSpPr>
            <a:spLocks noGrp="1"/>
          </p:cNvSpPr>
          <p:nvPr>
            <p:ph type="body" sz="quarter" idx="13"/>
          </p:nvPr>
        </p:nvSpPr>
        <p:spPr>
          <a:xfrm>
            <a:off x="234951" y="963168"/>
            <a:ext cx="8756650" cy="5132832"/>
          </a:xfrm>
        </p:spPr>
        <p:txBody>
          <a:bodyPr>
            <a:normAutofit/>
          </a:bodyPr>
          <a:lstStyle/>
          <a:p>
            <a:r>
              <a:rPr lang="vi-VN" sz="2400" dirty="0" smtClean="0"/>
              <a:t>Các </a:t>
            </a:r>
            <a:r>
              <a:rPr lang="vi-VN" sz="2400" dirty="0"/>
              <a:t>phương pháp xây dựng hàm </a:t>
            </a:r>
            <a:r>
              <a:rPr lang="vi-VN" sz="2400" dirty="0" smtClean="0"/>
              <a:t>băm</a:t>
            </a:r>
            <a:endParaRPr lang="en-US" sz="2400" dirty="0" smtClean="0"/>
          </a:p>
          <a:p>
            <a:pPr lvl="1"/>
            <a:r>
              <a:rPr lang="en-US" altLang="en-US" sz="2400" dirty="0" err="1" smtClean="0"/>
              <a:t>Xây</a:t>
            </a:r>
            <a:r>
              <a:rPr lang="en-US" altLang="en-US" sz="2400" dirty="0" smtClean="0"/>
              <a:t> </a:t>
            </a:r>
            <a:r>
              <a:rPr lang="en-US" altLang="en-US" sz="2400" dirty="0" err="1"/>
              <a:t>dựng</a:t>
            </a:r>
            <a:r>
              <a:rPr lang="en-US" altLang="en-US" sz="2400" dirty="0"/>
              <a:t> </a:t>
            </a:r>
            <a:r>
              <a:rPr lang="en-US" altLang="en-US" sz="2400" dirty="0" err="1"/>
              <a:t>hàm</a:t>
            </a:r>
            <a:r>
              <a:rPr lang="en-US" altLang="en-US" sz="2400" dirty="0"/>
              <a:t> </a:t>
            </a:r>
            <a:r>
              <a:rPr lang="en-US" altLang="en-US" sz="2400" dirty="0" err="1"/>
              <a:t>địa</a:t>
            </a:r>
            <a:r>
              <a:rPr lang="en-US" altLang="en-US" sz="2400" dirty="0"/>
              <a:t> </a:t>
            </a:r>
            <a:r>
              <a:rPr lang="en-US" altLang="en-US" sz="2400" dirty="0" err="1"/>
              <a:t>chỉ</a:t>
            </a:r>
            <a:r>
              <a:rPr lang="en-US" altLang="en-US" sz="2400" dirty="0"/>
              <a:t> </a:t>
            </a:r>
            <a:r>
              <a:rPr lang="en-US" altLang="en-US" sz="2400" dirty="0" err="1"/>
              <a:t>cho</a:t>
            </a:r>
            <a:r>
              <a:rPr lang="en-US" altLang="en-US" sz="2400" dirty="0"/>
              <a:t> </a:t>
            </a:r>
            <a:r>
              <a:rPr lang="en-US" altLang="en-US" sz="2400" dirty="0" err="1"/>
              <a:t>các</a:t>
            </a:r>
            <a:r>
              <a:rPr lang="en-US" altLang="en-US" sz="2400" dirty="0"/>
              <a:t> </a:t>
            </a:r>
            <a:r>
              <a:rPr lang="en-US" altLang="en-US" sz="2400" dirty="0" err="1"/>
              <a:t>giá</a:t>
            </a:r>
            <a:r>
              <a:rPr lang="en-US" altLang="en-US" sz="2400" dirty="0"/>
              <a:t> </a:t>
            </a:r>
            <a:r>
              <a:rPr lang="en-US" altLang="en-US" sz="2400" dirty="0" err="1"/>
              <a:t>trị</a:t>
            </a:r>
            <a:r>
              <a:rPr lang="en-US" altLang="en-US" sz="2400" dirty="0"/>
              <a:t> "</a:t>
            </a:r>
            <a:r>
              <a:rPr lang="en-US" altLang="en-US" sz="2400" b="1" i="1" dirty="0" err="1"/>
              <a:t>rải</a:t>
            </a:r>
            <a:r>
              <a:rPr lang="en-US" altLang="en-US" sz="2400" b="1" i="1" dirty="0"/>
              <a:t>"</a:t>
            </a:r>
            <a:r>
              <a:rPr lang="en-US" altLang="en-US" sz="2400" dirty="0"/>
              <a:t> </a:t>
            </a:r>
            <a:r>
              <a:rPr lang="en-US" altLang="en-US" sz="2400" dirty="0" err="1"/>
              <a:t>đều</a:t>
            </a:r>
            <a:r>
              <a:rPr lang="en-US" altLang="en-US" sz="2400" dirty="0"/>
              <a:t> </a:t>
            </a:r>
            <a:r>
              <a:rPr lang="en-US" altLang="en-US" sz="2400" dirty="0" err="1"/>
              <a:t>trên</a:t>
            </a:r>
            <a:r>
              <a:rPr lang="en-US" altLang="en-US" sz="2400" dirty="0"/>
              <a:t> </a:t>
            </a:r>
            <a:r>
              <a:rPr lang="en-US" altLang="en-US" sz="2400" dirty="0" err="1"/>
              <a:t>bảng</a:t>
            </a:r>
            <a:r>
              <a:rPr lang="en-US" altLang="en-US" sz="2400" dirty="0"/>
              <a:t> </a:t>
            </a:r>
            <a:endParaRPr lang="en-US" altLang="en-US" sz="2400" dirty="0" smtClean="0"/>
          </a:p>
          <a:p>
            <a:pPr lvl="2"/>
            <a:r>
              <a:rPr lang="vi-VN" altLang="en-US" sz="2000" dirty="0"/>
              <a:t>Phương pháp </a:t>
            </a:r>
            <a:r>
              <a:rPr lang="vi-VN" altLang="en-US" sz="2000" dirty="0" smtClean="0"/>
              <a:t>chia</a:t>
            </a:r>
            <a:endParaRPr lang="vi-VN" altLang="en-US" sz="2000" dirty="0"/>
          </a:p>
          <a:p>
            <a:pPr lvl="2"/>
            <a:r>
              <a:rPr lang="vi-VN" altLang="en-US" sz="2000" dirty="0"/>
              <a:t>Phương pháp </a:t>
            </a:r>
            <a:r>
              <a:rPr lang="vi-VN" altLang="en-US" sz="2000" dirty="0" smtClean="0"/>
              <a:t>nhân</a:t>
            </a:r>
            <a:endParaRPr lang="vi-VN" altLang="en-US" sz="2000" dirty="0"/>
          </a:p>
          <a:p>
            <a:pPr lvl="2"/>
            <a:r>
              <a:rPr lang="en-US" altLang="en-US" sz="2000" dirty="0" err="1" smtClean="0"/>
              <a:t>Phương</a:t>
            </a:r>
            <a:r>
              <a:rPr lang="en-US" altLang="en-US" sz="2000" dirty="0" smtClean="0"/>
              <a:t> </a:t>
            </a:r>
            <a:r>
              <a:rPr lang="en-US" altLang="en-US" sz="2000" dirty="0" err="1" smtClean="0"/>
              <a:t>pháp</a:t>
            </a:r>
            <a:r>
              <a:rPr lang="en-US" altLang="en-US" sz="2000" dirty="0" smtClean="0"/>
              <a:t> </a:t>
            </a:r>
            <a:r>
              <a:rPr lang="en-US" altLang="en-US" sz="2000" dirty="0" err="1" smtClean="0"/>
              <a:t>phân</a:t>
            </a:r>
            <a:r>
              <a:rPr lang="en-US" altLang="en-US" sz="2000" dirty="0" smtClean="0"/>
              <a:t> </a:t>
            </a:r>
            <a:r>
              <a:rPr lang="en-US" altLang="en-US" sz="2000" dirty="0" err="1" smtClean="0"/>
              <a:t>đoạn</a:t>
            </a:r>
            <a:endParaRPr lang="en-US" altLang="en-US" sz="2000" dirty="0" smtClean="0"/>
          </a:p>
          <a:p>
            <a:pPr lvl="1"/>
            <a:r>
              <a:rPr lang="en-US" altLang="en-US" sz="2400" dirty="0" err="1"/>
              <a:t>Đ</a:t>
            </a:r>
            <a:r>
              <a:rPr lang="en-US" altLang="en-US" sz="2400" dirty="0" err="1" smtClean="0"/>
              <a:t>ưa</a:t>
            </a:r>
            <a:r>
              <a:rPr lang="en-US" altLang="en-US" sz="2400" dirty="0" smtClean="0"/>
              <a:t> </a:t>
            </a:r>
            <a:r>
              <a:rPr lang="en-US" altLang="en-US" sz="2400" dirty="0" err="1" smtClean="0"/>
              <a:t>ra</a:t>
            </a:r>
            <a:r>
              <a:rPr lang="en-US" altLang="en-US" sz="2400" dirty="0" smtClean="0"/>
              <a:t> </a:t>
            </a:r>
            <a:r>
              <a:rPr lang="en-US" altLang="en-US" sz="2400" dirty="0" err="1"/>
              <a:t>các</a:t>
            </a:r>
            <a:r>
              <a:rPr lang="en-US" altLang="en-US" sz="2400" dirty="0"/>
              <a:t> </a:t>
            </a:r>
            <a:r>
              <a:rPr lang="en-US" altLang="en-US" sz="2400" dirty="0" err="1"/>
              <a:t>biện</a:t>
            </a:r>
            <a:r>
              <a:rPr lang="en-US" altLang="en-US" sz="2400" dirty="0"/>
              <a:t> </a:t>
            </a:r>
            <a:r>
              <a:rPr lang="en-US" altLang="en-US" sz="2400" dirty="0" err="1"/>
              <a:t>pháp</a:t>
            </a:r>
            <a:r>
              <a:rPr lang="en-US" altLang="en-US" sz="2400" dirty="0"/>
              <a:t> </a:t>
            </a:r>
            <a:r>
              <a:rPr lang="en-US" altLang="en-US" sz="2400" dirty="0" err="1"/>
              <a:t>khắc</a:t>
            </a:r>
            <a:r>
              <a:rPr lang="en-US" altLang="en-US" sz="2400" dirty="0"/>
              <a:t> </a:t>
            </a:r>
            <a:r>
              <a:rPr lang="en-US" altLang="en-US" sz="2400" dirty="0" err="1"/>
              <a:t>phục</a:t>
            </a:r>
            <a:r>
              <a:rPr lang="en-US" altLang="en-US" sz="2400" dirty="0"/>
              <a:t> </a:t>
            </a:r>
            <a:r>
              <a:rPr lang="en-US" altLang="en-US" sz="2400" dirty="0" err="1"/>
              <a:t>đụng</a:t>
            </a:r>
            <a:r>
              <a:rPr lang="en-US" altLang="en-US" sz="2400" dirty="0"/>
              <a:t> </a:t>
            </a:r>
            <a:r>
              <a:rPr lang="en-US" altLang="en-US" sz="2400" dirty="0" err="1" smtClean="0"/>
              <a:t>độ</a:t>
            </a:r>
            <a:endParaRPr lang="en-US" altLang="en-US" sz="2400" dirty="0" smtClean="0"/>
          </a:p>
          <a:p>
            <a:pPr lvl="2"/>
            <a:r>
              <a:rPr lang="en-US" altLang="en-US" sz="2000" dirty="0" smtClean="0"/>
              <a:t>Hash </a:t>
            </a:r>
            <a:r>
              <a:rPr lang="en-US" altLang="en-US" sz="2000" dirty="0" err="1" smtClean="0"/>
              <a:t>mở</a:t>
            </a:r>
            <a:r>
              <a:rPr lang="en-US" altLang="en-US" sz="2000" dirty="0" smtClean="0"/>
              <a:t> (open hashing): </a:t>
            </a:r>
            <a:r>
              <a:rPr lang="en-US" altLang="en-US" sz="2000" dirty="0" err="1" smtClean="0"/>
              <a:t>Biện</a:t>
            </a:r>
            <a:r>
              <a:rPr lang="en-US" altLang="en-US" sz="2000" dirty="0" smtClean="0"/>
              <a:t> </a:t>
            </a:r>
            <a:r>
              <a:rPr lang="en-US" altLang="en-US" sz="2000" dirty="0" err="1"/>
              <a:t>pháp</a:t>
            </a:r>
            <a:r>
              <a:rPr lang="en-US" altLang="en-US" sz="2000" dirty="0"/>
              <a:t> </a:t>
            </a:r>
            <a:r>
              <a:rPr lang="en-US" altLang="en-US" sz="2000" dirty="0" err="1"/>
              <a:t>móc</a:t>
            </a:r>
            <a:r>
              <a:rPr lang="en-US" altLang="en-US" sz="2000" dirty="0"/>
              <a:t> </a:t>
            </a:r>
            <a:r>
              <a:rPr lang="en-US" altLang="en-US" sz="2000" dirty="0" err="1" smtClean="0"/>
              <a:t>nối</a:t>
            </a:r>
            <a:r>
              <a:rPr lang="en-US" altLang="en-US" sz="2000" dirty="0" smtClean="0"/>
              <a:t> (</a:t>
            </a:r>
            <a:r>
              <a:rPr lang="en-US" altLang="en-US" sz="2000" dirty="0"/>
              <a:t>Separate </a:t>
            </a:r>
            <a:r>
              <a:rPr lang="en-US" altLang="en-US" sz="2000" dirty="0" smtClean="0"/>
              <a:t>chaining)</a:t>
            </a:r>
          </a:p>
          <a:p>
            <a:pPr lvl="2"/>
            <a:r>
              <a:rPr lang="en-US" altLang="en-US" sz="2000" dirty="0" smtClean="0"/>
              <a:t>Hash </a:t>
            </a:r>
            <a:r>
              <a:rPr lang="en-US" altLang="en-US" sz="2000" dirty="0" err="1" smtClean="0"/>
              <a:t>đóng</a:t>
            </a:r>
            <a:r>
              <a:rPr lang="en-US" altLang="en-US" sz="2000" dirty="0" smtClean="0"/>
              <a:t> (closed hashing): </a:t>
            </a:r>
            <a:r>
              <a:rPr lang="en-US" altLang="en-US" sz="2000" dirty="0" err="1" smtClean="0"/>
              <a:t>Biện</a:t>
            </a:r>
            <a:r>
              <a:rPr lang="en-US" altLang="en-US" sz="2000" dirty="0" smtClean="0"/>
              <a:t> </a:t>
            </a:r>
            <a:r>
              <a:rPr lang="en-US" altLang="en-US" sz="2000" dirty="0" err="1" smtClean="0"/>
              <a:t>pháp</a:t>
            </a:r>
            <a:r>
              <a:rPr lang="en-US" altLang="en-US" sz="2000" dirty="0" smtClean="0"/>
              <a:t> </a:t>
            </a:r>
            <a:r>
              <a:rPr lang="en-US" altLang="en-US" sz="2000" dirty="0" err="1" smtClean="0"/>
              <a:t>địa</a:t>
            </a:r>
            <a:r>
              <a:rPr lang="en-US" altLang="en-US" sz="2000" dirty="0" smtClean="0"/>
              <a:t> </a:t>
            </a:r>
            <a:r>
              <a:rPr lang="en-US" altLang="en-US" sz="2000" dirty="0" err="1" smtClean="0"/>
              <a:t>chỉ</a:t>
            </a:r>
            <a:r>
              <a:rPr lang="en-US" altLang="en-US" sz="2000" dirty="0" smtClean="0"/>
              <a:t> </a:t>
            </a:r>
            <a:r>
              <a:rPr lang="en-US" altLang="en-US" sz="2000" dirty="0" err="1" smtClean="0"/>
              <a:t>mở</a:t>
            </a:r>
            <a:r>
              <a:rPr lang="en-US" altLang="en-US" sz="2000" dirty="0" smtClean="0"/>
              <a:t> (open addressing)</a:t>
            </a:r>
          </a:p>
          <a:p>
            <a:pPr lvl="2"/>
            <a:endParaRPr lang="en-US" altLang="en-US" sz="2000" dirty="0" smtClean="0"/>
          </a:p>
        </p:txBody>
      </p:sp>
    </p:spTree>
    <p:extLst>
      <p:ext uri="{BB962C8B-B14F-4D97-AF65-F5344CB8AC3E}">
        <p14:creationId xmlns:p14="http://schemas.microsoft.com/office/powerpoint/2010/main" val="433946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C24317B-5122-4A99-A6E9-FA23C146A7E0}" type="slidenum">
              <a:rPr lang="en-US" smtClean="0"/>
              <a:pPr/>
              <a:t>25</a:t>
            </a:fld>
            <a:endParaRPr lang="en-US"/>
          </a:p>
        </p:txBody>
      </p:sp>
      <p:sp>
        <p:nvSpPr>
          <p:cNvPr id="4" name="Title 3"/>
          <p:cNvSpPr>
            <a:spLocks noGrp="1"/>
          </p:cNvSpPr>
          <p:nvPr>
            <p:ph type="title"/>
          </p:nvPr>
        </p:nvSpPr>
        <p:spPr/>
        <p:txBody>
          <a:bodyPr>
            <a:normAutofit/>
          </a:bodyPr>
          <a:lstStyle/>
          <a:p>
            <a:r>
              <a:rPr lang="vi-VN" sz="2400" dirty="0"/>
              <a:t>Các phương pháp xây dựng hàm băm</a:t>
            </a:r>
            <a:endParaRPr lang="en-US" sz="2400" dirty="0"/>
          </a:p>
        </p:txBody>
      </p:sp>
      <p:sp>
        <p:nvSpPr>
          <p:cNvPr id="5" name="Text Placeholder 4"/>
          <p:cNvSpPr>
            <a:spLocks noGrp="1"/>
          </p:cNvSpPr>
          <p:nvPr>
            <p:ph type="body" sz="quarter" idx="13"/>
          </p:nvPr>
        </p:nvSpPr>
        <p:spPr>
          <a:xfrm>
            <a:off x="234951" y="963168"/>
            <a:ext cx="8756650" cy="5132832"/>
          </a:xfrm>
        </p:spPr>
        <p:txBody>
          <a:bodyPr>
            <a:normAutofit/>
          </a:bodyPr>
          <a:lstStyle/>
          <a:p>
            <a:r>
              <a:rPr lang="vi-VN" sz="2400" dirty="0" smtClean="0"/>
              <a:t>Phương </a:t>
            </a:r>
            <a:r>
              <a:rPr lang="vi-VN" sz="2400" dirty="0"/>
              <a:t>pháp </a:t>
            </a:r>
            <a:r>
              <a:rPr lang="vi-VN" sz="2400" dirty="0" smtClean="0"/>
              <a:t>chia</a:t>
            </a:r>
            <a:endParaRPr lang="en-US" sz="2400" dirty="0" smtClean="0"/>
          </a:p>
          <a:p>
            <a:pPr lvl="1"/>
            <a:r>
              <a:rPr lang="en-US" sz="2100" dirty="0"/>
              <a:t>Đ</a:t>
            </a:r>
            <a:r>
              <a:rPr lang="vi-VN" sz="2100" dirty="0" smtClean="0"/>
              <a:t>ơn giản</a:t>
            </a:r>
            <a:r>
              <a:rPr lang="en-US" sz="2100" dirty="0" smtClean="0"/>
              <a:t>: h(k) </a:t>
            </a:r>
            <a:r>
              <a:rPr lang="en-US" sz="2100" dirty="0"/>
              <a:t>= </a:t>
            </a:r>
            <a:r>
              <a:rPr lang="en-US" sz="2100" dirty="0" smtClean="0"/>
              <a:t>k </a:t>
            </a:r>
            <a:r>
              <a:rPr lang="en-US" sz="2100" dirty="0"/>
              <a:t>mod </a:t>
            </a:r>
            <a:r>
              <a:rPr lang="en-US" sz="2100" dirty="0" smtClean="0"/>
              <a:t>m</a:t>
            </a:r>
          </a:p>
          <a:p>
            <a:pPr lvl="1"/>
            <a:r>
              <a:rPr lang="en-US" sz="2100" dirty="0" err="1" smtClean="0"/>
              <a:t>Số</a:t>
            </a:r>
            <a:r>
              <a:rPr lang="en-US" sz="2100" dirty="0" smtClean="0"/>
              <a:t> </a:t>
            </a:r>
            <a:r>
              <a:rPr lang="en-US" sz="2100" dirty="0" err="1" smtClean="0"/>
              <a:t>giá</a:t>
            </a:r>
            <a:r>
              <a:rPr lang="en-US" sz="2100" dirty="0" smtClean="0"/>
              <a:t> </a:t>
            </a:r>
            <a:r>
              <a:rPr lang="en-US" sz="2100" dirty="0" err="1" smtClean="0"/>
              <a:t>trị</a:t>
            </a:r>
            <a:r>
              <a:rPr lang="en-US" sz="2100" dirty="0" smtClean="0"/>
              <a:t> </a:t>
            </a:r>
            <a:r>
              <a:rPr lang="en-US" sz="2100" dirty="0" err="1" smtClean="0"/>
              <a:t>của</a:t>
            </a:r>
            <a:r>
              <a:rPr lang="en-US" sz="2100" dirty="0" smtClean="0"/>
              <a:t> h(k) </a:t>
            </a:r>
            <a:r>
              <a:rPr lang="en-US" sz="2100" dirty="0" err="1" smtClean="0"/>
              <a:t>phụ</a:t>
            </a:r>
            <a:r>
              <a:rPr lang="en-US" sz="2100" dirty="0" smtClean="0"/>
              <a:t> </a:t>
            </a:r>
            <a:r>
              <a:rPr lang="en-US" sz="2100" dirty="0" err="1" smtClean="0"/>
              <a:t>thuộc</a:t>
            </a:r>
            <a:r>
              <a:rPr lang="en-US" sz="2100" dirty="0" smtClean="0"/>
              <a:t> </a:t>
            </a:r>
            <a:r>
              <a:rPr lang="en-US" sz="2100" dirty="0" err="1" smtClean="0"/>
              <a:t>vào</a:t>
            </a:r>
            <a:r>
              <a:rPr lang="en-US" sz="2100" dirty="0" smtClean="0"/>
              <a:t> m: </a:t>
            </a:r>
            <a:r>
              <a:rPr lang="en-US" sz="2100" dirty="0" err="1" smtClean="0"/>
              <a:t>kích</a:t>
            </a:r>
            <a:r>
              <a:rPr lang="en-US" sz="2100" dirty="0" smtClean="0"/>
              <a:t> </a:t>
            </a:r>
            <a:r>
              <a:rPr lang="en-US" sz="2100" dirty="0" err="1" smtClean="0"/>
              <a:t>thước</a:t>
            </a:r>
            <a:r>
              <a:rPr lang="en-US" sz="2100" dirty="0" smtClean="0"/>
              <a:t> </a:t>
            </a:r>
            <a:r>
              <a:rPr lang="en-US" sz="2100" dirty="0" err="1" smtClean="0"/>
              <a:t>bảng</a:t>
            </a:r>
            <a:r>
              <a:rPr lang="en-US" sz="2100" dirty="0" smtClean="0"/>
              <a:t> </a:t>
            </a:r>
            <a:r>
              <a:rPr lang="en-US" sz="2100" dirty="0" err="1" smtClean="0"/>
              <a:t>địa</a:t>
            </a:r>
            <a:r>
              <a:rPr lang="en-US" sz="2100" dirty="0" smtClean="0"/>
              <a:t> </a:t>
            </a:r>
            <a:r>
              <a:rPr lang="en-US" sz="2100" dirty="0" err="1" smtClean="0"/>
              <a:t>chỉ</a:t>
            </a:r>
            <a:endParaRPr lang="en-US" sz="2100" dirty="0" smtClean="0"/>
          </a:p>
          <a:p>
            <a:pPr lvl="1"/>
            <a:r>
              <a:rPr lang="en-US" sz="2100" dirty="0" smtClean="0"/>
              <a:t>H</a:t>
            </a:r>
            <a:r>
              <a:rPr lang="vi-VN" sz="2100" dirty="0" smtClean="0"/>
              <a:t>iện </a:t>
            </a:r>
            <a:r>
              <a:rPr lang="vi-VN" sz="2100" dirty="0"/>
              <a:t>tượng đụng độ xảy ra khi hai giá trị khóa đồng dư </a:t>
            </a:r>
            <a:r>
              <a:rPr lang="vi-VN" sz="2100" dirty="0" smtClean="0"/>
              <a:t>với</a:t>
            </a:r>
            <a:r>
              <a:rPr lang="en-US" sz="2100" dirty="0" smtClean="0"/>
              <a:t> m</a:t>
            </a:r>
          </a:p>
          <a:p>
            <a:pPr lvl="1"/>
            <a:r>
              <a:rPr lang="en-US" sz="2100" dirty="0" err="1" smtClean="0"/>
              <a:t>Yêu</a:t>
            </a:r>
            <a:r>
              <a:rPr lang="en-US" sz="2100" dirty="0" smtClean="0"/>
              <a:t> </a:t>
            </a:r>
            <a:r>
              <a:rPr lang="en-US" sz="2100" dirty="0" err="1" smtClean="0"/>
              <a:t>cầu</a:t>
            </a:r>
            <a:r>
              <a:rPr lang="en-US" sz="2100" dirty="0" smtClean="0"/>
              <a:t>: </a:t>
            </a:r>
            <a:r>
              <a:rPr lang="en-US" sz="2100" dirty="0" err="1" smtClean="0"/>
              <a:t>Chọn</a:t>
            </a:r>
            <a:r>
              <a:rPr lang="en-US" sz="2100" dirty="0" smtClean="0"/>
              <a:t> m </a:t>
            </a:r>
            <a:r>
              <a:rPr lang="en-US" sz="2100" dirty="0" err="1" smtClean="0"/>
              <a:t>sao</a:t>
            </a:r>
            <a:r>
              <a:rPr lang="en-US" sz="2100" dirty="0" smtClean="0"/>
              <a:t> </a:t>
            </a:r>
            <a:r>
              <a:rPr lang="en-US" sz="2100" dirty="0" err="1" smtClean="0"/>
              <a:t>cho</a:t>
            </a:r>
            <a:r>
              <a:rPr lang="en-US" sz="2100" dirty="0" smtClean="0"/>
              <a:t> h(k) </a:t>
            </a:r>
            <a:r>
              <a:rPr lang="en-US" sz="2100" dirty="0" err="1" smtClean="0"/>
              <a:t>rải</a:t>
            </a:r>
            <a:r>
              <a:rPr lang="en-US" sz="2100" dirty="0" smtClean="0"/>
              <a:t> </a:t>
            </a:r>
            <a:r>
              <a:rPr lang="en-US" sz="2100" dirty="0" err="1" smtClean="0"/>
              <a:t>đều</a:t>
            </a:r>
            <a:endParaRPr lang="en-US" sz="2100" dirty="0" smtClean="0"/>
          </a:p>
          <a:p>
            <a:pPr lvl="2"/>
            <a:r>
              <a:rPr lang="en-US" sz="2000" dirty="0" err="1"/>
              <a:t>Nếu</a:t>
            </a:r>
            <a:r>
              <a:rPr lang="en-US" sz="2000" dirty="0"/>
              <a:t> m </a:t>
            </a:r>
            <a:r>
              <a:rPr lang="en-US" sz="2000" dirty="0" err="1"/>
              <a:t>nguyên</a:t>
            </a:r>
            <a:r>
              <a:rPr lang="en-US" sz="2000" dirty="0"/>
              <a:t> </a:t>
            </a:r>
            <a:r>
              <a:rPr lang="en-US" sz="2000" dirty="0" err="1"/>
              <a:t>tố</a:t>
            </a:r>
            <a:r>
              <a:rPr lang="en-US" sz="2000" dirty="0"/>
              <a:t> =&gt; </a:t>
            </a:r>
            <a:r>
              <a:rPr lang="en-US" sz="2000" dirty="0" err="1" smtClean="0"/>
              <a:t>tốt</a:t>
            </a:r>
            <a:r>
              <a:rPr lang="en-US" sz="2000" dirty="0" smtClean="0"/>
              <a:t> </a:t>
            </a:r>
          </a:p>
          <a:p>
            <a:pPr lvl="1"/>
            <a:r>
              <a:rPr lang="en-US" sz="2100" dirty="0" err="1" smtClean="0"/>
              <a:t>Cải</a:t>
            </a:r>
            <a:r>
              <a:rPr lang="en-US" sz="2100" dirty="0" smtClean="0"/>
              <a:t> </a:t>
            </a:r>
            <a:r>
              <a:rPr lang="en-US" sz="2100" dirty="0" err="1" smtClean="0"/>
              <a:t>tiến</a:t>
            </a:r>
            <a:r>
              <a:rPr lang="en-US" sz="2100" dirty="0" smtClean="0"/>
              <a:t>: </a:t>
            </a:r>
          </a:p>
          <a:p>
            <a:pPr lvl="2"/>
            <a:r>
              <a:rPr lang="en-US" altLang="en-US" sz="2000" dirty="0"/>
              <a:t>h(k) = k mod m*, </a:t>
            </a:r>
            <a:r>
              <a:rPr lang="en-US" altLang="en-US" sz="2000" dirty="0" err="1"/>
              <a:t>với</a:t>
            </a:r>
            <a:r>
              <a:rPr lang="en-US" altLang="en-US" sz="2000" dirty="0"/>
              <a:t> m* </a:t>
            </a:r>
            <a:r>
              <a:rPr lang="en-US" altLang="en-US" sz="2000" dirty="0" err="1"/>
              <a:t>là</a:t>
            </a:r>
            <a:r>
              <a:rPr lang="en-US" altLang="en-US" sz="2000" dirty="0"/>
              <a:t> </a:t>
            </a:r>
            <a:r>
              <a:rPr lang="en-US" altLang="en-US" sz="2000" dirty="0" err="1"/>
              <a:t>số</a:t>
            </a:r>
            <a:r>
              <a:rPr lang="en-US" altLang="en-US" sz="2000" dirty="0"/>
              <a:t> </a:t>
            </a:r>
            <a:r>
              <a:rPr lang="en-US" altLang="en-US" sz="2000" dirty="0" err="1"/>
              <a:t>nguyên</a:t>
            </a:r>
            <a:r>
              <a:rPr lang="en-US" altLang="en-US" sz="2000" dirty="0"/>
              <a:t> </a:t>
            </a:r>
            <a:r>
              <a:rPr lang="en-US" altLang="en-US" sz="2000" dirty="0" err="1"/>
              <a:t>tố</a:t>
            </a:r>
            <a:r>
              <a:rPr lang="en-US" altLang="en-US" sz="2000" dirty="0"/>
              <a:t> </a:t>
            </a:r>
            <a:r>
              <a:rPr lang="en-US" altLang="en-US" sz="2000" dirty="0" err="1"/>
              <a:t>lớn</a:t>
            </a:r>
            <a:r>
              <a:rPr lang="en-US" altLang="en-US" sz="2000" dirty="0"/>
              <a:t> </a:t>
            </a:r>
            <a:r>
              <a:rPr lang="en-US" altLang="en-US" sz="2000" dirty="0" err="1"/>
              <a:t>nhất</a:t>
            </a:r>
            <a:r>
              <a:rPr lang="en-US" altLang="en-US" sz="2000" dirty="0"/>
              <a:t> </a:t>
            </a:r>
            <a:r>
              <a:rPr lang="en-US" altLang="en-US" sz="2000" dirty="0" smtClean="0"/>
              <a:t>≤ </a:t>
            </a:r>
            <a:r>
              <a:rPr lang="en-US" altLang="en-US" sz="2000" dirty="0"/>
              <a:t>m</a:t>
            </a:r>
            <a:endParaRPr lang="en-US" sz="2000" dirty="0" smtClean="0"/>
          </a:p>
        </p:txBody>
      </p:sp>
    </p:spTree>
    <p:extLst>
      <p:ext uri="{BB962C8B-B14F-4D97-AF65-F5344CB8AC3E}">
        <p14:creationId xmlns:p14="http://schemas.microsoft.com/office/powerpoint/2010/main" val="3293137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C24317B-5122-4A99-A6E9-FA23C146A7E0}" type="slidenum">
              <a:rPr lang="en-US" smtClean="0"/>
              <a:pPr/>
              <a:t>26</a:t>
            </a:fld>
            <a:endParaRPr lang="en-US"/>
          </a:p>
        </p:txBody>
      </p:sp>
      <p:sp>
        <p:nvSpPr>
          <p:cNvPr id="4" name="Title 3"/>
          <p:cNvSpPr>
            <a:spLocks noGrp="1"/>
          </p:cNvSpPr>
          <p:nvPr>
            <p:ph type="title"/>
          </p:nvPr>
        </p:nvSpPr>
        <p:spPr/>
        <p:txBody>
          <a:bodyPr>
            <a:normAutofit/>
          </a:bodyPr>
          <a:lstStyle/>
          <a:p>
            <a:r>
              <a:rPr lang="vi-VN" sz="2400" dirty="0"/>
              <a:t>Các phương pháp xây dựng hàm băm</a:t>
            </a:r>
            <a:endParaRPr lang="en-US" sz="2400" dirty="0"/>
          </a:p>
        </p:txBody>
      </p:sp>
      <mc:AlternateContent xmlns:mc="http://schemas.openxmlformats.org/markup-compatibility/2006" xmlns:a14="http://schemas.microsoft.com/office/drawing/2010/main">
        <mc:Choice Requires="a14">
          <p:sp>
            <p:nvSpPr>
              <p:cNvPr id="5" name="Text Placeholder 4"/>
              <p:cNvSpPr>
                <a:spLocks noGrp="1"/>
              </p:cNvSpPr>
              <p:nvPr>
                <p:ph type="body" sz="quarter" idx="13"/>
              </p:nvPr>
            </p:nvSpPr>
            <p:spPr>
              <a:xfrm>
                <a:off x="234951" y="963168"/>
                <a:ext cx="8756650" cy="5513832"/>
              </a:xfrm>
            </p:spPr>
            <p:txBody>
              <a:bodyPr>
                <a:normAutofit/>
              </a:bodyPr>
              <a:lstStyle/>
              <a:p>
                <a:r>
                  <a:rPr lang="vi-VN" sz="2400" dirty="0" smtClean="0"/>
                  <a:t>Phương </a:t>
                </a:r>
                <a:r>
                  <a:rPr lang="vi-VN" sz="2400" dirty="0"/>
                  <a:t>pháp </a:t>
                </a:r>
                <a:r>
                  <a:rPr lang="vi-VN" sz="2400" dirty="0" smtClean="0"/>
                  <a:t>nhân</a:t>
                </a:r>
                <a:endParaRPr lang="en-US" sz="2400" dirty="0"/>
              </a:p>
              <a:p>
                <a:pPr lvl="1"/>
                <a:r>
                  <a:rPr lang="en-US" sz="2100" dirty="0" smtClean="0"/>
                  <a:t>h(k)=</a:t>
                </a:r>
                <a14:m>
                  <m:oMath xmlns:m="http://schemas.openxmlformats.org/officeDocument/2006/math">
                    <m:d>
                      <m:dPr>
                        <m:begChr m:val="⌊"/>
                        <m:endChr m:val="⌋"/>
                        <m:ctrlPr>
                          <a:rPr lang="en-US" sz="2100" i="1">
                            <a:latin typeface="Cambria Math" panose="02040503050406030204" pitchFamily="18" charset="0"/>
                          </a:rPr>
                        </m:ctrlPr>
                      </m:dPr>
                      <m:e>
                        <m:r>
                          <a:rPr lang="en-US" sz="2100" b="0" i="1" smtClean="0">
                            <a:latin typeface="Cambria Math" panose="02040503050406030204" pitchFamily="18" charset="0"/>
                          </a:rPr>
                          <m:t>𝑚</m:t>
                        </m:r>
                        <m:r>
                          <a:rPr lang="en-US" sz="2100" b="0" i="1" smtClean="0">
                            <a:latin typeface="Cambria Math" panose="02040503050406030204" pitchFamily="18" charset="0"/>
                          </a:rPr>
                          <m:t>∗((</m:t>
                        </m:r>
                        <m:r>
                          <a:rPr lang="en-US" sz="2100" b="0" i="1" smtClean="0">
                            <a:latin typeface="Cambria Math" panose="02040503050406030204" pitchFamily="18" charset="0"/>
                          </a:rPr>
                          <m:t>𝑘</m:t>
                        </m:r>
                        <m:r>
                          <a:rPr lang="en-US" sz="2100" b="0" i="1" smtClean="0">
                            <a:latin typeface="Cambria Math" panose="02040503050406030204" pitchFamily="18" charset="0"/>
                          </a:rPr>
                          <m:t>∗</m:t>
                        </m:r>
                        <m:r>
                          <a:rPr lang="en-US" sz="2100" b="0" i="1" smtClean="0">
                            <a:latin typeface="Cambria Math" panose="02040503050406030204" pitchFamily="18" charset="0"/>
                          </a:rPr>
                          <m:t>𝐴</m:t>
                        </m:r>
                        <m:r>
                          <a:rPr lang="en-US" sz="2100" b="0" i="1" smtClean="0">
                            <a:latin typeface="Cambria Math" panose="02040503050406030204" pitchFamily="18" charset="0"/>
                          </a:rPr>
                          <m:t>) </m:t>
                        </m:r>
                        <m:r>
                          <a:rPr lang="en-US" sz="2100" b="0" i="1" smtClean="0">
                            <a:latin typeface="Cambria Math" panose="02040503050406030204" pitchFamily="18" charset="0"/>
                          </a:rPr>
                          <m:t>𝑚𝑜𝑑</m:t>
                        </m:r>
                        <m:r>
                          <a:rPr lang="en-US" sz="2100" b="0" i="1" smtClean="0">
                            <a:latin typeface="Cambria Math" panose="02040503050406030204" pitchFamily="18" charset="0"/>
                          </a:rPr>
                          <m:t> 1))</m:t>
                        </m:r>
                      </m:e>
                    </m:d>
                  </m:oMath>
                </a14:m>
                <a:endParaRPr lang="en-US" sz="2100" b="0" dirty="0" smtClean="0"/>
              </a:p>
              <a:p>
                <a:pPr lvl="2"/>
                <a:r>
                  <a:rPr lang="en-US" sz="1800" dirty="0" smtClean="0"/>
                  <a:t>A: </a:t>
                </a:r>
                <a:r>
                  <a:rPr lang="en-US" sz="1800" dirty="0" err="1" smtClean="0"/>
                  <a:t>giá</a:t>
                </a:r>
                <a:r>
                  <a:rPr lang="en-US" sz="1800" dirty="0" smtClean="0"/>
                  <a:t> </a:t>
                </a:r>
                <a:r>
                  <a:rPr lang="en-US" sz="1800" dirty="0" err="1" smtClean="0"/>
                  <a:t>trị</a:t>
                </a:r>
                <a:r>
                  <a:rPr lang="en-US" sz="1800" dirty="0" smtClean="0"/>
                  <a:t> </a:t>
                </a:r>
                <a:r>
                  <a:rPr lang="en-US" sz="1800" dirty="0" err="1" smtClean="0"/>
                  <a:t>nằm</a:t>
                </a:r>
                <a:r>
                  <a:rPr lang="en-US" sz="1800" dirty="0" smtClean="0"/>
                  <a:t> </a:t>
                </a:r>
                <a:r>
                  <a:rPr lang="en-US" sz="1800" dirty="0" err="1" smtClean="0"/>
                  <a:t>trong</a:t>
                </a:r>
                <a:r>
                  <a:rPr lang="en-US" sz="1800" dirty="0" smtClean="0"/>
                  <a:t> </a:t>
                </a:r>
                <a:r>
                  <a:rPr lang="en-US" sz="1800" dirty="0" err="1" smtClean="0"/>
                  <a:t>khoảng</a:t>
                </a:r>
                <a:r>
                  <a:rPr lang="en-US" sz="1800" dirty="0" smtClean="0"/>
                  <a:t> (0, 1)</a:t>
                </a:r>
              </a:p>
              <a:p>
                <a:pPr lvl="2"/>
                <a:r>
                  <a:rPr lang="pt-BR" sz="1800" dirty="0" smtClean="0">
                    <a:sym typeface="Wingdings" panose="05000000000000000000" pitchFamily="2" charset="2"/>
                  </a:rPr>
                  <a:t>m: kích thước bảng địa chỉ </a:t>
                </a:r>
              </a:p>
              <a:p>
                <a:pPr lvl="2"/>
                <a:r>
                  <a:rPr lang="pt-BR" sz="1800" dirty="0" smtClean="0">
                    <a:sym typeface="Wingdings" panose="05000000000000000000" pitchFamily="2" charset="2"/>
                  </a:rPr>
                  <a:t>A thường được chọn phụ thuộc vào tính chất dữ liệu được băm. (A</a:t>
                </a:r>
                <a:r>
                  <a:rPr lang="pt-BR" sz="1800" baseline="-25000" dirty="0" smtClean="0">
                    <a:sym typeface="Wingdings" panose="05000000000000000000" pitchFamily="2" charset="2"/>
                  </a:rPr>
                  <a:t>Knuth</a:t>
                </a:r>
                <a:r>
                  <a:rPr lang="pt-BR" sz="1800" dirty="0" smtClean="0">
                    <a:sym typeface="Wingdings" panose="05000000000000000000" pitchFamily="2" charset="2"/>
                  </a:rPr>
                  <a:t>=(sqrt5-1)/2)</a:t>
                </a:r>
              </a:p>
              <a:p>
                <a:r>
                  <a:rPr lang="en-US" altLang="en-US" sz="2400" dirty="0" err="1" smtClean="0"/>
                  <a:t>Phương</a:t>
                </a:r>
                <a:r>
                  <a:rPr lang="en-US" altLang="en-US" sz="2400" dirty="0" smtClean="0"/>
                  <a:t> </a:t>
                </a:r>
                <a:r>
                  <a:rPr lang="en-US" altLang="en-US" sz="2400" dirty="0" err="1" smtClean="0"/>
                  <a:t>pháp</a:t>
                </a:r>
                <a:r>
                  <a:rPr lang="en-US" altLang="en-US" sz="2400" dirty="0" smtClean="0"/>
                  <a:t> </a:t>
                </a:r>
                <a:r>
                  <a:rPr lang="en-US" altLang="en-US" sz="2400" dirty="0" err="1" smtClean="0"/>
                  <a:t>trung</a:t>
                </a:r>
                <a:r>
                  <a:rPr lang="en-US" altLang="en-US" sz="2400" dirty="0" smtClean="0"/>
                  <a:t> </a:t>
                </a:r>
                <a:r>
                  <a:rPr lang="en-US" altLang="en-US" sz="2400" dirty="0" err="1" smtClean="0"/>
                  <a:t>bình</a:t>
                </a:r>
                <a:r>
                  <a:rPr lang="en-US" altLang="en-US" sz="2400" dirty="0" smtClean="0"/>
                  <a:t> </a:t>
                </a:r>
                <a:r>
                  <a:rPr lang="en-US" altLang="en-US" sz="2400" dirty="0" err="1" smtClean="0"/>
                  <a:t>bình</a:t>
                </a:r>
                <a:r>
                  <a:rPr lang="en-US" altLang="en-US" sz="2400" dirty="0" smtClean="0"/>
                  <a:t> </a:t>
                </a:r>
                <a:r>
                  <a:rPr lang="en-US" altLang="en-US" sz="2400" dirty="0" err="1" smtClean="0"/>
                  <a:t>phương</a:t>
                </a:r>
                <a:r>
                  <a:rPr lang="en-US" altLang="en-US" sz="2400" dirty="0" smtClean="0"/>
                  <a:t> (mid-square)</a:t>
                </a:r>
              </a:p>
              <a:p>
                <a:pPr lvl="1"/>
                <a:r>
                  <a:rPr lang="en-US" altLang="en-US" sz="2100" dirty="0" err="1" smtClean="0"/>
                  <a:t>Xác</a:t>
                </a:r>
                <a:r>
                  <a:rPr lang="en-US" altLang="en-US" sz="2100" dirty="0" smtClean="0"/>
                  <a:t> </a:t>
                </a:r>
                <a:r>
                  <a:rPr lang="en-US" altLang="en-US" sz="2100" dirty="0" err="1"/>
                  <a:t>định</a:t>
                </a:r>
                <a:r>
                  <a:rPr lang="en-US" altLang="en-US" sz="2100" dirty="0"/>
                  <a:t> </a:t>
                </a:r>
                <a:r>
                  <a:rPr lang="en-US" altLang="en-US" sz="2100" i="1" dirty="0"/>
                  <a:t>h(k)</a:t>
                </a:r>
                <a:r>
                  <a:rPr lang="en-US" altLang="en-US" sz="2100" dirty="0"/>
                  <a:t> </a:t>
                </a:r>
                <a:r>
                  <a:rPr lang="en-US" altLang="en-US" sz="2100" dirty="0" err="1"/>
                  <a:t>thông</a:t>
                </a:r>
                <a:r>
                  <a:rPr lang="en-US" altLang="en-US" sz="2100" dirty="0"/>
                  <a:t> qua </a:t>
                </a:r>
                <a:r>
                  <a:rPr lang="en-US" altLang="en-US" sz="2100" dirty="0" err="1"/>
                  <a:t>các</a:t>
                </a:r>
                <a:r>
                  <a:rPr lang="en-US" altLang="en-US" sz="2100" dirty="0"/>
                  <a:t> </a:t>
                </a:r>
                <a:r>
                  <a:rPr lang="en-US" altLang="en-US" sz="2100" dirty="0" err="1"/>
                  <a:t>chữ</a:t>
                </a:r>
                <a:r>
                  <a:rPr lang="en-US" altLang="en-US" sz="2100" dirty="0"/>
                  <a:t> </a:t>
                </a:r>
                <a:r>
                  <a:rPr lang="en-US" altLang="en-US" sz="2100" dirty="0" err="1"/>
                  <a:t>số</a:t>
                </a:r>
                <a:r>
                  <a:rPr lang="en-US" altLang="en-US" sz="2100" dirty="0"/>
                  <a:t> </a:t>
                </a:r>
                <a:r>
                  <a:rPr lang="en-US" altLang="en-US" sz="2100" dirty="0" err="1"/>
                  <a:t>liên</a:t>
                </a:r>
                <a:r>
                  <a:rPr lang="en-US" altLang="en-US" sz="2100" dirty="0"/>
                  <a:t> </a:t>
                </a:r>
                <a:r>
                  <a:rPr lang="en-US" altLang="en-US" sz="2100" dirty="0" err="1"/>
                  <a:t>tục</a:t>
                </a:r>
                <a:r>
                  <a:rPr lang="en-US" altLang="en-US" sz="2100" dirty="0"/>
                  <a:t> ở </a:t>
                </a:r>
                <a:r>
                  <a:rPr lang="en-US" altLang="en-US" sz="2100" dirty="0" err="1"/>
                  <a:t>giữa</a:t>
                </a:r>
                <a:r>
                  <a:rPr lang="en-US" altLang="en-US" sz="2100" dirty="0"/>
                  <a:t> </a:t>
                </a:r>
                <a:r>
                  <a:rPr lang="en-US" altLang="en-US" sz="2100" dirty="0" err="1"/>
                  <a:t>số</a:t>
                </a:r>
                <a:r>
                  <a:rPr lang="en-US" altLang="en-US" sz="2100" dirty="0"/>
                  <a:t> </a:t>
                </a:r>
                <a:r>
                  <a:rPr lang="en-US" altLang="en-US" sz="2100" i="1" dirty="0" smtClean="0"/>
                  <a:t>k</a:t>
                </a:r>
                <a:r>
                  <a:rPr lang="en-US" altLang="en-US" sz="2100" i="1" baseline="30000" dirty="0" smtClean="0"/>
                  <a:t>2</a:t>
                </a:r>
              </a:p>
              <a:p>
                <a:pPr lvl="2"/>
                <a:r>
                  <a:rPr lang="en-US" altLang="en-US" sz="2100" dirty="0" err="1" smtClean="0"/>
                  <a:t>Tính</a:t>
                </a:r>
                <a:r>
                  <a:rPr lang="en-US" altLang="en-US" sz="2100" dirty="0" smtClean="0"/>
                  <a:t> </a:t>
                </a:r>
                <a:r>
                  <a:rPr lang="en-US" altLang="en-US" sz="2100" i="1" dirty="0" smtClean="0">
                    <a:cs typeface="Times New Roman" panose="02020603050405020304" pitchFamily="18" charset="0"/>
                  </a:rPr>
                  <a:t>k</a:t>
                </a:r>
                <a:r>
                  <a:rPr lang="en-US" altLang="en-US" sz="2100" i="1" baseline="30000" dirty="0" smtClean="0">
                    <a:cs typeface="Times New Roman" panose="02020603050405020304" pitchFamily="18" charset="0"/>
                  </a:rPr>
                  <a:t>2</a:t>
                </a:r>
                <a:r>
                  <a:rPr lang="en-US" altLang="en-US" sz="2100" dirty="0" smtClean="0">
                    <a:cs typeface="Times New Roman" panose="02020603050405020304" pitchFamily="18" charset="0"/>
                  </a:rPr>
                  <a:t>, </a:t>
                </a:r>
                <a:r>
                  <a:rPr lang="en-US" altLang="en-US" sz="2100" dirty="0" err="1"/>
                  <a:t>chọn</a:t>
                </a:r>
                <a:r>
                  <a:rPr lang="en-US" altLang="en-US" sz="2100" dirty="0"/>
                  <a:t> </a:t>
                </a:r>
                <a:r>
                  <a:rPr lang="en-US" altLang="en-US" sz="2100" i="1" dirty="0" smtClean="0"/>
                  <a:t>r </a:t>
                </a:r>
                <a:r>
                  <a:rPr lang="en-US" altLang="en-US" sz="2100" dirty="0" err="1"/>
                  <a:t>chữ</a:t>
                </a:r>
                <a:r>
                  <a:rPr lang="en-US" altLang="en-US" sz="2100" dirty="0"/>
                  <a:t> </a:t>
                </a:r>
                <a:r>
                  <a:rPr lang="en-US" altLang="en-US" sz="2100" dirty="0" err="1"/>
                  <a:t>số</a:t>
                </a:r>
                <a:r>
                  <a:rPr lang="en-US" altLang="en-US" sz="2100" dirty="0"/>
                  <a:t> ở </a:t>
                </a:r>
                <a:r>
                  <a:rPr lang="en-US" altLang="en-US" sz="2100" dirty="0" err="1" smtClean="0"/>
                  <a:t>giữa</a:t>
                </a:r>
                <a:r>
                  <a:rPr lang="en-US" altLang="en-US" sz="2100" dirty="0" smtClean="0"/>
                  <a:t> </a:t>
                </a:r>
                <a:r>
                  <a:rPr lang="en-US" altLang="en-US" sz="2100" dirty="0" err="1" smtClean="0"/>
                  <a:t>của</a:t>
                </a:r>
                <a:r>
                  <a:rPr lang="en-US" altLang="en-US" sz="2100" dirty="0" smtClean="0"/>
                  <a:t> </a:t>
                </a:r>
                <a:r>
                  <a:rPr lang="en-US" altLang="en-US" sz="2100" dirty="0" err="1" smtClean="0"/>
                  <a:t>kết</a:t>
                </a:r>
                <a:r>
                  <a:rPr lang="en-US" altLang="en-US" sz="2100" dirty="0" smtClean="0"/>
                  <a:t> </a:t>
                </a:r>
                <a:r>
                  <a:rPr lang="en-US" altLang="en-US" sz="2100" dirty="0" err="1" smtClean="0"/>
                  <a:t>quả</a:t>
                </a:r>
                <a:r>
                  <a:rPr lang="en-US" altLang="en-US" sz="2100" dirty="0" smtClean="0"/>
                  <a:t> </a:t>
                </a:r>
                <a:r>
                  <a:rPr lang="en-US" altLang="en-US" sz="2100" i="1" dirty="0" smtClean="0"/>
                  <a:t>k</a:t>
                </a:r>
                <a:r>
                  <a:rPr lang="en-US" altLang="en-US" sz="2100" i="1" baseline="30000" dirty="0" smtClean="0"/>
                  <a:t>2</a:t>
                </a:r>
                <a:r>
                  <a:rPr lang="en-US" altLang="en-US" sz="2100" dirty="0" smtClean="0"/>
                  <a:t>.</a:t>
                </a:r>
              </a:p>
              <a:p>
                <a:pPr lvl="2"/>
                <a:r>
                  <a:rPr lang="en-US" altLang="en-US" sz="2100" dirty="0" err="1" smtClean="0">
                    <a:cs typeface="Times New Roman" panose="02020603050405020304" pitchFamily="18" charset="0"/>
                  </a:rPr>
                  <a:t>Ví</a:t>
                </a:r>
                <a:r>
                  <a:rPr lang="en-US" altLang="en-US" sz="2100" dirty="0" smtClean="0">
                    <a:cs typeface="Times New Roman" panose="02020603050405020304" pitchFamily="18" charset="0"/>
                  </a:rPr>
                  <a:t> </a:t>
                </a:r>
                <a:r>
                  <a:rPr lang="en-US" altLang="en-US" sz="2100" dirty="0" err="1" smtClean="0">
                    <a:cs typeface="Times New Roman" panose="02020603050405020304" pitchFamily="18" charset="0"/>
                  </a:rPr>
                  <a:t>dụ</a:t>
                </a:r>
                <a:r>
                  <a:rPr lang="en-US" altLang="en-US" sz="2100" dirty="0" smtClean="0">
                    <a:cs typeface="Times New Roman" panose="02020603050405020304" pitchFamily="18" charset="0"/>
                  </a:rPr>
                  <a:t>: m=1000</a:t>
                </a:r>
                <a:endParaRPr lang="en-US" altLang="en-US" sz="2100" dirty="0">
                  <a:cs typeface="Times New Roman" panose="02020603050405020304" pitchFamily="18" charset="0"/>
                </a:endParaRPr>
              </a:p>
              <a:p>
                <a:pPr lvl="2"/>
                <a:endParaRPr lang="en-US" altLang="en-US" sz="2100" dirty="0" smtClean="0">
                  <a:cs typeface="Times New Roman" panose="02020603050405020304" pitchFamily="18" charset="0"/>
                </a:endParaRPr>
              </a:p>
              <a:p>
                <a:pPr lvl="2"/>
                <a:endParaRPr lang="en-US" altLang="en-US" sz="2100" dirty="0">
                  <a:cs typeface="Times New Roman" panose="02020603050405020304" pitchFamily="18" charset="0"/>
                </a:endParaRPr>
              </a:p>
              <a:p>
                <a:pPr lvl="2"/>
                <a:endParaRPr lang="en-US" altLang="en-US" sz="2100" dirty="0" smtClean="0">
                  <a:cs typeface="Times New Roman" panose="02020603050405020304" pitchFamily="18" charset="0"/>
                </a:endParaRPr>
              </a:p>
              <a:p>
                <a:pPr lvl="2"/>
                <a:endParaRPr lang="en-US" altLang="en-US" sz="2100" dirty="0">
                  <a:cs typeface="Times New Roman" panose="02020603050405020304" pitchFamily="18" charset="0"/>
                </a:endParaRPr>
              </a:p>
              <a:p>
                <a:pPr lvl="2"/>
                <a:endParaRPr lang="en-US" altLang="en-US" sz="2100" dirty="0" smtClean="0">
                  <a:cs typeface="Times New Roman" panose="02020603050405020304" pitchFamily="18" charset="0"/>
                </a:endParaRPr>
              </a:p>
              <a:p>
                <a:pPr lvl="2"/>
                <a:endParaRPr lang="en-US" sz="1800" baseline="30000" dirty="0"/>
              </a:p>
            </p:txBody>
          </p:sp>
        </mc:Choice>
        <mc:Fallback xmlns="">
          <p:sp>
            <p:nvSpPr>
              <p:cNvPr id="5" name="Text Placeholder 4"/>
              <p:cNvSpPr>
                <a:spLocks noGrp="1" noRot="1" noChangeAspect="1" noMove="1" noResize="1" noEditPoints="1" noAdjustHandles="1" noChangeArrowheads="1" noChangeShapeType="1" noTextEdit="1"/>
              </p:cNvSpPr>
              <p:nvPr>
                <p:ph type="body" sz="quarter" idx="13"/>
              </p:nvPr>
            </p:nvSpPr>
            <p:spPr>
              <a:xfrm>
                <a:off x="234951" y="963168"/>
                <a:ext cx="8756650" cy="5513832"/>
              </a:xfrm>
              <a:blipFill>
                <a:blip r:embed="rId3"/>
                <a:stretch>
                  <a:fillRect l="-975" t="-1436"/>
                </a:stretch>
              </a:blipFill>
            </p:spPr>
            <p:txBody>
              <a:bodyPr/>
              <a:lstStyle/>
              <a:p>
                <a:r>
                  <a:rPr lang="en-US">
                    <a:noFill/>
                  </a:rPr>
                  <a:t> </a:t>
                </a:r>
              </a:p>
            </p:txBody>
          </p:sp>
        </mc:Fallback>
      </mc:AlternateContent>
      <p:pic>
        <p:nvPicPr>
          <p:cNvPr id="8" name="Picture 7"/>
          <p:cNvPicPr>
            <a:picLocks noChangeAspect="1"/>
          </p:cNvPicPr>
          <p:nvPr/>
        </p:nvPicPr>
        <p:blipFill>
          <a:blip r:embed="rId4"/>
          <a:stretch>
            <a:fillRect/>
          </a:stretch>
        </p:blipFill>
        <p:spPr>
          <a:xfrm>
            <a:off x="3165403" y="4133611"/>
            <a:ext cx="2895746" cy="2011227"/>
          </a:xfrm>
          <a:prstGeom prst="rect">
            <a:avLst/>
          </a:prstGeom>
        </p:spPr>
      </p:pic>
      <p:sp>
        <p:nvSpPr>
          <p:cNvPr id="2" name="Rectangle 1"/>
          <p:cNvSpPr/>
          <p:nvPr/>
        </p:nvSpPr>
        <p:spPr>
          <a:xfrm>
            <a:off x="914400" y="4769893"/>
            <a:ext cx="1633460" cy="369332"/>
          </a:xfrm>
          <a:prstGeom prst="rect">
            <a:avLst/>
          </a:prstGeom>
        </p:spPr>
        <p:txBody>
          <a:bodyPr wrap="none">
            <a:spAutoFit/>
          </a:bodyPr>
          <a:lstStyle/>
          <a:p>
            <a:r>
              <a:rPr lang="en-US" altLang="en-US" dirty="0">
                <a:cs typeface="Times New Roman" panose="02020603050405020304" pitchFamily="18" charset="0"/>
              </a:rPr>
              <a:t>-&gt; </a:t>
            </a:r>
            <a:r>
              <a:rPr lang="en-US" altLang="en-US" dirty="0" err="1">
                <a:cs typeface="Times New Roman" panose="02020603050405020304" pitchFamily="18" charset="0"/>
              </a:rPr>
              <a:t>cần</a:t>
            </a:r>
            <a:r>
              <a:rPr lang="en-US" altLang="en-US" dirty="0">
                <a:cs typeface="Times New Roman" panose="02020603050405020304" pitchFamily="18" charset="0"/>
              </a:rPr>
              <a:t> </a:t>
            </a:r>
            <a:r>
              <a:rPr lang="en-US" altLang="en-US" dirty="0" err="1">
                <a:cs typeface="Times New Roman" panose="02020603050405020304" pitchFamily="18" charset="0"/>
              </a:rPr>
              <a:t>chọn</a:t>
            </a:r>
            <a:r>
              <a:rPr lang="en-US" altLang="en-US" dirty="0">
                <a:cs typeface="Times New Roman" panose="02020603050405020304" pitchFamily="18" charset="0"/>
              </a:rPr>
              <a:t> r=3</a:t>
            </a:r>
            <a:endParaRPr lang="en-US" dirty="0"/>
          </a:p>
        </p:txBody>
      </p:sp>
    </p:spTree>
    <p:extLst>
      <p:ext uri="{BB962C8B-B14F-4D97-AF65-F5344CB8AC3E}">
        <p14:creationId xmlns:p14="http://schemas.microsoft.com/office/powerpoint/2010/main" val="2886003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C24317B-5122-4A99-A6E9-FA23C146A7E0}" type="slidenum">
              <a:rPr lang="en-US" smtClean="0"/>
              <a:pPr/>
              <a:t>27</a:t>
            </a:fld>
            <a:endParaRPr lang="en-US"/>
          </a:p>
        </p:txBody>
      </p:sp>
      <p:sp>
        <p:nvSpPr>
          <p:cNvPr id="4" name="Title 3"/>
          <p:cNvSpPr>
            <a:spLocks noGrp="1"/>
          </p:cNvSpPr>
          <p:nvPr>
            <p:ph type="title"/>
          </p:nvPr>
        </p:nvSpPr>
        <p:spPr/>
        <p:txBody>
          <a:bodyPr>
            <a:normAutofit/>
          </a:bodyPr>
          <a:lstStyle/>
          <a:p>
            <a:r>
              <a:rPr lang="vi-VN" sz="2400" dirty="0"/>
              <a:t>Các phương pháp xây dựng hàm băm</a:t>
            </a:r>
            <a:endParaRPr lang="en-US" sz="2400" dirty="0"/>
          </a:p>
        </p:txBody>
      </p:sp>
      <p:sp>
        <p:nvSpPr>
          <p:cNvPr id="5" name="Text Placeholder 4"/>
          <p:cNvSpPr>
            <a:spLocks noGrp="1"/>
          </p:cNvSpPr>
          <p:nvPr>
            <p:ph type="body" sz="quarter" idx="13"/>
          </p:nvPr>
        </p:nvSpPr>
        <p:spPr>
          <a:xfrm>
            <a:off x="234951" y="963168"/>
            <a:ext cx="8756650" cy="5132832"/>
          </a:xfrm>
        </p:spPr>
        <p:txBody>
          <a:bodyPr>
            <a:normAutofit/>
          </a:bodyPr>
          <a:lstStyle/>
          <a:p>
            <a:r>
              <a:rPr lang="vi-VN" sz="2400" dirty="0" smtClean="0"/>
              <a:t>Phương </a:t>
            </a:r>
            <a:r>
              <a:rPr lang="vi-VN" sz="2400" dirty="0"/>
              <a:t>pháp </a:t>
            </a:r>
            <a:r>
              <a:rPr lang="en-US" altLang="en-US" sz="2400" dirty="0" err="1">
                <a:cs typeface="Times New Roman" panose="02020603050405020304" pitchFamily="18" charset="0"/>
              </a:rPr>
              <a:t>ph</a:t>
            </a:r>
            <a:r>
              <a:rPr lang="en-US" altLang="en-US" sz="2400" dirty="0" err="1"/>
              <a:t>ân</a:t>
            </a:r>
            <a:r>
              <a:rPr lang="en-US" altLang="en-US" sz="2400" dirty="0"/>
              <a:t> </a:t>
            </a:r>
            <a:r>
              <a:rPr lang="en-US" altLang="en-US" sz="2400" dirty="0" err="1"/>
              <a:t>đoạn</a:t>
            </a:r>
            <a:r>
              <a:rPr lang="en-US" altLang="en-US" sz="2400" dirty="0"/>
              <a:t> </a:t>
            </a:r>
            <a:endParaRPr lang="en-US" altLang="en-US" sz="2400" dirty="0" smtClean="0"/>
          </a:p>
          <a:p>
            <a:pPr lvl="1"/>
            <a:r>
              <a:rPr lang="en-US" altLang="en-US" sz="2000" dirty="0" err="1"/>
              <a:t>Áp</a:t>
            </a:r>
            <a:r>
              <a:rPr lang="en-US" altLang="en-US" sz="2000" dirty="0"/>
              <a:t> </a:t>
            </a:r>
            <a:r>
              <a:rPr lang="en-US" altLang="en-US" sz="2000" dirty="0" err="1"/>
              <a:t>dụng</a:t>
            </a:r>
            <a:r>
              <a:rPr lang="en-US" altLang="en-US" sz="2000" dirty="0"/>
              <a:t> </a:t>
            </a:r>
            <a:r>
              <a:rPr lang="en-US" altLang="en-US" sz="2000" dirty="0" err="1"/>
              <a:t>khi</a:t>
            </a:r>
            <a:r>
              <a:rPr lang="en-US" altLang="en-US" sz="2000" dirty="0"/>
              <a:t> </a:t>
            </a:r>
            <a:r>
              <a:rPr lang="en-US" altLang="en-US" sz="2000" dirty="0" err="1"/>
              <a:t>khóa</a:t>
            </a:r>
            <a:r>
              <a:rPr lang="en-US" altLang="en-US" sz="2000" dirty="0"/>
              <a:t> </a:t>
            </a:r>
            <a:r>
              <a:rPr lang="en-US" altLang="en-US" sz="2000" dirty="0" err="1"/>
              <a:t>có</a:t>
            </a:r>
            <a:r>
              <a:rPr lang="en-US" altLang="en-US" sz="2000" dirty="0"/>
              <a:t> </a:t>
            </a:r>
            <a:r>
              <a:rPr lang="en-US" altLang="en-US" sz="2000" dirty="0" err="1"/>
              <a:t>kích</a:t>
            </a:r>
            <a:r>
              <a:rPr lang="en-US" altLang="en-US" sz="2000" dirty="0"/>
              <a:t> </a:t>
            </a:r>
            <a:r>
              <a:rPr lang="en-US" altLang="en-US" sz="2000" dirty="0" err="1"/>
              <a:t>thước</a:t>
            </a:r>
            <a:r>
              <a:rPr lang="en-US" altLang="en-US" sz="2000" dirty="0"/>
              <a:t> </a:t>
            </a:r>
            <a:r>
              <a:rPr lang="en-US" altLang="en-US" sz="2000" dirty="0" err="1"/>
              <a:t>lớn</a:t>
            </a:r>
            <a:endParaRPr lang="en-US" altLang="en-US" sz="2000" dirty="0"/>
          </a:p>
          <a:p>
            <a:pPr lvl="1"/>
            <a:r>
              <a:rPr lang="en-US" altLang="en-US" sz="2000" dirty="0"/>
              <a:t>Chia </a:t>
            </a:r>
            <a:r>
              <a:rPr lang="en-US" altLang="en-US" sz="2000" dirty="0" err="1"/>
              <a:t>khóa</a:t>
            </a:r>
            <a:r>
              <a:rPr lang="en-US" altLang="en-US" sz="2000" dirty="0"/>
              <a:t> </a:t>
            </a:r>
            <a:r>
              <a:rPr lang="en-US" altLang="en-US" sz="2000" dirty="0" err="1"/>
              <a:t>thành</a:t>
            </a:r>
            <a:r>
              <a:rPr lang="en-US" altLang="en-US" sz="2000" dirty="0"/>
              <a:t> </a:t>
            </a:r>
            <a:r>
              <a:rPr lang="en-US" altLang="en-US" sz="2000" dirty="0" err="1"/>
              <a:t>các</a:t>
            </a:r>
            <a:r>
              <a:rPr lang="en-US" altLang="en-US" sz="2000" dirty="0"/>
              <a:t> </a:t>
            </a:r>
            <a:r>
              <a:rPr lang="en-US" altLang="en-US" sz="2000" dirty="0" err="1"/>
              <a:t>đoạn</a:t>
            </a:r>
            <a:r>
              <a:rPr lang="en-US" altLang="en-US" sz="2000" dirty="0"/>
              <a:t> </a:t>
            </a:r>
            <a:r>
              <a:rPr lang="en-US" altLang="en-US" sz="2000" dirty="0" err="1"/>
              <a:t>có</a:t>
            </a:r>
            <a:r>
              <a:rPr lang="en-US" altLang="en-US" sz="2000" dirty="0"/>
              <a:t> </a:t>
            </a:r>
            <a:r>
              <a:rPr lang="en-US" altLang="en-US" sz="2000" dirty="0" err="1"/>
              <a:t>độ</a:t>
            </a:r>
            <a:r>
              <a:rPr lang="en-US" altLang="en-US" sz="2000" dirty="0"/>
              <a:t> </a:t>
            </a:r>
            <a:r>
              <a:rPr lang="en-US" altLang="en-US" sz="2000" dirty="0" err="1"/>
              <a:t>dài</a:t>
            </a:r>
            <a:r>
              <a:rPr lang="en-US" altLang="en-US" sz="2000" dirty="0"/>
              <a:t> </a:t>
            </a:r>
            <a:r>
              <a:rPr lang="en-US" altLang="en-US" sz="2000" dirty="0" err="1"/>
              <a:t>như</a:t>
            </a:r>
            <a:r>
              <a:rPr lang="en-US" altLang="en-US" sz="2000" dirty="0"/>
              <a:t> </a:t>
            </a:r>
            <a:r>
              <a:rPr lang="en-US" altLang="en-US" sz="2000" dirty="0" err="1"/>
              <a:t>nhau</a:t>
            </a:r>
            <a:r>
              <a:rPr lang="en-US" altLang="en-US" sz="2000" dirty="0"/>
              <a:t> = </a:t>
            </a:r>
            <a:r>
              <a:rPr lang="en-US" altLang="en-US" sz="2000" dirty="0" err="1"/>
              <a:t>độ</a:t>
            </a:r>
            <a:r>
              <a:rPr lang="en-US" altLang="en-US" sz="2000" dirty="0"/>
              <a:t> </a:t>
            </a:r>
            <a:r>
              <a:rPr lang="en-US" altLang="en-US" sz="2000" dirty="0" err="1"/>
              <a:t>dài</a:t>
            </a:r>
            <a:r>
              <a:rPr lang="en-US" altLang="en-US" sz="2000" dirty="0"/>
              <a:t> </a:t>
            </a:r>
            <a:r>
              <a:rPr lang="en-US" altLang="en-US" sz="2000" dirty="0" err="1"/>
              <a:t>địa</a:t>
            </a:r>
            <a:r>
              <a:rPr lang="en-US" altLang="en-US" sz="2000" dirty="0"/>
              <a:t> </a:t>
            </a:r>
            <a:r>
              <a:rPr lang="en-US" altLang="en-US" sz="2000" dirty="0" err="1"/>
              <a:t>chỉ</a:t>
            </a:r>
            <a:endParaRPr lang="en-US" altLang="en-US" sz="2000" dirty="0"/>
          </a:p>
          <a:p>
            <a:pPr lvl="1"/>
            <a:r>
              <a:rPr lang="en-US" altLang="en-US" sz="2000" dirty="0" err="1"/>
              <a:t>Phối</a:t>
            </a:r>
            <a:r>
              <a:rPr lang="en-US" altLang="en-US" sz="2000" dirty="0"/>
              <a:t> </a:t>
            </a:r>
            <a:r>
              <a:rPr lang="en-US" altLang="en-US" sz="2000" dirty="0" err="1"/>
              <a:t>hợp</a:t>
            </a:r>
            <a:r>
              <a:rPr lang="en-US" altLang="en-US" sz="2000" dirty="0"/>
              <a:t> </a:t>
            </a:r>
            <a:r>
              <a:rPr lang="en-US" altLang="en-US" sz="2000" dirty="0" err="1"/>
              <a:t>các</a:t>
            </a:r>
            <a:r>
              <a:rPr lang="en-US" altLang="en-US" sz="2000" dirty="0"/>
              <a:t> </a:t>
            </a:r>
            <a:r>
              <a:rPr lang="en-US" altLang="en-US" sz="2000" dirty="0" err="1"/>
              <a:t>đoạn</a:t>
            </a:r>
            <a:endParaRPr lang="en-US" altLang="en-US" sz="2000" dirty="0"/>
          </a:p>
          <a:p>
            <a:pPr lvl="2"/>
            <a:r>
              <a:rPr lang="en-US" altLang="en-US" sz="1600" dirty="0" err="1"/>
              <a:t>Ví</a:t>
            </a:r>
            <a:r>
              <a:rPr lang="en-US" altLang="en-US" sz="1600" dirty="0"/>
              <a:t> </a:t>
            </a:r>
            <a:r>
              <a:rPr lang="en-US" altLang="en-US" sz="1600" dirty="0" err="1"/>
              <a:t>dụ</a:t>
            </a:r>
            <a:r>
              <a:rPr lang="en-US" altLang="en-US" sz="1600" dirty="0"/>
              <a:t>: </a:t>
            </a:r>
            <a:r>
              <a:rPr lang="en-US" altLang="en-US" sz="1600" dirty="0" err="1"/>
              <a:t>cộng</a:t>
            </a:r>
            <a:r>
              <a:rPr lang="en-US" altLang="en-US" sz="1600" dirty="0"/>
              <a:t> </a:t>
            </a:r>
            <a:r>
              <a:rPr lang="en-US" altLang="en-US" sz="1600" dirty="0" err="1"/>
              <a:t>lại</a:t>
            </a:r>
            <a:r>
              <a:rPr lang="en-US" altLang="en-US" sz="1600" dirty="0"/>
              <a:t>, </a:t>
            </a:r>
            <a:r>
              <a:rPr lang="en-US" altLang="en-US" sz="1600" dirty="0" err="1"/>
              <a:t>chọn</a:t>
            </a:r>
            <a:r>
              <a:rPr lang="en-US" altLang="en-US" sz="1600" dirty="0"/>
              <a:t> </a:t>
            </a:r>
            <a:r>
              <a:rPr lang="en-US" altLang="en-US" sz="1600" dirty="0" err="1"/>
              <a:t>một</a:t>
            </a:r>
            <a:r>
              <a:rPr lang="en-US" altLang="en-US" sz="1600" dirty="0"/>
              <a:t> </a:t>
            </a:r>
            <a:r>
              <a:rPr lang="en-US" altLang="en-US" sz="1600" dirty="0" err="1"/>
              <a:t>vài</a:t>
            </a:r>
            <a:r>
              <a:rPr lang="en-US" altLang="en-US" sz="1600" dirty="0"/>
              <a:t> </a:t>
            </a:r>
            <a:r>
              <a:rPr lang="en-US" altLang="en-US" sz="1600" dirty="0" err="1"/>
              <a:t>vị</a:t>
            </a:r>
            <a:r>
              <a:rPr lang="en-US" altLang="en-US" sz="1600" dirty="0"/>
              <a:t> </a:t>
            </a:r>
            <a:r>
              <a:rPr lang="en-US" altLang="en-US" sz="1600" dirty="0" err="1"/>
              <a:t>trí</a:t>
            </a:r>
            <a:r>
              <a:rPr lang="en-US" altLang="en-US" sz="1600" dirty="0"/>
              <a:t> </a:t>
            </a:r>
            <a:r>
              <a:rPr lang="en-US" altLang="en-US" sz="1600" dirty="0" err="1"/>
              <a:t>và</a:t>
            </a:r>
            <a:r>
              <a:rPr lang="en-US" altLang="en-US" sz="1600" dirty="0"/>
              <a:t> </a:t>
            </a:r>
            <a:r>
              <a:rPr lang="en-US" altLang="en-US" sz="1600" dirty="0" err="1"/>
              <a:t>ghép</a:t>
            </a:r>
            <a:r>
              <a:rPr lang="en-US" altLang="en-US" sz="1600" dirty="0"/>
              <a:t> </a:t>
            </a:r>
            <a:r>
              <a:rPr lang="en-US" altLang="en-US" sz="1600" dirty="0" err="1"/>
              <a:t>lại</a:t>
            </a:r>
            <a:endParaRPr lang="en-US" altLang="en-US" sz="1600" dirty="0"/>
          </a:p>
          <a:p>
            <a:r>
              <a:rPr lang="en-US" altLang="en-US" sz="2400" dirty="0" err="1"/>
              <a:t>Các</a:t>
            </a:r>
            <a:r>
              <a:rPr lang="en-US" altLang="en-US" sz="2400" dirty="0"/>
              <a:t> </a:t>
            </a:r>
            <a:r>
              <a:rPr lang="en-US" altLang="en-US" sz="2400" dirty="0" err="1"/>
              <a:t>kỹ</a:t>
            </a:r>
            <a:r>
              <a:rPr lang="en-US" altLang="en-US" sz="2400" dirty="0"/>
              <a:t> </a:t>
            </a:r>
            <a:r>
              <a:rPr lang="en-US" altLang="en-US" sz="2400" dirty="0" err="1" smtClean="0"/>
              <a:t>thuật</a:t>
            </a:r>
            <a:r>
              <a:rPr lang="en-US" altLang="en-US" sz="2400" dirty="0" smtClean="0"/>
              <a:t> </a:t>
            </a:r>
            <a:r>
              <a:rPr lang="en-US" altLang="en-US" sz="2400" dirty="0" err="1"/>
              <a:t>phân</a:t>
            </a:r>
            <a:r>
              <a:rPr lang="en-US" altLang="en-US" sz="2400" dirty="0"/>
              <a:t> </a:t>
            </a:r>
            <a:r>
              <a:rPr lang="en-US" altLang="en-US" sz="2400" dirty="0" err="1"/>
              <a:t>đoạn</a:t>
            </a:r>
            <a:endParaRPr lang="en-US" altLang="en-US" sz="2400" dirty="0"/>
          </a:p>
          <a:p>
            <a:pPr lvl="1"/>
            <a:r>
              <a:rPr lang="en-US" altLang="en-US" sz="2100" dirty="0" err="1"/>
              <a:t>Tách</a:t>
            </a:r>
            <a:r>
              <a:rPr lang="en-US" altLang="en-US" sz="2100" dirty="0"/>
              <a:t> (</a:t>
            </a:r>
            <a:r>
              <a:rPr lang="en-US" altLang="en-US" sz="2100" dirty="0" err="1"/>
              <a:t>spliting</a:t>
            </a:r>
            <a:r>
              <a:rPr lang="en-US" altLang="en-US" sz="2100" dirty="0"/>
              <a:t>)</a:t>
            </a:r>
          </a:p>
          <a:p>
            <a:pPr lvl="2"/>
            <a:r>
              <a:rPr lang="en-US" altLang="en-US" sz="1750" dirty="0" err="1"/>
              <a:t>Tách</a:t>
            </a:r>
            <a:r>
              <a:rPr lang="en-US" altLang="en-US" sz="1750" dirty="0"/>
              <a:t> </a:t>
            </a:r>
            <a:r>
              <a:rPr lang="en-US" altLang="en-US" sz="1750" dirty="0" err="1" smtClean="0"/>
              <a:t>khóa</a:t>
            </a:r>
            <a:r>
              <a:rPr lang="en-US" altLang="en-US" sz="1750" dirty="0" smtClean="0"/>
              <a:t> </a:t>
            </a:r>
            <a:r>
              <a:rPr lang="en-US" altLang="en-US" sz="1750" i="1" dirty="0" smtClean="0"/>
              <a:t>k</a:t>
            </a:r>
            <a:r>
              <a:rPr lang="en-US" altLang="en-US" sz="1750" dirty="0" smtClean="0"/>
              <a:t> </a:t>
            </a:r>
            <a:r>
              <a:rPr lang="en-US" altLang="en-US" sz="1750" dirty="0" err="1" smtClean="0"/>
              <a:t>từ</a:t>
            </a:r>
            <a:r>
              <a:rPr lang="en-US" altLang="en-US" sz="1750" dirty="0" smtClean="0"/>
              <a:t> </a:t>
            </a:r>
            <a:r>
              <a:rPr lang="en-US" altLang="en-US" sz="1750" dirty="0" err="1"/>
              <a:t>phải</a:t>
            </a:r>
            <a:r>
              <a:rPr lang="en-US" altLang="en-US" sz="1750" dirty="0"/>
              <a:t> qua </a:t>
            </a:r>
            <a:r>
              <a:rPr lang="en-US" altLang="en-US" sz="1750" dirty="0" err="1" smtClean="0"/>
              <a:t>trái</a:t>
            </a:r>
            <a:r>
              <a:rPr lang="en-US" altLang="en-US" sz="1750" dirty="0" smtClean="0"/>
              <a:t> </a:t>
            </a:r>
            <a:r>
              <a:rPr lang="en-US" altLang="en-US" sz="1750" dirty="0" err="1" smtClean="0"/>
              <a:t>thành</a:t>
            </a:r>
            <a:r>
              <a:rPr lang="en-US" altLang="en-US" sz="1750" dirty="0" smtClean="0"/>
              <a:t> </a:t>
            </a:r>
            <a:r>
              <a:rPr lang="en-US" altLang="en-US" sz="1750" dirty="0" err="1" smtClean="0"/>
              <a:t>các</a:t>
            </a:r>
            <a:r>
              <a:rPr lang="en-US" altLang="en-US" sz="1750" dirty="0" smtClean="0"/>
              <a:t> </a:t>
            </a:r>
            <a:r>
              <a:rPr lang="en-US" altLang="en-US" sz="1750" dirty="0" err="1" smtClean="0"/>
              <a:t>đoạn</a:t>
            </a:r>
            <a:r>
              <a:rPr lang="en-US" altLang="en-US" sz="1750" dirty="0" smtClean="0"/>
              <a:t> </a:t>
            </a:r>
            <a:r>
              <a:rPr lang="en-US" altLang="en-US" sz="1750" dirty="0" err="1" smtClean="0"/>
              <a:t>có</a:t>
            </a:r>
            <a:r>
              <a:rPr lang="en-US" altLang="en-US" sz="1750" dirty="0" smtClean="0"/>
              <a:t> </a:t>
            </a:r>
            <a:r>
              <a:rPr lang="en-US" altLang="en-US" sz="1750" dirty="0" err="1" smtClean="0"/>
              <a:t>độ</a:t>
            </a:r>
            <a:r>
              <a:rPr lang="en-US" altLang="en-US" sz="1750" dirty="0" smtClean="0"/>
              <a:t> </a:t>
            </a:r>
            <a:r>
              <a:rPr lang="en-US" altLang="en-US" sz="1750" dirty="0" err="1" smtClean="0"/>
              <a:t>dài</a:t>
            </a:r>
            <a:r>
              <a:rPr lang="en-US" altLang="en-US" sz="1750" dirty="0" smtClean="0"/>
              <a:t> = </a:t>
            </a:r>
            <a:r>
              <a:rPr lang="en-US" altLang="en-US" sz="1750" i="1" dirty="0" smtClean="0"/>
              <a:t>m</a:t>
            </a:r>
            <a:r>
              <a:rPr lang="en-US" altLang="en-US" sz="1750" dirty="0" smtClean="0"/>
              <a:t> =&gt; </a:t>
            </a:r>
            <a:r>
              <a:rPr lang="en-US" altLang="en-US" sz="1750" dirty="0" err="1" smtClean="0"/>
              <a:t>các</a:t>
            </a:r>
            <a:r>
              <a:rPr lang="en-US" altLang="en-US" sz="1750" dirty="0" smtClean="0"/>
              <a:t> </a:t>
            </a:r>
            <a:r>
              <a:rPr lang="en-US" altLang="en-US" sz="1750" dirty="0" err="1" smtClean="0"/>
              <a:t>số</a:t>
            </a:r>
            <a:r>
              <a:rPr lang="en-US" altLang="en-US" sz="1750" dirty="0" smtClean="0"/>
              <a:t> </a:t>
            </a:r>
            <a:r>
              <a:rPr lang="en-US" altLang="en-US" sz="1750" i="1" dirty="0" smtClean="0"/>
              <a:t>k1, k2, …, </a:t>
            </a:r>
            <a:r>
              <a:rPr lang="en-US" altLang="en-US" sz="1750" i="1" dirty="0" err="1" smtClean="0"/>
              <a:t>kn</a:t>
            </a:r>
            <a:endParaRPr lang="en-US" altLang="en-US" sz="1750" i="1" dirty="0"/>
          </a:p>
          <a:p>
            <a:pPr lvl="2"/>
            <a:r>
              <a:rPr lang="en-US" altLang="en-US" sz="1750" i="1" dirty="0" smtClean="0"/>
              <a:t>h(k) = k1+k2+…+</a:t>
            </a:r>
            <a:r>
              <a:rPr lang="en-US" altLang="en-US" sz="1750" i="1" dirty="0" err="1" smtClean="0"/>
              <a:t>kn</a:t>
            </a:r>
            <a:endParaRPr lang="en-US" altLang="en-US" sz="1750" i="1" dirty="0"/>
          </a:p>
          <a:p>
            <a:pPr lvl="1"/>
            <a:r>
              <a:rPr lang="en-US" altLang="en-US" sz="2100" dirty="0" err="1"/>
              <a:t>Gấp</a:t>
            </a:r>
            <a:r>
              <a:rPr lang="en-US" altLang="en-US" sz="2100" dirty="0"/>
              <a:t> (folding)</a:t>
            </a:r>
          </a:p>
          <a:p>
            <a:pPr lvl="2"/>
            <a:r>
              <a:rPr lang="en-US" altLang="en-US" sz="1750" dirty="0" err="1"/>
              <a:t>Gấp</a:t>
            </a:r>
            <a:r>
              <a:rPr lang="en-US" altLang="en-US" sz="1750" dirty="0"/>
              <a:t> </a:t>
            </a:r>
            <a:r>
              <a:rPr lang="en-US" altLang="en-US" sz="1750" dirty="0" err="1"/>
              <a:t>theo</a:t>
            </a:r>
            <a:r>
              <a:rPr lang="en-US" altLang="en-US" sz="1750" dirty="0"/>
              <a:t> </a:t>
            </a:r>
            <a:r>
              <a:rPr lang="en-US" altLang="en-US" sz="1750" dirty="0" err="1"/>
              <a:t>các</a:t>
            </a:r>
            <a:r>
              <a:rPr lang="en-US" altLang="en-US" sz="1750" dirty="0"/>
              <a:t> </a:t>
            </a:r>
            <a:r>
              <a:rPr lang="en-US" altLang="en-US" sz="1750" dirty="0" err="1"/>
              <a:t>đường</a:t>
            </a:r>
            <a:r>
              <a:rPr lang="en-US" altLang="en-US" sz="1750" dirty="0"/>
              <a:t> </a:t>
            </a:r>
            <a:r>
              <a:rPr lang="en-US" altLang="en-US" sz="1750" dirty="0" err="1"/>
              <a:t>biên</a:t>
            </a:r>
            <a:r>
              <a:rPr lang="en-US" altLang="en-US" sz="1750" dirty="0"/>
              <a:t> (</a:t>
            </a:r>
            <a:r>
              <a:rPr lang="en-US" altLang="en-US" sz="1750" dirty="0" err="1"/>
              <a:t>giống</a:t>
            </a:r>
            <a:r>
              <a:rPr lang="en-US" altLang="en-US" sz="1750" dirty="0"/>
              <a:t> </a:t>
            </a:r>
            <a:r>
              <a:rPr lang="en-US" altLang="en-US" sz="1750" dirty="0" err="1"/>
              <a:t>gấp</a:t>
            </a:r>
            <a:r>
              <a:rPr lang="en-US" altLang="en-US" sz="1750" dirty="0"/>
              <a:t> </a:t>
            </a:r>
            <a:r>
              <a:rPr lang="en-US" altLang="en-US" sz="1750" dirty="0" err="1"/>
              <a:t>giấy</a:t>
            </a:r>
            <a:r>
              <a:rPr lang="en-US" altLang="en-US" sz="1750" dirty="0"/>
              <a:t>)</a:t>
            </a:r>
          </a:p>
          <a:p>
            <a:pPr lvl="2"/>
            <a:r>
              <a:rPr lang="en-US" altLang="en-US" sz="1750" dirty="0" err="1" smtClean="0"/>
              <a:t>Tính</a:t>
            </a:r>
            <a:r>
              <a:rPr lang="en-US" altLang="en-US" sz="1750" dirty="0" smtClean="0"/>
              <a:t> </a:t>
            </a:r>
            <a:r>
              <a:rPr lang="en-US" altLang="en-US" sz="1750" dirty="0" err="1" smtClean="0"/>
              <a:t>tổng</a:t>
            </a:r>
            <a:r>
              <a:rPr lang="en-US" altLang="en-US" sz="1750" dirty="0" smtClean="0"/>
              <a:t> </a:t>
            </a:r>
            <a:r>
              <a:rPr lang="en-US" altLang="en-US" sz="1750" dirty="0" err="1" smtClean="0"/>
              <a:t>các</a:t>
            </a:r>
            <a:r>
              <a:rPr lang="en-US" altLang="en-US" sz="1750" dirty="0" smtClean="0"/>
              <a:t> </a:t>
            </a:r>
            <a:r>
              <a:rPr lang="en-US" altLang="en-US" sz="1750" dirty="0" err="1" smtClean="0"/>
              <a:t>đoạn</a:t>
            </a:r>
            <a:endParaRPr lang="en-US" altLang="en-US" sz="1750" dirty="0"/>
          </a:p>
          <a:p>
            <a:pPr lvl="1"/>
            <a:endParaRPr lang="en-US" sz="1400" dirty="0"/>
          </a:p>
        </p:txBody>
      </p:sp>
    </p:spTree>
    <p:extLst>
      <p:ext uri="{BB962C8B-B14F-4D97-AF65-F5344CB8AC3E}">
        <p14:creationId xmlns:p14="http://schemas.microsoft.com/office/powerpoint/2010/main" val="1823879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
                                            <p:txEl>
                                              <p:pRg st="10" end="1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C24317B-5122-4A99-A6E9-FA23C146A7E0}" type="slidenum">
              <a:rPr lang="en-US" smtClean="0"/>
              <a:pPr/>
              <a:t>28</a:t>
            </a:fld>
            <a:endParaRPr lang="en-US"/>
          </a:p>
        </p:txBody>
      </p:sp>
      <p:sp>
        <p:nvSpPr>
          <p:cNvPr id="4" name="Title 3"/>
          <p:cNvSpPr>
            <a:spLocks noGrp="1"/>
          </p:cNvSpPr>
          <p:nvPr>
            <p:ph type="title"/>
          </p:nvPr>
        </p:nvSpPr>
        <p:spPr/>
        <p:txBody>
          <a:bodyPr>
            <a:normAutofit/>
          </a:bodyPr>
          <a:lstStyle/>
          <a:p>
            <a:r>
              <a:rPr lang="vi-VN" sz="2400" dirty="0"/>
              <a:t>Các phương pháp xây dựng hàm băm</a:t>
            </a:r>
            <a:endParaRPr lang="en-US" sz="2400" dirty="0"/>
          </a:p>
        </p:txBody>
      </p:sp>
      <p:sp>
        <p:nvSpPr>
          <p:cNvPr id="5" name="Text Placeholder 4"/>
          <p:cNvSpPr>
            <a:spLocks noGrp="1"/>
          </p:cNvSpPr>
          <p:nvPr>
            <p:ph type="body" sz="quarter" idx="13"/>
          </p:nvPr>
        </p:nvSpPr>
        <p:spPr>
          <a:xfrm>
            <a:off x="234951" y="963168"/>
            <a:ext cx="8756650" cy="5132832"/>
          </a:xfrm>
        </p:spPr>
        <p:txBody>
          <a:bodyPr>
            <a:normAutofit/>
          </a:bodyPr>
          <a:lstStyle/>
          <a:p>
            <a:r>
              <a:rPr lang="en-US" sz="2400" dirty="0" err="1" smtClean="0"/>
              <a:t>Ví</a:t>
            </a:r>
            <a:r>
              <a:rPr lang="en-US" sz="2400" dirty="0" smtClean="0"/>
              <a:t> </a:t>
            </a:r>
            <a:r>
              <a:rPr lang="en-US" sz="2400" dirty="0" err="1" smtClean="0"/>
              <a:t>dụ</a:t>
            </a:r>
            <a:r>
              <a:rPr lang="en-US" sz="2400" dirty="0" smtClean="0"/>
              <a:t> </a:t>
            </a:r>
            <a:r>
              <a:rPr lang="vi-VN" sz="2400" dirty="0" smtClean="0"/>
              <a:t>Phương pháp </a:t>
            </a:r>
            <a:r>
              <a:rPr lang="en-US" altLang="en-US" sz="2400" dirty="0" err="1" smtClean="0">
                <a:cs typeface="Times New Roman" panose="02020603050405020304" pitchFamily="18" charset="0"/>
              </a:rPr>
              <a:t>ph</a:t>
            </a:r>
            <a:r>
              <a:rPr lang="en-US" altLang="en-US" sz="2400" dirty="0" err="1" smtClean="0"/>
              <a:t>ân</a:t>
            </a:r>
            <a:r>
              <a:rPr lang="en-US" altLang="en-US" sz="2400" dirty="0" smtClean="0"/>
              <a:t> </a:t>
            </a:r>
            <a:r>
              <a:rPr lang="en-US" altLang="en-US" sz="2400" dirty="0" err="1" smtClean="0"/>
              <a:t>đoạn</a:t>
            </a:r>
            <a:r>
              <a:rPr lang="en-US" altLang="en-US" sz="2400" dirty="0" smtClean="0"/>
              <a:t> </a:t>
            </a:r>
          </a:p>
          <a:p>
            <a:pPr lvl="1"/>
            <a:r>
              <a:rPr lang="en-US" altLang="en-US" sz="2100" dirty="0" smtClean="0"/>
              <a:t>k </a:t>
            </a:r>
            <a:r>
              <a:rPr lang="en-US" altLang="en-US" sz="2100" dirty="0"/>
              <a:t>= 34289421</a:t>
            </a:r>
          </a:p>
          <a:p>
            <a:pPr lvl="1"/>
            <a:r>
              <a:rPr lang="en-US" altLang="en-US" sz="2100" dirty="0" err="1" smtClean="0"/>
              <a:t>Kích</a:t>
            </a:r>
            <a:r>
              <a:rPr lang="en-US" altLang="en-US" sz="2100" dirty="0" smtClean="0"/>
              <a:t> </a:t>
            </a:r>
            <a:r>
              <a:rPr lang="en-US" altLang="en-US" sz="2100" dirty="0" err="1" smtClean="0"/>
              <a:t>thước</a:t>
            </a:r>
            <a:r>
              <a:rPr lang="en-US" altLang="en-US" sz="2100" dirty="0" smtClean="0"/>
              <a:t> </a:t>
            </a:r>
            <a:r>
              <a:rPr lang="en-US" altLang="en-US" sz="2100" dirty="0" err="1" smtClean="0"/>
              <a:t>bảng</a:t>
            </a:r>
            <a:r>
              <a:rPr lang="en-US" altLang="en-US" sz="2100" dirty="0" smtClean="0"/>
              <a:t> </a:t>
            </a:r>
            <a:r>
              <a:rPr lang="en-US" altLang="en-US" sz="2100" dirty="0" err="1" smtClean="0"/>
              <a:t>địa</a:t>
            </a:r>
            <a:r>
              <a:rPr lang="en-US" altLang="en-US" sz="2100" dirty="0" smtClean="0"/>
              <a:t> </a:t>
            </a:r>
            <a:r>
              <a:rPr lang="en-US" altLang="en-US" sz="2100" dirty="0" err="1" smtClean="0"/>
              <a:t>chỉ</a:t>
            </a:r>
            <a:r>
              <a:rPr lang="en-US" altLang="en-US" sz="2100" dirty="0" smtClean="0"/>
              <a:t> 1000 </a:t>
            </a:r>
          </a:p>
          <a:p>
            <a:pPr marL="342900" lvl="1" indent="0">
              <a:buNone/>
            </a:pPr>
            <a:r>
              <a:rPr lang="en-US" altLang="en-US" sz="2100" dirty="0" smtClean="0"/>
              <a:t>    =&gt; </a:t>
            </a:r>
            <a:r>
              <a:rPr lang="en-US" altLang="en-US" sz="2100" dirty="0" err="1"/>
              <a:t>Độ</a:t>
            </a:r>
            <a:r>
              <a:rPr lang="en-US" altLang="en-US" sz="2100" dirty="0"/>
              <a:t> </a:t>
            </a:r>
            <a:r>
              <a:rPr lang="en-US" altLang="en-US" sz="2100" dirty="0" err="1"/>
              <a:t>dài</a:t>
            </a:r>
            <a:r>
              <a:rPr lang="en-US" altLang="en-US" sz="2100" dirty="0"/>
              <a:t> </a:t>
            </a:r>
            <a:r>
              <a:rPr lang="en-US" altLang="en-US" sz="2100" dirty="0" err="1"/>
              <a:t>địa</a:t>
            </a:r>
            <a:r>
              <a:rPr lang="en-US" altLang="en-US" sz="2100" dirty="0"/>
              <a:t> </a:t>
            </a:r>
            <a:r>
              <a:rPr lang="en-US" altLang="en-US" sz="2100" dirty="0" err="1"/>
              <a:t>chỉ</a:t>
            </a:r>
            <a:r>
              <a:rPr lang="en-US" altLang="en-US" sz="2100" dirty="0"/>
              <a:t> = 3</a:t>
            </a:r>
          </a:p>
          <a:p>
            <a:pPr lvl="1"/>
            <a:r>
              <a:rPr lang="en-US" altLang="en-US" sz="2100" dirty="0" err="1" smtClean="0"/>
              <a:t>Tách</a:t>
            </a:r>
            <a:r>
              <a:rPr lang="en-US" altLang="en-US" sz="2100" dirty="0" smtClean="0"/>
              <a:t>:</a:t>
            </a:r>
            <a:endParaRPr lang="en-US" altLang="en-US" sz="2100" dirty="0"/>
          </a:p>
          <a:p>
            <a:pPr lvl="1"/>
            <a:endParaRPr lang="en-US" altLang="en-US" sz="2100" dirty="0" smtClean="0"/>
          </a:p>
          <a:p>
            <a:pPr lvl="1"/>
            <a:endParaRPr lang="en-US" altLang="en-US" sz="2100" dirty="0"/>
          </a:p>
          <a:p>
            <a:pPr lvl="1"/>
            <a:endParaRPr lang="en-US" altLang="en-US" sz="2100" dirty="0" smtClean="0"/>
          </a:p>
          <a:p>
            <a:pPr lvl="1"/>
            <a:endParaRPr lang="en-US" altLang="en-US" sz="2100" dirty="0"/>
          </a:p>
          <a:p>
            <a:pPr lvl="1"/>
            <a:r>
              <a:rPr lang="en-US" altLang="en-US" sz="2100" dirty="0" err="1" smtClean="0"/>
              <a:t>Gấp</a:t>
            </a:r>
            <a:r>
              <a:rPr lang="en-US" altLang="en-US" sz="2100" dirty="0"/>
              <a:t>: </a:t>
            </a:r>
            <a:r>
              <a:rPr lang="en-US" altLang="en-US" sz="2100" dirty="0" err="1"/>
              <a:t>gấp</a:t>
            </a:r>
            <a:r>
              <a:rPr lang="en-US" altLang="en-US" sz="2100" dirty="0"/>
              <a:t> </a:t>
            </a:r>
            <a:r>
              <a:rPr lang="en-US" altLang="en-US" sz="2100" dirty="0" err="1"/>
              <a:t>theo</a:t>
            </a:r>
            <a:r>
              <a:rPr lang="en-US" altLang="en-US" sz="2100" dirty="0"/>
              <a:t> </a:t>
            </a:r>
            <a:r>
              <a:rPr lang="en-US" altLang="en-US" sz="2100" dirty="0" err="1" smtClean="0"/>
              <a:t>biên</a:t>
            </a:r>
            <a:r>
              <a:rPr lang="en-US" altLang="en-US" sz="2100" dirty="0" smtClean="0"/>
              <a:t> 034|289|421</a:t>
            </a:r>
            <a:endParaRPr lang="en-US" altLang="en-US" sz="2100" dirty="0"/>
          </a:p>
          <a:p>
            <a:pPr lvl="1"/>
            <a:endParaRPr lang="en-US" sz="1400" dirty="0"/>
          </a:p>
        </p:txBody>
      </p:sp>
      <p:graphicFrame>
        <p:nvGraphicFramePr>
          <p:cNvPr id="6" name="Group 20">
            <a:extLst>
              <a:ext uri="{FF2B5EF4-FFF2-40B4-BE49-F238E27FC236}">
                <a16:creationId xmlns:a16="http://schemas.microsoft.com/office/drawing/2014/main" id="{3A09D8B9-1ECB-4526-B9D7-93F5770A42CC}"/>
              </a:ext>
            </a:extLst>
          </p:cNvPr>
          <p:cNvGraphicFramePr>
            <a:graphicFrameLocks noGrp="1"/>
          </p:cNvGraphicFramePr>
          <p:nvPr>
            <p:extLst>
              <p:ext uri="{D42A27DB-BD31-4B8C-83A1-F6EECF244321}">
                <p14:modId xmlns:p14="http://schemas.microsoft.com/office/powerpoint/2010/main" val="791940454"/>
              </p:ext>
            </p:extLst>
          </p:nvPr>
        </p:nvGraphicFramePr>
        <p:xfrm>
          <a:off x="5569103" y="2092036"/>
          <a:ext cx="850900" cy="1463040"/>
        </p:xfrm>
        <a:graphic>
          <a:graphicData uri="http://schemas.openxmlformats.org/drawingml/2006/table">
            <a:tbl>
              <a:tblPr/>
              <a:tblGrid>
                <a:gridCol w="850900">
                  <a:extLst>
                    <a:ext uri="{9D8B030D-6E8A-4147-A177-3AD203B41FA5}">
                      <a16:colId xmlns:a16="http://schemas.microsoft.com/office/drawing/2014/main" val="3921583960"/>
                    </a:ext>
                  </a:extLst>
                </a:gridCol>
              </a:tblGrid>
              <a:tr h="295275">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421</a:t>
                      </a:r>
                      <a:endParaRPr kumimoji="0" lang="en-US" altLang="en-US" sz="2400" b="0" i="0" u="none" strike="noStrike" cap="none" normalizeH="0" baseline="0">
                        <a:ln>
                          <a:noFill/>
                        </a:ln>
                        <a:solidFill>
                          <a:schemeClr val="tx1"/>
                        </a:solidFill>
                        <a:effectLst/>
                        <a:latin typeface="Times New Roman" panose="02020603050405020304" pitchFamily="18" charset="0"/>
                      </a:endParaRPr>
                    </a:p>
                  </a:txBody>
                  <a:tcPr anchor="b" horzOverflow="overflow">
                    <a:lnL cap="flat">
                      <a:noFill/>
                    </a:lnL>
                    <a:lnR cap="flat">
                      <a:noFill/>
                    </a:lnR>
                    <a:lnT cap="flat">
                      <a:noFill/>
                    </a:lnT>
                    <a:lnB>
                      <a:noFill/>
                    </a:lnB>
                    <a:lnTlToBr>
                      <a:noFill/>
                    </a:lnTlToBr>
                    <a:lnBlToTr>
                      <a:noFill/>
                    </a:lnBlToTr>
                    <a:noFill/>
                  </a:tcPr>
                </a:tc>
                <a:extLst>
                  <a:ext uri="{0D108BD9-81ED-4DB2-BD59-A6C34878D82A}">
                    <a16:rowId xmlns:a16="http://schemas.microsoft.com/office/drawing/2014/main" val="3876188291"/>
                  </a:ext>
                </a:extLst>
              </a:tr>
              <a:tr h="295275">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289</a:t>
                      </a:r>
                      <a:endParaRPr kumimoji="0" lang="en-US" altLang="en-US" sz="2400" b="0" i="0" u="none" strike="noStrike" cap="none" normalizeH="0" baseline="0">
                        <a:ln>
                          <a:noFill/>
                        </a:ln>
                        <a:solidFill>
                          <a:schemeClr val="tx1"/>
                        </a:solidFill>
                        <a:effectLst/>
                        <a:latin typeface="Times New Roman" panose="02020603050405020304" pitchFamily="18" charset="0"/>
                      </a:endParaRPr>
                    </a:p>
                  </a:txBody>
                  <a:tcPr anchor="b"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834402457"/>
                  </a:ext>
                </a:extLst>
              </a:tr>
              <a:tr h="304800">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034</a:t>
                      </a:r>
                      <a:endParaRPr kumimoji="0" lang="en-US" altLang="en-US" sz="2400" b="0" i="0" u="none" strike="noStrike" cap="none" normalizeH="0" baseline="0" dirty="0">
                        <a:ln>
                          <a:noFill/>
                        </a:ln>
                        <a:solidFill>
                          <a:schemeClr val="tx1"/>
                        </a:solidFill>
                        <a:effectLst/>
                        <a:latin typeface="Times New Roman" panose="02020603050405020304" pitchFamily="18" charset="0"/>
                      </a:endParaRPr>
                    </a:p>
                  </a:txBody>
                  <a:tcPr anchor="b" horzOverflow="overflow">
                    <a:lnL cap="flat">
                      <a:noFill/>
                    </a:lnL>
                    <a:lnR cap="flat">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48835603"/>
                  </a:ext>
                </a:extLst>
              </a:tr>
              <a:tr h="295275">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744</a:t>
                      </a:r>
                      <a:endParaRPr kumimoji="0" lang="en-US" altLang="en-US" sz="2400" b="0" i="0" u="none" strike="noStrike" cap="none" normalizeH="0" baseline="0" dirty="0">
                        <a:ln>
                          <a:noFill/>
                        </a:ln>
                        <a:solidFill>
                          <a:schemeClr val="tx1"/>
                        </a:solidFill>
                        <a:effectLst/>
                        <a:latin typeface="Times New Roman" panose="02020603050405020304" pitchFamily="18" charset="0"/>
                      </a:endParaRPr>
                    </a:p>
                  </a:txBody>
                  <a:tcPr anchor="b" horzOverflow="overflow">
                    <a:lnL cap="flat">
                      <a:noFill/>
                    </a:lnL>
                    <a:lnR cap="flat">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2373179355"/>
                  </a:ext>
                </a:extLst>
              </a:tr>
            </a:tbl>
          </a:graphicData>
        </a:graphic>
      </p:graphicFrame>
      <p:sp>
        <p:nvSpPr>
          <p:cNvPr id="7" name="Text Box 31">
            <a:extLst>
              <a:ext uri="{FF2B5EF4-FFF2-40B4-BE49-F238E27FC236}">
                <a16:creationId xmlns:a16="http://schemas.microsoft.com/office/drawing/2014/main" id="{46FAD8C8-E820-4516-82F9-998728DC83AA}"/>
              </a:ext>
            </a:extLst>
          </p:cNvPr>
          <p:cNvSpPr txBox="1">
            <a:spLocks noChangeArrowheads="1"/>
          </p:cNvSpPr>
          <p:nvPr/>
        </p:nvSpPr>
        <p:spPr bwMode="auto">
          <a:xfrm>
            <a:off x="5078203" y="2081710"/>
            <a:ext cx="679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b="1" dirty="0" err="1"/>
              <a:t>Tách</a:t>
            </a:r>
            <a:endParaRPr lang="en-US" altLang="en-US" sz="1800" b="1" dirty="0"/>
          </a:p>
        </p:txBody>
      </p:sp>
      <p:sp>
        <p:nvSpPr>
          <p:cNvPr id="8" name="Text Box 33">
            <a:extLst>
              <a:ext uri="{FF2B5EF4-FFF2-40B4-BE49-F238E27FC236}">
                <a16:creationId xmlns:a16="http://schemas.microsoft.com/office/drawing/2014/main" id="{297778BE-80A7-46CD-8CA4-189F62DD5EC0}"/>
              </a:ext>
            </a:extLst>
          </p:cNvPr>
          <p:cNvSpPr txBox="1">
            <a:spLocks noChangeArrowheads="1"/>
          </p:cNvSpPr>
          <p:nvPr/>
        </p:nvSpPr>
        <p:spPr bwMode="auto">
          <a:xfrm>
            <a:off x="5129592" y="3193080"/>
            <a:ext cx="67839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b="1" dirty="0"/>
              <a:t>h(k</a:t>
            </a:r>
            <a:r>
              <a:rPr lang="en-US" altLang="en-US" sz="1800" b="1" dirty="0" smtClean="0"/>
              <a:t>)=</a:t>
            </a:r>
            <a:endParaRPr lang="en-US" altLang="en-US" sz="1800" b="1" dirty="0"/>
          </a:p>
        </p:txBody>
      </p:sp>
      <p:graphicFrame>
        <p:nvGraphicFramePr>
          <p:cNvPr id="9" name="Group 21">
            <a:extLst>
              <a:ext uri="{FF2B5EF4-FFF2-40B4-BE49-F238E27FC236}">
                <a16:creationId xmlns:a16="http://schemas.microsoft.com/office/drawing/2014/main" id="{E12D3734-C08C-4F65-9767-D6AF76710469}"/>
              </a:ext>
            </a:extLst>
          </p:cNvPr>
          <p:cNvGraphicFramePr>
            <a:graphicFrameLocks noGrp="1"/>
          </p:cNvGraphicFramePr>
          <p:nvPr>
            <p:extLst>
              <p:ext uri="{D42A27DB-BD31-4B8C-83A1-F6EECF244321}">
                <p14:modId xmlns:p14="http://schemas.microsoft.com/office/powerpoint/2010/main" val="1625467987"/>
              </p:ext>
            </p:extLst>
          </p:nvPr>
        </p:nvGraphicFramePr>
        <p:xfrm>
          <a:off x="5569103" y="4302904"/>
          <a:ext cx="850900" cy="1463040"/>
        </p:xfrm>
        <a:graphic>
          <a:graphicData uri="http://schemas.openxmlformats.org/drawingml/2006/table">
            <a:tbl>
              <a:tblPr/>
              <a:tblGrid>
                <a:gridCol w="850900">
                  <a:extLst>
                    <a:ext uri="{9D8B030D-6E8A-4147-A177-3AD203B41FA5}">
                      <a16:colId xmlns:a16="http://schemas.microsoft.com/office/drawing/2014/main" val="2229053244"/>
                    </a:ext>
                  </a:extLst>
                </a:gridCol>
              </a:tblGrid>
              <a:tr h="295275">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124</a:t>
                      </a:r>
                      <a:endParaRPr kumimoji="0" lang="en-US" altLang="en-US" sz="2400" b="0" i="0" u="none" strike="noStrike" cap="none" normalizeH="0" baseline="0" dirty="0">
                        <a:ln>
                          <a:noFill/>
                        </a:ln>
                        <a:solidFill>
                          <a:schemeClr val="tx1"/>
                        </a:solidFill>
                        <a:effectLst/>
                        <a:latin typeface="Times New Roman" panose="02020603050405020304" pitchFamily="18" charset="0"/>
                      </a:endParaRPr>
                    </a:p>
                  </a:txBody>
                  <a:tcPr anchor="b" horzOverflow="overflow">
                    <a:lnL cap="flat">
                      <a:noFill/>
                    </a:lnL>
                    <a:lnR cap="flat">
                      <a:noFill/>
                    </a:lnR>
                    <a:lnT cap="flat">
                      <a:noFill/>
                    </a:lnT>
                    <a:lnB>
                      <a:noFill/>
                    </a:lnB>
                    <a:lnTlToBr>
                      <a:noFill/>
                    </a:lnTlToBr>
                    <a:lnBlToTr>
                      <a:noFill/>
                    </a:lnBlToTr>
                    <a:noFill/>
                  </a:tcPr>
                </a:tc>
                <a:extLst>
                  <a:ext uri="{0D108BD9-81ED-4DB2-BD59-A6C34878D82A}">
                    <a16:rowId xmlns:a16="http://schemas.microsoft.com/office/drawing/2014/main" val="1856472652"/>
                  </a:ext>
                </a:extLst>
              </a:tr>
              <a:tr h="295275">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289</a:t>
                      </a:r>
                      <a:endParaRPr kumimoji="0" lang="en-US" altLang="en-US" sz="2400" b="0" i="0" u="none" strike="noStrike" cap="none" normalizeH="0" baseline="0">
                        <a:ln>
                          <a:noFill/>
                        </a:ln>
                        <a:solidFill>
                          <a:schemeClr val="tx1"/>
                        </a:solidFill>
                        <a:effectLst/>
                        <a:latin typeface="Times New Roman" panose="02020603050405020304" pitchFamily="18" charset="0"/>
                      </a:endParaRPr>
                    </a:p>
                  </a:txBody>
                  <a:tcPr anchor="b"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758781836"/>
                  </a:ext>
                </a:extLst>
              </a:tr>
              <a:tr h="304800">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430</a:t>
                      </a:r>
                      <a:endParaRPr kumimoji="0" lang="en-US" altLang="en-US" sz="2400" b="0" i="0" u="none" strike="noStrike" cap="none" normalizeH="0" baseline="0">
                        <a:ln>
                          <a:noFill/>
                        </a:ln>
                        <a:solidFill>
                          <a:schemeClr val="tx1"/>
                        </a:solidFill>
                        <a:effectLst/>
                        <a:latin typeface="Times New Roman" panose="02020603050405020304" pitchFamily="18" charset="0"/>
                      </a:endParaRPr>
                    </a:p>
                  </a:txBody>
                  <a:tcPr anchor="b" horzOverflow="overflow">
                    <a:lnL cap="flat">
                      <a:noFill/>
                    </a:lnL>
                    <a:lnR cap="flat">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621591691"/>
                  </a:ext>
                </a:extLst>
              </a:tr>
              <a:tr h="295275">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843</a:t>
                      </a:r>
                      <a:endParaRPr kumimoji="0" lang="en-US" altLang="en-US" sz="2400" b="0" i="0" u="none" strike="noStrike" cap="none" normalizeH="0" baseline="0" dirty="0">
                        <a:ln>
                          <a:noFill/>
                        </a:ln>
                        <a:solidFill>
                          <a:schemeClr val="tx1"/>
                        </a:solidFill>
                        <a:effectLst/>
                        <a:latin typeface="Times New Roman" panose="02020603050405020304" pitchFamily="18" charset="0"/>
                      </a:endParaRPr>
                    </a:p>
                  </a:txBody>
                  <a:tcPr anchor="b" horzOverflow="overflow">
                    <a:lnL cap="flat">
                      <a:noFill/>
                    </a:lnL>
                    <a:lnR cap="flat">
                      <a:noFill/>
                    </a:lnR>
                    <a:lnT w="12700" cap="flat" cmpd="sng" algn="ctr">
                      <a:solidFill>
                        <a:srgbClr val="000000"/>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964166886"/>
                  </a:ext>
                </a:extLst>
              </a:tr>
            </a:tbl>
          </a:graphicData>
        </a:graphic>
      </p:graphicFrame>
      <p:sp>
        <p:nvSpPr>
          <p:cNvPr id="10" name="Text Box 32">
            <a:extLst>
              <a:ext uri="{FF2B5EF4-FFF2-40B4-BE49-F238E27FC236}">
                <a16:creationId xmlns:a16="http://schemas.microsoft.com/office/drawing/2014/main" id="{3993FA0A-F82A-4C77-862C-DFEDAA1805AB}"/>
              </a:ext>
            </a:extLst>
          </p:cNvPr>
          <p:cNvSpPr txBox="1">
            <a:spLocks noChangeArrowheads="1"/>
          </p:cNvSpPr>
          <p:nvPr/>
        </p:nvSpPr>
        <p:spPr bwMode="auto">
          <a:xfrm>
            <a:off x="5155825" y="4287949"/>
            <a:ext cx="632340" cy="374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1800" b="1" dirty="0" err="1"/>
              <a:t>Gấp</a:t>
            </a:r>
            <a:endParaRPr lang="en-US" altLang="en-US" sz="1800" b="1" dirty="0"/>
          </a:p>
        </p:txBody>
      </p:sp>
      <p:sp>
        <p:nvSpPr>
          <p:cNvPr id="11" name="Text Box 34">
            <a:extLst>
              <a:ext uri="{FF2B5EF4-FFF2-40B4-BE49-F238E27FC236}">
                <a16:creationId xmlns:a16="http://schemas.microsoft.com/office/drawing/2014/main" id="{57284048-4EC7-4B0B-B14F-180401CC6CDD}"/>
              </a:ext>
            </a:extLst>
          </p:cNvPr>
          <p:cNvSpPr txBox="1">
            <a:spLocks noChangeArrowheads="1"/>
          </p:cNvSpPr>
          <p:nvPr/>
        </p:nvSpPr>
        <p:spPr bwMode="auto">
          <a:xfrm>
            <a:off x="5155825" y="5403111"/>
            <a:ext cx="67839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b="1" dirty="0"/>
              <a:t>h(k</a:t>
            </a:r>
            <a:r>
              <a:rPr lang="en-US" altLang="en-US" sz="1800" b="1" dirty="0" smtClean="0"/>
              <a:t>)=</a:t>
            </a:r>
            <a:endParaRPr lang="en-US" altLang="en-US" sz="1800" b="1" dirty="0"/>
          </a:p>
        </p:txBody>
      </p:sp>
      <p:sp>
        <p:nvSpPr>
          <p:cNvPr id="2" name="Rectangle 1"/>
          <p:cNvSpPr/>
          <p:nvPr/>
        </p:nvSpPr>
        <p:spPr>
          <a:xfrm>
            <a:off x="1543050" y="2332481"/>
            <a:ext cx="2699778" cy="369332"/>
          </a:xfrm>
          <a:prstGeom prst="rect">
            <a:avLst/>
          </a:prstGeom>
        </p:spPr>
        <p:txBody>
          <a:bodyPr wrap="none">
            <a:spAutoFit/>
          </a:bodyPr>
          <a:lstStyle/>
          <a:p>
            <a:r>
              <a:rPr lang="en-US" altLang="en-US" dirty="0"/>
              <a:t>=&gt; k1=421, k2=289,k3=034</a:t>
            </a:r>
            <a:endParaRPr lang="en-US" dirty="0"/>
          </a:p>
        </p:txBody>
      </p:sp>
      <p:sp>
        <p:nvSpPr>
          <p:cNvPr id="12" name="Rectangle 11"/>
          <p:cNvSpPr/>
          <p:nvPr/>
        </p:nvSpPr>
        <p:spPr>
          <a:xfrm>
            <a:off x="1540694" y="4495800"/>
            <a:ext cx="2752677" cy="369332"/>
          </a:xfrm>
          <a:prstGeom prst="rect">
            <a:avLst/>
          </a:prstGeom>
        </p:spPr>
        <p:txBody>
          <a:bodyPr wrap="none">
            <a:spAutoFit/>
          </a:bodyPr>
          <a:lstStyle/>
          <a:p>
            <a:r>
              <a:rPr lang="en-US" altLang="en-US" dirty="0"/>
              <a:t>=&gt; k1=124, k2=289, k3=430</a:t>
            </a:r>
            <a:endParaRPr lang="en-US" dirty="0"/>
          </a:p>
        </p:txBody>
      </p:sp>
    </p:spTree>
    <p:extLst>
      <p:ext uri="{BB962C8B-B14F-4D97-AF65-F5344CB8AC3E}">
        <p14:creationId xmlns:p14="http://schemas.microsoft.com/office/powerpoint/2010/main" val="3365394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0" grpId="0"/>
      <p:bldP spid="11" grpId="0"/>
      <p:bldP spid="2" grpId="0"/>
      <p:bldP spid="1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C24317B-5122-4A99-A6E9-FA23C146A7E0}" type="slidenum">
              <a:rPr lang="en-US" smtClean="0"/>
              <a:pPr/>
              <a:t>29</a:t>
            </a:fld>
            <a:endParaRPr lang="en-US"/>
          </a:p>
        </p:txBody>
      </p:sp>
      <p:sp>
        <p:nvSpPr>
          <p:cNvPr id="4" name="Title 3"/>
          <p:cNvSpPr>
            <a:spLocks noGrp="1"/>
          </p:cNvSpPr>
          <p:nvPr>
            <p:ph type="title"/>
          </p:nvPr>
        </p:nvSpPr>
        <p:spPr/>
        <p:txBody>
          <a:bodyPr>
            <a:normAutofit/>
          </a:bodyPr>
          <a:lstStyle/>
          <a:p>
            <a:r>
              <a:rPr lang="vi-VN" sz="2400" dirty="0"/>
              <a:t>Vấn đề</a:t>
            </a:r>
            <a:r>
              <a:rPr lang="en-US" sz="2400" dirty="0"/>
              <a:t> </a:t>
            </a:r>
            <a:r>
              <a:rPr lang="vi-VN" sz="2400" dirty="0"/>
              <a:t>đụng độ</a:t>
            </a:r>
            <a:endParaRPr lang="en-US" sz="2400" dirty="0"/>
          </a:p>
        </p:txBody>
      </p:sp>
      <p:sp>
        <p:nvSpPr>
          <p:cNvPr id="5" name="Text Placeholder 4"/>
          <p:cNvSpPr>
            <a:spLocks noGrp="1"/>
          </p:cNvSpPr>
          <p:nvPr>
            <p:ph type="body" sz="quarter" idx="13"/>
          </p:nvPr>
        </p:nvSpPr>
        <p:spPr/>
        <p:txBody>
          <a:bodyPr>
            <a:normAutofit/>
          </a:bodyPr>
          <a:lstStyle/>
          <a:p>
            <a:r>
              <a:rPr lang="vi-VN" sz="2400" dirty="0" smtClean="0"/>
              <a:t>Vấn đề</a:t>
            </a:r>
            <a:r>
              <a:rPr lang="en-US" sz="2400" dirty="0" smtClean="0"/>
              <a:t> </a:t>
            </a:r>
            <a:r>
              <a:rPr lang="vi-VN" sz="2400" dirty="0" smtClean="0"/>
              <a:t>đụng độ:</a:t>
            </a:r>
            <a:endParaRPr lang="vi-VN" sz="2400" dirty="0"/>
          </a:p>
          <a:p>
            <a:pPr lvl="1"/>
            <a:r>
              <a:rPr lang="vi-VN" sz="2100" dirty="0"/>
              <a:t>Tập giá trị khóa </a:t>
            </a:r>
            <a:r>
              <a:rPr lang="vi-VN" sz="2100" dirty="0" smtClean="0"/>
              <a:t>thường </a:t>
            </a:r>
            <a:r>
              <a:rPr lang="vi-VN" sz="2100" dirty="0"/>
              <a:t>rất lớn trong khi bảng địa chỉ thường có kích thước hạn chế =&gt; các khóa có giá trị khác nhau lại có giá trị địa chỉ giống nhau </a:t>
            </a:r>
            <a:r>
              <a:rPr lang="vi-VN" sz="2100" dirty="0" smtClean="0"/>
              <a:t>=&gt;</a:t>
            </a:r>
            <a:r>
              <a:rPr lang="en-US" sz="2100" dirty="0" smtClean="0"/>
              <a:t> </a:t>
            </a:r>
            <a:r>
              <a:rPr lang="vi-VN" sz="2100" dirty="0" smtClean="0"/>
              <a:t>đụng </a:t>
            </a:r>
            <a:r>
              <a:rPr lang="vi-VN" sz="2100" dirty="0"/>
              <a:t>độ</a:t>
            </a:r>
          </a:p>
          <a:p>
            <a:pPr lvl="1"/>
            <a:r>
              <a:rPr lang="vi-VN" sz="2100" dirty="0"/>
              <a:t>Đụng độ là khi ô nhớ có địa chỉ tính ra đã bị chiếm =&gt; cần tìm một ô nhớ khác để lưu các giá trị khóa đó</a:t>
            </a:r>
          </a:p>
          <a:p>
            <a:pPr lvl="1"/>
            <a:r>
              <a:rPr lang="vi-VN" sz="2100" dirty="0"/>
              <a:t>Vấn đề đụng độ có thể xảy ra liên tục, dây chuyền nếu không có chiến lược khắc phục</a:t>
            </a:r>
          </a:p>
          <a:p>
            <a:r>
              <a:rPr lang="vi-VN" sz="2400" dirty="0"/>
              <a:t>Các chiến lược khắc phục đụng độ (rehashing)</a:t>
            </a:r>
          </a:p>
          <a:p>
            <a:pPr lvl="1"/>
            <a:r>
              <a:rPr lang="vi-VN" sz="2100" dirty="0"/>
              <a:t>Biện pháp móc nối (Separate chaining)</a:t>
            </a:r>
            <a:endParaRPr lang="en-US" sz="2100" dirty="0" smtClean="0"/>
          </a:p>
          <a:p>
            <a:pPr lvl="1"/>
            <a:r>
              <a:rPr lang="vi-VN" sz="2100" dirty="0" smtClean="0"/>
              <a:t>Biện </a:t>
            </a:r>
            <a:r>
              <a:rPr lang="vi-VN" sz="2100" dirty="0"/>
              <a:t>pháp địa chỉ mở (open addressing)</a:t>
            </a:r>
          </a:p>
          <a:p>
            <a:pPr lvl="2"/>
            <a:r>
              <a:rPr lang="vi-VN" sz="1800" dirty="0"/>
              <a:t>Phương pháp thử tuyến tính (băm lại tuyến tính)</a:t>
            </a:r>
          </a:p>
          <a:p>
            <a:pPr lvl="2"/>
            <a:r>
              <a:rPr lang="vi-VN" sz="1800" dirty="0"/>
              <a:t>Phương pháp thử bình phương (băm lại bình phương)</a:t>
            </a:r>
          </a:p>
          <a:p>
            <a:pPr lvl="1"/>
            <a:r>
              <a:rPr lang="vi-VN" sz="2100" dirty="0" smtClean="0"/>
              <a:t>Quy </a:t>
            </a:r>
            <a:r>
              <a:rPr lang="vi-VN" sz="2100" dirty="0"/>
              <a:t>ước: bảng khóa gồm</a:t>
            </a:r>
            <a:r>
              <a:rPr lang="vi-VN" sz="2100" i="1" dirty="0"/>
              <a:t> n </a:t>
            </a:r>
            <a:r>
              <a:rPr lang="vi-VN" sz="2100" dirty="0"/>
              <a:t>khóa khác nhau, bảng </a:t>
            </a:r>
            <a:r>
              <a:rPr lang="vi-VN" sz="2100" dirty="0" smtClean="0"/>
              <a:t>địa chỉ kích </a:t>
            </a:r>
            <a:r>
              <a:rPr lang="vi-VN" sz="2100" dirty="0"/>
              <a:t>thước </a:t>
            </a:r>
            <a:r>
              <a:rPr lang="vi-VN" sz="2100" i="1" dirty="0"/>
              <a:t>m</a:t>
            </a:r>
          </a:p>
          <a:p>
            <a:pPr lvl="1"/>
            <a:endParaRPr lang="en-US" dirty="0"/>
          </a:p>
        </p:txBody>
      </p:sp>
    </p:spTree>
    <p:extLst>
      <p:ext uri="{BB962C8B-B14F-4D97-AF65-F5344CB8AC3E}">
        <p14:creationId xmlns:p14="http://schemas.microsoft.com/office/powerpoint/2010/main" val="2431385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
                                            <p:txEl>
                                              <p:pRg st="8" end="8"/>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Slide Number Placeholder 4">
            <a:extLst>
              <a:ext uri="{FF2B5EF4-FFF2-40B4-BE49-F238E27FC236}">
                <a16:creationId xmlns:a16="http://schemas.microsoft.com/office/drawing/2014/main" id="{EB19CB4D-5A82-428A-92D3-B1B4008D8798}"/>
              </a:ext>
            </a:extLst>
          </p:cNvPr>
          <p:cNvSpPr>
            <a:spLocks noGrp="1"/>
          </p:cNvSpPr>
          <p:nvPr>
            <p:ph type="sldNum" sz="quarter" idx="12"/>
          </p:nvPr>
        </p:nvSpPr>
        <p:spPr/>
        <p:txBody>
          <a:bodyPr/>
          <a:lstStyle/>
          <a:p>
            <a:fld id="{D40F5751-1286-424D-AC19-854A22342F77}" type="slidenum">
              <a:rPr lang="en-US" altLang="en-US"/>
              <a:pPr/>
              <a:t>30</a:t>
            </a:fld>
            <a:endParaRPr lang="en-US" altLang="en-US"/>
          </a:p>
        </p:txBody>
      </p:sp>
      <p:sp>
        <p:nvSpPr>
          <p:cNvPr id="197634" name="Rectangle 2">
            <a:extLst>
              <a:ext uri="{FF2B5EF4-FFF2-40B4-BE49-F238E27FC236}">
                <a16:creationId xmlns:a16="http://schemas.microsoft.com/office/drawing/2014/main" id="{50D101C7-3752-4872-848A-9D5466076229}"/>
              </a:ext>
            </a:extLst>
          </p:cNvPr>
          <p:cNvSpPr>
            <a:spLocks noGrp="1" noChangeArrowheads="1"/>
          </p:cNvSpPr>
          <p:nvPr>
            <p:ph type="title"/>
          </p:nvPr>
        </p:nvSpPr>
        <p:spPr/>
        <p:txBody>
          <a:bodyPr>
            <a:normAutofit/>
          </a:bodyPr>
          <a:lstStyle/>
          <a:p>
            <a:r>
              <a:rPr lang="en-US" altLang="en-US" sz="2400" dirty="0" err="1">
                <a:cs typeface="Times New Roman" panose="02020603050405020304" pitchFamily="18" charset="0"/>
              </a:rPr>
              <a:t>Các</a:t>
            </a:r>
            <a:r>
              <a:rPr lang="en-US" altLang="en-US" sz="2400" dirty="0">
                <a:cs typeface="Times New Roman" panose="02020603050405020304" pitchFamily="18" charset="0"/>
              </a:rPr>
              <a:t> </a:t>
            </a:r>
            <a:r>
              <a:rPr lang="en-US" altLang="en-US" sz="2400" dirty="0" err="1">
                <a:cs typeface="Times New Roman" panose="02020603050405020304" pitchFamily="18" charset="0"/>
              </a:rPr>
              <a:t>biện</a:t>
            </a:r>
            <a:r>
              <a:rPr lang="en-US" altLang="en-US" sz="2400" dirty="0">
                <a:cs typeface="Times New Roman" panose="02020603050405020304" pitchFamily="18" charset="0"/>
              </a:rPr>
              <a:t> </a:t>
            </a:r>
            <a:r>
              <a:rPr lang="en-US" altLang="en-US" sz="2400" dirty="0" err="1">
                <a:cs typeface="Times New Roman" panose="02020603050405020304" pitchFamily="18" charset="0"/>
              </a:rPr>
              <a:t>pháp</a:t>
            </a:r>
            <a:r>
              <a:rPr lang="en-US" altLang="en-US" sz="2400" dirty="0">
                <a:cs typeface="Times New Roman" panose="02020603050405020304" pitchFamily="18" charset="0"/>
              </a:rPr>
              <a:t> </a:t>
            </a:r>
            <a:r>
              <a:rPr lang="en-US" altLang="en-US" sz="2400" dirty="0" err="1">
                <a:cs typeface="Times New Roman" panose="02020603050405020304" pitchFamily="18" charset="0"/>
              </a:rPr>
              <a:t>khắc</a:t>
            </a:r>
            <a:r>
              <a:rPr lang="en-US" altLang="en-US" sz="2400" dirty="0">
                <a:cs typeface="Times New Roman" panose="02020603050405020304" pitchFamily="18" charset="0"/>
              </a:rPr>
              <a:t> </a:t>
            </a:r>
            <a:r>
              <a:rPr lang="en-US" altLang="en-US" sz="2400" dirty="0" err="1">
                <a:cs typeface="Times New Roman" panose="02020603050405020304" pitchFamily="18" charset="0"/>
              </a:rPr>
              <a:t>phục</a:t>
            </a:r>
            <a:r>
              <a:rPr lang="en-US" altLang="en-US" sz="2400" dirty="0">
                <a:cs typeface="Times New Roman" panose="02020603050405020304" pitchFamily="18" charset="0"/>
              </a:rPr>
              <a:t> </a:t>
            </a:r>
            <a:r>
              <a:rPr lang="en-US" altLang="en-US" sz="2400" dirty="0" err="1">
                <a:cs typeface="Times New Roman" panose="02020603050405020304" pitchFamily="18" charset="0"/>
              </a:rPr>
              <a:t>đụng</a:t>
            </a:r>
            <a:r>
              <a:rPr lang="en-US" altLang="en-US" sz="2400" dirty="0">
                <a:cs typeface="Times New Roman" panose="02020603050405020304" pitchFamily="18" charset="0"/>
              </a:rPr>
              <a:t> </a:t>
            </a:r>
            <a:r>
              <a:rPr lang="en-US" altLang="en-US" sz="2400" dirty="0" err="1">
                <a:cs typeface="Times New Roman" panose="02020603050405020304" pitchFamily="18" charset="0"/>
              </a:rPr>
              <a:t>độ</a:t>
            </a:r>
            <a:r>
              <a:rPr lang="en-US" altLang="en-US" sz="2400" dirty="0"/>
              <a:t> </a:t>
            </a:r>
          </a:p>
        </p:txBody>
      </p:sp>
      <p:sp>
        <p:nvSpPr>
          <p:cNvPr id="197635" name="Rectangle 3">
            <a:extLst>
              <a:ext uri="{FF2B5EF4-FFF2-40B4-BE49-F238E27FC236}">
                <a16:creationId xmlns:a16="http://schemas.microsoft.com/office/drawing/2014/main" id="{E339195A-8D56-40DF-8DEB-45099B61C9F4}"/>
              </a:ext>
            </a:extLst>
          </p:cNvPr>
          <p:cNvSpPr>
            <a:spLocks noGrp="1" noChangeArrowheads="1"/>
          </p:cNvSpPr>
          <p:nvPr>
            <p:ph type="body" sz="quarter" idx="13"/>
          </p:nvPr>
        </p:nvSpPr>
        <p:spPr>
          <a:xfrm>
            <a:off x="225283" y="861702"/>
            <a:ext cx="8674100" cy="5132832"/>
          </a:xfrm>
          <a:noFill/>
          <a:ln/>
        </p:spPr>
        <p:txBody>
          <a:bodyPr>
            <a:normAutofit/>
          </a:bodyPr>
          <a:lstStyle/>
          <a:p>
            <a:pPr>
              <a:spcBef>
                <a:spcPct val="5000"/>
              </a:spcBef>
            </a:pPr>
            <a:r>
              <a:rPr lang="en-US" altLang="en-US" sz="2400" dirty="0" err="1">
                <a:cs typeface="Times New Roman" panose="02020603050405020304" pitchFamily="18" charset="0"/>
              </a:rPr>
              <a:t>Biện</a:t>
            </a:r>
            <a:r>
              <a:rPr lang="en-US" altLang="en-US" sz="2400" dirty="0">
                <a:cs typeface="Times New Roman" panose="02020603050405020304" pitchFamily="18" charset="0"/>
              </a:rPr>
              <a:t> </a:t>
            </a:r>
            <a:r>
              <a:rPr lang="en-US" altLang="en-US" sz="2400" dirty="0" err="1">
                <a:cs typeface="Times New Roman" panose="02020603050405020304" pitchFamily="18" charset="0"/>
              </a:rPr>
              <a:t>pháp</a:t>
            </a:r>
            <a:r>
              <a:rPr lang="en-US" altLang="en-US" sz="2400" dirty="0">
                <a:cs typeface="Times New Roman" panose="02020603050405020304" pitchFamily="18" charset="0"/>
              </a:rPr>
              <a:t> </a:t>
            </a:r>
            <a:r>
              <a:rPr lang="en-US" altLang="en-US" sz="2400" dirty="0" err="1">
                <a:cs typeface="Times New Roman" panose="02020603050405020304" pitchFamily="18" charset="0"/>
              </a:rPr>
              <a:t>m</a:t>
            </a:r>
            <a:r>
              <a:rPr lang="en-US" altLang="en-US" sz="2400" dirty="0" err="1"/>
              <a:t>óc</a:t>
            </a:r>
            <a:r>
              <a:rPr lang="en-US" altLang="en-US" sz="2400" dirty="0"/>
              <a:t> </a:t>
            </a:r>
            <a:r>
              <a:rPr lang="en-US" altLang="en-US" sz="2400" dirty="0" err="1"/>
              <a:t>nối</a:t>
            </a:r>
            <a:r>
              <a:rPr lang="en-US" altLang="en-US" sz="2400" dirty="0"/>
              <a:t> </a:t>
            </a:r>
            <a:r>
              <a:rPr lang="en-US" altLang="en-US" sz="2400" dirty="0">
                <a:cs typeface="Times New Roman" panose="02020603050405020304" pitchFamily="18" charset="0"/>
              </a:rPr>
              <a:t>(Separate </a:t>
            </a:r>
            <a:r>
              <a:rPr lang="en-US" altLang="en-US" sz="2400" dirty="0" smtClean="0">
                <a:cs typeface="Times New Roman" panose="02020603050405020304" pitchFamily="18" charset="0"/>
              </a:rPr>
              <a:t>chaining)</a:t>
            </a:r>
            <a:endParaRPr lang="en-US" altLang="en-US" sz="2400" dirty="0">
              <a:cs typeface="Times New Roman" panose="02020603050405020304" pitchFamily="18" charset="0"/>
            </a:endParaRPr>
          </a:p>
          <a:p>
            <a:pPr lvl="1">
              <a:spcBef>
                <a:spcPct val="5000"/>
              </a:spcBef>
            </a:pPr>
            <a:r>
              <a:rPr lang="en-US" altLang="en-US" sz="2000" dirty="0" err="1">
                <a:cs typeface="Times New Roman" panose="02020603050405020304" pitchFamily="18" charset="0"/>
              </a:rPr>
              <a:t>Nguy</a:t>
            </a:r>
            <a:r>
              <a:rPr lang="en-US" altLang="en-US" sz="2000" dirty="0" err="1"/>
              <a:t>ên</a:t>
            </a:r>
            <a:r>
              <a:rPr lang="en-US" altLang="en-US" sz="2000" dirty="0"/>
              <a:t> </a:t>
            </a:r>
            <a:r>
              <a:rPr lang="en-US" altLang="en-US" sz="2000" dirty="0" err="1"/>
              <a:t>tắc</a:t>
            </a:r>
            <a:r>
              <a:rPr lang="en-US" altLang="en-US" sz="2000" dirty="0"/>
              <a:t> </a:t>
            </a:r>
            <a:r>
              <a:rPr lang="en-US" altLang="en-US" sz="2000" dirty="0" err="1">
                <a:cs typeface="Times New Roman" panose="02020603050405020304" pitchFamily="18" charset="0"/>
              </a:rPr>
              <a:t>l</a:t>
            </a:r>
            <a:r>
              <a:rPr lang="en-US" altLang="en-US" sz="2000" dirty="0" err="1"/>
              <a:t>ưu</a:t>
            </a:r>
            <a:r>
              <a:rPr lang="en-US" altLang="en-US" sz="2000" dirty="0"/>
              <a:t> </a:t>
            </a:r>
            <a:r>
              <a:rPr lang="en-US" altLang="en-US" sz="2000" dirty="0" err="1"/>
              <a:t>trữ</a:t>
            </a:r>
            <a:r>
              <a:rPr lang="en-US" altLang="en-US" sz="2000" dirty="0"/>
              <a:t> &amp; </a:t>
            </a:r>
            <a:r>
              <a:rPr lang="en-US" altLang="en-US" sz="2000" dirty="0" err="1"/>
              <a:t>tìm</a:t>
            </a:r>
            <a:r>
              <a:rPr lang="en-US" altLang="en-US" sz="2000" dirty="0"/>
              <a:t> </a:t>
            </a:r>
            <a:r>
              <a:rPr lang="en-US" altLang="en-US" sz="2000" dirty="0" err="1"/>
              <a:t>kiếm</a:t>
            </a:r>
            <a:r>
              <a:rPr lang="en-US" altLang="en-US" sz="2000" dirty="0"/>
              <a:t> </a:t>
            </a:r>
            <a:endParaRPr lang="en-US" altLang="en-US" sz="2000" dirty="0" smtClean="0"/>
          </a:p>
          <a:p>
            <a:pPr lvl="2">
              <a:spcBef>
                <a:spcPct val="5000"/>
              </a:spcBef>
            </a:pPr>
            <a:r>
              <a:rPr lang="en-US" altLang="en-US" sz="2000" dirty="0" err="1" smtClean="0"/>
              <a:t>Dùng</a:t>
            </a:r>
            <a:r>
              <a:rPr lang="en-US" altLang="en-US" sz="2000" dirty="0" smtClean="0"/>
              <a:t> </a:t>
            </a:r>
            <a:r>
              <a:rPr lang="en-US" altLang="en-US" sz="2000" dirty="0"/>
              <a:t>CTLT </a:t>
            </a:r>
            <a:r>
              <a:rPr lang="en-US" altLang="en-US" sz="2000" dirty="0" err="1"/>
              <a:t>móc</a:t>
            </a:r>
            <a:r>
              <a:rPr lang="en-US" altLang="en-US" sz="2000" dirty="0"/>
              <a:t> </a:t>
            </a:r>
            <a:r>
              <a:rPr lang="en-US" altLang="en-US" sz="2000" dirty="0" err="1"/>
              <a:t>nối</a:t>
            </a:r>
            <a:r>
              <a:rPr lang="en-US" altLang="en-US" sz="2000" dirty="0"/>
              <a:t> </a:t>
            </a:r>
            <a:r>
              <a:rPr lang="en-US" altLang="en-US" sz="2000" dirty="0" err="1"/>
              <a:t>để</a:t>
            </a:r>
            <a:r>
              <a:rPr lang="en-US" altLang="en-US" sz="2000" dirty="0"/>
              <a:t> </a:t>
            </a:r>
            <a:r>
              <a:rPr lang="en-US" altLang="en-US" sz="2000" dirty="0" err="1"/>
              <a:t>lưu</a:t>
            </a:r>
            <a:r>
              <a:rPr lang="en-US" altLang="en-US" sz="2000" dirty="0"/>
              <a:t> </a:t>
            </a:r>
            <a:r>
              <a:rPr lang="en-US" altLang="en-US" sz="2000" dirty="0" err="1"/>
              <a:t>trữ</a:t>
            </a:r>
            <a:r>
              <a:rPr lang="en-US" altLang="en-US" sz="2000" dirty="0"/>
              <a:t> </a:t>
            </a:r>
            <a:r>
              <a:rPr lang="en-US" altLang="en-US" sz="2000" dirty="0" err="1"/>
              <a:t>và</a:t>
            </a:r>
            <a:r>
              <a:rPr lang="en-US" altLang="en-US" sz="2000" dirty="0"/>
              <a:t> </a:t>
            </a:r>
            <a:r>
              <a:rPr lang="en-US" altLang="en-US" sz="2000" dirty="0" err="1"/>
              <a:t>tìm</a:t>
            </a:r>
            <a:r>
              <a:rPr lang="en-US" altLang="en-US" sz="2000" dirty="0"/>
              <a:t> </a:t>
            </a:r>
            <a:r>
              <a:rPr lang="en-US" altLang="en-US" sz="2000" dirty="0" err="1" smtClean="0"/>
              <a:t>kiếm</a:t>
            </a:r>
            <a:endParaRPr lang="en-US" altLang="en-US" sz="2000" dirty="0"/>
          </a:p>
          <a:p>
            <a:pPr lvl="2">
              <a:spcBef>
                <a:spcPct val="5000"/>
              </a:spcBef>
            </a:pPr>
            <a:r>
              <a:rPr lang="en-US" altLang="en-US" sz="2000" dirty="0" err="1" smtClean="0"/>
              <a:t>Mỗi</a:t>
            </a:r>
            <a:r>
              <a:rPr lang="en-US" altLang="en-US" sz="2000" dirty="0" smtClean="0"/>
              <a:t> </a:t>
            </a:r>
            <a:r>
              <a:rPr lang="en-US" altLang="en-US" sz="2000" dirty="0" err="1" smtClean="0"/>
              <a:t>bản</a:t>
            </a:r>
            <a:r>
              <a:rPr lang="en-US" altLang="en-US" sz="2000" dirty="0" smtClean="0"/>
              <a:t> </a:t>
            </a:r>
            <a:r>
              <a:rPr lang="en-US" altLang="en-US" sz="2000" dirty="0" err="1" smtClean="0"/>
              <a:t>ghi</a:t>
            </a:r>
            <a:r>
              <a:rPr lang="en-US" altLang="en-US" sz="2000" dirty="0" smtClean="0"/>
              <a:t> </a:t>
            </a:r>
            <a:r>
              <a:rPr lang="en-US" altLang="en-US" sz="2000" dirty="0" err="1" smtClean="0"/>
              <a:t>trong</a:t>
            </a:r>
            <a:r>
              <a:rPr lang="en-US" altLang="en-US" sz="2000" dirty="0" smtClean="0"/>
              <a:t> </a:t>
            </a:r>
            <a:r>
              <a:rPr lang="en-US" altLang="en-US" sz="2000" dirty="0" err="1" smtClean="0"/>
              <a:t>bảng</a:t>
            </a:r>
            <a:r>
              <a:rPr lang="en-US" altLang="en-US" sz="2000" dirty="0" smtClean="0"/>
              <a:t> </a:t>
            </a:r>
            <a:r>
              <a:rPr lang="en-US" altLang="en-US" sz="2000" dirty="0" err="1" smtClean="0"/>
              <a:t>băm</a:t>
            </a:r>
            <a:r>
              <a:rPr lang="en-US" altLang="en-US" sz="2000" dirty="0" smtClean="0"/>
              <a:t> </a:t>
            </a:r>
            <a:r>
              <a:rPr lang="en-US" altLang="en-US" sz="2000" dirty="0" err="1" smtClean="0"/>
              <a:t>chứa</a:t>
            </a:r>
            <a:r>
              <a:rPr lang="en-US" altLang="en-US" sz="2000" dirty="0" smtClean="0"/>
              <a:t> con </a:t>
            </a:r>
            <a:r>
              <a:rPr lang="en-US" altLang="en-US" sz="2000" dirty="0" err="1" smtClean="0"/>
              <a:t>trỏ</a:t>
            </a:r>
            <a:r>
              <a:rPr lang="en-US" altLang="en-US" sz="2000" dirty="0" smtClean="0"/>
              <a:t> </a:t>
            </a:r>
            <a:r>
              <a:rPr lang="en-US" altLang="en-US" sz="2000" dirty="0" err="1" smtClean="0"/>
              <a:t>trỏ</a:t>
            </a:r>
            <a:r>
              <a:rPr lang="en-US" altLang="en-US" sz="2000" dirty="0" smtClean="0"/>
              <a:t> </a:t>
            </a:r>
            <a:r>
              <a:rPr lang="en-US" altLang="en-US" sz="2000" dirty="0" err="1" smtClean="0"/>
              <a:t>tới</a:t>
            </a:r>
            <a:r>
              <a:rPr lang="en-US" altLang="en-US" sz="2000" dirty="0" smtClean="0"/>
              <a:t> </a:t>
            </a:r>
            <a:r>
              <a:rPr lang="en-US" altLang="en-US" sz="2000" dirty="0" err="1" smtClean="0"/>
              <a:t>danh</a:t>
            </a:r>
            <a:r>
              <a:rPr lang="en-US" altLang="en-US" sz="2000" dirty="0" smtClean="0"/>
              <a:t> </a:t>
            </a:r>
            <a:r>
              <a:rPr lang="en-US" altLang="en-US" sz="2000" dirty="0" err="1" smtClean="0"/>
              <a:t>sách</a:t>
            </a:r>
            <a:r>
              <a:rPr lang="en-US" altLang="en-US" sz="2000" dirty="0" smtClean="0"/>
              <a:t> </a:t>
            </a:r>
            <a:r>
              <a:rPr lang="en-US" altLang="en-US" sz="2000" dirty="0" err="1" smtClean="0"/>
              <a:t>liên</a:t>
            </a:r>
            <a:r>
              <a:rPr lang="en-US" altLang="en-US" sz="2000" dirty="0" smtClean="0"/>
              <a:t> </a:t>
            </a:r>
            <a:r>
              <a:rPr lang="en-US" altLang="en-US" sz="2000" dirty="0" err="1" smtClean="0"/>
              <a:t>kết</a:t>
            </a:r>
            <a:r>
              <a:rPr lang="en-US" altLang="en-US" sz="2000" dirty="0" smtClean="0"/>
              <a:t> </a:t>
            </a:r>
            <a:r>
              <a:rPr lang="en-US" altLang="en-US" sz="2000" dirty="0" err="1" smtClean="0"/>
              <a:t>chứa</a:t>
            </a:r>
            <a:r>
              <a:rPr lang="en-US" altLang="en-US" sz="2000" dirty="0" smtClean="0"/>
              <a:t> </a:t>
            </a:r>
            <a:r>
              <a:rPr lang="en-US" altLang="en-US" sz="2000" dirty="0" err="1" smtClean="0"/>
              <a:t>tất</a:t>
            </a:r>
            <a:r>
              <a:rPr lang="en-US" altLang="en-US" sz="2000" dirty="0" smtClean="0"/>
              <a:t> </a:t>
            </a:r>
            <a:r>
              <a:rPr lang="en-US" altLang="en-US" sz="2000" dirty="0" err="1" smtClean="0"/>
              <a:t>cả</a:t>
            </a:r>
            <a:r>
              <a:rPr lang="en-US" altLang="en-US" sz="2000" dirty="0" smtClean="0"/>
              <a:t> </a:t>
            </a:r>
            <a:r>
              <a:rPr lang="en-US" altLang="en-US" sz="2000" dirty="0" err="1" smtClean="0"/>
              <a:t>các</a:t>
            </a:r>
            <a:r>
              <a:rPr lang="en-US" altLang="en-US" sz="2000" dirty="0" smtClean="0"/>
              <a:t> </a:t>
            </a:r>
            <a:r>
              <a:rPr lang="en-US" altLang="en-US" sz="2000" dirty="0" err="1" smtClean="0"/>
              <a:t>giá</a:t>
            </a:r>
            <a:r>
              <a:rPr lang="en-US" altLang="en-US" sz="2000" dirty="0" smtClean="0"/>
              <a:t> </a:t>
            </a:r>
            <a:r>
              <a:rPr lang="en-US" altLang="en-US" sz="2000" dirty="0" err="1" smtClean="0"/>
              <a:t>trị</a:t>
            </a:r>
            <a:r>
              <a:rPr lang="en-US" altLang="en-US" sz="2000" dirty="0" smtClean="0"/>
              <a:t> </a:t>
            </a:r>
            <a:r>
              <a:rPr lang="en-US" altLang="en-US" sz="2000" dirty="0" err="1" smtClean="0"/>
              <a:t>khóa</a:t>
            </a:r>
            <a:r>
              <a:rPr lang="en-US" altLang="en-US" sz="2000" dirty="0" smtClean="0"/>
              <a:t> </a:t>
            </a:r>
            <a:r>
              <a:rPr lang="en-US" altLang="en-US" sz="2000" dirty="0" err="1" smtClean="0"/>
              <a:t>được</a:t>
            </a:r>
            <a:r>
              <a:rPr lang="en-US" altLang="en-US" sz="2000" dirty="0" smtClean="0"/>
              <a:t> </a:t>
            </a:r>
            <a:r>
              <a:rPr lang="en-US" altLang="en-US" sz="2000" dirty="0" err="1" smtClean="0"/>
              <a:t>lưa</a:t>
            </a:r>
            <a:r>
              <a:rPr lang="en-US" altLang="en-US" sz="2000" dirty="0" smtClean="0"/>
              <a:t> </a:t>
            </a:r>
            <a:r>
              <a:rPr lang="en-US" altLang="en-US" sz="2000" dirty="0" err="1" smtClean="0"/>
              <a:t>trữ</a:t>
            </a:r>
            <a:r>
              <a:rPr lang="en-US" altLang="en-US" sz="2000" dirty="0"/>
              <a:t> </a:t>
            </a:r>
            <a:r>
              <a:rPr lang="en-US" altLang="en-US" sz="2000" dirty="0" err="1" smtClean="0"/>
              <a:t>tại</a:t>
            </a:r>
            <a:r>
              <a:rPr lang="en-US" altLang="en-US" sz="2000" dirty="0" smtClean="0"/>
              <a:t> </a:t>
            </a:r>
            <a:r>
              <a:rPr lang="en-US" altLang="en-US" sz="2000" dirty="0" err="1" smtClean="0"/>
              <a:t>địa</a:t>
            </a:r>
            <a:r>
              <a:rPr lang="en-US" altLang="en-US" sz="2000" dirty="0" smtClean="0"/>
              <a:t> </a:t>
            </a:r>
            <a:r>
              <a:rPr lang="en-US" altLang="en-US" sz="2000" dirty="0" err="1" smtClean="0"/>
              <a:t>chỉ</a:t>
            </a:r>
            <a:r>
              <a:rPr lang="en-US" altLang="en-US" sz="2000" dirty="0" smtClean="0"/>
              <a:t> </a:t>
            </a:r>
            <a:r>
              <a:rPr lang="en-US" altLang="en-US" sz="2000" dirty="0" err="1" smtClean="0"/>
              <a:t>này</a:t>
            </a:r>
            <a:r>
              <a:rPr lang="en-US" altLang="en-US" sz="2000" dirty="0" smtClean="0"/>
              <a:t>.</a:t>
            </a:r>
          </a:p>
          <a:p>
            <a:pPr lvl="2">
              <a:spcBef>
                <a:spcPct val="5000"/>
              </a:spcBef>
            </a:pPr>
            <a:endParaRPr lang="en-US" altLang="en-US" sz="2000" dirty="0"/>
          </a:p>
        </p:txBody>
      </p:sp>
      <p:pic>
        <p:nvPicPr>
          <p:cNvPr id="2" name="Picture 1"/>
          <p:cNvPicPr>
            <a:picLocks noChangeAspect="1"/>
          </p:cNvPicPr>
          <p:nvPr/>
        </p:nvPicPr>
        <p:blipFill>
          <a:blip r:embed="rId2"/>
          <a:stretch>
            <a:fillRect/>
          </a:stretch>
        </p:blipFill>
        <p:spPr>
          <a:xfrm>
            <a:off x="1103810" y="2743200"/>
            <a:ext cx="6792273" cy="2705478"/>
          </a:xfrm>
          <a:prstGeom prst="rect">
            <a:avLst/>
          </a:prstGeom>
        </p:spPr>
      </p:pic>
    </p:spTree>
    <p:extLst>
      <p:ext uri="{BB962C8B-B14F-4D97-AF65-F5344CB8AC3E}">
        <p14:creationId xmlns:p14="http://schemas.microsoft.com/office/powerpoint/2010/main" val="2448503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763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763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97635">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Slide Number Placeholder 4">
            <a:extLst>
              <a:ext uri="{FF2B5EF4-FFF2-40B4-BE49-F238E27FC236}">
                <a16:creationId xmlns:a16="http://schemas.microsoft.com/office/drawing/2014/main" id="{EB19CB4D-5A82-428A-92D3-B1B4008D8798}"/>
              </a:ext>
            </a:extLst>
          </p:cNvPr>
          <p:cNvSpPr>
            <a:spLocks noGrp="1"/>
          </p:cNvSpPr>
          <p:nvPr>
            <p:ph type="sldNum" sz="quarter" idx="12"/>
          </p:nvPr>
        </p:nvSpPr>
        <p:spPr/>
        <p:txBody>
          <a:bodyPr/>
          <a:lstStyle/>
          <a:p>
            <a:fld id="{D40F5751-1286-424D-AC19-854A22342F77}" type="slidenum">
              <a:rPr lang="en-US" altLang="en-US"/>
              <a:pPr/>
              <a:t>31</a:t>
            </a:fld>
            <a:endParaRPr lang="en-US" altLang="en-US"/>
          </a:p>
        </p:txBody>
      </p:sp>
      <p:sp>
        <p:nvSpPr>
          <p:cNvPr id="197634" name="Rectangle 2">
            <a:extLst>
              <a:ext uri="{FF2B5EF4-FFF2-40B4-BE49-F238E27FC236}">
                <a16:creationId xmlns:a16="http://schemas.microsoft.com/office/drawing/2014/main" id="{50D101C7-3752-4872-848A-9D5466076229}"/>
              </a:ext>
            </a:extLst>
          </p:cNvPr>
          <p:cNvSpPr>
            <a:spLocks noGrp="1" noChangeArrowheads="1"/>
          </p:cNvSpPr>
          <p:nvPr>
            <p:ph type="title"/>
          </p:nvPr>
        </p:nvSpPr>
        <p:spPr/>
        <p:txBody>
          <a:bodyPr>
            <a:normAutofit/>
          </a:bodyPr>
          <a:lstStyle/>
          <a:p>
            <a:r>
              <a:rPr lang="en-US" altLang="en-US" sz="2400" dirty="0" err="1">
                <a:cs typeface="Times New Roman" panose="02020603050405020304" pitchFamily="18" charset="0"/>
              </a:rPr>
              <a:t>Các</a:t>
            </a:r>
            <a:r>
              <a:rPr lang="en-US" altLang="en-US" sz="2400" dirty="0">
                <a:cs typeface="Times New Roman" panose="02020603050405020304" pitchFamily="18" charset="0"/>
              </a:rPr>
              <a:t> </a:t>
            </a:r>
            <a:r>
              <a:rPr lang="en-US" altLang="en-US" sz="2400" dirty="0" err="1">
                <a:cs typeface="Times New Roman" panose="02020603050405020304" pitchFamily="18" charset="0"/>
              </a:rPr>
              <a:t>biện</a:t>
            </a:r>
            <a:r>
              <a:rPr lang="en-US" altLang="en-US" sz="2400" dirty="0">
                <a:cs typeface="Times New Roman" panose="02020603050405020304" pitchFamily="18" charset="0"/>
              </a:rPr>
              <a:t> </a:t>
            </a:r>
            <a:r>
              <a:rPr lang="en-US" altLang="en-US" sz="2400" dirty="0" err="1">
                <a:cs typeface="Times New Roman" panose="02020603050405020304" pitchFamily="18" charset="0"/>
              </a:rPr>
              <a:t>pháp</a:t>
            </a:r>
            <a:r>
              <a:rPr lang="en-US" altLang="en-US" sz="2400" dirty="0">
                <a:cs typeface="Times New Roman" panose="02020603050405020304" pitchFamily="18" charset="0"/>
              </a:rPr>
              <a:t> </a:t>
            </a:r>
            <a:r>
              <a:rPr lang="en-US" altLang="en-US" sz="2400" dirty="0" err="1">
                <a:cs typeface="Times New Roman" panose="02020603050405020304" pitchFamily="18" charset="0"/>
              </a:rPr>
              <a:t>khắc</a:t>
            </a:r>
            <a:r>
              <a:rPr lang="en-US" altLang="en-US" sz="2400" dirty="0">
                <a:cs typeface="Times New Roman" panose="02020603050405020304" pitchFamily="18" charset="0"/>
              </a:rPr>
              <a:t> </a:t>
            </a:r>
            <a:r>
              <a:rPr lang="en-US" altLang="en-US" sz="2400" dirty="0" err="1">
                <a:cs typeface="Times New Roman" panose="02020603050405020304" pitchFamily="18" charset="0"/>
              </a:rPr>
              <a:t>phục</a:t>
            </a:r>
            <a:r>
              <a:rPr lang="en-US" altLang="en-US" sz="2400" dirty="0">
                <a:cs typeface="Times New Roman" panose="02020603050405020304" pitchFamily="18" charset="0"/>
              </a:rPr>
              <a:t> </a:t>
            </a:r>
            <a:r>
              <a:rPr lang="en-US" altLang="en-US" sz="2400" dirty="0" err="1">
                <a:cs typeface="Times New Roman" panose="02020603050405020304" pitchFamily="18" charset="0"/>
              </a:rPr>
              <a:t>đụng</a:t>
            </a:r>
            <a:r>
              <a:rPr lang="en-US" altLang="en-US" sz="2400" dirty="0">
                <a:cs typeface="Times New Roman" panose="02020603050405020304" pitchFamily="18" charset="0"/>
              </a:rPr>
              <a:t> </a:t>
            </a:r>
            <a:r>
              <a:rPr lang="en-US" altLang="en-US" sz="2400" dirty="0" err="1">
                <a:cs typeface="Times New Roman" panose="02020603050405020304" pitchFamily="18" charset="0"/>
              </a:rPr>
              <a:t>độ</a:t>
            </a:r>
            <a:r>
              <a:rPr lang="en-US" altLang="en-US" sz="2400" dirty="0"/>
              <a:t> </a:t>
            </a:r>
          </a:p>
        </p:txBody>
      </p:sp>
      <p:sp>
        <p:nvSpPr>
          <p:cNvPr id="197635" name="Rectangle 3">
            <a:extLst>
              <a:ext uri="{FF2B5EF4-FFF2-40B4-BE49-F238E27FC236}">
                <a16:creationId xmlns:a16="http://schemas.microsoft.com/office/drawing/2014/main" id="{E339195A-8D56-40DF-8DEB-45099B61C9F4}"/>
              </a:ext>
            </a:extLst>
          </p:cNvPr>
          <p:cNvSpPr>
            <a:spLocks noGrp="1" noChangeArrowheads="1"/>
          </p:cNvSpPr>
          <p:nvPr>
            <p:ph type="body" sz="quarter" idx="13"/>
          </p:nvPr>
        </p:nvSpPr>
        <p:spPr>
          <a:xfrm>
            <a:off x="225283" y="861702"/>
            <a:ext cx="8674100" cy="5132832"/>
          </a:xfrm>
          <a:noFill/>
          <a:ln/>
        </p:spPr>
        <p:txBody>
          <a:bodyPr>
            <a:normAutofit/>
          </a:bodyPr>
          <a:lstStyle/>
          <a:p>
            <a:pPr>
              <a:spcBef>
                <a:spcPct val="5000"/>
              </a:spcBef>
            </a:pPr>
            <a:r>
              <a:rPr lang="en-US" altLang="en-US" sz="2400" dirty="0" err="1">
                <a:cs typeface="Times New Roman" panose="02020603050405020304" pitchFamily="18" charset="0"/>
              </a:rPr>
              <a:t>Biện</a:t>
            </a:r>
            <a:r>
              <a:rPr lang="en-US" altLang="en-US" sz="2400" dirty="0">
                <a:cs typeface="Times New Roman" panose="02020603050405020304" pitchFamily="18" charset="0"/>
              </a:rPr>
              <a:t> </a:t>
            </a:r>
            <a:r>
              <a:rPr lang="en-US" altLang="en-US" sz="2400" dirty="0" err="1">
                <a:cs typeface="Times New Roman" panose="02020603050405020304" pitchFamily="18" charset="0"/>
              </a:rPr>
              <a:t>pháp</a:t>
            </a:r>
            <a:r>
              <a:rPr lang="en-US" altLang="en-US" sz="2400" dirty="0">
                <a:cs typeface="Times New Roman" panose="02020603050405020304" pitchFamily="18" charset="0"/>
              </a:rPr>
              <a:t> </a:t>
            </a:r>
            <a:r>
              <a:rPr lang="en-US" altLang="en-US" sz="2400" dirty="0" err="1">
                <a:cs typeface="Times New Roman" panose="02020603050405020304" pitchFamily="18" charset="0"/>
              </a:rPr>
              <a:t>m</a:t>
            </a:r>
            <a:r>
              <a:rPr lang="en-US" altLang="en-US" sz="2400" dirty="0" err="1"/>
              <a:t>óc</a:t>
            </a:r>
            <a:r>
              <a:rPr lang="en-US" altLang="en-US" sz="2400" dirty="0"/>
              <a:t> </a:t>
            </a:r>
            <a:r>
              <a:rPr lang="en-US" altLang="en-US" sz="2400" dirty="0" err="1"/>
              <a:t>nối</a:t>
            </a:r>
            <a:r>
              <a:rPr lang="en-US" altLang="en-US" sz="2400" dirty="0"/>
              <a:t> </a:t>
            </a:r>
            <a:endParaRPr lang="en-US" altLang="en-US" sz="2400" dirty="0">
              <a:cs typeface="Times New Roman" panose="02020603050405020304" pitchFamily="18" charset="0"/>
            </a:endParaRPr>
          </a:p>
          <a:p>
            <a:pPr lvl="1">
              <a:spcBef>
                <a:spcPct val="5000"/>
              </a:spcBef>
            </a:pPr>
            <a:r>
              <a:rPr lang="en-US" altLang="en-US" sz="2000" dirty="0" err="1" smtClean="0">
                <a:cs typeface="Times New Roman" panose="02020603050405020304" pitchFamily="18" charset="0"/>
              </a:rPr>
              <a:t>Nguy</a:t>
            </a:r>
            <a:r>
              <a:rPr lang="en-US" altLang="en-US" sz="2000" dirty="0" err="1" smtClean="0"/>
              <a:t>ên</a:t>
            </a:r>
            <a:r>
              <a:rPr lang="en-US" altLang="en-US" sz="2000" dirty="0" smtClean="0"/>
              <a:t> </a:t>
            </a:r>
            <a:r>
              <a:rPr lang="en-US" altLang="en-US" sz="2000" dirty="0" err="1"/>
              <a:t>tắc</a:t>
            </a:r>
            <a:r>
              <a:rPr lang="en-US" altLang="en-US" sz="2000" dirty="0"/>
              <a:t> </a:t>
            </a:r>
            <a:r>
              <a:rPr lang="en-US" altLang="en-US" sz="2000" dirty="0" err="1">
                <a:cs typeface="Times New Roman" panose="02020603050405020304" pitchFamily="18" charset="0"/>
              </a:rPr>
              <a:t>l</a:t>
            </a:r>
            <a:r>
              <a:rPr lang="en-US" altLang="en-US" sz="2000" dirty="0" err="1"/>
              <a:t>ưu</a:t>
            </a:r>
            <a:r>
              <a:rPr lang="en-US" altLang="en-US" sz="2000" dirty="0"/>
              <a:t> </a:t>
            </a:r>
            <a:r>
              <a:rPr lang="en-US" altLang="en-US" sz="2000" dirty="0" err="1"/>
              <a:t>trữ</a:t>
            </a:r>
            <a:r>
              <a:rPr lang="en-US" altLang="en-US" sz="2000" dirty="0"/>
              <a:t> &amp; </a:t>
            </a:r>
            <a:r>
              <a:rPr lang="en-US" altLang="en-US" sz="2000" dirty="0" err="1"/>
              <a:t>tìm</a:t>
            </a:r>
            <a:r>
              <a:rPr lang="en-US" altLang="en-US" sz="2000" dirty="0"/>
              <a:t> </a:t>
            </a:r>
            <a:r>
              <a:rPr lang="en-US" altLang="en-US" sz="2000" dirty="0" err="1"/>
              <a:t>kiếm</a:t>
            </a:r>
            <a:r>
              <a:rPr lang="en-US" altLang="en-US" sz="2000" dirty="0"/>
              <a:t> </a:t>
            </a:r>
            <a:endParaRPr lang="en-US" altLang="en-US" sz="2000" dirty="0" smtClean="0"/>
          </a:p>
          <a:p>
            <a:pPr lvl="2">
              <a:spcBef>
                <a:spcPct val="5000"/>
              </a:spcBef>
            </a:pPr>
            <a:r>
              <a:rPr lang="en-US" altLang="en-US" sz="2000" dirty="0" err="1" smtClean="0">
                <a:solidFill>
                  <a:schemeClr val="bg1">
                    <a:lumMod val="65000"/>
                  </a:schemeClr>
                </a:solidFill>
              </a:rPr>
              <a:t>Dùng</a:t>
            </a:r>
            <a:r>
              <a:rPr lang="en-US" altLang="en-US" sz="2000" dirty="0" smtClean="0">
                <a:solidFill>
                  <a:schemeClr val="bg1">
                    <a:lumMod val="65000"/>
                  </a:schemeClr>
                </a:solidFill>
              </a:rPr>
              <a:t> </a:t>
            </a:r>
            <a:r>
              <a:rPr lang="en-US" altLang="en-US" sz="2000" dirty="0">
                <a:solidFill>
                  <a:schemeClr val="bg1">
                    <a:lumMod val="65000"/>
                  </a:schemeClr>
                </a:solidFill>
              </a:rPr>
              <a:t>CTLT </a:t>
            </a:r>
            <a:r>
              <a:rPr lang="en-US" altLang="en-US" sz="2000" dirty="0" err="1">
                <a:solidFill>
                  <a:schemeClr val="bg1">
                    <a:lumMod val="65000"/>
                  </a:schemeClr>
                </a:solidFill>
              </a:rPr>
              <a:t>móc</a:t>
            </a:r>
            <a:r>
              <a:rPr lang="en-US" altLang="en-US" sz="2000" dirty="0">
                <a:solidFill>
                  <a:schemeClr val="bg1">
                    <a:lumMod val="65000"/>
                  </a:schemeClr>
                </a:solidFill>
              </a:rPr>
              <a:t> </a:t>
            </a:r>
            <a:r>
              <a:rPr lang="en-US" altLang="en-US" sz="2000" dirty="0" err="1">
                <a:solidFill>
                  <a:schemeClr val="bg1">
                    <a:lumMod val="65000"/>
                  </a:schemeClr>
                </a:solidFill>
              </a:rPr>
              <a:t>nối</a:t>
            </a:r>
            <a:r>
              <a:rPr lang="en-US" altLang="en-US" sz="2000" dirty="0">
                <a:solidFill>
                  <a:schemeClr val="bg1">
                    <a:lumMod val="65000"/>
                  </a:schemeClr>
                </a:solidFill>
              </a:rPr>
              <a:t> </a:t>
            </a:r>
            <a:r>
              <a:rPr lang="en-US" altLang="en-US" sz="2000" dirty="0" err="1">
                <a:solidFill>
                  <a:schemeClr val="bg1">
                    <a:lumMod val="65000"/>
                  </a:schemeClr>
                </a:solidFill>
              </a:rPr>
              <a:t>để</a:t>
            </a:r>
            <a:r>
              <a:rPr lang="en-US" altLang="en-US" sz="2000" dirty="0">
                <a:solidFill>
                  <a:schemeClr val="bg1">
                    <a:lumMod val="65000"/>
                  </a:schemeClr>
                </a:solidFill>
              </a:rPr>
              <a:t> </a:t>
            </a:r>
            <a:r>
              <a:rPr lang="en-US" altLang="en-US" sz="2000" dirty="0" err="1">
                <a:solidFill>
                  <a:schemeClr val="bg1">
                    <a:lumMod val="65000"/>
                  </a:schemeClr>
                </a:solidFill>
              </a:rPr>
              <a:t>lưu</a:t>
            </a:r>
            <a:r>
              <a:rPr lang="en-US" altLang="en-US" sz="2000" dirty="0">
                <a:solidFill>
                  <a:schemeClr val="bg1">
                    <a:lumMod val="65000"/>
                  </a:schemeClr>
                </a:solidFill>
              </a:rPr>
              <a:t> </a:t>
            </a:r>
            <a:r>
              <a:rPr lang="en-US" altLang="en-US" sz="2000" dirty="0" err="1">
                <a:solidFill>
                  <a:schemeClr val="bg1">
                    <a:lumMod val="65000"/>
                  </a:schemeClr>
                </a:solidFill>
              </a:rPr>
              <a:t>trữ</a:t>
            </a:r>
            <a:r>
              <a:rPr lang="en-US" altLang="en-US" sz="2000" dirty="0">
                <a:solidFill>
                  <a:schemeClr val="bg1">
                    <a:lumMod val="65000"/>
                  </a:schemeClr>
                </a:solidFill>
              </a:rPr>
              <a:t> </a:t>
            </a:r>
            <a:r>
              <a:rPr lang="en-US" altLang="en-US" sz="2000" dirty="0" err="1">
                <a:solidFill>
                  <a:schemeClr val="bg1">
                    <a:lumMod val="65000"/>
                  </a:schemeClr>
                </a:solidFill>
              </a:rPr>
              <a:t>và</a:t>
            </a:r>
            <a:r>
              <a:rPr lang="en-US" altLang="en-US" sz="2000" dirty="0">
                <a:solidFill>
                  <a:schemeClr val="bg1">
                    <a:lumMod val="65000"/>
                  </a:schemeClr>
                </a:solidFill>
              </a:rPr>
              <a:t> </a:t>
            </a:r>
            <a:r>
              <a:rPr lang="en-US" altLang="en-US" sz="2000" dirty="0" err="1">
                <a:solidFill>
                  <a:schemeClr val="bg1">
                    <a:lumMod val="65000"/>
                  </a:schemeClr>
                </a:solidFill>
              </a:rPr>
              <a:t>tìm</a:t>
            </a:r>
            <a:r>
              <a:rPr lang="en-US" altLang="en-US" sz="2000" dirty="0">
                <a:solidFill>
                  <a:schemeClr val="bg1">
                    <a:lumMod val="65000"/>
                  </a:schemeClr>
                </a:solidFill>
              </a:rPr>
              <a:t> </a:t>
            </a:r>
            <a:r>
              <a:rPr lang="en-US" altLang="en-US" sz="2000" dirty="0" err="1" smtClean="0">
                <a:solidFill>
                  <a:schemeClr val="bg1">
                    <a:lumMod val="65000"/>
                  </a:schemeClr>
                </a:solidFill>
              </a:rPr>
              <a:t>kiếm</a:t>
            </a:r>
            <a:endParaRPr lang="en-US" altLang="en-US" sz="2000" dirty="0">
              <a:solidFill>
                <a:schemeClr val="bg1">
                  <a:lumMod val="65000"/>
                </a:schemeClr>
              </a:solidFill>
            </a:endParaRPr>
          </a:p>
          <a:p>
            <a:pPr lvl="2">
              <a:spcBef>
                <a:spcPct val="5000"/>
              </a:spcBef>
            </a:pPr>
            <a:r>
              <a:rPr lang="en-US" altLang="en-US" sz="2000" dirty="0" err="1" smtClean="0">
                <a:solidFill>
                  <a:schemeClr val="bg1">
                    <a:lumMod val="65000"/>
                  </a:schemeClr>
                </a:solidFill>
              </a:rPr>
              <a:t>Mỗi</a:t>
            </a:r>
            <a:r>
              <a:rPr lang="en-US" altLang="en-US" sz="2000" dirty="0" smtClean="0">
                <a:solidFill>
                  <a:schemeClr val="bg1">
                    <a:lumMod val="65000"/>
                  </a:schemeClr>
                </a:solidFill>
              </a:rPr>
              <a:t> </a:t>
            </a:r>
            <a:r>
              <a:rPr lang="en-US" altLang="en-US" sz="2000" dirty="0" err="1" smtClean="0">
                <a:solidFill>
                  <a:schemeClr val="bg1">
                    <a:lumMod val="65000"/>
                  </a:schemeClr>
                </a:solidFill>
              </a:rPr>
              <a:t>bản</a:t>
            </a:r>
            <a:r>
              <a:rPr lang="en-US" altLang="en-US" sz="2000" dirty="0" smtClean="0">
                <a:solidFill>
                  <a:schemeClr val="bg1">
                    <a:lumMod val="65000"/>
                  </a:schemeClr>
                </a:solidFill>
              </a:rPr>
              <a:t> </a:t>
            </a:r>
            <a:r>
              <a:rPr lang="en-US" altLang="en-US" sz="2000" dirty="0" err="1" smtClean="0">
                <a:solidFill>
                  <a:schemeClr val="bg1">
                    <a:lumMod val="65000"/>
                  </a:schemeClr>
                </a:solidFill>
              </a:rPr>
              <a:t>ghi</a:t>
            </a:r>
            <a:r>
              <a:rPr lang="en-US" altLang="en-US" sz="2000" dirty="0" smtClean="0">
                <a:solidFill>
                  <a:schemeClr val="bg1">
                    <a:lumMod val="65000"/>
                  </a:schemeClr>
                </a:solidFill>
              </a:rPr>
              <a:t> </a:t>
            </a:r>
            <a:r>
              <a:rPr lang="en-US" altLang="en-US" sz="2000" dirty="0" err="1" smtClean="0">
                <a:solidFill>
                  <a:schemeClr val="bg1">
                    <a:lumMod val="65000"/>
                  </a:schemeClr>
                </a:solidFill>
              </a:rPr>
              <a:t>trong</a:t>
            </a:r>
            <a:r>
              <a:rPr lang="en-US" altLang="en-US" sz="2000" dirty="0" smtClean="0">
                <a:solidFill>
                  <a:schemeClr val="bg1">
                    <a:lumMod val="65000"/>
                  </a:schemeClr>
                </a:solidFill>
              </a:rPr>
              <a:t> </a:t>
            </a:r>
            <a:r>
              <a:rPr lang="en-US" altLang="en-US" sz="2000" dirty="0" err="1" smtClean="0">
                <a:solidFill>
                  <a:schemeClr val="bg1">
                    <a:lumMod val="65000"/>
                  </a:schemeClr>
                </a:solidFill>
              </a:rPr>
              <a:t>bảng</a:t>
            </a:r>
            <a:r>
              <a:rPr lang="en-US" altLang="en-US" sz="2000" dirty="0" smtClean="0">
                <a:solidFill>
                  <a:schemeClr val="bg1">
                    <a:lumMod val="65000"/>
                  </a:schemeClr>
                </a:solidFill>
              </a:rPr>
              <a:t> </a:t>
            </a:r>
            <a:r>
              <a:rPr lang="en-US" altLang="en-US" sz="2000" dirty="0" err="1" smtClean="0">
                <a:solidFill>
                  <a:schemeClr val="bg1">
                    <a:lumMod val="65000"/>
                  </a:schemeClr>
                </a:solidFill>
              </a:rPr>
              <a:t>băm</a:t>
            </a:r>
            <a:r>
              <a:rPr lang="en-US" altLang="en-US" sz="2000" dirty="0" smtClean="0">
                <a:solidFill>
                  <a:schemeClr val="bg1">
                    <a:lumMod val="65000"/>
                  </a:schemeClr>
                </a:solidFill>
              </a:rPr>
              <a:t> </a:t>
            </a:r>
            <a:r>
              <a:rPr lang="en-US" altLang="en-US" sz="2000" dirty="0" err="1" smtClean="0">
                <a:solidFill>
                  <a:schemeClr val="bg1">
                    <a:lumMod val="65000"/>
                  </a:schemeClr>
                </a:solidFill>
              </a:rPr>
              <a:t>chứa</a:t>
            </a:r>
            <a:r>
              <a:rPr lang="en-US" altLang="en-US" sz="2000" dirty="0" smtClean="0">
                <a:solidFill>
                  <a:schemeClr val="bg1">
                    <a:lumMod val="65000"/>
                  </a:schemeClr>
                </a:solidFill>
              </a:rPr>
              <a:t> con </a:t>
            </a:r>
            <a:r>
              <a:rPr lang="en-US" altLang="en-US" sz="2000" dirty="0" err="1" smtClean="0">
                <a:solidFill>
                  <a:schemeClr val="bg1">
                    <a:lumMod val="65000"/>
                  </a:schemeClr>
                </a:solidFill>
              </a:rPr>
              <a:t>trỏ</a:t>
            </a:r>
            <a:r>
              <a:rPr lang="en-US" altLang="en-US" sz="2000" dirty="0" smtClean="0">
                <a:solidFill>
                  <a:schemeClr val="bg1">
                    <a:lumMod val="65000"/>
                  </a:schemeClr>
                </a:solidFill>
              </a:rPr>
              <a:t> </a:t>
            </a:r>
            <a:r>
              <a:rPr lang="en-US" altLang="en-US" sz="2000" dirty="0" err="1" smtClean="0">
                <a:solidFill>
                  <a:schemeClr val="bg1">
                    <a:lumMod val="65000"/>
                  </a:schemeClr>
                </a:solidFill>
              </a:rPr>
              <a:t>trỏ</a:t>
            </a:r>
            <a:r>
              <a:rPr lang="en-US" altLang="en-US" sz="2000" dirty="0" smtClean="0">
                <a:solidFill>
                  <a:schemeClr val="bg1">
                    <a:lumMod val="65000"/>
                  </a:schemeClr>
                </a:solidFill>
              </a:rPr>
              <a:t> </a:t>
            </a:r>
            <a:r>
              <a:rPr lang="en-US" altLang="en-US" sz="2000" dirty="0" err="1" smtClean="0">
                <a:solidFill>
                  <a:schemeClr val="bg1">
                    <a:lumMod val="65000"/>
                  </a:schemeClr>
                </a:solidFill>
              </a:rPr>
              <a:t>tới</a:t>
            </a:r>
            <a:r>
              <a:rPr lang="en-US" altLang="en-US" sz="2000" dirty="0" smtClean="0">
                <a:solidFill>
                  <a:schemeClr val="bg1">
                    <a:lumMod val="65000"/>
                  </a:schemeClr>
                </a:solidFill>
              </a:rPr>
              <a:t> </a:t>
            </a:r>
            <a:r>
              <a:rPr lang="en-US" altLang="en-US" sz="2000" dirty="0" err="1" smtClean="0">
                <a:solidFill>
                  <a:schemeClr val="bg1">
                    <a:lumMod val="65000"/>
                  </a:schemeClr>
                </a:solidFill>
              </a:rPr>
              <a:t>danh</a:t>
            </a:r>
            <a:r>
              <a:rPr lang="en-US" altLang="en-US" sz="2000" dirty="0" smtClean="0">
                <a:solidFill>
                  <a:schemeClr val="bg1">
                    <a:lumMod val="65000"/>
                  </a:schemeClr>
                </a:solidFill>
              </a:rPr>
              <a:t> </a:t>
            </a:r>
            <a:r>
              <a:rPr lang="en-US" altLang="en-US" sz="2000" dirty="0" err="1" smtClean="0">
                <a:solidFill>
                  <a:schemeClr val="bg1">
                    <a:lumMod val="65000"/>
                  </a:schemeClr>
                </a:solidFill>
              </a:rPr>
              <a:t>sách</a:t>
            </a:r>
            <a:r>
              <a:rPr lang="en-US" altLang="en-US" sz="2000" dirty="0" smtClean="0">
                <a:solidFill>
                  <a:schemeClr val="bg1">
                    <a:lumMod val="65000"/>
                  </a:schemeClr>
                </a:solidFill>
              </a:rPr>
              <a:t> </a:t>
            </a:r>
            <a:r>
              <a:rPr lang="en-US" altLang="en-US" sz="2000" dirty="0" err="1" smtClean="0">
                <a:solidFill>
                  <a:schemeClr val="bg1">
                    <a:lumMod val="65000"/>
                  </a:schemeClr>
                </a:solidFill>
              </a:rPr>
              <a:t>liên</a:t>
            </a:r>
            <a:r>
              <a:rPr lang="en-US" altLang="en-US" sz="2000" dirty="0" smtClean="0">
                <a:solidFill>
                  <a:schemeClr val="bg1">
                    <a:lumMod val="65000"/>
                  </a:schemeClr>
                </a:solidFill>
              </a:rPr>
              <a:t> </a:t>
            </a:r>
            <a:r>
              <a:rPr lang="en-US" altLang="en-US" sz="2000" dirty="0" err="1" smtClean="0">
                <a:solidFill>
                  <a:schemeClr val="bg1">
                    <a:lumMod val="65000"/>
                  </a:schemeClr>
                </a:solidFill>
              </a:rPr>
              <a:t>kết</a:t>
            </a:r>
            <a:r>
              <a:rPr lang="en-US" altLang="en-US" sz="2000" dirty="0" smtClean="0">
                <a:solidFill>
                  <a:schemeClr val="bg1">
                    <a:lumMod val="65000"/>
                  </a:schemeClr>
                </a:solidFill>
              </a:rPr>
              <a:t> </a:t>
            </a:r>
            <a:r>
              <a:rPr lang="en-US" altLang="en-US" sz="2000" dirty="0" err="1" smtClean="0">
                <a:solidFill>
                  <a:schemeClr val="bg1">
                    <a:lumMod val="65000"/>
                  </a:schemeClr>
                </a:solidFill>
              </a:rPr>
              <a:t>chứa</a:t>
            </a:r>
            <a:r>
              <a:rPr lang="en-US" altLang="en-US" sz="2000" dirty="0" smtClean="0">
                <a:solidFill>
                  <a:schemeClr val="bg1">
                    <a:lumMod val="65000"/>
                  </a:schemeClr>
                </a:solidFill>
              </a:rPr>
              <a:t> </a:t>
            </a:r>
            <a:r>
              <a:rPr lang="en-US" altLang="en-US" sz="2000" dirty="0" err="1" smtClean="0">
                <a:solidFill>
                  <a:schemeClr val="bg1">
                    <a:lumMod val="65000"/>
                  </a:schemeClr>
                </a:solidFill>
              </a:rPr>
              <a:t>tất</a:t>
            </a:r>
            <a:r>
              <a:rPr lang="en-US" altLang="en-US" sz="2000" dirty="0" smtClean="0">
                <a:solidFill>
                  <a:schemeClr val="bg1">
                    <a:lumMod val="65000"/>
                  </a:schemeClr>
                </a:solidFill>
              </a:rPr>
              <a:t> </a:t>
            </a:r>
            <a:r>
              <a:rPr lang="en-US" altLang="en-US" sz="2000" dirty="0" err="1" smtClean="0">
                <a:solidFill>
                  <a:schemeClr val="bg1">
                    <a:lumMod val="65000"/>
                  </a:schemeClr>
                </a:solidFill>
              </a:rPr>
              <a:t>cả</a:t>
            </a:r>
            <a:r>
              <a:rPr lang="en-US" altLang="en-US" sz="2000" dirty="0" smtClean="0">
                <a:solidFill>
                  <a:schemeClr val="bg1">
                    <a:lumMod val="65000"/>
                  </a:schemeClr>
                </a:solidFill>
              </a:rPr>
              <a:t> </a:t>
            </a:r>
            <a:r>
              <a:rPr lang="en-US" altLang="en-US" sz="2000" dirty="0" err="1" smtClean="0">
                <a:solidFill>
                  <a:schemeClr val="bg1">
                    <a:lumMod val="65000"/>
                  </a:schemeClr>
                </a:solidFill>
              </a:rPr>
              <a:t>các</a:t>
            </a:r>
            <a:r>
              <a:rPr lang="en-US" altLang="en-US" sz="2000" dirty="0" smtClean="0">
                <a:solidFill>
                  <a:schemeClr val="bg1">
                    <a:lumMod val="65000"/>
                  </a:schemeClr>
                </a:solidFill>
              </a:rPr>
              <a:t> </a:t>
            </a:r>
            <a:r>
              <a:rPr lang="en-US" altLang="en-US" sz="2000" dirty="0" err="1" smtClean="0">
                <a:solidFill>
                  <a:schemeClr val="bg1">
                    <a:lumMod val="65000"/>
                  </a:schemeClr>
                </a:solidFill>
              </a:rPr>
              <a:t>giá</a:t>
            </a:r>
            <a:r>
              <a:rPr lang="en-US" altLang="en-US" sz="2000" dirty="0" smtClean="0">
                <a:solidFill>
                  <a:schemeClr val="bg1">
                    <a:lumMod val="65000"/>
                  </a:schemeClr>
                </a:solidFill>
              </a:rPr>
              <a:t> </a:t>
            </a:r>
            <a:r>
              <a:rPr lang="en-US" altLang="en-US" sz="2000" dirty="0" err="1" smtClean="0">
                <a:solidFill>
                  <a:schemeClr val="bg1">
                    <a:lumMod val="65000"/>
                  </a:schemeClr>
                </a:solidFill>
              </a:rPr>
              <a:t>trị</a:t>
            </a:r>
            <a:r>
              <a:rPr lang="en-US" altLang="en-US" sz="2000" dirty="0" smtClean="0">
                <a:solidFill>
                  <a:schemeClr val="bg1">
                    <a:lumMod val="65000"/>
                  </a:schemeClr>
                </a:solidFill>
              </a:rPr>
              <a:t> </a:t>
            </a:r>
            <a:r>
              <a:rPr lang="en-US" altLang="en-US" sz="2000" dirty="0" err="1" smtClean="0">
                <a:solidFill>
                  <a:schemeClr val="bg1">
                    <a:lumMod val="65000"/>
                  </a:schemeClr>
                </a:solidFill>
              </a:rPr>
              <a:t>khóa</a:t>
            </a:r>
            <a:r>
              <a:rPr lang="en-US" altLang="en-US" sz="2000" dirty="0" smtClean="0">
                <a:solidFill>
                  <a:schemeClr val="bg1">
                    <a:lumMod val="65000"/>
                  </a:schemeClr>
                </a:solidFill>
              </a:rPr>
              <a:t> </a:t>
            </a:r>
            <a:r>
              <a:rPr lang="en-US" altLang="en-US" sz="2000" dirty="0" err="1" smtClean="0">
                <a:solidFill>
                  <a:schemeClr val="bg1">
                    <a:lumMod val="65000"/>
                  </a:schemeClr>
                </a:solidFill>
              </a:rPr>
              <a:t>được</a:t>
            </a:r>
            <a:r>
              <a:rPr lang="en-US" altLang="en-US" sz="2000" dirty="0" smtClean="0">
                <a:solidFill>
                  <a:schemeClr val="bg1">
                    <a:lumMod val="65000"/>
                  </a:schemeClr>
                </a:solidFill>
              </a:rPr>
              <a:t> </a:t>
            </a:r>
            <a:r>
              <a:rPr lang="en-US" altLang="en-US" sz="2000" dirty="0" err="1" smtClean="0">
                <a:solidFill>
                  <a:schemeClr val="bg1">
                    <a:lumMod val="65000"/>
                  </a:schemeClr>
                </a:solidFill>
              </a:rPr>
              <a:t>lưa</a:t>
            </a:r>
            <a:r>
              <a:rPr lang="en-US" altLang="en-US" sz="2000" dirty="0" smtClean="0">
                <a:solidFill>
                  <a:schemeClr val="bg1">
                    <a:lumMod val="65000"/>
                  </a:schemeClr>
                </a:solidFill>
              </a:rPr>
              <a:t> </a:t>
            </a:r>
            <a:r>
              <a:rPr lang="en-US" altLang="en-US" sz="2000" dirty="0" err="1" smtClean="0">
                <a:solidFill>
                  <a:schemeClr val="bg1">
                    <a:lumMod val="65000"/>
                  </a:schemeClr>
                </a:solidFill>
              </a:rPr>
              <a:t>trữ</a:t>
            </a:r>
            <a:r>
              <a:rPr lang="en-US" altLang="en-US" sz="2000" dirty="0">
                <a:solidFill>
                  <a:schemeClr val="bg1">
                    <a:lumMod val="65000"/>
                  </a:schemeClr>
                </a:solidFill>
              </a:rPr>
              <a:t> </a:t>
            </a:r>
            <a:r>
              <a:rPr lang="en-US" altLang="en-US" sz="2000" dirty="0" err="1" smtClean="0">
                <a:solidFill>
                  <a:schemeClr val="bg1">
                    <a:lumMod val="65000"/>
                  </a:schemeClr>
                </a:solidFill>
              </a:rPr>
              <a:t>tại</a:t>
            </a:r>
            <a:r>
              <a:rPr lang="en-US" altLang="en-US" sz="2000" dirty="0" smtClean="0">
                <a:solidFill>
                  <a:schemeClr val="bg1">
                    <a:lumMod val="65000"/>
                  </a:schemeClr>
                </a:solidFill>
              </a:rPr>
              <a:t> </a:t>
            </a:r>
            <a:r>
              <a:rPr lang="en-US" altLang="en-US" sz="2000" dirty="0" err="1" smtClean="0">
                <a:solidFill>
                  <a:schemeClr val="bg1">
                    <a:lumMod val="65000"/>
                  </a:schemeClr>
                </a:solidFill>
              </a:rPr>
              <a:t>địa</a:t>
            </a:r>
            <a:r>
              <a:rPr lang="en-US" altLang="en-US" sz="2000" dirty="0" smtClean="0">
                <a:solidFill>
                  <a:schemeClr val="bg1">
                    <a:lumMod val="65000"/>
                  </a:schemeClr>
                </a:solidFill>
              </a:rPr>
              <a:t> </a:t>
            </a:r>
            <a:r>
              <a:rPr lang="en-US" altLang="en-US" sz="2000" dirty="0" err="1" smtClean="0">
                <a:solidFill>
                  <a:schemeClr val="bg1">
                    <a:lumMod val="65000"/>
                  </a:schemeClr>
                </a:solidFill>
              </a:rPr>
              <a:t>chỉ</a:t>
            </a:r>
            <a:r>
              <a:rPr lang="en-US" altLang="en-US" sz="2000" dirty="0" smtClean="0">
                <a:solidFill>
                  <a:schemeClr val="bg1">
                    <a:lumMod val="65000"/>
                  </a:schemeClr>
                </a:solidFill>
              </a:rPr>
              <a:t> </a:t>
            </a:r>
            <a:r>
              <a:rPr lang="en-US" altLang="en-US" sz="2000" dirty="0" err="1" smtClean="0">
                <a:solidFill>
                  <a:schemeClr val="bg1">
                    <a:lumMod val="65000"/>
                  </a:schemeClr>
                </a:solidFill>
              </a:rPr>
              <a:t>này</a:t>
            </a:r>
            <a:r>
              <a:rPr lang="en-US" altLang="en-US" sz="2000" dirty="0" smtClean="0">
                <a:solidFill>
                  <a:schemeClr val="bg1">
                    <a:lumMod val="65000"/>
                  </a:schemeClr>
                </a:solidFill>
              </a:rPr>
              <a:t>.</a:t>
            </a:r>
          </a:p>
          <a:p>
            <a:pPr lvl="2">
              <a:spcBef>
                <a:spcPct val="5000"/>
              </a:spcBef>
            </a:pPr>
            <a:r>
              <a:rPr lang="en-US" altLang="en-US" sz="2000" dirty="0" err="1" smtClean="0"/>
              <a:t>Tìm</a:t>
            </a:r>
            <a:r>
              <a:rPr lang="en-US" altLang="en-US" sz="2000" dirty="0" smtClean="0"/>
              <a:t> </a:t>
            </a:r>
            <a:r>
              <a:rPr lang="en-US" altLang="en-US" sz="2000" dirty="0" err="1" smtClean="0"/>
              <a:t>kiếm</a:t>
            </a:r>
            <a:r>
              <a:rPr lang="en-US" altLang="en-US" sz="2000" dirty="0" smtClean="0"/>
              <a:t> 1 </a:t>
            </a:r>
            <a:r>
              <a:rPr lang="en-US" altLang="en-US" sz="2000" dirty="0" err="1" smtClean="0"/>
              <a:t>khóa</a:t>
            </a:r>
            <a:r>
              <a:rPr lang="en-US" altLang="en-US" sz="2000" dirty="0" smtClean="0"/>
              <a:t>:</a:t>
            </a:r>
          </a:p>
          <a:p>
            <a:pPr lvl="2">
              <a:spcBef>
                <a:spcPct val="5000"/>
              </a:spcBef>
            </a:pPr>
            <a:r>
              <a:rPr lang="en-US" altLang="en-US" sz="2000" dirty="0" err="1" smtClean="0"/>
              <a:t>Thêm</a:t>
            </a:r>
            <a:r>
              <a:rPr lang="en-US" altLang="en-US" sz="2000" dirty="0" smtClean="0"/>
              <a:t> </a:t>
            </a:r>
            <a:r>
              <a:rPr lang="en-US" altLang="en-US" sz="2000" dirty="0" err="1" smtClean="0"/>
              <a:t>khóa</a:t>
            </a:r>
            <a:r>
              <a:rPr lang="en-US" altLang="en-US" sz="2000" dirty="0" smtClean="0"/>
              <a:t>:</a:t>
            </a:r>
          </a:p>
          <a:p>
            <a:pPr lvl="2">
              <a:spcBef>
                <a:spcPct val="5000"/>
              </a:spcBef>
            </a:pPr>
            <a:r>
              <a:rPr lang="en-US" altLang="en-US" sz="2000" dirty="0" err="1" smtClean="0"/>
              <a:t>Xóa</a:t>
            </a:r>
            <a:r>
              <a:rPr lang="en-US" altLang="en-US" sz="2000" dirty="0" smtClean="0"/>
              <a:t> </a:t>
            </a:r>
            <a:r>
              <a:rPr lang="en-US" altLang="en-US" sz="2000" dirty="0" err="1" smtClean="0"/>
              <a:t>khóa</a:t>
            </a:r>
            <a:r>
              <a:rPr lang="en-US" altLang="en-US" sz="2000" dirty="0" smtClean="0"/>
              <a:t>:</a:t>
            </a:r>
          </a:p>
          <a:p>
            <a:pPr lvl="1">
              <a:spcBef>
                <a:spcPct val="5000"/>
              </a:spcBef>
            </a:pPr>
            <a:r>
              <a:rPr lang="en-US" altLang="en-US" sz="2000" dirty="0" smtClean="0"/>
              <a:t>Minh </a:t>
            </a:r>
            <a:r>
              <a:rPr lang="en-US" altLang="en-US" sz="2000" dirty="0" err="1" smtClean="0"/>
              <a:t>họa</a:t>
            </a:r>
            <a:r>
              <a:rPr lang="en-US" altLang="en-US" sz="2000" dirty="0" smtClean="0"/>
              <a:t>: </a:t>
            </a:r>
            <a:r>
              <a:rPr lang="en-US" altLang="en-US" sz="2000" dirty="0" err="1" smtClean="0"/>
              <a:t>Thêm</a:t>
            </a:r>
            <a:r>
              <a:rPr lang="en-US" altLang="en-US" sz="2000" dirty="0" smtClean="0"/>
              <a:t> </a:t>
            </a:r>
            <a:r>
              <a:rPr lang="en-US" altLang="en-US" sz="2000" dirty="0" err="1" smtClean="0"/>
              <a:t>các</a:t>
            </a:r>
            <a:r>
              <a:rPr lang="en-US" altLang="en-US" sz="2000" dirty="0" smtClean="0"/>
              <a:t> </a:t>
            </a:r>
            <a:r>
              <a:rPr lang="en-US" altLang="en-US" sz="2000" dirty="0" err="1" smtClean="0"/>
              <a:t>khóa</a:t>
            </a:r>
            <a:r>
              <a:rPr lang="en-US" altLang="en-US" sz="2000" dirty="0" smtClean="0"/>
              <a:t> </a:t>
            </a:r>
            <a:r>
              <a:rPr lang="en-US" altLang="en-US" sz="2000" dirty="0" err="1" smtClean="0"/>
              <a:t>vào</a:t>
            </a:r>
            <a:r>
              <a:rPr lang="en-US" altLang="en-US" sz="2000" dirty="0" smtClean="0"/>
              <a:t> </a:t>
            </a:r>
            <a:r>
              <a:rPr lang="en-US" altLang="en-US" sz="2000" dirty="0" err="1" smtClean="0"/>
              <a:t>bảng</a:t>
            </a:r>
            <a:r>
              <a:rPr lang="en-US" altLang="en-US" sz="2000" dirty="0" smtClean="0"/>
              <a:t> hash </a:t>
            </a:r>
            <a:r>
              <a:rPr lang="en-US" altLang="en-US" sz="2000" dirty="0" err="1" smtClean="0"/>
              <a:t>móc</a:t>
            </a:r>
            <a:r>
              <a:rPr lang="en-US" altLang="en-US" sz="2000" dirty="0" smtClean="0"/>
              <a:t> </a:t>
            </a:r>
            <a:r>
              <a:rPr lang="en-US" altLang="en-US" sz="2000" dirty="0" err="1" smtClean="0"/>
              <a:t>nối</a:t>
            </a:r>
            <a:r>
              <a:rPr lang="en-US" altLang="en-US" sz="2000" dirty="0" smtClean="0"/>
              <a:t> </a:t>
            </a:r>
            <a:r>
              <a:rPr lang="en-US" altLang="en-US" sz="2000" dirty="0" err="1" smtClean="0"/>
              <a:t>có</a:t>
            </a:r>
            <a:r>
              <a:rPr lang="en-US" altLang="en-US" sz="2000" dirty="0" smtClean="0"/>
              <a:t> </a:t>
            </a:r>
            <a:r>
              <a:rPr lang="en-US" altLang="en-US" sz="2000" dirty="0" err="1" smtClean="0"/>
              <a:t>kích</a:t>
            </a:r>
            <a:r>
              <a:rPr lang="en-US" altLang="en-US" sz="2000" dirty="0" smtClean="0"/>
              <a:t> </a:t>
            </a:r>
            <a:r>
              <a:rPr lang="en-US" altLang="en-US" sz="2000" dirty="0" err="1" smtClean="0"/>
              <a:t>thước</a:t>
            </a:r>
            <a:r>
              <a:rPr lang="en-US" altLang="en-US" sz="2000" dirty="0" smtClean="0"/>
              <a:t> = 7.</a:t>
            </a:r>
          </a:p>
          <a:p>
            <a:pPr lvl="2">
              <a:spcBef>
                <a:spcPct val="5000"/>
              </a:spcBef>
            </a:pPr>
            <a:r>
              <a:rPr lang="en-US" altLang="en-US" sz="1700" dirty="0"/>
              <a:t>h(k) = k mod </a:t>
            </a:r>
            <a:r>
              <a:rPr lang="en-US" altLang="en-US" sz="1700" dirty="0" smtClean="0"/>
              <a:t>m, m=7</a:t>
            </a:r>
          </a:p>
          <a:p>
            <a:pPr lvl="2">
              <a:spcBef>
                <a:spcPct val="5000"/>
              </a:spcBef>
            </a:pPr>
            <a:endParaRPr lang="en-US" altLang="en-US" sz="2000" dirty="0" smtClean="0"/>
          </a:p>
          <a:p>
            <a:pPr lvl="2">
              <a:spcBef>
                <a:spcPct val="5000"/>
              </a:spcBef>
            </a:pPr>
            <a:endParaRPr lang="en-US" altLang="en-US" sz="2000" dirty="0"/>
          </a:p>
        </p:txBody>
      </p:sp>
      <p:pic>
        <p:nvPicPr>
          <p:cNvPr id="4" name="Picture 3"/>
          <p:cNvPicPr>
            <a:picLocks noChangeAspect="1"/>
          </p:cNvPicPr>
          <p:nvPr/>
        </p:nvPicPr>
        <p:blipFill rotWithShape="1">
          <a:blip r:embed="rId3"/>
          <a:srcRect l="23430"/>
          <a:stretch/>
        </p:blipFill>
        <p:spPr>
          <a:xfrm>
            <a:off x="4816333" y="3661420"/>
            <a:ext cx="3335259" cy="2679029"/>
          </a:xfrm>
          <a:prstGeom prst="rect">
            <a:avLst/>
          </a:prstGeom>
        </p:spPr>
      </p:pic>
      <p:sp>
        <p:nvSpPr>
          <p:cNvPr id="2" name="Rectangle 1"/>
          <p:cNvSpPr/>
          <p:nvPr/>
        </p:nvSpPr>
        <p:spPr>
          <a:xfrm>
            <a:off x="5791200" y="3838725"/>
            <a:ext cx="4572000" cy="660181"/>
          </a:xfrm>
          <a:prstGeom prst="rect">
            <a:avLst/>
          </a:prstGeom>
        </p:spPr>
        <p:txBody>
          <a:bodyPr>
            <a:spAutoFit/>
          </a:bodyPr>
          <a:lstStyle/>
          <a:p>
            <a:pPr lvl="2">
              <a:spcBef>
                <a:spcPct val="5000"/>
              </a:spcBef>
            </a:pPr>
            <a:r>
              <a:rPr lang="en-US" altLang="en-US" b="1" i="1" dirty="0" err="1">
                <a:solidFill>
                  <a:srgbClr val="FF0000"/>
                </a:solidFill>
                <a:cs typeface="Times New Roman" panose="02020603050405020304" pitchFamily="18" charset="0"/>
              </a:rPr>
              <a:t>K</a:t>
            </a:r>
            <a:r>
              <a:rPr lang="en-US" altLang="en-US" b="1" i="1" dirty="0" err="1">
                <a:solidFill>
                  <a:srgbClr val="FF0000"/>
                </a:solidFill>
              </a:rPr>
              <a:t>ỹ</a:t>
            </a:r>
            <a:r>
              <a:rPr lang="en-US" altLang="en-US" b="1" i="1" dirty="0">
                <a:solidFill>
                  <a:srgbClr val="FF0000"/>
                </a:solidFill>
              </a:rPr>
              <a:t> </a:t>
            </a:r>
            <a:r>
              <a:rPr lang="en-US" altLang="en-US" b="1" i="1" dirty="0" err="1">
                <a:solidFill>
                  <a:srgbClr val="FF0000"/>
                </a:solidFill>
              </a:rPr>
              <a:t>thuật</a:t>
            </a:r>
            <a:r>
              <a:rPr lang="en-US" altLang="en-US" b="1" i="1" dirty="0">
                <a:solidFill>
                  <a:srgbClr val="FF0000"/>
                </a:solidFill>
              </a:rPr>
              <a:t> </a:t>
            </a:r>
            <a:r>
              <a:rPr lang="en-US" altLang="en-US" b="1" i="1" dirty="0" err="1">
                <a:solidFill>
                  <a:srgbClr val="FF0000"/>
                </a:solidFill>
              </a:rPr>
              <a:t>móc</a:t>
            </a:r>
            <a:r>
              <a:rPr lang="en-US" altLang="en-US" b="1" i="1" dirty="0">
                <a:solidFill>
                  <a:srgbClr val="FF0000"/>
                </a:solidFill>
              </a:rPr>
              <a:t> </a:t>
            </a:r>
            <a:r>
              <a:rPr lang="en-US" altLang="en-US" b="1" i="1" dirty="0" err="1">
                <a:solidFill>
                  <a:srgbClr val="FF0000"/>
                </a:solidFill>
              </a:rPr>
              <a:t>nối</a:t>
            </a:r>
            <a:r>
              <a:rPr lang="en-US" altLang="en-US" b="1" i="1" dirty="0">
                <a:solidFill>
                  <a:srgbClr val="FF0000"/>
                </a:solidFill>
              </a:rPr>
              <a:t> </a:t>
            </a:r>
            <a:r>
              <a:rPr lang="en-US" altLang="en-US" b="1" i="1" dirty="0" err="1" smtClean="0">
                <a:solidFill>
                  <a:srgbClr val="FF0000"/>
                </a:solidFill>
              </a:rPr>
              <a:t>ngoài</a:t>
            </a:r>
            <a:endParaRPr lang="en-US" altLang="en-US" b="1" i="1" dirty="0" smtClean="0">
              <a:solidFill>
                <a:srgbClr val="FF0000"/>
              </a:solidFill>
            </a:endParaRPr>
          </a:p>
          <a:p>
            <a:pPr lvl="2">
              <a:spcBef>
                <a:spcPct val="5000"/>
              </a:spcBef>
            </a:pPr>
            <a:r>
              <a:rPr lang="en-US" altLang="en-US" dirty="0" err="1" smtClean="0"/>
              <a:t>Nhận</a:t>
            </a:r>
            <a:r>
              <a:rPr lang="en-US" altLang="en-US" dirty="0" smtClean="0"/>
              <a:t> </a:t>
            </a:r>
            <a:r>
              <a:rPr lang="en-US" altLang="en-US" dirty="0" err="1" smtClean="0"/>
              <a:t>xét</a:t>
            </a:r>
            <a:r>
              <a:rPr lang="en-US" altLang="en-US" dirty="0" smtClean="0"/>
              <a:t>: </a:t>
            </a:r>
            <a:r>
              <a:rPr lang="en-US" altLang="en-US" dirty="0" err="1" smtClean="0"/>
              <a:t>Tốn</a:t>
            </a:r>
            <a:r>
              <a:rPr lang="en-US" altLang="en-US" dirty="0" smtClean="0"/>
              <a:t> </a:t>
            </a:r>
            <a:r>
              <a:rPr lang="en-US" altLang="en-US" dirty="0" err="1"/>
              <a:t>bộ</a:t>
            </a:r>
            <a:r>
              <a:rPr lang="en-US" altLang="en-US" dirty="0"/>
              <a:t> </a:t>
            </a:r>
            <a:r>
              <a:rPr lang="en-US" altLang="en-US" dirty="0" err="1"/>
              <a:t>nhớ</a:t>
            </a:r>
            <a:endParaRPr lang="en-US" altLang="en-US" dirty="0"/>
          </a:p>
        </p:txBody>
      </p:sp>
      <p:sp>
        <p:nvSpPr>
          <p:cNvPr id="7" name="Rectangle 6"/>
          <p:cNvSpPr/>
          <p:nvPr/>
        </p:nvSpPr>
        <p:spPr>
          <a:xfrm>
            <a:off x="3124200" y="2316546"/>
            <a:ext cx="6400800" cy="400110"/>
          </a:xfrm>
          <a:prstGeom prst="rect">
            <a:avLst/>
          </a:prstGeom>
        </p:spPr>
        <p:txBody>
          <a:bodyPr wrap="square">
            <a:spAutoFit/>
          </a:bodyPr>
          <a:lstStyle/>
          <a:p>
            <a:r>
              <a:rPr lang="en-US" altLang="en-US" sz="2000" dirty="0" err="1">
                <a:solidFill>
                  <a:prstClr val="black"/>
                </a:solidFill>
                <a:latin typeface="Lato" panose="020F0502020204030203" pitchFamily="34" charset="0"/>
              </a:rPr>
              <a:t>duyệt</a:t>
            </a:r>
            <a:r>
              <a:rPr lang="en-US" altLang="en-US" sz="2000" dirty="0">
                <a:solidFill>
                  <a:prstClr val="black"/>
                </a:solidFill>
                <a:latin typeface="Lato" panose="020F0502020204030203" pitchFamily="34" charset="0"/>
              </a:rPr>
              <a:t> qua </a:t>
            </a:r>
            <a:r>
              <a:rPr lang="en-US" altLang="en-US" sz="2000" dirty="0" err="1">
                <a:solidFill>
                  <a:prstClr val="black"/>
                </a:solidFill>
                <a:latin typeface="Lato" panose="020F0502020204030203" pitchFamily="34" charset="0"/>
              </a:rPr>
              <a:t>danh</a:t>
            </a:r>
            <a:r>
              <a:rPr lang="en-US" altLang="en-US" sz="2000" dirty="0">
                <a:solidFill>
                  <a:prstClr val="black"/>
                </a:solidFill>
                <a:latin typeface="Lato" panose="020F0502020204030203" pitchFamily="34" charset="0"/>
              </a:rPr>
              <a:t> </a:t>
            </a:r>
            <a:r>
              <a:rPr lang="en-US" altLang="en-US" sz="2000" dirty="0" err="1">
                <a:solidFill>
                  <a:prstClr val="black"/>
                </a:solidFill>
                <a:latin typeface="Lato" panose="020F0502020204030203" pitchFamily="34" charset="0"/>
              </a:rPr>
              <a:t>sách</a:t>
            </a:r>
            <a:r>
              <a:rPr lang="en-US" altLang="en-US" sz="2000" dirty="0">
                <a:solidFill>
                  <a:prstClr val="black"/>
                </a:solidFill>
                <a:latin typeface="Lato" panose="020F0502020204030203" pitchFamily="34" charset="0"/>
              </a:rPr>
              <a:t> </a:t>
            </a:r>
            <a:r>
              <a:rPr lang="en-US" altLang="en-US" sz="2000" dirty="0" err="1">
                <a:solidFill>
                  <a:prstClr val="black"/>
                </a:solidFill>
                <a:latin typeface="Lato" panose="020F0502020204030203" pitchFamily="34" charset="0"/>
              </a:rPr>
              <a:t>liên</a:t>
            </a:r>
            <a:r>
              <a:rPr lang="en-US" altLang="en-US" sz="2000" dirty="0">
                <a:solidFill>
                  <a:prstClr val="black"/>
                </a:solidFill>
                <a:latin typeface="Lato" panose="020F0502020204030203" pitchFamily="34" charset="0"/>
              </a:rPr>
              <a:t> </a:t>
            </a:r>
            <a:r>
              <a:rPr lang="en-US" altLang="en-US" sz="2000" dirty="0" err="1">
                <a:solidFill>
                  <a:prstClr val="black"/>
                </a:solidFill>
                <a:latin typeface="Lato" panose="020F0502020204030203" pitchFamily="34" charset="0"/>
              </a:rPr>
              <a:t>kết</a:t>
            </a:r>
            <a:r>
              <a:rPr lang="en-US" altLang="en-US" sz="2000" dirty="0">
                <a:solidFill>
                  <a:prstClr val="black"/>
                </a:solidFill>
                <a:latin typeface="Lato" panose="020F0502020204030203" pitchFamily="34" charset="0"/>
              </a:rPr>
              <a:t> </a:t>
            </a:r>
            <a:r>
              <a:rPr lang="en-US" altLang="en-US" sz="2000" dirty="0" err="1">
                <a:solidFill>
                  <a:prstClr val="black"/>
                </a:solidFill>
                <a:latin typeface="Lato" panose="020F0502020204030203" pitchFamily="34" charset="0"/>
              </a:rPr>
              <a:t>được</a:t>
            </a:r>
            <a:r>
              <a:rPr lang="en-US" altLang="en-US" sz="2000" dirty="0">
                <a:solidFill>
                  <a:prstClr val="black"/>
                </a:solidFill>
                <a:latin typeface="Lato" panose="020F0502020204030203" pitchFamily="34" charset="0"/>
              </a:rPr>
              <a:t> </a:t>
            </a:r>
            <a:r>
              <a:rPr lang="en-US" altLang="en-US" sz="2000" dirty="0" err="1">
                <a:solidFill>
                  <a:prstClr val="black"/>
                </a:solidFill>
                <a:latin typeface="Lato" panose="020F0502020204030203" pitchFamily="34" charset="0"/>
              </a:rPr>
              <a:t>đặt</a:t>
            </a:r>
            <a:r>
              <a:rPr lang="en-US" altLang="en-US" sz="2000" dirty="0">
                <a:solidFill>
                  <a:prstClr val="black"/>
                </a:solidFill>
                <a:latin typeface="Lato" panose="020F0502020204030203" pitchFamily="34" charset="0"/>
              </a:rPr>
              <a:t> </a:t>
            </a:r>
            <a:r>
              <a:rPr lang="en-US" altLang="en-US" sz="2000" dirty="0" err="1">
                <a:solidFill>
                  <a:prstClr val="black"/>
                </a:solidFill>
                <a:latin typeface="Lato" panose="020F0502020204030203" pitchFamily="34" charset="0"/>
              </a:rPr>
              <a:t>tại</a:t>
            </a:r>
            <a:r>
              <a:rPr lang="en-US" altLang="en-US" sz="2000" dirty="0">
                <a:solidFill>
                  <a:prstClr val="black"/>
                </a:solidFill>
                <a:latin typeface="Lato" panose="020F0502020204030203" pitchFamily="34" charset="0"/>
              </a:rPr>
              <a:t> </a:t>
            </a:r>
            <a:r>
              <a:rPr lang="en-US" altLang="en-US" sz="2000" dirty="0" err="1">
                <a:solidFill>
                  <a:prstClr val="black"/>
                </a:solidFill>
                <a:latin typeface="Lato" panose="020F0502020204030203" pitchFamily="34" charset="0"/>
              </a:rPr>
              <a:t>địa</a:t>
            </a:r>
            <a:r>
              <a:rPr lang="en-US" altLang="en-US" sz="2000" dirty="0">
                <a:solidFill>
                  <a:prstClr val="black"/>
                </a:solidFill>
                <a:latin typeface="Lato" panose="020F0502020204030203" pitchFamily="34" charset="0"/>
              </a:rPr>
              <a:t> </a:t>
            </a:r>
            <a:r>
              <a:rPr lang="en-US" altLang="en-US" sz="2000" dirty="0" err="1">
                <a:solidFill>
                  <a:prstClr val="black"/>
                </a:solidFill>
                <a:latin typeface="Lato" panose="020F0502020204030203" pitchFamily="34" charset="0"/>
              </a:rPr>
              <a:t>chỉ</a:t>
            </a:r>
            <a:r>
              <a:rPr lang="en-US" altLang="en-US" sz="2000" dirty="0">
                <a:solidFill>
                  <a:prstClr val="black"/>
                </a:solidFill>
                <a:latin typeface="Lato" panose="020F0502020204030203" pitchFamily="34" charset="0"/>
              </a:rPr>
              <a:t> h(k)</a:t>
            </a:r>
            <a:endParaRPr lang="en-US" dirty="0"/>
          </a:p>
        </p:txBody>
      </p:sp>
      <p:sp>
        <p:nvSpPr>
          <p:cNvPr id="9" name="Rectangle 8"/>
          <p:cNvSpPr/>
          <p:nvPr/>
        </p:nvSpPr>
        <p:spPr>
          <a:xfrm>
            <a:off x="2560190" y="2646996"/>
            <a:ext cx="2920415" cy="400110"/>
          </a:xfrm>
          <a:prstGeom prst="rect">
            <a:avLst/>
          </a:prstGeom>
        </p:spPr>
        <p:txBody>
          <a:bodyPr wrap="none">
            <a:spAutoFit/>
          </a:bodyPr>
          <a:lstStyle/>
          <a:p>
            <a:r>
              <a:rPr lang="en-US" altLang="en-US" sz="2000" dirty="0" err="1">
                <a:solidFill>
                  <a:prstClr val="black"/>
                </a:solidFill>
                <a:latin typeface="Lato" panose="020F0502020204030203" pitchFamily="34" charset="0"/>
              </a:rPr>
              <a:t>bổ</a:t>
            </a:r>
            <a:r>
              <a:rPr lang="en-US" altLang="en-US" sz="2000" dirty="0">
                <a:solidFill>
                  <a:prstClr val="black"/>
                </a:solidFill>
                <a:latin typeface="Lato" panose="020F0502020204030203" pitchFamily="34" charset="0"/>
              </a:rPr>
              <a:t> sung </a:t>
            </a:r>
            <a:r>
              <a:rPr lang="en-US" altLang="en-US" sz="2000" dirty="0" err="1">
                <a:solidFill>
                  <a:prstClr val="black"/>
                </a:solidFill>
                <a:latin typeface="Lato" panose="020F0502020204030203" pitchFamily="34" charset="0"/>
              </a:rPr>
              <a:t>khóa</a:t>
            </a:r>
            <a:r>
              <a:rPr lang="en-US" altLang="en-US" sz="2000" dirty="0">
                <a:solidFill>
                  <a:prstClr val="black"/>
                </a:solidFill>
                <a:latin typeface="Lato" panose="020F0502020204030203" pitchFamily="34" charset="0"/>
              </a:rPr>
              <a:t> </a:t>
            </a:r>
            <a:r>
              <a:rPr lang="en-US" altLang="en-US" sz="2000" dirty="0" err="1">
                <a:solidFill>
                  <a:prstClr val="black"/>
                </a:solidFill>
                <a:latin typeface="Lato" panose="020F0502020204030203" pitchFamily="34" charset="0"/>
              </a:rPr>
              <a:t>vào</a:t>
            </a:r>
            <a:r>
              <a:rPr lang="en-US" altLang="en-US" sz="2000" dirty="0">
                <a:solidFill>
                  <a:prstClr val="black"/>
                </a:solidFill>
                <a:latin typeface="Lato" panose="020F0502020204030203" pitchFamily="34" charset="0"/>
              </a:rPr>
              <a:t> </a:t>
            </a:r>
            <a:r>
              <a:rPr lang="en-US" altLang="en-US" sz="2000" dirty="0" err="1">
                <a:solidFill>
                  <a:prstClr val="black"/>
                </a:solidFill>
                <a:latin typeface="Lato" panose="020F0502020204030203" pitchFamily="34" charset="0"/>
              </a:rPr>
              <a:t>cuối</a:t>
            </a:r>
            <a:r>
              <a:rPr lang="en-US" altLang="en-US" sz="2000" dirty="0">
                <a:solidFill>
                  <a:prstClr val="black"/>
                </a:solidFill>
                <a:latin typeface="Lato" panose="020F0502020204030203" pitchFamily="34" charset="0"/>
              </a:rPr>
              <a:t> </a:t>
            </a:r>
            <a:r>
              <a:rPr lang="en-US" altLang="en-US" sz="2000" dirty="0" err="1">
                <a:solidFill>
                  <a:prstClr val="black"/>
                </a:solidFill>
                <a:latin typeface="Lato" panose="020F0502020204030203" pitchFamily="34" charset="0"/>
              </a:rPr>
              <a:t>dslk</a:t>
            </a:r>
            <a:endParaRPr lang="en-US" dirty="0"/>
          </a:p>
        </p:txBody>
      </p:sp>
      <p:sp>
        <p:nvSpPr>
          <p:cNvPr id="11" name="Rectangle 10"/>
          <p:cNvSpPr/>
          <p:nvPr/>
        </p:nvSpPr>
        <p:spPr>
          <a:xfrm>
            <a:off x="2307615" y="2895581"/>
            <a:ext cx="2582245" cy="400110"/>
          </a:xfrm>
          <a:prstGeom prst="rect">
            <a:avLst/>
          </a:prstGeom>
        </p:spPr>
        <p:txBody>
          <a:bodyPr wrap="none">
            <a:spAutoFit/>
          </a:bodyPr>
          <a:lstStyle/>
          <a:p>
            <a:r>
              <a:rPr lang="en-US" altLang="en-US" sz="2000" dirty="0" err="1">
                <a:solidFill>
                  <a:prstClr val="black"/>
                </a:solidFill>
                <a:latin typeface="Lato" panose="020F0502020204030203" pitchFamily="34" charset="0"/>
              </a:rPr>
              <a:t>tìm</a:t>
            </a:r>
            <a:r>
              <a:rPr lang="en-US" altLang="en-US" sz="2000" dirty="0">
                <a:solidFill>
                  <a:prstClr val="black"/>
                </a:solidFill>
                <a:latin typeface="Lato" panose="020F0502020204030203" pitchFamily="34" charset="0"/>
              </a:rPr>
              <a:t> </a:t>
            </a:r>
            <a:r>
              <a:rPr lang="en-US" altLang="en-US" sz="2000" dirty="0" err="1">
                <a:solidFill>
                  <a:prstClr val="black"/>
                </a:solidFill>
                <a:latin typeface="Lato" panose="020F0502020204030203" pitchFamily="34" charset="0"/>
              </a:rPr>
              <a:t>và</a:t>
            </a:r>
            <a:r>
              <a:rPr lang="en-US" altLang="en-US" sz="2000" dirty="0">
                <a:solidFill>
                  <a:prstClr val="black"/>
                </a:solidFill>
                <a:latin typeface="Lato" panose="020F0502020204030203" pitchFamily="34" charset="0"/>
              </a:rPr>
              <a:t> </a:t>
            </a:r>
            <a:r>
              <a:rPr lang="en-US" altLang="en-US" sz="2000" dirty="0" err="1">
                <a:solidFill>
                  <a:prstClr val="black"/>
                </a:solidFill>
                <a:latin typeface="Lato" panose="020F0502020204030203" pitchFamily="34" charset="0"/>
              </a:rPr>
              <a:t>xóa</a:t>
            </a:r>
            <a:r>
              <a:rPr lang="en-US" altLang="en-US" sz="2000" dirty="0">
                <a:solidFill>
                  <a:prstClr val="black"/>
                </a:solidFill>
                <a:latin typeface="Lato" panose="020F0502020204030203" pitchFamily="34" charset="0"/>
              </a:rPr>
              <a:t> key </a:t>
            </a:r>
            <a:r>
              <a:rPr lang="en-US" altLang="en-US" sz="2000" dirty="0" err="1">
                <a:solidFill>
                  <a:prstClr val="black"/>
                </a:solidFill>
                <a:latin typeface="Lato" panose="020F0502020204030203" pitchFamily="34" charset="0"/>
              </a:rPr>
              <a:t>khỏi</a:t>
            </a:r>
            <a:r>
              <a:rPr lang="en-US" altLang="en-US" sz="2000" dirty="0">
                <a:solidFill>
                  <a:prstClr val="black"/>
                </a:solidFill>
                <a:latin typeface="Lato" panose="020F0502020204030203" pitchFamily="34" charset="0"/>
              </a:rPr>
              <a:t> </a:t>
            </a:r>
            <a:r>
              <a:rPr lang="en-US" altLang="en-US" sz="2000" dirty="0" err="1">
                <a:solidFill>
                  <a:prstClr val="black"/>
                </a:solidFill>
                <a:latin typeface="Lato" panose="020F0502020204030203" pitchFamily="34" charset="0"/>
              </a:rPr>
              <a:t>dslk</a:t>
            </a:r>
            <a:endParaRPr lang="en-US" dirty="0"/>
          </a:p>
        </p:txBody>
      </p:sp>
      <p:pic>
        <p:nvPicPr>
          <p:cNvPr id="15" name="Picture 14"/>
          <p:cNvPicPr>
            <a:picLocks noChangeAspect="1"/>
          </p:cNvPicPr>
          <p:nvPr/>
        </p:nvPicPr>
        <p:blipFill rotWithShape="1">
          <a:blip r:embed="rId3"/>
          <a:srcRect r="77258"/>
          <a:stretch/>
        </p:blipFill>
        <p:spPr>
          <a:xfrm>
            <a:off x="3457574" y="3675678"/>
            <a:ext cx="990599" cy="2679029"/>
          </a:xfrm>
          <a:prstGeom prst="rect">
            <a:avLst/>
          </a:prstGeom>
        </p:spPr>
      </p:pic>
    </p:spTree>
    <p:extLst>
      <p:ext uri="{BB962C8B-B14F-4D97-AF65-F5344CB8AC3E}">
        <p14:creationId xmlns:p14="http://schemas.microsoft.com/office/powerpoint/2010/main" val="2839520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7635">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7635">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7635">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97635">
                                            <p:txEl>
                                              <p:pRg st="7" end="7"/>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97635">
                                            <p:txEl>
                                              <p:pRg st="8" end="8"/>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P spid="9" grpId="0"/>
      <p:bldP spid="11"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Slide Number Placeholder 4">
            <a:extLst>
              <a:ext uri="{FF2B5EF4-FFF2-40B4-BE49-F238E27FC236}">
                <a16:creationId xmlns:a16="http://schemas.microsoft.com/office/drawing/2014/main" id="{EB19CB4D-5A82-428A-92D3-B1B4008D8798}"/>
              </a:ext>
            </a:extLst>
          </p:cNvPr>
          <p:cNvSpPr>
            <a:spLocks noGrp="1"/>
          </p:cNvSpPr>
          <p:nvPr>
            <p:ph type="sldNum" sz="quarter" idx="12"/>
          </p:nvPr>
        </p:nvSpPr>
        <p:spPr/>
        <p:txBody>
          <a:bodyPr/>
          <a:lstStyle/>
          <a:p>
            <a:fld id="{D40F5751-1286-424D-AC19-854A22342F77}" type="slidenum">
              <a:rPr lang="en-US" altLang="en-US"/>
              <a:pPr/>
              <a:t>32</a:t>
            </a:fld>
            <a:endParaRPr lang="en-US" altLang="en-US"/>
          </a:p>
        </p:txBody>
      </p:sp>
      <p:sp>
        <p:nvSpPr>
          <p:cNvPr id="197634" name="Rectangle 2">
            <a:extLst>
              <a:ext uri="{FF2B5EF4-FFF2-40B4-BE49-F238E27FC236}">
                <a16:creationId xmlns:a16="http://schemas.microsoft.com/office/drawing/2014/main" id="{50D101C7-3752-4872-848A-9D5466076229}"/>
              </a:ext>
            </a:extLst>
          </p:cNvPr>
          <p:cNvSpPr>
            <a:spLocks noGrp="1" noChangeArrowheads="1"/>
          </p:cNvSpPr>
          <p:nvPr>
            <p:ph type="title"/>
          </p:nvPr>
        </p:nvSpPr>
        <p:spPr/>
        <p:txBody>
          <a:bodyPr>
            <a:normAutofit/>
          </a:bodyPr>
          <a:lstStyle/>
          <a:p>
            <a:r>
              <a:rPr lang="en-US" altLang="en-US" sz="2400" dirty="0" err="1">
                <a:cs typeface="Times New Roman" panose="02020603050405020304" pitchFamily="18" charset="0"/>
              </a:rPr>
              <a:t>Các</a:t>
            </a:r>
            <a:r>
              <a:rPr lang="en-US" altLang="en-US" sz="2400" dirty="0">
                <a:cs typeface="Times New Roman" panose="02020603050405020304" pitchFamily="18" charset="0"/>
              </a:rPr>
              <a:t> </a:t>
            </a:r>
            <a:r>
              <a:rPr lang="en-US" altLang="en-US" sz="2400" dirty="0" err="1">
                <a:cs typeface="Times New Roman" panose="02020603050405020304" pitchFamily="18" charset="0"/>
              </a:rPr>
              <a:t>biện</a:t>
            </a:r>
            <a:r>
              <a:rPr lang="en-US" altLang="en-US" sz="2400" dirty="0">
                <a:cs typeface="Times New Roman" panose="02020603050405020304" pitchFamily="18" charset="0"/>
              </a:rPr>
              <a:t> </a:t>
            </a:r>
            <a:r>
              <a:rPr lang="en-US" altLang="en-US" sz="2400" dirty="0" err="1">
                <a:cs typeface="Times New Roman" panose="02020603050405020304" pitchFamily="18" charset="0"/>
              </a:rPr>
              <a:t>pháp</a:t>
            </a:r>
            <a:r>
              <a:rPr lang="en-US" altLang="en-US" sz="2400" dirty="0">
                <a:cs typeface="Times New Roman" panose="02020603050405020304" pitchFamily="18" charset="0"/>
              </a:rPr>
              <a:t> </a:t>
            </a:r>
            <a:r>
              <a:rPr lang="en-US" altLang="en-US" sz="2400" dirty="0" err="1">
                <a:cs typeface="Times New Roman" panose="02020603050405020304" pitchFamily="18" charset="0"/>
              </a:rPr>
              <a:t>khắc</a:t>
            </a:r>
            <a:r>
              <a:rPr lang="en-US" altLang="en-US" sz="2400" dirty="0">
                <a:cs typeface="Times New Roman" panose="02020603050405020304" pitchFamily="18" charset="0"/>
              </a:rPr>
              <a:t> </a:t>
            </a:r>
            <a:r>
              <a:rPr lang="en-US" altLang="en-US" sz="2400" dirty="0" err="1">
                <a:cs typeface="Times New Roman" panose="02020603050405020304" pitchFamily="18" charset="0"/>
              </a:rPr>
              <a:t>phục</a:t>
            </a:r>
            <a:r>
              <a:rPr lang="en-US" altLang="en-US" sz="2400" dirty="0">
                <a:cs typeface="Times New Roman" panose="02020603050405020304" pitchFamily="18" charset="0"/>
              </a:rPr>
              <a:t> </a:t>
            </a:r>
            <a:r>
              <a:rPr lang="en-US" altLang="en-US" sz="2400" dirty="0" err="1">
                <a:cs typeface="Times New Roman" panose="02020603050405020304" pitchFamily="18" charset="0"/>
              </a:rPr>
              <a:t>đụng</a:t>
            </a:r>
            <a:r>
              <a:rPr lang="en-US" altLang="en-US" sz="2400" dirty="0">
                <a:cs typeface="Times New Roman" panose="02020603050405020304" pitchFamily="18" charset="0"/>
              </a:rPr>
              <a:t> </a:t>
            </a:r>
            <a:r>
              <a:rPr lang="en-US" altLang="en-US" sz="2400" dirty="0" err="1">
                <a:cs typeface="Times New Roman" panose="02020603050405020304" pitchFamily="18" charset="0"/>
              </a:rPr>
              <a:t>độ</a:t>
            </a:r>
            <a:r>
              <a:rPr lang="en-US" altLang="en-US" sz="2400" dirty="0"/>
              <a:t> </a:t>
            </a:r>
          </a:p>
        </p:txBody>
      </p:sp>
      <p:sp>
        <p:nvSpPr>
          <p:cNvPr id="197635" name="Rectangle 3">
            <a:extLst>
              <a:ext uri="{FF2B5EF4-FFF2-40B4-BE49-F238E27FC236}">
                <a16:creationId xmlns:a16="http://schemas.microsoft.com/office/drawing/2014/main" id="{E339195A-8D56-40DF-8DEB-45099B61C9F4}"/>
              </a:ext>
            </a:extLst>
          </p:cNvPr>
          <p:cNvSpPr>
            <a:spLocks noGrp="1" noChangeArrowheads="1"/>
          </p:cNvSpPr>
          <p:nvPr>
            <p:ph type="body" sz="quarter" idx="13"/>
          </p:nvPr>
        </p:nvSpPr>
        <p:spPr>
          <a:xfrm>
            <a:off x="225283" y="861702"/>
            <a:ext cx="8674100" cy="5132832"/>
          </a:xfrm>
          <a:noFill/>
          <a:ln/>
        </p:spPr>
        <p:txBody>
          <a:bodyPr>
            <a:normAutofit/>
          </a:bodyPr>
          <a:lstStyle/>
          <a:p>
            <a:pPr>
              <a:spcBef>
                <a:spcPct val="5000"/>
              </a:spcBef>
            </a:pPr>
            <a:r>
              <a:rPr lang="en-US" altLang="en-US" sz="2400" dirty="0" err="1">
                <a:cs typeface="Times New Roman" panose="02020603050405020304" pitchFamily="18" charset="0"/>
              </a:rPr>
              <a:t>Biện</a:t>
            </a:r>
            <a:r>
              <a:rPr lang="en-US" altLang="en-US" sz="2400" dirty="0">
                <a:cs typeface="Times New Roman" panose="02020603050405020304" pitchFamily="18" charset="0"/>
              </a:rPr>
              <a:t> </a:t>
            </a:r>
            <a:r>
              <a:rPr lang="en-US" altLang="en-US" sz="2400" dirty="0" err="1">
                <a:cs typeface="Times New Roman" panose="02020603050405020304" pitchFamily="18" charset="0"/>
              </a:rPr>
              <a:t>pháp</a:t>
            </a:r>
            <a:r>
              <a:rPr lang="en-US" altLang="en-US" sz="2400" dirty="0">
                <a:cs typeface="Times New Roman" panose="02020603050405020304" pitchFamily="18" charset="0"/>
              </a:rPr>
              <a:t> </a:t>
            </a:r>
            <a:r>
              <a:rPr lang="en-US" altLang="en-US" sz="2400" dirty="0" err="1">
                <a:cs typeface="Times New Roman" panose="02020603050405020304" pitchFamily="18" charset="0"/>
              </a:rPr>
              <a:t>m</a:t>
            </a:r>
            <a:r>
              <a:rPr lang="en-US" altLang="en-US" sz="2400" dirty="0" err="1"/>
              <a:t>óc</a:t>
            </a:r>
            <a:r>
              <a:rPr lang="en-US" altLang="en-US" sz="2400" dirty="0"/>
              <a:t> </a:t>
            </a:r>
            <a:r>
              <a:rPr lang="en-US" altLang="en-US" sz="2400" dirty="0" err="1"/>
              <a:t>nối</a:t>
            </a:r>
            <a:r>
              <a:rPr lang="en-US" altLang="en-US" sz="2400" dirty="0"/>
              <a:t> </a:t>
            </a:r>
            <a:endParaRPr lang="en-US" altLang="en-US" sz="2400" dirty="0">
              <a:cs typeface="Times New Roman" panose="02020603050405020304" pitchFamily="18" charset="0"/>
            </a:endParaRPr>
          </a:p>
          <a:p>
            <a:pPr lvl="1">
              <a:spcBef>
                <a:spcPct val="5000"/>
              </a:spcBef>
            </a:pPr>
            <a:r>
              <a:rPr lang="en-US" altLang="en-US" sz="2000" dirty="0" err="1">
                <a:cs typeface="Times New Roman" panose="02020603050405020304" pitchFamily="18" charset="0"/>
              </a:rPr>
              <a:t>K</a:t>
            </a:r>
            <a:r>
              <a:rPr lang="en-US" altLang="en-US" sz="2000" dirty="0" err="1"/>
              <a:t>ỹ</a:t>
            </a:r>
            <a:r>
              <a:rPr lang="en-US" altLang="en-US" sz="2000" dirty="0"/>
              <a:t> </a:t>
            </a:r>
            <a:r>
              <a:rPr lang="en-US" altLang="en-US" sz="2000" dirty="0" err="1"/>
              <a:t>thuật</a:t>
            </a:r>
            <a:r>
              <a:rPr lang="en-US" altLang="en-US" sz="2000" dirty="0"/>
              <a:t> </a:t>
            </a:r>
            <a:r>
              <a:rPr lang="en-US" altLang="en-US" sz="2000" dirty="0" err="1"/>
              <a:t>móc</a:t>
            </a:r>
            <a:r>
              <a:rPr lang="en-US" altLang="en-US" sz="2000" dirty="0"/>
              <a:t> </a:t>
            </a:r>
            <a:r>
              <a:rPr lang="en-US" altLang="en-US" sz="2000" dirty="0" err="1"/>
              <a:t>nối</a:t>
            </a:r>
            <a:r>
              <a:rPr lang="en-US" altLang="en-US" sz="2000" dirty="0"/>
              <a:t> </a:t>
            </a:r>
            <a:r>
              <a:rPr lang="en-US" altLang="en-US" sz="2000" dirty="0" err="1" smtClean="0"/>
              <a:t>trong</a:t>
            </a:r>
            <a:r>
              <a:rPr lang="en-US" altLang="en-US" sz="2000" dirty="0" smtClean="0"/>
              <a:t>: </a:t>
            </a:r>
          </a:p>
          <a:p>
            <a:pPr lvl="2">
              <a:spcBef>
                <a:spcPct val="5000"/>
              </a:spcBef>
            </a:pPr>
            <a:r>
              <a:rPr lang="en-US" altLang="en-US" sz="1800" dirty="0" err="1" smtClean="0"/>
              <a:t>Dùng</a:t>
            </a:r>
            <a:r>
              <a:rPr lang="en-US" altLang="en-US" sz="1800" dirty="0" smtClean="0"/>
              <a:t> </a:t>
            </a:r>
            <a:r>
              <a:rPr lang="en-US" altLang="en-US" sz="1800" dirty="0" err="1"/>
              <a:t>miền</a:t>
            </a:r>
            <a:r>
              <a:rPr lang="en-US" altLang="en-US" sz="1800" dirty="0"/>
              <a:t> </a:t>
            </a:r>
            <a:r>
              <a:rPr lang="en-US" altLang="en-US" sz="1800" dirty="0" err="1"/>
              <a:t>nhớ</a:t>
            </a:r>
            <a:r>
              <a:rPr lang="en-US" altLang="en-US" sz="1800" dirty="0"/>
              <a:t> ở </a:t>
            </a:r>
            <a:r>
              <a:rPr lang="en-US" altLang="en-US" sz="1800" dirty="0" err="1"/>
              <a:t>trong</a:t>
            </a:r>
            <a:r>
              <a:rPr lang="en-US" altLang="en-US" sz="1800" dirty="0"/>
              <a:t> </a:t>
            </a:r>
            <a:r>
              <a:rPr lang="en-US" altLang="en-US" sz="1800" dirty="0" err="1"/>
              <a:t>bảng</a:t>
            </a:r>
            <a:r>
              <a:rPr lang="en-US" altLang="en-US" sz="1800" dirty="0"/>
              <a:t> </a:t>
            </a:r>
            <a:r>
              <a:rPr lang="en-US" altLang="en-US" sz="1800" dirty="0" err="1"/>
              <a:t>địa</a:t>
            </a:r>
            <a:r>
              <a:rPr lang="en-US" altLang="en-US" sz="1800" dirty="0"/>
              <a:t> </a:t>
            </a:r>
            <a:r>
              <a:rPr lang="en-US" altLang="en-US" sz="1800" dirty="0" err="1"/>
              <a:t>chỉ</a:t>
            </a:r>
            <a:r>
              <a:rPr lang="en-US" altLang="en-US" sz="1800" dirty="0"/>
              <a:t> </a:t>
            </a:r>
            <a:r>
              <a:rPr lang="en-US" altLang="en-US" sz="1800" dirty="0" err="1"/>
              <a:t>để</a:t>
            </a:r>
            <a:r>
              <a:rPr lang="en-US" altLang="en-US" sz="1800" dirty="0"/>
              <a:t> </a:t>
            </a:r>
            <a:r>
              <a:rPr lang="en-US" altLang="en-US" sz="1800" dirty="0" err="1"/>
              <a:t>lưu</a:t>
            </a:r>
            <a:r>
              <a:rPr lang="en-US" altLang="en-US" sz="1800" dirty="0"/>
              <a:t> </a:t>
            </a:r>
            <a:r>
              <a:rPr lang="en-US" altLang="en-US" sz="1800" dirty="0" err="1"/>
              <a:t>các</a:t>
            </a:r>
            <a:r>
              <a:rPr lang="en-US" altLang="en-US" sz="1800" dirty="0"/>
              <a:t> </a:t>
            </a:r>
            <a:r>
              <a:rPr lang="en-US" altLang="en-US" sz="1800" dirty="0" err="1"/>
              <a:t>giá</a:t>
            </a:r>
            <a:r>
              <a:rPr lang="en-US" altLang="en-US" sz="1800" dirty="0"/>
              <a:t> </a:t>
            </a:r>
            <a:r>
              <a:rPr lang="en-US" altLang="en-US" sz="1800" dirty="0" err="1" smtClean="0"/>
              <a:t>trị</a:t>
            </a:r>
            <a:r>
              <a:rPr lang="en-US" altLang="en-US" sz="1800" dirty="0" smtClean="0"/>
              <a:t>, </a:t>
            </a:r>
            <a:r>
              <a:rPr lang="en-US" altLang="en-US" sz="1800" dirty="0" err="1" smtClean="0"/>
              <a:t>sử</a:t>
            </a:r>
            <a:r>
              <a:rPr lang="en-US" altLang="en-US" sz="1800" dirty="0" smtClean="0"/>
              <a:t> </a:t>
            </a:r>
            <a:r>
              <a:rPr lang="en-US" altLang="en-US" sz="1800" dirty="0" err="1" smtClean="0"/>
              <a:t>dụng</a:t>
            </a:r>
            <a:r>
              <a:rPr lang="en-US" altLang="en-US" sz="1800" dirty="0" smtClean="0"/>
              <a:t> </a:t>
            </a:r>
            <a:r>
              <a:rPr lang="en-US" altLang="en-US" sz="1800" dirty="0" err="1" smtClean="0"/>
              <a:t>móc</a:t>
            </a:r>
            <a:r>
              <a:rPr lang="en-US" altLang="en-US" sz="1800" dirty="0" smtClean="0"/>
              <a:t> </a:t>
            </a:r>
            <a:r>
              <a:rPr lang="en-US" altLang="en-US" sz="1800" dirty="0" err="1" smtClean="0"/>
              <a:t>nối</a:t>
            </a:r>
            <a:r>
              <a:rPr lang="en-US" altLang="en-US" sz="1800" dirty="0" smtClean="0"/>
              <a:t> </a:t>
            </a:r>
            <a:r>
              <a:rPr lang="en-US" altLang="en-US" sz="1800" dirty="0" err="1" smtClean="0"/>
              <a:t>để</a:t>
            </a:r>
            <a:r>
              <a:rPr lang="en-US" altLang="en-US" sz="1800" dirty="0" smtClean="0"/>
              <a:t> </a:t>
            </a:r>
            <a:r>
              <a:rPr lang="en-US" altLang="en-US" sz="1800" dirty="0" err="1" smtClean="0"/>
              <a:t>liên</a:t>
            </a:r>
            <a:r>
              <a:rPr lang="en-US" altLang="en-US" sz="1800" dirty="0" smtClean="0"/>
              <a:t> </a:t>
            </a:r>
            <a:r>
              <a:rPr lang="en-US" altLang="en-US" sz="1800" dirty="0" err="1" smtClean="0"/>
              <a:t>kết</a:t>
            </a:r>
            <a:r>
              <a:rPr lang="en-US" altLang="en-US" sz="1800" dirty="0" smtClean="0"/>
              <a:t> </a:t>
            </a:r>
            <a:r>
              <a:rPr lang="en-US" altLang="en-US" sz="1800" dirty="0" err="1" smtClean="0"/>
              <a:t>các</a:t>
            </a:r>
            <a:r>
              <a:rPr lang="en-US" altLang="en-US" sz="1800" dirty="0" smtClean="0"/>
              <a:t> “</a:t>
            </a:r>
            <a:r>
              <a:rPr lang="en-US" altLang="en-US" sz="1800" dirty="0" err="1" smtClean="0"/>
              <a:t>đụng</a:t>
            </a:r>
            <a:r>
              <a:rPr lang="en-US" altLang="en-US" sz="1800" dirty="0" smtClean="0"/>
              <a:t> </a:t>
            </a:r>
            <a:r>
              <a:rPr lang="en-US" altLang="en-US" sz="1800" dirty="0" err="1" smtClean="0"/>
              <a:t>độ</a:t>
            </a:r>
            <a:r>
              <a:rPr lang="en-US" altLang="en-US" sz="1800" dirty="0" smtClean="0"/>
              <a:t>”</a:t>
            </a:r>
            <a:endParaRPr lang="en-US" altLang="en-US" sz="1800" dirty="0"/>
          </a:p>
          <a:p>
            <a:pPr lvl="2">
              <a:spcBef>
                <a:spcPct val="5000"/>
              </a:spcBef>
            </a:pPr>
            <a:r>
              <a:rPr lang="en-US" altLang="en-US" sz="1800" dirty="0" err="1"/>
              <a:t>Chỉ</a:t>
            </a:r>
            <a:r>
              <a:rPr lang="en-US" altLang="en-US" sz="1800" dirty="0"/>
              <a:t> </a:t>
            </a:r>
            <a:r>
              <a:rPr lang="en-US" altLang="en-US" sz="1800" dirty="0" err="1"/>
              <a:t>dùng</a:t>
            </a:r>
            <a:r>
              <a:rPr lang="en-US" altLang="en-US" sz="1800" dirty="0"/>
              <a:t> </a:t>
            </a:r>
            <a:r>
              <a:rPr lang="en-US" altLang="en-US" sz="1800" dirty="0" err="1"/>
              <a:t>thêm</a:t>
            </a:r>
            <a:r>
              <a:rPr lang="en-US" altLang="en-US" sz="1800" dirty="0"/>
              <a:t> </a:t>
            </a:r>
            <a:r>
              <a:rPr lang="en-US" altLang="en-US" sz="1800" dirty="0" err="1"/>
              <a:t>miền</a:t>
            </a:r>
            <a:r>
              <a:rPr lang="en-US" altLang="en-US" sz="1800" dirty="0"/>
              <a:t> </a:t>
            </a:r>
            <a:r>
              <a:rPr lang="en-US" altLang="en-US" sz="1800" dirty="0" err="1"/>
              <a:t>nhớ</a:t>
            </a:r>
            <a:r>
              <a:rPr lang="en-US" altLang="en-US" sz="1800" dirty="0"/>
              <a:t> </a:t>
            </a:r>
            <a:r>
              <a:rPr lang="en-US" altLang="en-US" sz="1800" dirty="0" err="1"/>
              <a:t>mới</a:t>
            </a:r>
            <a:r>
              <a:rPr lang="en-US" altLang="en-US" sz="1800" dirty="0"/>
              <a:t> </a:t>
            </a:r>
            <a:r>
              <a:rPr lang="en-US" altLang="en-US" sz="1800" dirty="0" err="1"/>
              <a:t>khi</a:t>
            </a:r>
            <a:r>
              <a:rPr lang="en-US" altLang="en-US" sz="1800" dirty="0"/>
              <a:t> </a:t>
            </a:r>
            <a:r>
              <a:rPr lang="en-US" altLang="en-US" sz="1800" dirty="0" err="1"/>
              <a:t>xảy</a:t>
            </a:r>
            <a:r>
              <a:rPr lang="en-US" altLang="en-US" sz="1800" dirty="0"/>
              <a:t> </a:t>
            </a:r>
            <a:r>
              <a:rPr lang="en-US" altLang="en-US" sz="1800" dirty="0" err="1"/>
              <a:t>ra</a:t>
            </a:r>
            <a:r>
              <a:rPr lang="en-US" altLang="en-US" sz="1800" dirty="0"/>
              <a:t> </a:t>
            </a:r>
            <a:r>
              <a:rPr lang="en-US" altLang="en-US" sz="1800" dirty="0" err="1"/>
              <a:t>hiện</a:t>
            </a:r>
            <a:r>
              <a:rPr lang="en-US" altLang="en-US" sz="1800" dirty="0"/>
              <a:t> </a:t>
            </a:r>
            <a:r>
              <a:rPr lang="en-US" altLang="en-US" sz="1800" dirty="0" err="1"/>
              <a:t>tượng</a:t>
            </a:r>
            <a:r>
              <a:rPr lang="en-US" altLang="en-US" sz="1800" dirty="0"/>
              <a:t> </a:t>
            </a:r>
            <a:r>
              <a:rPr lang="en-US" altLang="en-US" sz="1800" dirty="0" err="1" smtClean="0"/>
              <a:t>tràn</a:t>
            </a:r>
            <a:r>
              <a:rPr lang="en-US" altLang="en-US" sz="1800" dirty="0" smtClean="0"/>
              <a:t> (</a:t>
            </a:r>
            <a:r>
              <a:rPr lang="en-US" altLang="en-US" sz="1800" dirty="0" err="1" smtClean="0"/>
              <a:t>không</a:t>
            </a:r>
            <a:r>
              <a:rPr lang="en-US" altLang="en-US" sz="1800" dirty="0" smtClean="0"/>
              <a:t> </a:t>
            </a:r>
            <a:r>
              <a:rPr lang="en-US" altLang="en-US" sz="1800" dirty="0" err="1" smtClean="0"/>
              <a:t>còn</a:t>
            </a:r>
            <a:r>
              <a:rPr lang="en-US" altLang="en-US" sz="1800" dirty="0" smtClean="0"/>
              <a:t> ô </a:t>
            </a:r>
            <a:r>
              <a:rPr lang="en-US" altLang="en-US" sz="1800" dirty="0" err="1" smtClean="0"/>
              <a:t>nhớ</a:t>
            </a:r>
            <a:r>
              <a:rPr lang="en-US" altLang="en-US" sz="1800" dirty="0" smtClean="0"/>
              <a:t> </a:t>
            </a:r>
            <a:r>
              <a:rPr lang="en-US" altLang="en-US" sz="1800" dirty="0" err="1" smtClean="0"/>
              <a:t>trống</a:t>
            </a:r>
            <a:r>
              <a:rPr lang="en-US" altLang="en-US" sz="1800" dirty="0" smtClean="0"/>
              <a:t> </a:t>
            </a:r>
            <a:r>
              <a:rPr lang="en-US" altLang="en-US" sz="1800" dirty="0" err="1" smtClean="0"/>
              <a:t>trong</a:t>
            </a:r>
            <a:r>
              <a:rPr lang="en-US" altLang="en-US" sz="1800" dirty="0" smtClean="0"/>
              <a:t> </a:t>
            </a:r>
            <a:r>
              <a:rPr lang="en-US" altLang="en-US" sz="1800" dirty="0" err="1" smtClean="0"/>
              <a:t>bảng</a:t>
            </a:r>
            <a:r>
              <a:rPr lang="en-US" altLang="en-US" sz="1800" dirty="0" smtClean="0"/>
              <a:t> hash)</a:t>
            </a:r>
            <a:endParaRPr lang="en-US" altLang="en-US" sz="1400" dirty="0" smtClean="0"/>
          </a:p>
          <a:p>
            <a:pPr lvl="2">
              <a:spcBef>
                <a:spcPct val="5000"/>
              </a:spcBef>
            </a:pPr>
            <a:endParaRPr lang="en-US" altLang="en-US" sz="2000" dirty="0" smtClean="0"/>
          </a:p>
          <a:p>
            <a:pPr lvl="2">
              <a:spcBef>
                <a:spcPct val="5000"/>
              </a:spcBef>
            </a:pPr>
            <a:endParaRPr lang="en-US" altLang="en-US" sz="2000" dirty="0"/>
          </a:p>
        </p:txBody>
      </p:sp>
      <p:graphicFrame>
        <p:nvGraphicFramePr>
          <p:cNvPr id="5" name="Group 215">
            <a:extLst>
              <a:ext uri="{FF2B5EF4-FFF2-40B4-BE49-F238E27FC236}">
                <a16:creationId xmlns:a16="http://schemas.microsoft.com/office/drawing/2014/main" id="{0344734C-9811-4889-889C-7AD45218F49D}"/>
              </a:ext>
            </a:extLst>
          </p:cNvPr>
          <p:cNvGraphicFramePr>
            <a:graphicFrameLocks noGrp="1"/>
          </p:cNvGraphicFramePr>
          <p:nvPr>
            <p:extLst/>
          </p:nvPr>
        </p:nvGraphicFramePr>
        <p:xfrm>
          <a:off x="304800" y="2895600"/>
          <a:ext cx="1143000" cy="3124200"/>
        </p:xfrm>
        <a:graphic>
          <a:graphicData uri="http://schemas.openxmlformats.org/drawingml/2006/table">
            <a:tbl>
              <a:tblPr/>
              <a:tblGrid>
                <a:gridCol w="571500">
                  <a:extLst>
                    <a:ext uri="{9D8B030D-6E8A-4147-A177-3AD203B41FA5}">
                      <a16:colId xmlns:a16="http://schemas.microsoft.com/office/drawing/2014/main" val="1986580085"/>
                    </a:ext>
                  </a:extLst>
                </a:gridCol>
                <a:gridCol w="571500">
                  <a:extLst>
                    <a:ext uri="{9D8B030D-6E8A-4147-A177-3AD203B41FA5}">
                      <a16:colId xmlns:a16="http://schemas.microsoft.com/office/drawing/2014/main" val="1104867995"/>
                    </a:ext>
                  </a:extLst>
                </a:gridCol>
              </a:tblGrid>
              <a:tr h="390525">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rPr>
                        <a:t>k</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rPr>
                        <a:t>h(k)</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85343409"/>
                  </a:ext>
                </a:extLst>
              </a:tr>
              <a:tr h="390525">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123</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4</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546334555"/>
                  </a:ext>
                </a:extLst>
              </a:tr>
              <a:tr h="390525">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321</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6</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74687186"/>
                  </a:ext>
                </a:extLst>
              </a:tr>
              <a:tr h="390525">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234</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3</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98289158"/>
                  </a:ext>
                </a:extLst>
              </a:tr>
              <a:tr h="390525">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432</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5</a:t>
                      </a: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85215853"/>
                  </a:ext>
                </a:extLst>
              </a:tr>
              <a:tr h="390525">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en-US" sz="1800" b="1" i="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543</a:t>
                      </a:r>
                      <a:endParaRPr kumimoji="0" lang="en-US" altLang="en-US" sz="1800" b="1" i="1" u="none" strike="noStrike" cap="none" normalizeH="0" baseline="0">
                        <a:ln>
                          <a:noFill/>
                        </a:ln>
                        <a:solidFill>
                          <a:schemeClr val="tx1"/>
                        </a:solidFill>
                        <a:effectLst/>
                        <a:latin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en-US" sz="1800" b="1" i="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4</a:t>
                      </a:r>
                      <a:endParaRPr kumimoji="0" lang="en-US" altLang="en-US" sz="1800" b="1" i="1" u="none" strike="noStrike" cap="none" normalizeH="0" baseline="0">
                        <a:ln>
                          <a:noFill/>
                        </a:ln>
                        <a:solidFill>
                          <a:schemeClr val="tx1"/>
                        </a:solidFill>
                        <a:effectLst/>
                        <a:latin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54491617"/>
                  </a:ext>
                </a:extLst>
              </a:tr>
              <a:tr h="390525">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en-US" sz="1800" b="1" i="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678</a:t>
                      </a:r>
                      <a:endParaRPr kumimoji="0" lang="en-US" altLang="en-US" sz="1800" b="1" i="1" u="none" strike="noStrike" cap="none" normalizeH="0" baseline="0">
                        <a:ln>
                          <a:noFill/>
                        </a:ln>
                        <a:solidFill>
                          <a:schemeClr val="tx1"/>
                        </a:solidFill>
                        <a:effectLst/>
                        <a:latin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en-US" sz="1800" b="1" i="1"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6</a:t>
                      </a:r>
                      <a:endParaRPr kumimoji="0" lang="en-US" altLang="en-US" sz="1800" b="1" i="1" u="none" strike="noStrike" cap="none" normalizeH="0" baseline="0">
                        <a:ln>
                          <a:noFill/>
                        </a:ln>
                        <a:solidFill>
                          <a:schemeClr val="tx1"/>
                        </a:solidFill>
                        <a:effectLst/>
                        <a:latin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603611887"/>
                  </a:ext>
                </a:extLst>
              </a:tr>
              <a:tr h="390525">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Times New Roman" panose="02020603050405020304" pitchFamily="18" charset="0"/>
                        </a:rPr>
                        <a:t>890</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Times New Roman" panose="02020603050405020304" pitchFamily="18" charset="0"/>
                        </a:rPr>
                        <a:t>1</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14684353"/>
                  </a:ext>
                </a:extLst>
              </a:tr>
            </a:tbl>
          </a:graphicData>
        </a:graphic>
      </p:graphicFrame>
      <p:graphicFrame>
        <p:nvGraphicFramePr>
          <p:cNvPr id="6" name="Group 218">
            <a:extLst>
              <a:ext uri="{FF2B5EF4-FFF2-40B4-BE49-F238E27FC236}">
                <a16:creationId xmlns:a16="http://schemas.microsoft.com/office/drawing/2014/main" id="{C08450CC-E08C-4FEB-95DD-2B15D7BB1900}"/>
              </a:ext>
            </a:extLst>
          </p:cNvPr>
          <p:cNvGraphicFramePr>
            <a:graphicFrameLocks noGrp="1"/>
          </p:cNvGraphicFramePr>
          <p:nvPr>
            <p:extLst/>
          </p:nvPr>
        </p:nvGraphicFramePr>
        <p:xfrm>
          <a:off x="3740150" y="2873375"/>
          <a:ext cx="1219200" cy="3146425"/>
        </p:xfrm>
        <a:graphic>
          <a:graphicData uri="http://schemas.openxmlformats.org/drawingml/2006/table">
            <a:tbl>
              <a:tblPr/>
              <a:tblGrid>
                <a:gridCol w="898525">
                  <a:extLst>
                    <a:ext uri="{9D8B030D-6E8A-4147-A177-3AD203B41FA5}">
                      <a16:colId xmlns:a16="http://schemas.microsoft.com/office/drawing/2014/main" val="4028422076"/>
                    </a:ext>
                  </a:extLst>
                </a:gridCol>
                <a:gridCol w="320675">
                  <a:extLst>
                    <a:ext uri="{9D8B030D-6E8A-4147-A177-3AD203B41FA5}">
                      <a16:colId xmlns:a16="http://schemas.microsoft.com/office/drawing/2014/main" val="115907836"/>
                    </a:ext>
                  </a:extLst>
                </a:gridCol>
              </a:tblGrid>
              <a:tr h="390525">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dirty="0" err="1">
                          <a:ln>
                            <a:noFill/>
                          </a:ln>
                          <a:solidFill>
                            <a:schemeClr val="tx1"/>
                          </a:solidFill>
                          <a:effectLst/>
                          <a:latin typeface="Times New Roman" panose="02020603050405020304" pitchFamily="18" charset="0"/>
                        </a:rPr>
                        <a:t>Giá</a:t>
                      </a:r>
                      <a:r>
                        <a:rPr kumimoji="0" lang="en-US" altLang="en-US" sz="1800" b="0" i="0" u="none" strike="noStrike" cap="none" normalizeH="0" baseline="0" dirty="0">
                          <a:ln>
                            <a:noFill/>
                          </a:ln>
                          <a:solidFill>
                            <a:schemeClr val="tx1"/>
                          </a:solidFill>
                          <a:effectLst/>
                          <a:latin typeface="Times New Roman" panose="02020603050405020304" pitchFamily="18" charset="0"/>
                        </a:rPr>
                        <a:t> </a:t>
                      </a:r>
                      <a:r>
                        <a:rPr kumimoji="0" lang="en-US" altLang="en-US" sz="1800" b="0" i="0" u="none" strike="noStrike" cap="none" normalizeH="0" baseline="0" dirty="0" err="1">
                          <a:ln>
                            <a:noFill/>
                          </a:ln>
                          <a:solidFill>
                            <a:schemeClr val="tx1"/>
                          </a:solidFill>
                          <a:effectLst/>
                          <a:latin typeface="Times New Roman" panose="02020603050405020304" pitchFamily="18" charset="0"/>
                        </a:rPr>
                        <a:t>trị</a:t>
                      </a:r>
                      <a:endParaRPr kumimoji="0" lang="en-US" altLang="en-US" sz="1800" b="0" i="0" u="none" strike="noStrike" cap="none" normalizeH="0" baseline="0" dirty="0">
                        <a:ln>
                          <a:noFill/>
                        </a:ln>
                        <a:solidFill>
                          <a:schemeClr val="tx1"/>
                        </a:solidFill>
                        <a:effectLst/>
                        <a:latin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rPr>
                        <a:t>P</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476887229"/>
                  </a:ext>
                </a:extLst>
              </a:tr>
              <a:tr h="390525">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en-US" sz="1800" b="1" i="1" u="none" strike="noStrike" cap="none" normalizeH="0" baseline="0">
                          <a:ln>
                            <a:noFill/>
                          </a:ln>
                          <a:solidFill>
                            <a:schemeClr val="tx1"/>
                          </a:solidFill>
                          <a:effectLst/>
                          <a:latin typeface="Times New Roman" panose="02020603050405020304" pitchFamily="18" charset="0"/>
                        </a:rPr>
                        <a:t>543</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w="12700" cap="flat" cmpd="sng" algn="ctr">
                      <a:solidFill>
                        <a:schemeClr val="tx1"/>
                      </a:solidFill>
                      <a:prstDash val="solid"/>
                      <a:round/>
                      <a:headEnd type="none" w="med" len="med"/>
                      <a:tailEnd type="none" w="med" len="med"/>
                    </a:lnBlToTr>
                    <a:noFill/>
                  </a:tcPr>
                </a:tc>
                <a:extLst>
                  <a:ext uri="{0D108BD9-81ED-4DB2-BD59-A6C34878D82A}">
                    <a16:rowId xmlns:a16="http://schemas.microsoft.com/office/drawing/2014/main" val="3171144404"/>
                  </a:ext>
                </a:extLst>
              </a:tr>
              <a:tr h="390525">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en-US" sz="1800" b="1" i="1" u="none" strike="noStrike" cap="none" normalizeH="0" baseline="0">
                          <a:ln>
                            <a:noFill/>
                          </a:ln>
                          <a:solidFill>
                            <a:schemeClr val="tx1"/>
                          </a:solidFill>
                          <a:effectLst/>
                          <a:latin typeface="Times New Roman" panose="02020603050405020304" pitchFamily="18" charset="0"/>
                        </a:rPr>
                        <a:t>678</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w="12700" cap="flat" cmpd="sng" algn="ctr">
                      <a:solidFill>
                        <a:schemeClr val="tx1"/>
                      </a:solidFill>
                      <a:prstDash val="solid"/>
                      <a:round/>
                      <a:headEnd type="none" w="med" len="med"/>
                      <a:tailEnd type="none" w="med" len="med"/>
                    </a:lnBlToTr>
                    <a:noFill/>
                  </a:tcPr>
                </a:tc>
                <a:extLst>
                  <a:ext uri="{0D108BD9-81ED-4DB2-BD59-A6C34878D82A}">
                    <a16:rowId xmlns:a16="http://schemas.microsoft.com/office/drawing/2014/main" val="3932440243"/>
                  </a:ext>
                </a:extLst>
              </a:tr>
              <a:tr h="412750">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7801947"/>
                  </a:ext>
                </a:extLst>
              </a:tr>
              <a:tr h="390525">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rPr>
                        <a:t>234</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w="12700" cap="flat" cmpd="sng" algn="ctr">
                      <a:solidFill>
                        <a:schemeClr val="tx1"/>
                      </a:solidFill>
                      <a:prstDash val="solid"/>
                      <a:round/>
                      <a:headEnd type="none" w="med" len="med"/>
                      <a:tailEnd type="none" w="med" len="med"/>
                    </a:lnBlToTr>
                    <a:noFill/>
                  </a:tcPr>
                </a:tc>
                <a:extLst>
                  <a:ext uri="{0D108BD9-81ED-4DB2-BD59-A6C34878D82A}">
                    <a16:rowId xmlns:a16="http://schemas.microsoft.com/office/drawing/2014/main" val="3377108671"/>
                  </a:ext>
                </a:extLst>
              </a:tr>
              <a:tr h="390525">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rPr>
                        <a:t>123</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26050809"/>
                  </a:ext>
                </a:extLst>
              </a:tr>
              <a:tr h="390525">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rPr>
                        <a:t>432</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w="12700" cap="flat" cmpd="sng" algn="ctr">
                      <a:solidFill>
                        <a:schemeClr val="tx1"/>
                      </a:solidFill>
                      <a:prstDash val="solid"/>
                      <a:round/>
                      <a:headEnd type="none" w="med" len="med"/>
                      <a:tailEnd type="none" w="med" len="med"/>
                    </a:lnBlToTr>
                    <a:noFill/>
                  </a:tcPr>
                </a:tc>
                <a:extLst>
                  <a:ext uri="{0D108BD9-81ED-4DB2-BD59-A6C34878D82A}">
                    <a16:rowId xmlns:a16="http://schemas.microsoft.com/office/drawing/2014/main" val="3735100812"/>
                  </a:ext>
                </a:extLst>
              </a:tr>
              <a:tr h="390525">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rPr>
                        <a:t>321</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20271051"/>
                  </a:ext>
                </a:extLst>
              </a:tr>
            </a:tbl>
          </a:graphicData>
        </a:graphic>
      </p:graphicFrame>
      <p:sp>
        <p:nvSpPr>
          <p:cNvPr id="7" name="Line 78">
            <a:extLst>
              <a:ext uri="{FF2B5EF4-FFF2-40B4-BE49-F238E27FC236}">
                <a16:creationId xmlns:a16="http://schemas.microsoft.com/office/drawing/2014/main" id="{9CA2CA57-494D-46DD-A12F-C3E287140DA7}"/>
              </a:ext>
            </a:extLst>
          </p:cNvPr>
          <p:cNvSpPr>
            <a:spLocks noChangeShapeType="1"/>
          </p:cNvSpPr>
          <p:nvPr/>
        </p:nvSpPr>
        <p:spPr bwMode="auto">
          <a:xfrm>
            <a:off x="4806950" y="5006975"/>
            <a:ext cx="381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 name="Line 79">
            <a:extLst>
              <a:ext uri="{FF2B5EF4-FFF2-40B4-BE49-F238E27FC236}">
                <a16:creationId xmlns:a16="http://schemas.microsoft.com/office/drawing/2014/main" id="{4005B0F4-33E8-4C54-9852-3994134972A5}"/>
              </a:ext>
            </a:extLst>
          </p:cNvPr>
          <p:cNvSpPr>
            <a:spLocks noChangeShapeType="1"/>
          </p:cNvSpPr>
          <p:nvPr/>
        </p:nvSpPr>
        <p:spPr bwMode="auto">
          <a:xfrm>
            <a:off x="4806950" y="5768975"/>
            <a:ext cx="53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aphicFrame>
        <p:nvGraphicFramePr>
          <p:cNvPr id="9" name="Group 80">
            <a:extLst>
              <a:ext uri="{FF2B5EF4-FFF2-40B4-BE49-F238E27FC236}">
                <a16:creationId xmlns:a16="http://schemas.microsoft.com/office/drawing/2014/main" id="{31BFDA7B-C462-4A18-8E37-7FE156B07552}"/>
              </a:ext>
            </a:extLst>
          </p:cNvPr>
          <p:cNvGraphicFramePr>
            <a:graphicFrameLocks noGrp="1"/>
          </p:cNvGraphicFramePr>
          <p:nvPr>
            <p:extLst/>
          </p:nvPr>
        </p:nvGraphicFramePr>
        <p:xfrm>
          <a:off x="1676400" y="2895600"/>
          <a:ext cx="381000" cy="3124200"/>
        </p:xfrm>
        <a:graphic>
          <a:graphicData uri="http://schemas.openxmlformats.org/drawingml/2006/table">
            <a:tbl>
              <a:tblPr/>
              <a:tblGrid>
                <a:gridCol w="381000">
                  <a:extLst>
                    <a:ext uri="{9D8B030D-6E8A-4147-A177-3AD203B41FA5}">
                      <a16:colId xmlns:a16="http://schemas.microsoft.com/office/drawing/2014/main" val="1401762757"/>
                    </a:ext>
                  </a:extLst>
                </a:gridCol>
              </a:tblGrid>
              <a:tr h="390525">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rPr>
                        <a:t>A</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26476389"/>
                  </a:ext>
                </a:extLst>
              </a:tr>
              <a:tr h="390525">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rPr>
                        <a:t>0</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386499268"/>
                  </a:ext>
                </a:extLst>
              </a:tr>
              <a:tr h="390525">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rPr>
                        <a:t>1</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91482490"/>
                  </a:ext>
                </a:extLst>
              </a:tr>
              <a:tr h="390525">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rPr>
                        <a:t>2</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16824985"/>
                  </a:ext>
                </a:extLst>
              </a:tr>
              <a:tr h="390525">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rPr>
                        <a:t>3</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80863386"/>
                  </a:ext>
                </a:extLst>
              </a:tr>
              <a:tr h="390525">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rPr>
                        <a:t>4</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65002239"/>
                  </a:ext>
                </a:extLst>
              </a:tr>
              <a:tr h="390525">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rPr>
                        <a:t>5</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54599275"/>
                  </a:ext>
                </a:extLst>
              </a:tr>
              <a:tr h="390525">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rPr>
                        <a:t>6</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65185676"/>
                  </a:ext>
                </a:extLst>
              </a:tr>
            </a:tbl>
          </a:graphicData>
        </a:graphic>
      </p:graphicFrame>
      <p:sp>
        <p:nvSpPr>
          <p:cNvPr id="10" name="Line 100">
            <a:extLst>
              <a:ext uri="{FF2B5EF4-FFF2-40B4-BE49-F238E27FC236}">
                <a16:creationId xmlns:a16="http://schemas.microsoft.com/office/drawing/2014/main" id="{31549611-589D-4FA6-90C1-B67FB08663C6}"/>
              </a:ext>
            </a:extLst>
          </p:cNvPr>
          <p:cNvSpPr>
            <a:spLocks noChangeShapeType="1"/>
          </p:cNvSpPr>
          <p:nvPr/>
        </p:nvSpPr>
        <p:spPr bwMode="auto">
          <a:xfrm flipV="1">
            <a:off x="5187950" y="3406775"/>
            <a:ext cx="0" cy="1600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 name="Line 101">
            <a:extLst>
              <a:ext uri="{FF2B5EF4-FFF2-40B4-BE49-F238E27FC236}">
                <a16:creationId xmlns:a16="http://schemas.microsoft.com/office/drawing/2014/main" id="{7AC3D6EF-2CD8-47AF-A3BE-80A0B4078DB4}"/>
              </a:ext>
            </a:extLst>
          </p:cNvPr>
          <p:cNvSpPr>
            <a:spLocks noChangeShapeType="1"/>
          </p:cNvSpPr>
          <p:nvPr/>
        </p:nvSpPr>
        <p:spPr bwMode="auto">
          <a:xfrm flipH="1">
            <a:off x="4959350" y="3406775"/>
            <a:ext cx="228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 name="Line 102">
            <a:extLst>
              <a:ext uri="{FF2B5EF4-FFF2-40B4-BE49-F238E27FC236}">
                <a16:creationId xmlns:a16="http://schemas.microsoft.com/office/drawing/2014/main" id="{F2A44CE0-0BED-40A8-A1CF-A3740993DAFE}"/>
              </a:ext>
            </a:extLst>
          </p:cNvPr>
          <p:cNvSpPr>
            <a:spLocks noChangeShapeType="1"/>
          </p:cNvSpPr>
          <p:nvPr/>
        </p:nvSpPr>
        <p:spPr bwMode="auto">
          <a:xfrm flipV="1">
            <a:off x="5340350" y="3787775"/>
            <a:ext cx="0" cy="1981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 name="Line 103">
            <a:extLst>
              <a:ext uri="{FF2B5EF4-FFF2-40B4-BE49-F238E27FC236}">
                <a16:creationId xmlns:a16="http://schemas.microsoft.com/office/drawing/2014/main" id="{33C60039-5B54-4522-84FB-9381473AD162}"/>
              </a:ext>
            </a:extLst>
          </p:cNvPr>
          <p:cNvSpPr>
            <a:spLocks noChangeShapeType="1"/>
          </p:cNvSpPr>
          <p:nvPr/>
        </p:nvSpPr>
        <p:spPr bwMode="auto">
          <a:xfrm flipH="1">
            <a:off x="4959350" y="3787775"/>
            <a:ext cx="3810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aphicFrame>
        <p:nvGraphicFramePr>
          <p:cNvPr id="14" name="Group 217">
            <a:extLst>
              <a:ext uri="{FF2B5EF4-FFF2-40B4-BE49-F238E27FC236}">
                <a16:creationId xmlns:a16="http://schemas.microsoft.com/office/drawing/2014/main" id="{DE224D82-469F-41A0-A378-EEFAE18556D3}"/>
              </a:ext>
            </a:extLst>
          </p:cNvPr>
          <p:cNvGraphicFramePr>
            <a:graphicFrameLocks noGrp="1"/>
          </p:cNvGraphicFramePr>
          <p:nvPr>
            <p:extLst/>
          </p:nvPr>
        </p:nvGraphicFramePr>
        <p:xfrm>
          <a:off x="2286000" y="2895600"/>
          <a:ext cx="1219200" cy="3146425"/>
        </p:xfrm>
        <a:graphic>
          <a:graphicData uri="http://schemas.openxmlformats.org/drawingml/2006/table">
            <a:tbl>
              <a:tblPr/>
              <a:tblGrid>
                <a:gridCol w="898525">
                  <a:extLst>
                    <a:ext uri="{9D8B030D-6E8A-4147-A177-3AD203B41FA5}">
                      <a16:colId xmlns:a16="http://schemas.microsoft.com/office/drawing/2014/main" val="2895710372"/>
                    </a:ext>
                  </a:extLst>
                </a:gridCol>
                <a:gridCol w="320675">
                  <a:extLst>
                    <a:ext uri="{9D8B030D-6E8A-4147-A177-3AD203B41FA5}">
                      <a16:colId xmlns:a16="http://schemas.microsoft.com/office/drawing/2014/main" val="2021759635"/>
                    </a:ext>
                  </a:extLst>
                </a:gridCol>
              </a:tblGrid>
              <a:tr h="390525">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rPr>
                        <a:t>Giá trị</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rPr>
                        <a:t>P</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14530819"/>
                  </a:ext>
                </a:extLst>
              </a:tr>
              <a:tr h="390525">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US" altLang="en-US" sz="1800" b="1" i="1" u="none" strike="noStrike" cap="none" normalizeH="0" baseline="0">
                        <a:ln>
                          <a:noFill/>
                        </a:ln>
                        <a:solidFill>
                          <a:schemeClr val="tx1"/>
                        </a:solidFill>
                        <a:effectLst/>
                        <a:latin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39569370"/>
                  </a:ext>
                </a:extLst>
              </a:tr>
              <a:tr h="390525">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US" altLang="en-US" sz="1800" b="1" i="1" u="none" strike="noStrike" cap="none" normalizeH="0" baseline="0" dirty="0">
                        <a:ln>
                          <a:noFill/>
                        </a:ln>
                        <a:solidFill>
                          <a:schemeClr val="tx1"/>
                        </a:solidFill>
                        <a:effectLst/>
                        <a:latin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8051556"/>
                  </a:ext>
                </a:extLst>
              </a:tr>
              <a:tr h="412750">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80223913"/>
                  </a:ext>
                </a:extLst>
              </a:tr>
              <a:tr h="390525">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rPr>
                        <a:t>234</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w="12700" cap="flat" cmpd="sng" algn="ctr">
                      <a:solidFill>
                        <a:schemeClr val="tx1"/>
                      </a:solidFill>
                      <a:prstDash val="solid"/>
                      <a:round/>
                      <a:headEnd type="none" w="med" len="med"/>
                      <a:tailEnd type="none" w="med" len="med"/>
                    </a:lnBlToTr>
                    <a:noFill/>
                  </a:tcPr>
                </a:tc>
                <a:extLst>
                  <a:ext uri="{0D108BD9-81ED-4DB2-BD59-A6C34878D82A}">
                    <a16:rowId xmlns:a16="http://schemas.microsoft.com/office/drawing/2014/main" val="2655882496"/>
                  </a:ext>
                </a:extLst>
              </a:tr>
              <a:tr h="390525">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rPr>
                        <a:t>123</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w="12700" cap="flat" cmpd="sng" algn="ctr">
                      <a:solidFill>
                        <a:schemeClr val="tx1"/>
                      </a:solidFill>
                      <a:prstDash val="solid"/>
                      <a:round/>
                      <a:headEnd type="none" w="med" len="med"/>
                      <a:tailEnd type="none" w="med" len="med"/>
                    </a:lnBlToTr>
                    <a:noFill/>
                  </a:tcPr>
                </a:tc>
                <a:extLst>
                  <a:ext uri="{0D108BD9-81ED-4DB2-BD59-A6C34878D82A}">
                    <a16:rowId xmlns:a16="http://schemas.microsoft.com/office/drawing/2014/main" val="1559754275"/>
                  </a:ext>
                </a:extLst>
              </a:tr>
              <a:tr h="390525">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rPr>
                        <a:t>432</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w="12700" cap="flat" cmpd="sng" algn="ctr">
                      <a:solidFill>
                        <a:schemeClr val="tx1"/>
                      </a:solidFill>
                      <a:prstDash val="solid"/>
                      <a:round/>
                      <a:headEnd type="none" w="med" len="med"/>
                      <a:tailEnd type="none" w="med" len="med"/>
                    </a:lnBlToTr>
                    <a:noFill/>
                  </a:tcPr>
                </a:tc>
                <a:extLst>
                  <a:ext uri="{0D108BD9-81ED-4DB2-BD59-A6C34878D82A}">
                    <a16:rowId xmlns:a16="http://schemas.microsoft.com/office/drawing/2014/main" val="1709839486"/>
                  </a:ext>
                </a:extLst>
              </a:tr>
              <a:tr h="390525">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rPr>
                        <a:t>321</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w="12700" cap="flat" cmpd="sng" algn="ctr">
                      <a:solidFill>
                        <a:schemeClr val="tx1"/>
                      </a:solidFill>
                      <a:prstDash val="solid"/>
                      <a:round/>
                      <a:headEnd type="none" w="med" len="med"/>
                      <a:tailEnd type="none" w="med" len="med"/>
                    </a:lnBlToTr>
                    <a:noFill/>
                  </a:tcPr>
                </a:tc>
                <a:extLst>
                  <a:ext uri="{0D108BD9-81ED-4DB2-BD59-A6C34878D82A}">
                    <a16:rowId xmlns:a16="http://schemas.microsoft.com/office/drawing/2014/main" val="721619725"/>
                  </a:ext>
                </a:extLst>
              </a:tr>
            </a:tbl>
          </a:graphicData>
        </a:graphic>
      </p:graphicFrame>
      <p:graphicFrame>
        <p:nvGraphicFramePr>
          <p:cNvPr id="15" name="Group 230">
            <a:extLst>
              <a:ext uri="{FF2B5EF4-FFF2-40B4-BE49-F238E27FC236}">
                <a16:creationId xmlns:a16="http://schemas.microsoft.com/office/drawing/2014/main" id="{ADE5D9A7-B251-47FA-8704-A1EE4C027222}"/>
              </a:ext>
            </a:extLst>
          </p:cNvPr>
          <p:cNvGraphicFramePr>
            <a:graphicFrameLocks noGrp="1"/>
          </p:cNvGraphicFramePr>
          <p:nvPr>
            <p:extLst/>
          </p:nvPr>
        </p:nvGraphicFramePr>
        <p:xfrm>
          <a:off x="5486400" y="2873375"/>
          <a:ext cx="1219200" cy="3146425"/>
        </p:xfrm>
        <a:graphic>
          <a:graphicData uri="http://schemas.openxmlformats.org/drawingml/2006/table">
            <a:tbl>
              <a:tblPr/>
              <a:tblGrid>
                <a:gridCol w="898525">
                  <a:extLst>
                    <a:ext uri="{9D8B030D-6E8A-4147-A177-3AD203B41FA5}">
                      <a16:colId xmlns:a16="http://schemas.microsoft.com/office/drawing/2014/main" val="4139325825"/>
                    </a:ext>
                  </a:extLst>
                </a:gridCol>
                <a:gridCol w="320675">
                  <a:extLst>
                    <a:ext uri="{9D8B030D-6E8A-4147-A177-3AD203B41FA5}">
                      <a16:colId xmlns:a16="http://schemas.microsoft.com/office/drawing/2014/main" val="2019397223"/>
                    </a:ext>
                  </a:extLst>
                </a:gridCol>
              </a:tblGrid>
              <a:tr h="390525">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rPr>
                        <a:t>Giá trị</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rPr>
                        <a:t>P</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05342539"/>
                  </a:ext>
                </a:extLst>
              </a:tr>
              <a:tr h="390525">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en-US" sz="1800" b="1" i="1" u="none" strike="noStrike" cap="none" normalizeH="0" baseline="0">
                          <a:ln>
                            <a:noFill/>
                          </a:ln>
                          <a:solidFill>
                            <a:schemeClr val="tx1"/>
                          </a:solidFill>
                          <a:effectLst/>
                          <a:latin typeface="Times New Roman" panose="02020603050405020304" pitchFamily="18" charset="0"/>
                        </a:rPr>
                        <a:t>543</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w="12700" cap="flat" cmpd="sng" algn="ctr">
                      <a:solidFill>
                        <a:schemeClr val="tx1"/>
                      </a:solidFill>
                      <a:prstDash val="solid"/>
                      <a:round/>
                      <a:headEnd type="none" w="med" len="med"/>
                      <a:tailEnd type="none" w="med" len="med"/>
                    </a:lnBlToTr>
                    <a:noFill/>
                  </a:tcPr>
                </a:tc>
                <a:extLst>
                  <a:ext uri="{0D108BD9-81ED-4DB2-BD59-A6C34878D82A}">
                    <a16:rowId xmlns:a16="http://schemas.microsoft.com/office/drawing/2014/main" val="125351326"/>
                  </a:ext>
                </a:extLst>
              </a:tr>
              <a:tr h="390525">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US" altLang="en-US" sz="1800" b="1" i="0" u="none" strike="noStrike" cap="none" normalizeH="0" baseline="0">
                        <a:ln>
                          <a:noFill/>
                        </a:ln>
                        <a:solidFill>
                          <a:schemeClr val="tx1"/>
                        </a:solidFill>
                        <a:effectLst/>
                        <a:latin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434889675"/>
                  </a:ext>
                </a:extLst>
              </a:tr>
              <a:tr h="412750">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en-US" sz="1800" b="1" i="1" u="none" strike="noStrike" cap="none" normalizeH="0" baseline="0">
                          <a:ln>
                            <a:noFill/>
                          </a:ln>
                          <a:solidFill>
                            <a:schemeClr val="tx1"/>
                          </a:solidFill>
                          <a:effectLst/>
                          <a:latin typeface="Times New Roman" panose="02020603050405020304" pitchFamily="18" charset="0"/>
                        </a:rPr>
                        <a:t>678</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w="12700" cap="flat" cmpd="sng" algn="ctr">
                      <a:solidFill>
                        <a:schemeClr val="tx1"/>
                      </a:solidFill>
                      <a:prstDash val="solid"/>
                      <a:round/>
                      <a:headEnd type="none" w="med" len="med"/>
                      <a:tailEnd type="none" w="med" len="med"/>
                    </a:lnBlToTr>
                    <a:noFill/>
                  </a:tcPr>
                </a:tc>
                <a:extLst>
                  <a:ext uri="{0D108BD9-81ED-4DB2-BD59-A6C34878D82A}">
                    <a16:rowId xmlns:a16="http://schemas.microsoft.com/office/drawing/2014/main" val="1636048050"/>
                  </a:ext>
                </a:extLst>
              </a:tr>
              <a:tr h="390525">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rPr>
                        <a:t>234</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w="12700" cap="flat" cmpd="sng" algn="ctr">
                      <a:solidFill>
                        <a:schemeClr val="tx1"/>
                      </a:solidFill>
                      <a:prstDash val="solid"/>
                      <a:round/>
                      <a:headEnd type="none" w="med" len="med"/>
                      <a:tailEnd type="none" w="med" len="med"/>
                    </a:lnBlToTr>
                    <a:noFill/>
                  </a:tcPr>
                </a:tc>
                <a:extLst>
                  <a:ext uri="{0D108BD9-81ED-4DB2-BD59-A6C34878D82A}">
                    <a16:rowId xmlns:a16="http://schemas.microsoft.com/office/drawing/2014/main" val="1000351488"/>
                  </a:ext>
                </a:extLst>
              </a:tr>
              <a:tr h="390525">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rPr>
                        <a:t>123</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82874909"/>
                  </a:ext>
                </a:extLst>
              </a:tr>
              <a:tr h="390525">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rPr>
                        <a:t>432</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w="12700" cap="flat" cmpd="sng" algn="ctr">
                      <a:solidFill>
                        <a:schemeClr val="tx1"/>
                      </a:solidFill>
                      <a:prstDash val="solid"/>
                      <a:round/>
                      <a:headEnd type="none" w="med" len="med"/>
                      <a:tailEnd type="none" w="med" len="med"/>
                    </a:lnBlToTr>
                    <a:noFill/>
                  </a:tcPr>
                </a:tc>
                <a:extLst>
                  <a:ext uri="{0D108BD9-81ED-4DB2-BD59-A6C34878D82A}">
                    <a16:rowId xmlns:a16="http://schemas.microsoft.com/office/drawing/2014/main" val="4207650257"/>
                  </a:ext>
                </a:extLst>
              </a:tr>
              <a:tr h="390525">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rPr>
                        <a:t>321</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99454290"/>
                  </a:ext>
                </a:extLst>
              </a:tr>
            </a:tbl>
          </a:graphicData>
        </a:graphic>
      </p:graphicFrame>
      <p:sp>
        <p:nvSpPr>
          <p:cNvPr id="16" name="Line 209">
            <a:extLst>
              <a:ext uri="{FF2B5EF4-FFF2-40B4-BE49-F238E27FC236}">
                <a16:creationId xmlns:a16="http://schemas.microsoft.com/office/drawing/2014/main" id="{EF740543-C1F1-4030-AC05-7AC0B967E263}"/>
              </a:ext>
            </a:extLst>
          </p:cNvPr>
          <p:cNvSpPr>
            <a:spLocks noChangeShapeType="1"/>
          </p:cNvSpPr>
          <p:nvPr/>
        </p:nvSpPr>
        <p:spPr bwMode="auto">
          <a:xfrm>
            <a:off x="6553200" y="5006975"/>
            <a:ext cx="381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 name="Line 210">
            <a:extLst>
              <a:ext uri="{FF2B5EF4-FFF2-40B4-BE49-F238E27FC236}">
                <a16:creationId xmlns:a16="http://schemas.microsoft.com/office/drawing/2014/main" id="{16D206A1-08BE-471A-A5E0-E3445407AEFA}"/>
              </a:ext>
            </a:extLst>
          </p:cNvPr>
          <p:cNvSpPr>
            <a:spLocks noChangeShapeType="1"/>
          </p:cNvSpPr>
          <p:nvPr/>
        </p:nvSpPr>
        <p:spPr bwMode="auto">
          <a:xfrm>
            <a:off x="6553200" y="5768975"/>
            <a:ext cx="53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Line 211">
            <a:extLst>
              <a:ext uri="{FF2B5EF4-FFF2-40B4-BE49-F238E27FC236}">
                <a16:creationId xmlns:a16="http://schemas.microsoft.com/office/drawing/2014/main" id="{614827A7-D964-4CFE-B41C-862D5E535057}"/>
              </a:ext>
            </a:extLst>
          </p:cNvPr>
          <p:cNvSpPr>
            <a:spLocks noChangeShapeType="1"/>
          </p:cNvSpPr>
          <p:nvPr/>
        </p:nvSpPr>
        <p:spPr bwMode="auto">
          <a:xfrm flipV="1">
            <a:off x="6934200" y="3406775"/>
            <a:ext cx="0" cy="1600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 name="Line 212">
            <a:extLst>
              <a:ext uri="{FF2B5EF4-FFF2-40B4-BE49-F238E27FC236}">
                <a16:creationId xmlns:a16="http://schemas.microsoft.com/office/drawing/2014/main" id="{EAFFBDD4-C356-45EC-A996-85E7B72D9084}"/>
              </a:ext>
            </a:extLst>
          </p:cNvPr>
          <p:cNvSpPr>
            <a:spLocks noChangeShapeType="1"/>
          </p:cNvSpPr>
          <p:nvPr/>
        </p:nvSpPr>
        <p:spPr bwMode="auto">
          <a:xfrm flipH="1">
            <a:off x="6705600" y="3406775"/>
            <a:ext cx="228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Line 213">
            <a:extLst>
              <a:ext uri="{FF2B5EF4-FFF2-40B4-BE49-F238E27FC236}">
                <a16:creationId xmlns:a16="http://schemas.microsoft.com/office/drawing/2014/main" id="{DB265047-E6C1-403F-AC25-AD5554568249}"/>
              </a:ext>
            </a:extLst>
          </p:cNvPr>
          <p:cNvSpPr>
            <a:spLocks noChangeShapeType="1"/>
          </p:cNvSpPr>
          <p:nvPr/>
        </p:nvSpPr>
        <p:spPr bwMode="auto">
          <a:xfrm flipV="1">
            <a:off x="7086600" y="4267200"/>
            <a:ext cx="0" cy="15017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Line 214">
            <a:extLst>
              <a:ext uri="{FF2B5EF4-FFF2-40B4-BE49-F238E27FC236}">
                <a16:creationId xmlns:a16="http://schemas.microsoft.com/office/drawing/2014/main" id="{D4660584-F96B-445F-8754-5EC35599A6EC}"/>
              </a:ext>
            </a:extLst>
          </p:cNvPr>
          <p:cNvSpPr>
            <a:spLocks noChangeShapeType="1"/>
          </p:cNvSpPr>
          <p:nvPr/>
        </p:nvSpPr>
        <p:spPr bwMode="auto">
          <a:xfrm flipH="1">
            <a:off x="6705600" y="4267200"/>
            <a:ext cx="3810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 name="Line 228">
            <a:extLst>
              <a:ext uri="{FF2B5EF4-FFF2-40B4-BE49-F238E27FC236}">
                <a16:creationId xmlns:a16="http://schemas.microsoft.com/office/drawing/2014/main" id="{8C276626-5A55-4209-A9DB-80964D96C0B1}"/>
              </a:ext>
            </a:extLst>
          </p:cNvPr>
          <p:cNvSpPr>
            <a:spLocks noChangeShapeType="1"/>
          </p:cNvSpPr>
          <p:nvPr/>
        </p:nvSpPr>
        <p:spPr bwMode="auto">
          <a:xfrm>
            <a:off x="7086600" y="3810000"/>
            <a:ext cx="0" cy="304800"/>
          </a:xfrm>
          <a:prstGeom prst="line">
            <a:avLst/>
          </a:prstGeom>
          <a:noFill/>
          <a:ln w="12700" cap="rnd">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aphicFrame>
        <p:nvGraphicFramePr>
          <p:cNvPr id="23" name="Group 231">
            <a:extLst>
              <a:ext uri="{FF2B5EF4-FFF2-40B4-BE49-F238E27FC236}">
                <a16:creationId xmlns:a16="http://schemas.microsoft.com/office/drawing/2014/main" id="{CD1E57B8-3BF3-4519-BAB9-6E2BD3ECCA9F}"/>
              </a:ext>
            </a:extLst>
          </p:cNvPr>
          <p:cNvGraphicFramePr>
            <a:graphicFrameLocks noGrp="1"/>
          </p:cNvGraphicFramePr>
          <p:nvPr>
            <p:extLst/>
          </p:nvPr>
        </p:nvGraphicFramePr>
        <p:xfrm>
          <a:off x="7239000" y="2873375"/>
          <a:ext cx="1219200" cy="3146425"/>
        </p:xfrm>
        <a:graphic>
          <a:graphicData uri="http://schemas.openxmlformats.org/drawingml/2006/table">
            <a:tbl>
              <a:tblPr/>
              <a:tblGrid>
                <a:gridCol w="898525">
                  <a:extLst>
                    <a:ext uri="{9D8B030D-6E8A-4147-A177-3AD203B41FA5}">
                      <a16:colId xmlns:a16="http://schemas.microsoft.com/office/drawing/2014/main" val="3578944529"/>
                    </a:ext>
                  </a:extLst>
                </a:gridCol>
                <a:gridCol w="320675">
                  <a:extLst>
                    <a:ext uri="{9D8B030D-6E8A-4147-A177-3AD203B41FA5}">
                      <a16:colId xmlns:a16="http://schemas.microsoft.com/office/drawing/2014/main" val="432956853"/>
                    </a:ext>
                  </a:extLst>
                </a:gridCol>
              </a:tblGrid>
              <a:tr h="390525">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rPr>
                        <a:t>Giá trị</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rPr>
                        <a:t>P</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45672288"/>
                  </a:ext>
                </a:extLst>
              </a:tr>
              <a:tr h="390525">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en-US" sz="1800" b="1" i="1" u="none" strike="noStrike" cap="none" normalizeH="0" baseline="0">
                          <a:ln>
                            <a:noFill/>
                          </a:ln>
                          <a:solidFill>
                            <a:schemeClr val="tx1"/>
                          </a:solidFill>
                          <a:effectLst/>
                          <a:latin typeface="Times New Roman" panose="02020603050405020304" pitchFamily="18" charset="0"/>
                        </a:rPr>
                        <a:t>543</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w="12700" cap="flat" cmpd="sng" algn="ctr">
                      <a:solidFill>
                        <a:schemeClr val="tx1"/>
                      </a:solidFill>
                      <a:prstDash val="solid"/>
                      <a:round/>
                      <a:headEnd type="none" w="med" len="med"/>
                      <a:tailEnd type="none" w="med" len="med"/>
                    </a:lnBlToTr>
                    <a:noFill/>
                  </a:tcPr>
                </a:tc>
                <a:extLst>
                  <a:ext uri="{0D108BD9-81ED-4DB2-BD59-A6C34878D82A}">
                    <a16:rowId xmlns:a16="http://schemas.microsoft.com/office/drawing/2014/main" val="1650247429"/>
                  </a:ext>
                </a:extLst>
              </a:tr>
              <a:tr h="390525">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Times New Roman" panose="02020603050405020304" pitchFamily="18" charset="0"/>
                        </a:rPr>
                        <a:t>890</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02882875"/>
                  </a:ext>
                </a:extLst>
              </a:tr>
              <a:tr h="412750">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en-US" sz="1800" b="1" i="1" u="none" strike="noStrike" cap="none" normalizeH="0" baseline="0">
                          <a:ln>
                            <a:noFill/>
                          </a:ln>
                          <a:solidFill>
                            <a:schemeClr val="tx1"/>
                          </a:solidFill>
                          <a:effectLst/>
                          <a:latin typeface="Times New Roman" panose="02020603050405020304" pitchFamily="18" charset="0"/>
                        </a:rPr>
                        <a:t>678</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w="12700" cap="flat" cmpd="sng" algn="ctr">
                      <a:solidFill>
                        <a:schemeClr val="tx1"/>
                      </a:solidFill>
                      <a:prstDash val="solid"/>
                      <a:round/>
                      <a:headEnd type="none" w="med" len="med"/>
                      <a:tailEnd type="none" w="med" len="med"/>
                    </a:lnBlToTr>
                    <a:noFill/>
                  </a:tcPr>
                </a:tc>
                <a:extLst>
                  <a:ext uri="{0D108BD9-81ED-4DB2-BD59-A6C34878D82A}">
                    <a16:rowId xmlns:a16="http://schemas.microsoft.com/office/drawing/2014/main" val="2218758857"/>
                  </a:ext>
                </a:extLst>
              </a:tr>
              <a:tr h="390525">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rPr>
                        <a:t>234</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w="12700" cap="flat" cmpd="sng" algn="ctr">
                      <a:solidFill>
                        <a:schemeClr val="tx1"/>
                      </a:solidFill>
                      <a:prstDash val="solid"/>
                      <a:round/>
                      <a:headEnd type="none" w="med" len="med"/>
                      <a:tailEnd type="none" w="med" len="med"/>
                    </a:lnBlToTr>
                    <a:noFill/>
                  </a:tcPr>
                </a:tc>
                <a:extLst>
                  <a:ext uri="{0D108BD9-81ED-4DB2-BD59-A6C34878D82A}">
                    <a16:rowId xmlns:a16="http://schemas.microsoft.com/office/drawing/2014/main" val="666736761"/>
                  </a:ext>
                </a:extLst>
              </a:tr>
              <a:tr h="390525">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rPr>
                        <a:t>123</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52932564"/>
                  </a:ext>
                </a:extLst>
              </a:tr>
              <a:tr h="390525">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rPr>
                        <a:t>432</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w="12700" cap="flat" cmpd="sng" algn="ctr">
                      <a:solidFill>
                        <a:schemeClr val="tx1"/>
                      </a:solidFill>
                      <a:prstDash val="solid"/>
                      <a:round/>
                      <a:headEnd type="none" w="med" len="med"/>
                      <a:tailEnd type="none" w="med" len="med"/>
                    </a:lnBlToTr>
                    <a:noFill/>
                  </a:tcPr>
                </a:tc>
                <a:extLst>
                  <a:ext uri="{0D108BD9-81ED-4DB2-BD59-A6C34878D82A}">
                    <a16:rowId xmlns:a16="http://schemas.microsoft.com/office/drawing/2014/main" val="1153543512"/>
                  </a:ext>
                </a:extLst>
              </a:tr>
              <a:tr h="390525">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rPr>
                        <a:t>321</a:t>
                      </a: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defRPr>
                      </a:lvl1pPr>
                      <a:lvl2pPr>
                        <a:spcBef>
                          <a:spcPct val="20000"/>
                        </a:spcBef>
                        <a:defRPr sz="2000">
                          <a:solidFill>
                            <a:schemeClr val="tx1"/>
                          </a:solidFill>
                          <a:latin typeface="Times New Roman" panose="02020603050405020304" pitchFamily="18" charset="0"/>
                        </a:defRPr>
                      </a:lvl2pPr>
                      <a:lvl3pPr>
                        <a:spcBef>
                          <a:spcPct val="20000"/>
                        </a:spcBef>
                        <a:defRPr>
                          <a:solidFill>
                            <a:schemeClr val="tx1"/>
                          </a:solidFill>
                          <a:latin typeface="Times New Roman" panose="02020603050405020304" pitchFamily="18" charset="0"/>
                        </a:defRPr>
                      </a:lvl3pPr>
                      <a:lvl4pPr>
                        <a:spcBef>
                          <a:spcPct val="20000"/>
                        </a:spcBef>
                        <a:defRPr sz="1600">
                          <a:solidFill>
                            <a:schemeClr val="tx1"/>
                          </a:solidFill>
                          <a:latin typeface="Times New Roman" panose="02020603050405020304" pitchFamily="18" charset="0"/>
                        </a:defRPr>
                      </a:lvl4pPr>
                      <a:lvl5pPr>
                        <a:spcBef>
                          <a:spcPct val="20000"/>
                        </a:spcBef>
                        <a:defRPr sz="1600">
                          <a:solidFill>
                            <a:schemeClr val="tx1"/>
                          </a:solidFill>
                          <a:latin typeface="Times New Roman" panose="02020603050405020304" pitchFamily="18" charset="0"/>
                        </a:defRPr>
                      </a:lvl5pPr>
                      <a:lvl6pPr fontAlgn="base">
                        <a:spcBef>
                          <a:spcPct val="20000"/>
                        </a:spcBef>
                        <a:spcAft>
                          <a:spcPct val="0"/>
                        </a:spcAft>
                        <a:defRPr sz="1600">
                          <a:solidFill>
                            <a:schemeClr val="tx1"/>
                          </a:solidFill>
                          <a:latin typeface="Times New Roman" panose="02020603050405020304" pitchFamily="18" charset="0"/>
                        </a:defRPr>
                      </a:lvl6pPr>
                      <a:lvl7pPr fontAlgn="base">
                        <a:spcBef>
                          <a:spcPct val="20000"/>
                        </a:spcBef>
                        <a:spcAft>
                          <a:spcPct val="0"/>
                        </a:spcAft>
                        <a:defRPr sz="1600">
                          <a:solidFill>
                            <a:schemeClr val="tx1"/>
                          </a:solidFill>
                          <a:latin typeface="Times New Roman" panose="02020603050405020304" pitchFamily="18" charset="0"/>
                        </a:defRPr>
                      </a:lvl7pPr>
                      <a:lvl8pPr fontAlgn="base">
                        <a:spcBef>
                          <a:spcPct val="20000"/>
                        </a:spcBef>
                        <a:spcAft>
                          <a:spcPct val="0"/>
                        </a:spcAft>
                        <a:defRPr sz="1600">
                          <a:solidFill>
                            <a:schemeClr val="tx1"/>
                          </a:solidFill>
                          <a:latin typeface="Times New Roman" panose="02020603050405020304" pitchFamily="18" charset="0"/>
                        </a:defRPr>
                      </a:lvl8pPr>
                      <a:lvl9pPr fontAlgn="base">
                        <a:spcBef>
                          <a:spcPct val="20000"/>
                        </a:spcBef>
                        <a:spcAft>
                          <a:spcPct val="0"/>
                        </a:spcAft>
                        <a:defRPr sz="1600">
                          <a:solidFill>
                            <a:schemeClr val="tx1"/>
                          </a:solidFill>
                          <a:latin typeface="Times New Roman" panose="02020603050405020304" pitchFamily="18" charset="0"/>
                        </a:defRPr>
                      </a:lvl9pPr>
                    </a:lstStyle>
                    <a:p>
                      <a:pPr marL="0" marR="0" lvl="0" indent="0" algn="r" defTabSz="914400" rtl="0" eaLnBrk="1" fontAlgn="b" latinLnBrk="0" hangingPunct="1">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Times New Roman" panose="02020603050405020304" pitchFamily="18" charset="0"/>
                      </a:endParaRPr>
                    </a:p>
                  </a:txBody>
                  <a:tcPr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14261654"/>
                  </a:ext>
                </a:extLst>
              </a:tr>
            </a:tbl>
          </a:graphicData>
        </a:graphic>
      </p:graphicFrame>
      <p:sp>
        <p:nvSpPr>
          <p:cNvPr id="24" name="Line 275">
            <a:extLst>
              <a:ext uri="{FF2B5EF4-FFF2-40B4-BE49-F238E27FC236}">
                <a16:creationId xmlns:a16="http://schemas.microsoft.com/office/drawing/2014/main" id="{81375A04-D278-4C7C-93DF-BDA17946C040}"/>
              </a:ext>
            </a:extLst>
          </p:cNvPr>
          <p:cNvSpPr>
            <a:spLocks noChangeShapeType="1"/>
          </p:cNvSpPr>
          <p:nvPr/>
        </p:nvSpPr>
        <p:spPr bwMode="auto">
          <a:xfrm>
            <a:off x="8305800" y="5006975"/>
            <a:ext cx="381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 name="Line 276">
            <a:extLst>
              <a:ext uri="{FF2B5EF4-FFF2-40B4-BE49-F238E27FC236}">
                <a16:creationId xmlns:a16="http://schemas.microsoft.com/office/drawing/2014/main" id="{C13E8FAA-C004-4072-86CC-A4FDCD1EE557}"/>
              </a:ext>
            </a:extLst>
          </p:cNvPr>
          <p:cNvSpPr>
            <a:spLocks noChangeShapeType="1"/>
          </p:cNvSpPr>
          <p:nvPr/>
        </p:nvSpPr>
        <p:spPr bwMode="auto">
          <a:xfrm>
            <a:off x="8305800" y="5768975"/>
            <a:ext cx="533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 name="Line 277">
            <a:extLst>
              <a:ext uri="{FF2B5EF4-FFF2-40B4-BE49-F238E27FC236}">
                <a16:creationId xmlns:a16="http://schemas.microsoft.com/office/drawing/2014/main" id="{8B7EFDDD-84F0-436A-A990-8F60A3FB4454}"/>
              </a:ext>
            </a:extLst>
          </p:cNvPr>
          <p:cNvSpPr>
            <a:spLocks noChangeShapeType="1"/>
          </p:cNvSpPr>
          <p:nvPr/>
        </p:nvSpPr>
        <p:spPr bwMode="auto">
          <a:xfrm flipV="1">
            <a:off x="8686800" y="3406775"/>
            <a:ext cx="0" cy="1600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 name="Line 278">
            <a:extLst>
              <a:ext uri="{FF2B5EF4-FFF2-40B4-BE49-F238E27FC236}">
                <a16:creationId xmlns:a16="http://schemas.microsoft.com/office/drawing/2014/main" id="{4F9A1B43-8F92-4CDA-A660-DEC054859D79}"/>
              </a:ext>
            </a:extLst>
          </p:cNvPr>
          <p:cNvSpPr>
            <a:spLocks noChangeShapeType="1"/>
          </p:cNvSpPr>
          <p:nvPr/>
        </p:nvSpPr>
        <p:spPr bwMode="auto">
          <a:xfrm flipH="1">
            <a:off x="8458200" y="3406775"/>
            <a:ext cx="228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 name="Line 279">
            <a:extLst>
              <a:ext uri="{FF2B5EF4-FFF2-40B4-BE49-F238E27FC236}">
                <a16:creationId xmlns:a16="http://schemas.microsoft.com/office/drawing/2014/main" id="{49BE5B90-6473-46C2-8AE7-FA32C33AD062}"/>
              </a:ext>
            </a:extLst>
          </p:cNvPr>
          <p:cNvSpPr>
            <a:spLocks noChangeShapeType="1"/>
          </p:cNvSpPr>
          <p:nvPr/>
        </p:nvSpPr>
        <p:spPr bwMode="auto">
          <a:xfrm flipV="1">
            <a:off x="8839200" y="4267200"/>
            <a:ext cx="0" cy="15017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 name="Line 280">
            <a:extLst>
              <a:ext uri="{FF2B5EF4-FFF2-40B4-BE49-F238E27FC236}">
                <a16:creationId xmlns:a16="http://schemas.microsoft.com/office/drawing/2014/main" id="{A3883A74-CEDA-4535-A1AC-30317199BB5B}"/>
              </a:ext>
            </a:extLst>
          </p:cNvPr>
          <p:cNvSpPr>
            <a:spLocks noChangeShapeType="1"/>
          </p:cNvSpPr>
          <p:nvPr/>
        </p:nvSpPr>
        <p:spPr bwMode="auto">
          <a:xfrm flipH="1">
            <a:off x="8458200" y="4267200"/>
            <a:ext cx="3810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1564425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763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7635">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2"/>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2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4"/>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6"/>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7"/>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8"/>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1" grpId="0" animBg="1"/>
      <p:bldP spid="12" grpId="0" animBg="1"/>
      <p:bldP spid="13" grpId="0" animBg="1"/>
      <p:bldP spid="16" grpId="0" animBg="1"/>
      <p:bldP spid="17" grpId="0" animBg="1"/>
      <p:bldP spid="18" grpId="0" animBg="1"/>
      <p:bldP spid="19" grpId="0" animBg="1"/>
      <p:bldP spid="20" grpId="0" animBg="1"/>
      <p:bldP spid="21" grpId="0" animBg="1"/>
      <p:bldP spid="22" grpId="0" animBg="1"/>
      <p:bldP spid="24" grpId="0" animBg="1"/>
      <p:bldP spid="25" grpId="0" animBg="1"/>
      <p:bldP spid="26" grpId="0" animBg="1"/>
      <p:bldP spid="27" grpId="0" animBg="1"/>
      <p:bldP spid="28" grpId="0" animBg="1"/>
      <p:bldP spid="29"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Slide Number Placeholder 4">
            <a:extLst>
              <a:ext uri="{FF2B5EF4-FFF2-40B4-BE49-F238E27FC236}">
                <a16:creationId xmlns:a16="http://schemas.microsoft.com/office/drawing/2014/main" id="{D4935323-7084-4741-9D6B-BE39CF1A61E4}"/>
              </a:ext>
            </a:extLst>
          </p:cNvPr>
          <p:cNvSpPr>
            <a:spLocks noGrp="1"/>
          </p:cNvSpPr>
          <p:nvPr>
            <p:ph type="sldNum" sz="quarter" idx="12"/>
          </p:nvPr>
        </p:nvSpPr>
        <p:spPr/>
        <p:txBody>
          <a:bodyPr/>
          <a:lstStyle/>
          <a:p>
            <a:fld id="{A5AD685E-C16D-4646-8865-F71843D36CCF}" type="slidenum">
              <a:rPr lang="en-US" altLang="en-US"/>
              <a:pPr/>
              <a:t>33</a:t>
            </a:fld>
            <a:endParaRPr lang="en-US" altLang="en-US"/>
          </a:p>
        </p:txBody>
      </p:sp>
      <p:sp>
        <p:nvSpPr>
          <p:cNvPr id="192514" name="Rectangle 2">
            <a:extLst>
              <a:ext uri="{FF2B5EF4-FFF2-40B4-BE49-F238E27FC236}">
                <a16:creationId xmlns:a16="http://schemas.microsoft.com/office/drawing/2014/main" id="{AC06000F-3231-4082-826F-C083FB9AA25E}"/>
              </a:ext>
            </a:extLst>
          </p:cNvPr>
          <p:cNvSpPr>
            <a:spLocks noGrp="1" noChangeArrowheads="1"/>
          </p:cNvSpPr>
          <p:nvPr>
            <p:ph type="title"/>
          </p:nvPr>
        </p:nvSpPr>
        <p:spPr/>
        <p:txBody>
          <a:bodyPr>
            <a:normAutofit/>
          </a:bodyPr>
          <a:lstStyle/>
          <a:p>
            <a:r>
              <a:rPr lang="en-US" altLang="en-US" sz="2400" dirty="0" err="1">
                <a:cs typeface="Times New Roman" panose="02020603050405020304" pitchFamily="18" charset="0"/>
              </a:rPr>
              <a:t>Các</a:t>
            </a:r>
            <a:r>
              <a:rPr lang="en-US" altLang="en-US" sz="2400" dirty="0">
                <a:cs typeface="Times New Roman" panose="02020603050405020304" pitchFamily="18" charset="0"/>
              </a:rPr>
              <a:t> </a:t>
            </a:r>
            <a:r>
              <a:rPr lang="en-US" altLang="en-US" sz="2400" dirty="0" err="1">
                <a:cs typeface="Times New Roman" panose="02020603050405020304" pitchFamily="18" charset="0"/>
              </a:rPr>
              <a:t>biện</a:t>
            </a:r>
            <a:r>
              <a:rPr lang="en-US" altLang="en-US" sz="2400" dirty="0">
                <a:cs typeface="Times New Roman" panose="02020603050405020304" pitchFamily="18" charset="0"/>
              </a:rPr>
              <a:t> </a:t>
            </a:r>
            <a:r>
              <a:rPr lang="en-US" altLang="en-US" sz="2400" dirty="0" err="1">
                <a:cs typeface="Times New Roman" panose="02020603050405020304" pitchFamily="18" charset="0"/>
              </a:rPr>
              <a:t>pháp</a:t>
            </a:r>
            <a:r>
              <a:rPr lang="en-US" altLang="en-US" sz="2400" dirty="0">
                <a:cs typeface="Times New Roman" panose="02020603050405020304" pitchFamily="18" charset="0"/>
              </a:rPr>
              <a:t> </a:t>
            </a:r>
            <a:r>
              <a:rPr lang="en-US" altLang="en-US" sz="2400" dirty="0" err="1">
                <a:cs typeface="Times New Roman" panose="02020603050405020304" pitchFamily="18" charset="0"/>
              </a:rPr>
              <a:t>khắc</a:t>
            </a:r>
            <a:r>
              <a:rPr lang="en-US" altLang="en-US" sz="2400" dirty="0">
                <a:cs typeface="Times New Roman" panose="02020603050405020304" pitchFamily="18" charset="0"/>
              </a:rPr>
              <a:t> </a:t>
            </a:r>
            <a:r>
              <a:rPr lang="en-US" altLang="en-US" sz="2400" dirty="0" err="1">
                <a:cs typeface="Times New Roman" panose="02020603050405020304" pitchFamily="18" charset="0"/>
              </a:rPr>
              <a:t>phục</a:t>
            </a:r>
            <a:r>
              <a:rPr lang="en-US" altLang="en-US" sz="2400" dirty="0">
                <a:cs typeface="Times New Roman" panose="02020603050405020304" pitchFamily="18" charset="0"/>
              </a:rPr>
              <a:t> </a:t>
            </a:r>
            <a:r>
              <a:rPr lang="en-US" altLang="en-US" sz="2400" dirty="0" err="1">
                <a:cs typeface="Times New Roman" panose="02020603050405020304" pitchFamily="18" charset="0"/>
              </a:rPr>
              <a:t>đụng</a:t>
            </a:r>
            <a:r>
              <a:rPr lang="en-US" altLang="en-US" sz="2400" dirty="0">
                <a:cs typeface="Times New Roman" panose="02020603050405020304" pitchFamily="18" charset="0"/>
              </a:rPr>
              <a:t> </a:t>
            </a:r>
            <a:r>
              <a:rPr lang="en-US" altLang="en-US" sz="2400" dirty="0" err="1">
                <a:cs typeface="Times New Roman" panose="02020603050405020304" pitchFamily="18" charset="0"/>
              </a:rPr>
              <a:t>độ</a:t>
            </a:r>
            <a:r>
              <a:rPr lang="en-US" altLang="en-US" sz="2400" dirty="0"/>
              <a:t> </a:t>
            </a:r>
          </a:p>
        </p:txBody>
      </p:sp>
      <p:sp>
        <p:nvSpPr>
          <p:cNvPr id="192515" name="Rectangle 3">
            <a:extLst>
              <a:ext uri="{FF2B5EF4-FFF2-40B4-BE49-F238E27FC236}">
                <a16:creationId xmlns:a16="http://schemas.microsoft.com/office/drawing/2014/main" id="{A011528C-8025-46F9-86CC-5A4730DB1986}"/>
              </a:ext>
            </a:extLst>
          </p:cNvPr>
          <p:cNvSpPr>
            <a:spLocks noGrp="1" noChangeArrowheads="1"/>
          </p:cNvSpPr>
          <p:nvPr>
            <p:ph type="body" sz="quarter" idx="13"/>
          </p:nvPr>
        </p:nvSpPr>
        <p:spPr>
          <a:xfrm>
            <a:off x="234951" y="963168"/>
            <a:ext cx="8674100" cy="5658612"/>
          </a:xfrm>
          <a:noFill/>
          <a:ln/>
        </p:spPr>
        <p:txBody>
          <a:bodyPr>
            <a:normAutofit/>
          </a:bodyPr>
          <a:lstStyle/>
          <a:p>
            <a:r>
              <a:rPr lang="en-US" altLang="en-US" sz="2400" dirty="0" err="1">
                <a:cs typeface="Times New Roman" panose="02020603050405020304" pitchFamily="18" charset="0"/>
              </a:rPr>
              <a:t>Biện</a:t>
            </a:r>
            <a:r>
              <a:rPr lang="en-US" altLang="en-US" sz="2400" dirty="0">
                <a:cs typeface="Times New Roman" panose="02020603050405020304" pitchFamily="18" charset="0"/>
              </a:rPr>
              <a:t> </a:t>
            </a:r>
            <a:r>
              <a:rPr lang="en-US" altLang="en-US" sz="2400" dirty="0" err="1">
                <a:cs typeface="Times New Roman" panose="02020603050405020304" pitchFamily="18" charset="0"/>
              </a:rPr>
              <a:t>pháp</a:t>
            </a:r>
            <a:r>
              <a:rPr lang="en-US" altLang="en-US" sz="2400" dirty="0">
                <a:cs typeface="Times New Roman" panose="02020603050405020304" pitchFamily="18" charset="0"/>
              </a:rPr>
              <a:t> </a:t>
            </a:r>
            <a:r>
              <a:rPr lang="en-US" altLang="en-US" sz="2400" dirty="0" err="1">
                <a:cs typeface="Times New Roman" panose="02020603050405020304" pitchFamily="18" charset="0"/>
              </a:rPr>
              <a:t>địa</a:t>
            </a:r>
            <a:r>
              <a:rPr lang="en-US" altLang="en-US" sz="2400" dirty="0">
                <a:cs typeface="Times New Roman" panose="02020603050405020304" pitchFamily="18" charset="0"/>
              </a:rPr>
              <a:t> </a:t>
            </a:r>
            <a:r>
              <a:rPr lang="en-US" altLang="en-US" sz="2400" dirty="0" err="1">
                <a:cs typeface="Times New Roman" panose="02020603050405020304" pitchFamily="18" charset="0"/>
              </a:rPr>
              <a:t>chỉ</a:t>
            </a:r>
            <a:r>
              <a:rPr lang="en-US" altLang="en-US" sz="2400" dirty="0">
                <a:cs typeface="Times New Roman" panose="02020603050405020304" pitchFamily="18" charset="0"/>
              </a:rPr>
              <a:t> </a:t>
            </a:r>
            <a:r>
              <a:rPr lang="en-US" altLang="en-US" sz="2400" dirty="0" err="1">
                <a:cs typeface="Times New Roman" panose="02020603050405020304" pitchFamily="18" charset="0"/>
              </a:rPr>
              <a:t>mở</a:t>
            </a:r>
            <a:r>
              <a:rPr lang="en-US" altLang="en-US" sz="2400" dirty="0">
                <a:cs typeface="Times New Roman" panose="02020603050405020304" pitchFamily="18" charset="0"/>
              </a:rPr>
              <a:t> (open addressing)</a:t>
            </a:r>
          </a:p>
          <a:p>
            <a:pPr lvl="1"/>
            <a:r>
              <a:rPr lang="en-US" altLang="en-US" sz="2000" dirty="0" err="1">
                <a:cs typeface="Times New Roman" panose="02020603050405020304" pitchFamily="18" charset="0"/>
              </a:rPr>
              <a:t>Nguy</a:t>
            </a:r>
            <a:r>
              <a:rPr lang="en-US" altLang="en-US" sz="2000" dirty="0" err="1"/>
              <a:t>ên</a:t>
            </a:r>
            <a:r>
              <a:rPr lang="en-US" altLang="en-US" sz="2000" dirty="0"/>
              <a:t> </a:t>
            </a:r>
            <a:r>
              <a:rPr lang="en-US" altLang="en-US" sz="2000" dirty="0" err="1"/>
              <a:t>tắc</a:t>
            </a:r>
            <a:r>
              <a:rPr lang="en-US" altLang="en-US" sz="2000" dirty="0"/>
              <a:t> </a:t>
            </a:r>
            <a:r>
              <a:rPr lang="en-US" altLang="en-US" sz="2000" dirty="0" err="1">
                <a:cs typeface="Times New Roman" panose="02020603050405020304" pitchFamily="18" charset="0"/>
              </a:rPr>
              <a:t>l</a:t>
            </a:r>
            <a:r>
              <a:rPr lang="en-US" altLang="en-US" sz="2000" dirty="0" err="1"/>
              <a:t>ưu</a:t>
            </a:r>
            <a:r>
              <a:rPr lang="en-US" altLang="en-US" sz="2000" dirty="0"/>
              <a:t> </a:t>
            </a:r>
            <a:r>
              <a:rPr lang="en-US" altLang="en-US" sz="2000" dirty="0" err="1"/>
              <a:t>trữ</a:t>
            </a:r>
            <a:r>
              <a:rPr lang="en-US" altLang="en-US" sz="2000" dirty="0"/>
              <a:t> &amp; </a:t>
            </a:r>
            <a:r>
              <a:rPr lang="en-US" altLang="en-US" sz="2000" dirty="0" err="1"/>
              <a:t>tìm</a:t>
            </a:r>
            <a:r>
              <a:rPr lang="en-US" altLang="en-US" sz="2000" dirty="0"/>
              <a:t> </a:t>
            </a:r>
            <a:r>
              <a:rPr lang="en-US" altLang="en-US" sz="2000" dirty="0" err="1"/>
              <a:t>kiếm</a:t>
            </a:r>
            <a:r>
              <a:rPr lang="en-US" altLang="en-US" sz="2000" dirty="0"/>
              <a:t> </a:t>
            </a:r>
            <a:r>
              <a:rPr lang="en-US" altLang="en-US" sz="2000" dirty="0" err="1"/>
              <a:t>nếu</a:t>
            </a:r>
            <a:r>
              <a:rPr lang="en-US" altLang="en-US" sz="2000" dirty="0"/>
              <a:t> </a:t>
            </a:r>
            <a:r>
              <a:rPr lang="en-US" altLang="en-US" sz="2000" dirty="0" err="1"/>
              <a:t>có</a:t>
            </a:r>
            <a:r>
              <a:rPr lang="en-US" altLang="en-US" sz="2000" dirty="0"/>
              <a:t> </a:t>
            </a:r>
            <a:r>
              <a:rPr lang="en-US" altLang="en-US" sz="2000" dirty="0" err="1"/>
              <a:t>đụng</a:t>
            </a:r>
            <a:r>
              <a:rPr lang="en-US" altLang="en-US" sz="2000" dirty="0"/>
              <a:t> </a:t>
            </a:r>
            <a:r>
              <a:rPr lang="en-US" altLang="en-US" sz="2000" dirty="0" err="1"/>
              <a:t>độ</a:t>
            </a:r>
            <a:endParaRPr lang="en-US" altLang="en-US" sz="2000" dirty="0"/>
          </a:p>
          <a:p>
            <a:pPr lvl="2"/>
            <a:r>
              <a:rPr lang="en-US" altLang="en-US" sz="1800" dirty="0" err="1">
                <a:cs typeface="Times New Roman" panose="02020603050405020304" pitchFamily="18" charset="0"/>
              </a:rPr>
              <a:t>Th</a:t>
            </a:r>
            <a:r>
              <a:rPr lang="en-US" altLang="en-US" sz="1800" dirty="0" err="1"/>
              <a:t>ử</a:t>
            </a:r>
            <a:r>
              <a:rPr lang="en-US" altLang="en-US" sz="1800" dirty="0"/>
              <a:t> </a:t>
            </a:r>
            <a:r>
              <a:rPr lang="en-US" altLang="en-US" sz="1800" dirty="0" err="1"/>
              <a:t>các</a:t>
            </a:r>
            <a:r>
              <a:rPr lang="en-US" altLang="en-US" sz="1800" dirty="0"/>
              <a:t> </a:t>
            </a:r>
            <a:r>
              <a:rPr lang="en-US" altLang="en-US" sz="1800" dirty="0" err="1"/>
              <a:t>địa</a:t>
            </a:r>
            <a:r>
              <a:rPr lang="en-US" altLang="en-US" sz="1800" dirty="0"/>
              <a:t> </a:t>
            </a:r>
            <a:r>
              <a:rPr lang="en-US" altLang="en-US" sz="1800" dirty="0" err="1"/>
              <a:t>chỉ</a:t>
            </a:r>
            <a:r>
              <a:rPr lang="en-US" altLang="en-US" sz="1800" dirty="0"/>
              <a:t> </a:t>
            </a:r>
            <a:r>
              <a:rPr lang="en-US" altLang="en-US" sz="1800" dirty="0" err="1"/>
              <a:t>theo</a:t>
            </a:r>
            <a:r>
              <a:rPr lang="en-US" altLang="en-US" sz="1800" dirty="0"/>
              <a:t> </a:t>
            </a:r>
            <a:r>
              <a:rPr lang="en-US" altLang="en-US" sz="1800" dirty="0" err="1"/>
              <a:t>một</a:t>
            </a:r>
            <a:r>
              <a:rPr lang="en-US" altLang="en-US" sz="1800" dirty="0"/>
              <a:t> </a:t>
            </a:r>
            <a:r>
              <a:rPr lang="en-US" altLang="en-US" sz="1800" dirty="0" err="1"/>
              <a:t>cách</a:t>
            </a:r>
            <a:r>
              <a:rPr lang="en-US" altLang="en-US" sz="1800" dirty="0"/>
              <a:t> </a:t>
            </a:r>
            <a:r>
              <a:rPr lang="en-US" altLang="en-US" sz="1800" dirty="0" err="1"/>
              <a:t>nhất</a:t>
            </a:r>
            <a:r>
              <a:rPr lang="en-US" altLang="en-US" sz="1800" dirty="0"/>
              <a:t> </a:t>
            </a:r>
            <a:r>
              <a:rPr lang="en-US" altLang="en-US" sz="1800" dirty="0" err="1"/>
              <a:t>định</a:t>
            </a:r>
            <a:r>
              <a:rPr lang="en-US" altLang="en-US" sz="1800" dirty="0"/>
              <a:t> </a:t>
            </a:r>
            <a:r>
              <a:rPr lang="en-US" altLang="en-US" sz="1800" dirty="0" err="1"/>
              <a:t>để</a:t>
            </a:r>
            <a:r>
              <a:rPr lang="en-US" altLang="en-US" sz="1800" dirty="0"/>
              <a:t> </a:t>
            </a:r>
            <a:r>
              <a:rPr lang="en-US" altLang="en-US" sz="1800" dirty="0" err="1"/>
              <a:t>tìm</a:t>
            </a:r>
            <a:r>
              <a:rPr lang="en-US" altLang="en-US" sz="1800" dirty="0"/>
              <a:t> </a:t>
            </a:r>
            <a:r>
              <a:rPr lang="en-US" altLang="en-US" sz="1800" dirty="0" err="1"/>
              <a:t>vị</a:t>
            </a:r>
            <a:r>
              <a:rPr lang="en-US" altLang="en-US" sz="1800" dirty="0"/>
              <a:t> </a:t>
            </a:r>
            <a:r>
              <a:rPr lang="en-US" altLang="en-US" sz="1800" dirty="0" err="1"/>
              <a:t>trí</a:t>
            </a:r>
            <a:r>
              <a:rPr lang="en-US" altLang="en-US" sz="1800" dirty="0"/>
              <a:t> </a:t>
            </a:r>
            <a:r>
              <a:rPr lang="en-US" altLang="en-US" sz="1800" dirty="0" err="1" smtClean="0"/>
              <a:t>mới</a:t>
            </a:r>
            <a:r>
              <a:rPr lang="en-US" altLang="en-US" sz="1800" dirty="0" smtClean="0"/>
              <a:t> (</a:t>
            </a:r>
            <a:r>
              <a:rPr lang="en-US" altLang="en-US" sz="1800" dirty="0" err="1" smtClean="0"/>
              <a:t>dò</a:t>
            </a:r>
            <a:r>
              <a:rPr lang="en-US" altLang="en-US" sz="1800" dirty="0" smtClean="0"/>
              <a:t> </a:t>
            </a:r>
            <a:r>
              <a:rPr lang="en-US" altLang="en-US" sz="1800" dirty="0" err="1" smtClean="0"/>
              <a:t>theo</a:t>
            </a:r>
            <a:r>
              <a:rPr lang="en-US" altLang="en-US" sz="1800" dirty="0" smtClean="0"/>
              <a:t> </a:t>
            </a:r>
            <a:r>
              <a:rPr lang="en-US" altLang="en-US" sz="1800" dirty="0" err="1" smtClean="0"/>
              <a:t>trình</a:t>
            </a:r>
            <a:r>
              <a:rPr lang="en-US" altLang="en-US" sz="1800" dirty="0" smtClean="0"/>
              <a:t> </a:t>
            </a:r>
            <a:r>
              <a:rPr lang="en-US" altLang="en-US" sz="1800" dirty="0" err="1" smtClean="0"/>
              <a:t>tự</a:t>
            </a:r>
            <a:r>
              <a:rPr lang="en-US" altLang="en-US" sz="1800" dirty="0" smtClean="0"/>
              <a:t>)</a:t>
            </a:r>
            <a:endParaRPr lang="en-US" altLang="en-US" sz="1800" dirty="0"/>
          </a:p>
          <a:p>
            <a:pPr lvl="2"/>
            <a:r>
              <a:rPr lang="en-US" altLang="en-US" sz="1800" dirty="0" err="1"/>
              <a:t>Nếu</a:t>
            </a:r>
            <a:r>
              <a:rPr lang="en-US" altLang="en-US" sz="1800" dirty="0"/>
              <a:t> </a:t>
            </a:r>
            <a:r>
              <a:rPr lang="en-US" altLang="en-US" sz="1800" dirty="0" err="1"/>
              <a:t>đi</a:t>
            </a:r>
            <a:r>
              <a:rPr lang="en-US" altLang="en-US" sz="1800" dirty="0"/>
              <a:t> </a:t>
            </a:r>
            <a:r>
              <a:rPr lang="en-US" altLang="en-US" sz="1800" dirty="0" err="1"/>
              <a:t>hết</a:t>
            </a:r>
            <a:r>
              <a:rPr lang="en-US" altLang="en-US" sz="1800" dirty="0"/>
              <a:t> </a:t>
            </a:r>
            <a:r>
              <a:rPr lang="en-US" altLang="en-US" sz="1800" dirty="0" err="1"/>
              <a:t>bảng</a:t>
            </a:r>
            <a:r>
              <a:rPr lang="en-US" altLang="en-US" sz="1800" dirty="0"/>
              <a:t> </a:t>
            </a:r>
            <a:r>
              <a:rPr lang="en-US" altLang="en-US" sz="1800" dirty="0" err="1"/>
              <a:t>địa</a:t>
            </a:r>
            <a:r>
              <a:rPr lang="en-US" altLang="en-US" sz="1800" dirty="0"/>
              <a:t> </a:t>
            </a:r>
            <a:r>
              <a:rPr lang="en-US" altLang="en-US" sz="1800" dirty="0" err="1"/>
              <a:t>chỉ</a:t>
            </a:r>
            <a:r>
              <a:rPr lang="en-US" altLang="en-US" sz="1800" dirty="0"/>
              <a:t> </a:t>
            </a:r>
            <a:r>
              <a:rPr lang="en-US" altLang="en-US" sz="1800" dirty="0" err="1"/>
              <a:t>mà</a:t>
            </a:r>
            <a:r>
              <a:rPr lang="en-US" altLang="en-US" sz="1800" dirty="0"/>
              <a:t> </a:t>
            </a:r>
            <a:r>
              <a:rPr lang="en-US" altLang="en-US" sz="1800" dirty="0" err="1"/>
              <a:t>không</a:t>
            </a:r>
            <a:r>
              <a:rPr lang="en-US" altLang="en-US" sz="1800" dirty="0"/>
              <a:t> </a:t>
            </a:r>
            <a:r>
              <a:rPr lang="en-US" altLang="en-US" sz="1800" dirty="0" err="1"/>
              <a:t>tìm</a:t>
            </a:r>
            <a:r>
              <a:rPr lang="en-US" altLang="en-US" sz="1800" dirty="0"/>
              <a:t> </a:t>
            </a:r>
            <a:r>
              <a:rPr lang="en-US" altLang="en-US" sz="1800" dirty="0" err="1"/>
              <a:t>ra</a:t>
            </a:r>
            <a:r>
              <a:rPr lang="en-US" altLang="en-US" sz="1800" dirty="0"/>
              <a:t> </a:t>
            </a:r>
            <a:r>
              <a:rPr lang="en-US" altLang="en-US" sz="1800" dirty="0" err="1"/>
              <a:t>thì</a:t>
            </a:r>
            <a:r>
              <a:rPr lang="en-US" altLang="en-US" sz="1800" dirty="0"/>
              <a:t> quay </a:t>
            </a:r>
            <a:r>
              <a:rPr lang="en-US" altLang="en-US" sz="1800" dirty="0" err="1"/>
              <a:t>lại</a:t>
            </a:r>
            <a:r>
              <a:rPr lang="en-US" altLang="en-US" sz="1800" dirty="0"/>
              <a:t> </a:t>
            </a:r>
            <a:r>
              <a:rPr lang="en-US" altLang="en-US" sz="1800" dirty="0" err="1"/>
              <a:t>từ</a:t>
            </a:r>
            <a:r>
              <a:rPr lang="en-US" altLang="en-US" sz="1800" dirty="0"/>
              <a:t> </a:t>
            </a:r>
            <a:r>
              <a:rPr lang="en-US" altLang="en-US" sz="1800" dirty="0" err="1"/>
              <a:t>đầu</a:t>
            </a:r>
            <a:r>
              <a:rPr lang="en-US" altLang="en-US" sz="1800" dirty="0"/>
              <a:t> </a:t>
            </a:r>
            <a:r>
              <a:rPr lang="en-US" altLang="en-US" sz="1800" dirty="0" err="1"/>
              <a:t>bảng</a:t>
            </a:r>
            <a:endParaRPr lang="en-US" altLang="en-US" sz="1800" dirty="0"/>
          </a:p>
          <a:p>
            <a:pPr lvl="2"/>
            <a:r>
              <a:rPr lang="en-US" altLang="en-US" sz="1800" dirty="0" err="1"/>
              <a:t>Nếu</a:t>
            </a:r>
            <a:r>
              <a:rPr lang="en-US" altLang="en-US" sz="1800" dirty="0"/>
              <a:t> </a:t>
            </a:r>
            <a:r>
              <a:rPr lang="en-US" altLang="en-US" sz="1800" dirty="0" err="1"/>
              <a:t>không</a:t>
            </a:r>
            <a:r>
              <a:rPr lang="en-US" altLang="en-US" sz="1800" dirty="0"/>
              <a:t> </a:t>
            </a:r>
            <a:r>
              <a:rPr lang="en-US" altLang="en-US" sz="1800" dirty="0" err="1"/>
              <a:t>tìm</a:t>
            </a:r>
            <a:r>
              <a:rPr lang="en-US" altLang="en-US" sz="1800" dirty="0"/>
              <a:t> </a:t>
            </a:r>
            <a:r>
              <a:rPr lang="en-US" altLang="en-US" sz="1800" dirty="0" err="1"/>
              <a:t>thấy</a:t>
            </a:r>
            <a:r>
              <a:rPr lang="en-US" altLang="en-US" sz="1800" dirty="0"/>
              <a:t> </a:t>
            </a:r>
            <a:r>
              <a:rPr lang="en-US" altLang="en-US" sz="1800" dirty="0" err="1"/>
              <a:t>chỗ</a:t>
            </a:r>
            <a:r>
              <a:rPr lang="en-US" altLang="en-US" sz="1800" dirty="0"/>
              <a:t> </a:t>
            </a:r>
            <a:r>
              <a:rPr lang="en-US" altLang="en-US" sz="1800" dirty="0" err="1"/>
              <a:t>trống</a:t>
            </a:r>
            <a:r>
              <a:rPr lang="en-US" altLang="en-US" sz="1800" dirty="0"/>
              <a:t> =&gt; overflow (</a:t>
            </a:r>
            <a:r>
              <a:rPr lang="en-US" altLang="en-US" sz="1800" dirty="0" err="1"/>
              <a:t>tràn</a:t>
            </a:r>
            <a:r>
              <a:rPr lang="en-US" altLang="en-US" sz="1800" dirty="0"/>
              <a:t> </a:t>
            </a:r>
            <a:r>
              <a:rPr lang="en-US" altLang="en-US" sz="1800" dirty="0" err="1"/>
              <a:t>bảng</a:t>
            </a:r>
            <a:r>
              <a:rPr lang="en-US" altLang="en-US" sz="1800" dirty="0"/>
              <a:t>)</a:t>
            </a:r>
          </a:p>
          <a:p>
            <a:pPr lvl="1"/>
            <a:r>
              <a:rPr lang="en-US" altLang="en-US" sz="2050" dirty="0" err="1" smtClean="0"/>
              <a:t>Các</a:t>
            </a:r>
            <a:r>
              <a:rPr lang="en-US" altLang="en-US" sz="2050" dirty="0" smtClean="0"/>
              <a:t> </a:t>
            </a:r>
            <a:r>
              <a:rPr lang="en-US" altLang="en-US" sz="2050" dirty="0" err="1" smtClean="0"/>
              <a:t>phương</a:t>
            </a:r>
            <a:r>
              <a:rPr lang="en-US" altLang="en-US" sz="2050" dirty="0" smtClean="0"/>
              <a:t> </a:t>
            </a:r>
            <a:r>
              <a:rPr lang="en-US" altLang="en-US" sz="2050" dirty="0" err="1" smtClean="0"/>
              <a:t>pháp</a:t>
            </a:r>
            <a:r>
              <a:rPr lang="en-US" altLang="en-US" sz="2050" dirty="0" smtClean="0"/>
              <a:t> </a:t>
            </a:r>
            <a:r>
              <a:rPr lang="en-US" altLang="en-US" sz="2050" dirty="0" err="1" smtClean="0"/>
              <a:t>dò</a:t>
            </a:r>
            <a:r>
              <a:rPr lang="en-US" altLang="en-US" sz="2050" dirty="0" smtClean="0"/>
              <a:t>:</a:t>
            </a:r>
          </a:p>
          <a:p>
            <a:pPr lvl="2"/>
            <a:r>
              <a:rPr lang="en-US" altLang="en-US" sz="1750" dirty="0" err="1" smtClean="0"/>
              <a:t>Dò</a:t>
            </a:r>
            <a:r>
              <a:rPr lang="en-US" altLang="en-US" sz="1750" dirty="0" smtClean="0"/>
              <a:t> </a:t>
            </a:r>
            <a:r>
              <a:rPr lang="en-US" altLang="en-US" sz="1750" dirty="0" err="1" smtClean="0"/>
              <a:t>tuyến</a:t>
            </a:r>
            <a:r>
              <a:rPr lang="en-US" altLang="en-US" sz="1750" dirty="0" smtClean="0"/>
              <a:t> </a:t>
            </a:r>
            <a:r>
              <a:rPr lang="en-US" altLang="en-US" sz="1750" dirty="0" err="1" smtClean="0"/>
              <a:t>tính</a:t>
            </a:r>
            <a:endParaRPr lang="en-US" altLang="en-US" sz="1750" dirty="0" smtClean="0"/>
          </a:p>
          <a:p>
            <a:pPr lvl="2"/>
            <a:r>
              <a:rPr lang="en-US" altLang="en-US" sz="1750" dirty="0" err="1" smtClean="0"/>
              <a:t>Dò</a:t>
            </a:r>
            <a:r>
              <a:rPr lang="en-US" altLang="en-US" sz="1750" dirty="0" smtClean="0"/>
              <a:t> </a:t>
            </a:r>
            <a:r>
              <a:rPr lang="en-US" altLang="en-US" sz="1750" dirty="0" err="1" smtClean="0"/>
              <a:t>bậc</a:t>
            </a:r>
            <a:r>
              <a:rPr lang="en-US" altLang="en-US" sz="1750" dirty="0" smtClean="0"/>
              <a:t> </a:t>
            </a:r>
            <a:r>
              <a:rPr lang="en-US" altLang="en-US" sz="1750" dirty="0" err="1" smtClean="0"/>
              <a:t>hai</a:t>
            </a:r>
            <a:endParaRPr lang="en-US" altLang="en-US" sz="1750" dirty="0" smtClean="0"/>
          </a:p>
          <a:p>
            <a:pPr lvl="2"/>
            <a:r>
              <a:rPr lang="en-US" altLang="en-US" sz="1750" dirty="0" err="1" smtClean="0"/>
              <a:t>Băm</a:t>
            </a:r>
            <a:r>
              <a:rPr lang="en-US" altLang="en-US" sz="1750" dirty="0" smtClean="0"/>
              <a:t> </a:t>
            </a:r>
            <a:r>
              <a:rPr lang="en-US" altLang="en-US" sz="1750" dirty="0" err="1" smtClean="0"/>
              <a:t>kép</a:t>
            </a:r>
            <a:r>
              <a:rPr lang="en-US" altLang="en-US" sz="1750" dirty="0" smtClean="0"/>
              <a:t> (double hashing)</a:t>
            </a:r>
          </a:p>
          <a:p>
            <a:pPr lvl="2"/>
            <a:r>
              <a:rPr lang="en-US" altLang="en-US" sz="1750" dirty="0" err="1" smtClean="0"/>
              <a:t>Băm</a:t>
            </a:r>
            <a:r>
              <a:rPr lang="en-US" altLang="en-US" sz="1750" dirty="0" smtClean="0"/>
              <a:t> </a:t>
            </a:r>
            <a:r>
              <a:rPr lang="en-US" altLang="en-US" sz="1750" dirty="0" err="1" smtClean="0"/>
              <a:t>lại</a:t>
            </a:r>
            <a:r>
              <a:rPr lang="en-US" altLang="en-US" sz="1750" dirty="0" smtClean="0"/>
              <a:t> (rehashing)</a:t>
            </a:r>
            <a:endParaRPr lang="en-US" altLang="en-US" sz="1750" dirty="0"/>
          </a:p>
        </p:txBody>
      </p:sp>
    </p:spTree>
    <p:extLst>
      <p:ext uri="{BB962C8B-B14F-4D97-AF65-F5344CB8AC3E}">
        <p14:creationId xmlns:p14="http://schemas.microsoft.com/office/powerpoint/2010/main" val="1055096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251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2515">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2515">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92515">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92515">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92515">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92515">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92515">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9251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Slide Number Placeholder 4">
            <a:extLst>
              <a:ext uri="{FF2B5EF4-FFF2-40B4-BE49-F238E27FC236}">
                <a16:creationId xmlns:a16="http://schemas.microsoft.com/office/drawing/2014/main" id="{D5D2C7B0-FB6A-42A0-95CB-327F8BEAEAE3}"/>
              </a:ext>
            </a:extLst>
          </p:cNvPr>
          <p:cNvSpPr>
            <a:spLocks noGrp="1"/>
          </p:cNvSpPr>
          <p:nvPr>
            <p:ph type="sldNum" sz="quarter" idx="12"/>
          </p:nvPr>
        </p:nvSpPr>
        <p:spPr/>
        <p:txBody>
          <a:bodyPr/>
          <a:lstStyle/>
          <a:p>
            <a:fld id="{3318D183-A0A7-4D6C-A09B-E18F8223287A}" type="slidenum">
              <a:rPr lang="en-US" altLang="en-US"/>
              <a:pPr/>
              <a:t>34</a:t>
            </a:fld>
            <a:endParaRPr lang="en-US" altLang="en-US"/>
          </a:p>
        </p:txBody>
      </p:sp>
      <p:sp>
        <p:nvSpPr>
          <p:cNvPr id="193538" name="Rectangle 2">
            <a:extLst>
              <a:ext uri="{FF2B5EF4-FFF2-40B4-BE49-F238E27FC236}">
                <a16:creationId xmlns:a16="http://schemas.microsoft.com/office/drawing/2014/main" id="{CBCA78FA-8317-4F2F-B464-B755E39F548F}"/>
              </a:ext>
            </a:extLst>
          </p:cNvPr>
          <p:cNvSpPr>
            <a:spLocks noGrp="1" noChangeArrowheads="1"/>
          </p:cNvSpPr>
          <p:nvPr>
            <p:ph type="title"/>
          </p:nvPr>
        </p:nvSpPr>
        <p:spPr/>
        <p:txBody>
          <a:bodyPr>
            <a:normAutofit/>
          </a:bodyPr>
          <a:lstStyle/>
          <a:p>
            <a:r>
              <a:rPr lang="en-US" altLang="en-US" sz="2400" dirty="0" err="1">
                <a:cs typeface="Times New Roman" panose="02020603050405020304" pitchFamily="18" charset="0"/>
              </a:rPr>
              <a:t>Các</a:t>
            </a:r>
            <a:r>
              <a:rPr lang="en-US" altLang="en-US" sz="2400" dirty="0">
                <a:cs typeface="Times New Roman" panose="02020603050405020304" pitchFamily="18" charset="0"/>
              </a:rPr>
              <a:t> </a:t>
            </a:r>
            <a:r>
              <a:rPr lang="en-US" altLang="en-US" sz="2400" dirty="0" err="1">
                <a:cs typeface="Times New Roman" panose="02020603050405020304" pitchFamily="18" charset="0"/>
              </a:rPr>
              <a:t>biện</a:t>
            </a:r>
            <a:r>
              <a:rPr lang="en-US" altLang="en-US" sz="2400" dirty="0">
                <a:cs typeface="Times New Roman" panose="02020603050405020304" pitchFamily="18" charset="0"/>
              </a:rPr>
              <a:t> </a:t>
            </a:r>
            <a:r>
              <a:rPr lang="en-US" altLang="en-US" sz="2400" dirty="0" err="1">
                <a:cs typeface="Times New Roman" panose="02020603050405020304" pitchFamily="18" charset="0"/>
              </a:rPr>
              <a:t>pháp</a:t>
            </a:r>
            <a:r>
              <a:rPr lang="en-US" altLang="en-US" sz="2400" dirty="0">
                <a:cs typeface="Times New Roman" panose="02020603050405020304" pitchFamily="18" charset="0"/>
              </a:rPr>
              <a:t> </a:t>
            </a:r>
            <a:r>
              <a:rPr lang="en-US" altLang="en-US" sz="2400" dirty="0" err="1">
                <a:cs typeface="Times New Roman" panose="02020603050405020304" pitchFamily="18" charset="0"/>
              </a:rPr>
              <a:t>khắc</a:t>
            </a:r>
            <a:r>
              <a:rPr lang="en-US" altLang="en-US" sz="2400" dirty="0">
                <a:cs typeface="Times New Roman" panose="02020603050405020304" pitchFamily="18" charset="0"/>
              </a:rPr>
              <a:t> </a:t>
            </a:r>
            <a:r>
              <a:rPr lang="en-US" altLang="en-US" sz="2400" dirty="0" err="1">
                <a:cs typeface="Times New Roman" panose="02020603050405020304" pitchFamily="18" charset="0"/>
              </a:rPr>
              <a:t>phục</a:t>
            </a:r>
            <a:r>
              <a:rPr lang="en-US" altLang="en-US" sz="2400" dirty="0">
                <a:cs typeface="Times New Roman" panose="02020603050405020304" pitchFamily="18" charset="0"/>
              </a:rPr>
              <a:t> </a:t>
            </a:r>
            <a:r>
              <a:rPr lang="en-US" altLang="en-US" sz="2400" dirty="0" err="1">
                <a:cs typeface="Times New Roman" panose="02020603050405020304" pitchFamily="18" charset="0"/>
              </a:rPr>
              <a:t>đụng</a:t>
            </a:r>
            <a:r>
              <a:rPr lang="en-US" altLang="en-US" sz="2400" dirty="0">
                <a:cs typeface="Times New Roman" panose="02020603050405020304" pitchFamily="18" charset="0"/>
              </a:rPr>
              <a:t> </a:t>
            </a:r>
            <a:r>
              <a:rPr lang="en-US" altLang="en-US" sz="2400" dirty="0" err="1">
                <a:cs typeface="Times New Roman" panose="02020603050405020304" pitchFamily="18" charset="0"/>
              </a:rPr>
              <a:t>độ</a:t>
            </a:r>
            <a:r>
              <a:rPr lang="en-US" altLang="en-US" sz="2400" dirty="0"/>
              <a:t> </a:t>
            </a:r>
          </a:p>
        </p:txBody>
      </p:sp>
      <p:sp>
        <p:nvSpPr>
          <p:cNvPr id="193539" name="Rectangle 3">
            <a:extLst>
              <a:ext uri="{FF2B5EF4-FFF2-40B4-BE49-F238E27FC236}">
                <a16:creationId xmlns:a16="http://schemas.microsoft.com/office/drawing/2014/main" id="{EF389C92-84AD-4385-B32D-2B1873A6BFF4}"/>
              </a:ext>
            </a:extLst>
          </p:cNvPr>
          <p:cNvSpPr>
            <a:spLocks noGrp="1" noChangeArrowheads="1"/>
          </p:cNvSpPr>
          <p:nvPr>
            <p:ph type="body" sz="quarter" idx="13"/>
          </p:nvPr>
        </p:nvSpPr>
        <p:spPr>
          <a:noFill/>
          <a:ln/>
        </p:spPr>
        <p:txBody>
          <a:bodyPr>
            <a:normAutofit/>
          </a:bodyPr>
          <a:lstStyle/>
          <a:p>
            <a:r>
              <a:rPr lang="en-US" altLang="en-US" sz="2400" dirty="0" err="1">
                <a:cs typeface="Times New Roman" panose="02020603050405020304" pitchFamily="18" charset="0"/>
              </a:rPr>
              <a:t>Biện</a:t>
            </a:r>
            <a:r>
              <a:rPr lang="en-US" altLang="en-US" sz="2400" dirty="0">
                <a:cs typeface="Times New Roman" panose="02020603050405020304" pitchFamily="18" charset="0"/>
              </a:rPr>
              <a:t> </a:t>
            </a:r>
            <a:r>
              <a:rPr lang="en-US" altLang="en-US" sz="2400" dirty="0" err="1">
                <a:cs typeface="Times New Roman" panose="02020603050405020304" pitchFamily="18" charset="0"/>
              </a:rPr>
              <a:t>pháp</a:t>
            </a:r>
            <a:r>
              <a:rPr lang="en-US" altLang="en-US" sz="2400" dirty="0">
                <a:cs typeface="Times New Roman" panose="02020603050405020304" pitchFamily="18" charset="0"/>
              </a:rPr>
              <a:t> </a:t>
            </a:r>
            <a:r>
              <a:rPr lang="en-US" altLang="en-US" sz="2400" dirty="0" err="1">
                <a:cs typeface="Times New Roman" panose="02020603050405020304" pitchFamily="18" charset="0"/>
              </a:rPr>
              <a:t>địa</a:t>
            </a:r>
            <a:r>
              <a:rPr lang="en-US" altLang="en-US" sz="2400" dirty="0">
                <a:cs typeface="Times New Roman" panose="02020603050405020304" pitchFamily="18" charset="0"/>
              </a:rPr>
              <a:t> </a:t>
            </a:r>
            <a:r>
              <a:rPr lang="en-US" altLang="en-US" sz="2400" dirty="0" err="1">
                <a:cs typeface="Times New Roman" panose="02020603050405020304" pitchFamily="18" charset="0"/>
              </a:rPr>
              <a:t>chỉ</a:t>
            </a:r>
            <a:r>
              <a:rPr lang="en-US" altLang="en-US" sz="2400" dirty="0">
                <a:cs typeface="Times New Roman" panose="02020603050405020304" pitchFamily="18" charset="0"/>
              </a:rPr>
              <a:t> </a:t>
            </a:r>
            <a:r>
              <a:rPr lang="en-US" altLang="en-US" sz="2400" dirty="0" err="1">
                <a:cs typeface="Times New Roman" panose="02020603050405020304" pitchFamily="18" charset="0"/>
              </a:rPr>
              <a:t>mở</a:t>
            </a:r>
            <a:r>
              <a:rPr lang="en-US" altLang="en-US" sz="2400" dirty="0">
                <a:cs typeface="Times New Roman" panose="02020603050405020304" pitchFamily="18" charset="0"/>
              </a:rPr>
              <a:t> </a:t>
            </a:r>
            <a:r>
              <a:rPr lang="en-US" altLang="en-US" sz="2000" dirty="0">
                <a:cs typeface="Times New Roman" panose="02020603050405020304" pitchFamily="18" charset="0"/>
              </a:rPr>
              <a:t>- </a:t>
            </a:r>
            <a:r>
              <a:rPr lang="en-US" altLang="en-US" sz="2000" i="1" dirty="0" err="1">
                <a:cs typeface="Times New Roman" panose="02020603050405020304" pitchFamily="18" charset="0"/>
              </a:rPr>
              <a:t>Ph</a:t>
            </a:r>
            <a:r>
              <a:rPr lang="en-US" altLang="en-US" sz="2000" i="1" dirty="0" err="1"/>
              <a:t>ương</a:t>
            </a:r>
            <a:r>
              <a:rPr lang="en-US" altLang="en-US" sz="2000" i="1" dirty="0"/>
              <a:t> </a:t>
            </a:r>
            <a:r>
              <a:rPr lang="en-US" altLang="en-US" sz="2000" i="1" dirty="0" err="1"/>
              <a:t>pháp</a:t>
            </a:r>
            <a:r>
              <a:rPr lang="en-US" altLang="en-US" sz="2000" i="1" dirty="0"/>
              <a:t> </a:t>
            </a:r>
            <a:r>
              <a:rPr lang="en-US" altLang="en-US" sz="2000" i="1" dirty="0" err="1" smtClean="0"/>
              <a:t>dò</a:t>
            </a:r>
            <a:r>
              <a:rPr lang="en-US" altLang="en-US" sz="2000" i="1" dirty="0" smtClean="0"/>
              <a:t> </a:t>
            </a:r>
            <a:r>
              <a:rPr lang="en-US" altLang="en-US" sz="2000" i="1" dirty="0" err="1"/>
              <a:t>tuyến</a:t>
            </a:r>
            <a:r>
              <a:rPr lang="en-US" altLang="en-US" sz="2000" i="1" dirty="0"/>
              <a:t> </a:t>
            </a:r>
            <a:r>
              <a:rPr lang="en-US" altLang="en-US" sz="2000" i="1" dirty="0" err="1" smtClean="0"/>
              <a:t>tính</a:t>
            </a:r>
            <a:r>
              <a:rPr lang="en-US" altLang="en-US" sz="2000" i="1" dirty="0"/>
              <a:t> (Linear </a:t>
            </a:r>
            <a:r>
              <a:rPr lang="en-US" altLang="en-US" sz="2000" i="1" dirty="0" smtClean="0"/>
              <a:t>Probing)</a:t>
            </a:r>
            <a:endParaRPr lang="en-US" altLang="en-US" sz="2400" dirty="0"/>
          </a:p>
          <a:p>
            <a:pPr lvl="1"/>
            <a:r>
              <a:rPr lang="en-US" altLang="en-US" sz="2000" dirty="0" err="1" smtClean="0"/>
              <a:t>Giả</a:t>
            </a:r>
            <a:r>
              <a:rPr lang="en-US" altLang="en-US" sz="2000" dirty="0" smtClean="0"/>
              <a:t> </a:t>
            </a:r>
            <a:r>
              <a:rPr lang="en-US" altLang="en-US" sz="2000" dirty="0" err="1" smtClean="0"/>
              <a:t>sử</a:t>
            </a:r>
            <a:r>
              <a:rPr lang="en-US" altLang="en-US" sz="2000" dirty="0" smtClean="0"/>
              <a:t> </a:t>
            </a:r>
            <a:r>
              <a:rPr lang="en-US" altLang="en-US" sz="2000" dirty="0" err="1" smtClean="0"/>
              <a:t>cần</a:t>
            </a:r>
            <a:r>
              <a:rPr lang="en-US" altLang="en-US" sz="2000" dirty="0" smtClean="0"/>
              <a:t> </a:t>
            </a:r>
            <a:r>
              <a:rPr lang="en-US" altLang="en-US" sz="2000" dirty="0" err="1" smtClean="0"/>
              <a:t>lưu</a:t>
            </a:r>
            <a:r>
              <a:rPr lang="en-US" altLang="en-US" sz="2000" dirty="0" smtClean="0"/>
              <a:t> 1 </a:t>
            </a:r>
            <a:r>
              <a:rPr lang="en-US" altLang="en-US" sz="2000" dirty="0" err="1" smtClean="0"/>
              <a:t>bản</a:t>
            </a:r>
            <a:r>
              <a:rPr lang="en-US" altLang="en-US" sz="2000" dirty="0" smtClean="0"/>
              <a:t> </a:t>
            </a:r>
            <a:r>
              <a:rPr lang="en-US" altLang="en-US" sz="2000" dirty="0" err="1" smtClean="0"/>
              <a:t>ghi</a:t>
            </a:r>
            <a:r>
              <a:rPr lang="en-US" altLang="en-US" sz="2000" dirty="0" smtClean="0"/>
              <a:t> </a:t>
            </a:r>
            <a:r>
              <a:rPr lang="en-US" altLang="en-US" sz="2000" dirty="0" err="1" smtClean="0"/>
              <a:t>mới</a:t>
            </a:r>
            <a:r>
              <a:rPr lang="en-US" altLang="en-US" sz="2000" dirty="0" smtClean="0"/>
              <a:t> </a:t>
            </a:r>
            <a:r>
              <a:rPr lang="en-US" altLang="en-US" sz="2000" dirty="0" err="1" smtClean="0"/>
              <a:t>có</a:t>
            </a:r>
            <a:r>
              <a:rPr lang="en-US" altLang="en-US" sz="2000" dirty="0" smtClean="0"/>
              <a:t> </a:t>
            </a:r>
            <a:r>
              <a:rPr lang="en-US" altLang="en-US" sz="2000" dirty="0" err="1" smtClean="0"/>
              <a:t>khóa</a:t>
            </a:r>
            <a:r>
              <a:rPr lang="en-US" altLang="en-US" sz="2000" dirty="0" smtClean="0"/>
              <a:t> = </a:t>
            </a:r>
            <a:r>
              <a:rPr lang="en-US" altLang="en-US" sz="2000" i="1" dirty="0" smtClean="0"/>
              <a:t>k</a:t>
            </a:r>
            <a:r>
              <a:rPr lang="en-US" altLang="en-US" sz="2000" dirty="0" smtClean="0"/>
              <a:t>. </a:t>
            </a:r>
          </a:p>
          <a:p>
            <a:pPr lvl="1"/>
            <a:r>
              <a:rPr lang="en-US" altLang="en-US" sz="2000" dirty="0"/>
              <a:t>Ô</a:t>
            </a:r>
            <a:r>
              <a:rPr lang="en-US" altLang="en-US" sz="2000" dirty="0" smtClean="0"/>
              <a:t> </a:t>
            </a:r>
            <a:r>
              <a:rPr lang="en-US" altLang="en-US" sz="2000" dirty="0" err="1" smtClean="0"/>
              <a:t>nhớ</a:t>
            </a:r>
            <a:r>
              <a:rPr lang="en-US" altLang="en-US" sz="2000" dirty="0" smtClean="0"/>
              <a:t> </a:t>
            </a:r>
            <a:r>
              <a:rPr lang="en-US" altLang="en-US" sz="2000" dirty="0" err="1" smtClean="0"/>
              <a:t>tại</a:t>
            </a:r>
            <a:r>
              <a:rPr lang="en-US" altLang="en-US" sz="2000" dirty="0" smtClean="0"/>
              <a:t> </a:t>
            </a:r>
            <a:r>
              <a:rPr lang="en-US" altLang="en-US" sz="2000" i="1" dirty="0" smtClean="0"/>
              <a:t>h(k)</a:t>
            </a:r>
            <a:r>
              <a:rPr lang="en-US" altLang="en-US" sz="2000" dirty="0" smtClean="0"/>
              <a:t> </a:t>
            </a:r>
            <a:r>
              <a:rPr lang="en-US" altLang="en-US" sz="2000" dirty="0" err="1" smtClean="0"/>
              <a:t>đã</a:t>
            </a:r>
            <a:r>
              <a:rPr lang="en-US" altLang="en-US" sz="2000" dirty="0" smtClean="0"/>
              <a:t> </a:t>
            </a:r>
            <a:r>
              <a:rPr lang="en-US" altLang="en-US" sz="2000" dirty="0" err="1" smtClean="0"/>
              <a:t>chứa</a:t>
            </a:r>
            <a:r>
              <a:rPr lang="en-US" altLang="en-US" sz="2000" dirty="0" smtClean="0"/>
              <a:t> </a:t>
            </a:r>
            <a:r>
              <a:rPr lang="en-US" altLang="en-US" sz="2000" dirty="0" err="1" smtClean="0"/>
              <a:t>một</a:t>
            </a:r>
            <a:r>
              <a:rPr lang="en-US" altLang="en-US" sz="2000" dirty="0" smtClean="0"/>
              <a:t> </a:t>
            </a:r>
            <a:r>
              <a:rPr lang="en-US" altLang="en-US" sz="2000" dirty="0" err="1" smtClean="0"/>
              <a:t>bản</a:t>
            </a:r>
            <a:r>
              <a:rPr lang="en-US" altLang="en-US" sz="2000" dirty="0" smtClean="0"/>
              <a:t> </a:t>
            </a:r>
            <a:r>
              <a:rPr lang="en-US" altLang="en-US" sz="2000" dirty="0" err="1" smtClean="0"/>
              <a:t>ghi</a:t>
            </a:r>
            <a:r>
              <a:rPr lang="en-US" altLang="en-US" sz="2000" dirty="0" smtClean="0"/>
              <a:t> </a:t>
            </a:r>
            <a:r>
              <a:rPr lang="en-US" altLang="en-US" sz="2000" dirty="0" err="1" smtClean="0"/>
              <a:t>khác</a:t>
            </a:r>
            <a:endParaRPr lang="en-US" altLang="en-US" sz="2000" dirty="0" smtClean="0"/>
          </a:p>
          <a:p>
            <a:pPr marL="342900" lvl="1" indent="0">
              <a:buNone/>
            </a:pPr>
            <a:r>
              <a:rPr lang="en-US" altLang="en-US" sz="2000" dirty="0" smtClean="0">
                <a:sym typeface="Wingdings" panose="05000000000000000000" pitchFamily="2" charset="2"/>
              </a:rPr>
              <a:t>   </a:t>
            </a:r>
            <a:r>
              <a:rPr lang="en-US" altLang="en-US" sz="2000" dirty="0" err="1" smtClean="0">
                <a:sym typeface="Wingdings" panose="05000000000000000000" pitchFamily="2" charset="2"/>
              </a:rPr>
              <a:t>T</a:t>
            </a:r>
            <a:r>
              <a:rPr lang="en-US" altLang="en-US" sz="2000" dirty="0" err="1" smtClean="0"/>
              <a:t>ìm</a:t>
            </a:r>
            <a:r>
              <a:rPr lang="en-US" altLang="en-US" sz="2000" dirty="0" smtClean="0"/>
              <a:t> ô </a:t>
            </a:r>
            <a:r>
              <a:rPr lang="en-US" altLang="en-US" sz="2000" dirty="0" err="1" smtClean="0"/>
              <a:t>nhớ</a:t>
            </a:r>
            <a:r>
              <a:rPr lang="en-US" altLang="en-US" sz="2000" dirty="0" smtClean="0"/>
              <a:t> </a:t>
            </a:r>
            <a:r>
              <a:rPr lang="en-US" altLang="en-US" sz="2000" dirty="0" err="1" smtClean="0"/>
              <a:t>khác</a:t>
            </a:r>
            <a:r>
              <a:rPr lang="en-US" altLang="en-US" sz="2000" dirty="0" smtClean="0"/>
              <a:t> </a:t>
            </a:r>
            <a:r>
              <a:rPr lang="en-US" altLang="en-US" sz="2000" dirty="0" err="1" smtClean="0"/>
              <a:t>tại</a:t>
            </a:r>
            <a:r>
              <a:rPr lang="en-US" altLang="en-US" sz="2000" dirty="0" smtClean="0"/>
              <a:t> </a:t>
            </a:r>
            <a:r>
              <a:rPr lang="en-US" altLang="en-US" sz="2000" dirty="0" err="1" smtClean="0"/>
              <a:t>địa</a:t>
            </a:r>
            <a:r>
              <a:rPr lang="en-US" altLang="en-US" sz="2000" dirty="0" smtClean="0"/>
              <a:t> </a:t>
            </a:r>
            <a:r>
              <a:rPr lang="en-US" altLang="en-US" sz="2000" dirty="0" err="1" smtClean="0"/>
              <a:t>chỉ</a:t>
            </a:r>
            <a:r>
              <a:rPr lang="en-US" altLang="en-US" sz="2000" dirty="0" smtClean="0"/>
              <a:t> </a:t>
            </a:r>
            <a:r>
              <a:rPr lang="en-US" altLang="en-US" sz="2000" i="1" dirty="0" smtClean="0"/>
              <a:t>h(</a:t>
            </a:r>
            <a:r>
              <a:rPr lang="en-US" altLang="en-US" sz="2000" i="1" dirty="0" err="1" smtClean="0"/>
              <a:t>k,i</a:t>
            </a:r>
            <a:r>
              <a:rPr lang="en-US" altLang="en-US" sz="2000" i="1" dirty="0" smtClean="0"/>
              <a:t>)</a:t>
            </a:r>
            <a:r>
              <a:rPr lang="en-US" altLang="en-US" sz="2000" dirty="0" smtClean="0"/>
              <a:t> </a:t>
            </a:r>
            <a:r>
              <a:rPr lang="en-US" altLang="en-US" sz="2000" dirty="0" err="1" smtClean="0"/>
              <a:t>để</a:t>
            </a:r>
            <a:r>
              <a:rPr lang="en-US" altLang="en-US" sz="2000" dirty="0" smtClean="0"/>
              <a:t> </a:t>
            </a:r>
            <a:r>
              <a:rPr lang="en-US" altLang="en-US" sz="2000" dirty="0" err="1" smtClean="0"/>
              <a:t>lưu</a:t>
            </a:r>
            <a:r>
              <a:rPr lang="en-US" altLang="en-US" sz="2000" dirty="0" smtClean="0"/>
              <a:t> </a:t>
            </a:r>
            <a:r>
              <a:rPr lang="en-US" altLang="en-US" sz="2000" dirty="0" err="1" smtClean="0"/>
              <a:t>bản</a:t>
            </a:r>
            <a:r>
              <a:rPr lang="en-US" altLang="en-US" sz="2000" dirty="0" smtClean="0"/>
              <a:t> </a:t>
            </a:r>
            <a:r>
              <a:rPr lang="en-US" altLang="en-US" sz="2000" dirty="0" err="1" smtClean="0"/>
              <a:t>ghi</a:t>
            </a:r>
            <a:r>
              <a:rPr lang="en-US" altLang="en-US" sz="2000" dirty="0" smtClean="0"/>
              <a:t> </a:t>
            </a:r>
            <a:r>
              <a:rPr lang="en-US" altLang="en-US" sz="2000" dirty="0" err="1" smtClean="0"/>
              <a:t>mới</a:t>
            </a:r>
            <a:r>
              <a:rPr lang="en-US" altLang="en-US" sz="2000" dirty="0" smtClean="0"/>
              <a:t> </a:t>
            </a:r>
            <a:r>
              <a:rPr lang="en-US" altLang="en-US" sz="2000" dirty="0" err="1" smtClean="0"/>
              <a:t>này</a:t>
            </a:r>
            <a:endParaRPr lang="en-US" altLang="en-US" sz="2000" dirty="0" smtClean="0"/>
          </a:p>
          <a:p>
            <a:pPr lvl="1"/>
            <a:r>
              <a:rPr lang="en-US" altLang="en-US" sz="2000" dirty="0" err="1" smtClean="0"/>
              <a:t>Tổng</a:t>
            </a:r>
            <a:r>
              <a:rPr lang="en-US" altLang="en-US" sz="2000" dirty="0" smtClean="0"/>
              <a:t> </a:t>
            </a:r>
            <a:r>
              <a:rPr lang="en-US" altLang="en-US" sz="2000" dirty="0" err="1" smtClean="0"/>
              <a:t>quát</a:t>
            </a:r>
            <a:r>
              <a:rPr lang="en-US" altLang="en-US" sz="2000" dirty="0" smtClean="0"/>
              <a:t>: </a:t>
            </a:r>
            <a:r>
              <a:rPr lang="en-US" altLang="en-US" sz="2000" i="1" dirty="0" smtClean="0"/>
              <a:t>h(</a:t>
            </a:r>
            <a:r>
              <a:rPr lang="en-US" altLang="en-US" sz="2000" i="1" dirty="0" err="1" smtClean="0"/>
              <a:t>k,i</a:t>
            </a:r>
            <a:r>
              <a:rPr lang="en-US" altLang="en-US" sz="2000" i="1" dirty="0" smtClean="0"/>
              <a:t>) = </a:t>
            </a:r>
            <a:r>
              <a:rPr lang="en-US" altLang="en-US" sz="2000" i="1" dirty="0"/>
              <a:t>[</a:t>
            </a:r>
            <a:r>
              <a:rPr lang="en-US" altLang="en-US" sz="2000" i="1" dirty="0" smtClean="0"/>
              <a:t>h’(k)+</a:t>
            </a:r>
            <a:r>
              <a:rPr lang="en-US" altLang="en-US" sz="2000" i="1" dirty="0" err="1" smtClean="0"/>
              <a:t>i</a:t>
            </a:r>
            <a:r>
              <a:rPr lang="en-US" altLang="en-US" sz="2000" i="1" dirty="0" smtClean="0"/>
              <a:t>] mod m</a:t>
            </a:r>
          </a:p>
          <a:p>
            <a:pPr lvl="2"/>
            <a:r>
              <a:rPr lang="en-US" altLang="en-US" sz="1600" dirty="0" smtClean="0"/>
              <a:t>m : </a:t>
            </a:r>
            <a:r>
              <a:rPr lang="en-US" altLang="en-US" sz="1600" dirty="0" err="1" smtClean="0"/>
              <a:t>kích</a:t>
            </a:r>
            <a:r>
              <a:rPr lang="en-US" altLang="en-US" sz="1600" dirty="0" smtClean="0"/>
              <a:t> </a:t>
            </a:r>
            <a:r>
              <a:rPr lang="en-US" altLang="en-US" sz="1600" dirty="0" err="1" smtClean="0"/>
              <a:t>thước</a:t>
            </a:r>
            <a:r>
              <a:rPr lang="en-US" altLang="en-US" sz="1600" dirty="0" smtClean="0"/>
              <a:t> </a:t>
            </a:r>
            <a:r>
              <a:rPr lang="en-US" altLang="en-US" sz="1600" dirty="0" err="1" smtClean="0"/>
              <a:t>bảng</a:t>
            </a:r>
            <a:r>
              <a:rPr lang="en-US" altLang="en-US" sz="1600" dirty="0" smtClean="0"/>
              <a:t> </a:t>
            </a:r>
            <a:r>
              <a:rPr lang="en-US" altLang="en-US" sz="1600" dirty="0" err="1" smtClean="0"/>
              <a:t>địa</a:t>
            </a:r>
            <a:r>
              <a:rPr lang="en-US" altLang="en-US" sz="1600" dirty="0" smtClean="0"/>
              <a:t> </a:t>
            </a:r>
            <a:r>
              <a:rPr lang="en-US" altLang="en-US" sz="1600" dirty="0" err="1" smtClean="0"/>
              <a:t>chỉ</a:t>
            </a:r>
            <a:endParaRPr lang="en-US" altLang="en-US" sz="1600" dirty="0" smtClean="0"/>
          </a:p>
          <a:p>
            <a:pPr lvl="2"/>
            <a:r>
              <a:rPr lang="en-US" altLang="en-US" sz="1600" dirty="0" smtClean="0"/>
              <a:t>h’(k)=(k mod m)</a:t>
            </a:r>
          </a:p>
          <a:p>
            <a:pPr lvl="2"/>
            <a:r>
              <a:rPr lang="en-US" altLang="en-US" sz="1600" dirty="0" smtClean="0"/>
              <a:t>i: 0..m-1</a:t>
            </a:r>
          </a:p>
          <a:p>
            <a:pPr lvl="3"/>
            <a:r>
              <a:rPr lang="en-US" altLang="en-US" sz="1600" dirty="0" err="1" smtClean="0"/>
              <a:t>i</a:t>
            </a:r>
            <a:r>
              <a:rPr lang="en-US" altLang="en-US" sz="1600" dirty="0" smtClean="0"/>
              <a:t>=0: </a:t>
            </a:r>
            <a:r>
              <a:rPr lang="en-US" altLang="en-US" sz="1600" dirty="0" err="1" smtClean="0"/>
              <a:t>Tìm</a:t>
            </a:r>
            <a:r>
              <a:rPr lang="en-US" altLang="en-US" sz="1600" dirty="0" smtClean="0"/>
              <a:t> </a:t>
            </a:r>
            <a:r>
              <a:rPr lang="en-US" altLang="en-US" sz="1600" dirty="0" err="1" smtClean="0"/>
              <a:t>vị</a:t>
            </a:r>
            <a:r>
              <a:rPr lang="en-US" altLang="en-US" sz="1600" dirty="0" smtClean="0"/>
              <a:t> </a:t>
            </a:r>
            <a:r>
              <a:rPr lang="en-US" altLang="en-US" sz="1600" dirty="0" err="1" smtClean="0"/>
              <a:t>trí</a:t>
            </a:r>
            <a:r>
              <a:rPr lang="en-US" altLang="en-US" sz="1600" dirty="0" smtClean="0"/>
              <a:t> </a:t>
            </a:r>
            <a:r>
              <a:rPr lang="en-US" altLang="en-US" sz="1600" dirty="0" err="1" smtClean="0"/>
              <a:t>đầu</a:t>
            </a:r>
            <a:r>
              <a:rPr lang="en-US" altLang="en-US" sz="1600" dirty="0" smtClean="0"/>
              <a:t> </a:t>
            </a:r>
            <a:r>
              <a:rPr lang="en-US" altLang="en-US" sz="1600" dirty="0" err="1" smtClean="0"/>
              <a:t>tiên</a:t>
            </a:r>
            <a:r>
              <a:rPr lang="en-US" altLang="en-US" sz="1600" dirty="0" smtClean="0"/>
              <a:t> </a:t>
            </a:r>
            <a:r>
              <a:rPr lang="en-US" altLang="en-US" sz="1600" i="1" dirty="0" smtClean="0"/>
              <a:t>h(k)</a:t>
            </a:r>
            <a:r>
              <a:rPr lang="en-US" altLang="en-US" sz="1600" dirty="0" smtClean="0"/>
              <a:t>. </a:t>
            </a:r>
            <a:r>
              <a:rPr lang="en-US" altLang="en-US" sz="1600" dirty="0" err="1" smtClean="0"/>
              <a:t>Nếu</a:t>
            </a:r>
            <a:r>
              <a:rPr lang="en-US" altLang="en-US" sz="1600" dirty="0" smtClean="0"/>
              <a:t> </a:t>
            </a:r>
            <a:r>
              <a:rPr lang="en-US" altLang="en-US" sz="1600" dirty="0" err="1" smtClean="0"/>
              <a:t>vị</a:t>
            </a:r>
            <a:r>
              <a:rPr lang="en-US" altLang="en-US" sz="1600" dirty="0" smtClean="0"/>
              <a:t> </a:t>
            </a:r>
            <a:r>
              <a:rPr lang="en-US" altLang="en-US" sz="1600" dirty="0" err="1" smtClean="0"/>
              <a:t>trí</a:t>
            </a:r>
            <a:r>
              <a:rPr lang="en-US" altLang="en-US" sz="1600" dirty="0" smtClean="0"/>
              <a:t> </a:t>
            </a:r>
            <a:r>
              <a:rPr lang="en-US" altLang="en-US" sz="1600" dirty="0" err="1" smtClean="0"/>
              <a:t>này</a:t>
            </a:r>
            <a:r>
              <a:rPr lang="en-US" altLang="en-US" sz="1600" dirty="0" smtClean="0"/>
              <a:t> </a:t>
            </a:r>
            <a:r>
              <a:rPr lang="en-US" altLang="en-US" sz="1600" dirty="0" err="1" smtClean="0"/>
              <a:t>đã</a:t>
            </a:r>
            <a:r>
              <a:rPr lang="en-US" altLang="en-US" sz="1600" dirty="0" smtClean="0"/>
              <a:t> </a:t>
            </a:r>
            <a:r>
              <a:rPr lang="en-US" altLang="en-US" sz="1600" dirty="0" err="1" smtClean="0"/>
              <a:t>chứa</a:t>
            </a:r>
            <a:r>
              <a:rPr lang="en-US" altLang="en-US" sz="1600" dirty="0" smtClean="0"/>
              <a:t> </a:t>
            </a:r>
            <a:r>
              <a:rPr lang="en-US" altLang="en-US" sz="1600" dirty="0" err="1" smtClean="0"/>
              <a:t>bản</a:t>
            </a:r>
            <a:r>
              <a:rPr lang="en-US" altLang="en-US" sz="1600" dirty="0" smtClean="0"/>
              <a:t> </a:t>
            </a:r>
            <a:r>
              <a:rPr lang="en-US" altLang="en-US" sz="1600" dirty="0" err="1" smtClean="0"/>
              <a:t>ghi</a:t>
            </a:r>
            <a:r>
              <a:rPr lang="en-US" altLang="en-US" sz="1600" dirty="0" smtClean="0"/>
              <a:t> =&gt; </a:t>
            </a:r>
            <a:r>
              <a:rPr lang="en-US" altLang="en-US" sz="1600" dirty="0" err="1"/>
              <a:t>tăng</a:t>
            </a:r>
            <a:r>
              <a:rPr lang="en-US" altLang="en-US" sz="1600" dirty="0"/>
              <a:t> </a:t>
            </a:r>
            <a:r>
              <a:rPr lang="en-US" altLang="en-US" sz="1600" i="1" dirty="0" err="1"/>
              <a:t>i</a:t>
            </a:r>
            <a:r>
              <a:rPr lang="en-US" altLang="en-US" sz="1600" i="1" dirty="0"/>
              <a:t> </a:t>
            </a:r>
            <a:r>
              <a:rPr lang="en-US" altLang="en-US" sz="1600" dirty="0" err="1"/>
              <a:t>lên</a:t>
            </a:r>
            <a:r>
              <a:rPr lang="en-US" altLang="en-US" sz="1600" dirty="0"/>
              <a:t> 1</a:t>
            </a:r>
            <a:endParaRPr lang="en-US" altLang="en-US" sz="1600" dirty="0" smtClean="0"/>
          </a:p>
          <a:p>
            <a:pPr lvl="3"/>
            <a:r>
              <a:rPr lang="en-US" altLang="en-US" sz="1600" dirty="0" err="1"/>
              <a:t>Chưa</a:t>
            </a:r>
            <a:r>
              <a:rPr lang="en-US" altLang="en-US" sz="1600" dirty="0"/>
              <a:t> </a:t>
            </a:r>
            <a:r>
              <a:rPr lang="en-US" altLang="en-US" sz="1600" dirty="0" err="1"/>
              <a:t>tìm</a:t>
            </a:r>
            <a:r>
              <a:rPr lang="en-US" altLang="en-US" sz="1600" dirty="0"/>
              <a:t> </a:t>
            </a:r>
            <a:r>
              <a:rPr lang="en-US" altLang="en-US" sz="1600" dirty="0" err="1"/>
              <a:t>được</a:t>
            </a:r>
            <a:r>
              <a:rPr lang="en-US" altLang="en-US" sz="1600" dirty="0"/>
              <a:t> </a:t>
            </a:r>
            <a:r>
              <a:rPr lang="en-US" altLang="en-US" sz="1600" dirty="0" err="1"/>
              <a:t>vị</a:t>
            </a:r>
            <a:r>
              <a:rPr lang="en-US" altLang="en-US" sz="1600" dirty="0"/>
              <a:t> </a:t>
            </a:r>
            <a:r>
              <a:rPr lang="en-US" altLang="en-US" sz="1600" dirty="0" err="1"/>
              <a:t>trí</a:t>
            </a:r>
            <a:r>
              <a:rPr lang="en-US" altLang="en-US" sz="1600" dirty="0"/>
              <a:t> </a:t>
            </a:r>
            <a:r>
              <a:rPr lang="en-US" altLang="en-US" sz="1600" dirty="0" err="1"/>
              <a:t>trống</a:t>
            </a:r>
            <a:r>
              <a:rPr lang="en-US" altLang="en-US" sz="1600" dirty="0"/>
              <a:t>, </a:t>
            </a:r>
            <a:r>
              <a:rPr lang="en-US" altLang="en-US" sz="1600" dirty="0" err="1"/>
              <a:t>tiếp</a:t>
            </a:r>
            <a:r>
              <a:rPr lang="en-US" altLang="en-US" sz="1600" dirty="0"/>
              <a:t> </a:t>
            </a:r>
            <a:r>
              <a:rPr lang="en-US" altLang="en-US" sz="1600" dirty="0" err="1"/>
              <a:t>tục</a:t>
            </a:r>
            <a:r>
              <a:rPr lang="en-US" altLang="en-US" sz="1600" dirty="0"/>
              <a:t> </a:t>
            </a:r>
            <a:r>
              <a:rPr lang="en-US" altLang="en-US" sz="1600" dirty="0" err="1"/>
              <a:t>tăng</a:t>
            </a:r>
            <a:r>
              <a:rPr lang="en-US" altLang="en-US" sz="1600" i="1" dirty="0"/>
              <a:t> </a:t>
            </a:r>
            <a:r>
              <a:rPr lang="en-US" altLang="en-US" sz="1600" i="1" dirty="0" err="1" smtClean="0"/>
              <a:t>i</a:t>
            </a:r>
            <a:r>
              <a:rPr lang="en-US" altLang="en-US" sz="1600" i="1" dirty="0" smtClean="0"/>
              <a:t> </a:t>
            </a:r>
            <a:r>
              <a:rPr lang="en-US" altLang="en-US" sz="1600" dirty="0" err="1" smtClean="0"/>
              <a:t>lên</a:t>
            </a:r>
            <a:r>
              <a:rPr lang="en-US" altLang="en-US" sz="1600" dirty="0" smtClean="0"/>
              <a:t> 1. </a:t>
            </a:r>
          </a:p>
          <a:p>
            <a:pPr lvl="2"/>
            <a:r>
              <a:rPr lang="en-US" altLang="en-US" sz="1600" dirty="0" err="1" smtClean="0"/>
              <a:t>Nếu</a:t>
            </a:r>
            <a:r>
              <a:rPr lang="en-US" altLang="en-US" sz="1600" dirty="0" smtClean="0"/>
              <a:t> </a:t>
            </a:r>
            <a:r>
              <a:rPr lang="en-US" altLang="en-US" sz="1600" dirty="0" err="1" smtClean="0"/>
              <a:t>cuối</a:t>
            </a:r>
            <a:r>
              <a:rPr lang="en-US" altLang="en-US" sz="1600" dirty="0" smtClean="0"/>
              <a:t> </a:t>
            </a:r>
            <a:r>
              <a:rPr lang="en-US" altLang="en-US" sz="1600" dirty="0" err="1" smtClean="0"/>
              <a:t>cùng</a:t>
            </a:r>
            <a:r>
              <a:rPr lang="en-US" altLang="en-US" sz="1600" dirty="0" smtClean="0"/>
              <a:t> </a:t>
            </a:r>
            <a:r>
              <a:rPr lang="en-US" altLang="en-US" sz="1600" dirty="0" err="1" smtClean="0"/>
              <a:t>vẫn</a:t>
            </a:r>
            <a:r>
              <a:rPr lang="en-US" altLang="en-US" sz="1600" dirty="0" smtClean="0"/>
              <a:t> </a:t>
            </a:r>
            <a:r>
              <a:rPr lang="en-US" altLang="en-US" sz="1600" dirty="0" err="1" smtClean="0"/>
              <a:t>không</a:t>
            </a:r>
            <a:r>
              <a:rPr lang="en-US" altLang="en-US" sz="1600" dirty="0" smtClean="0"/>
              <a:t> </a:t>
            </a:r>
            <a:r>
              <a:rPr lang="en-US" altLang="en-US" sz="1600" dirty="0" err="1" smtClean="0"/>
              <a:t>tìm</a:t>
            </a:r>
            <a:r>
              <a:rPr lang="en-US" altLang="en-US" sz="1600" dirty="0" smtClean="0"/>
              <a:t> </a:t>
            </a:r>
            <a:r>
              <a:rPr lang="en-US" altLang="en-US" sz="1600" dirty="0" err="1" smtClean="0"/>
              <a:t>được</a:t>
            </a:r>
            <a:r>
              <a:rPr lang="en-US" altLang="en-US" sz="1600" dirty="0" smtClean="0"/>
              <a:t> </a:t>
            </a:r>
            <a:r>
              <a:rPr lang="en-US" altLang="en-US" sz="1600" dirty="0" err="1" smtClean="0"/>
              <a:t>vị</a:t>
            </a:r>
            <a:r>
              <a:rPr lang="en-US" altLang="en-US" sz="1600" dirty="0" smtClean="0"/>
              <a:t> </a:t>
            </a:r>
            <a:r>
              <a:rPr lang="en-US" altLang="en-US" sz="1600" dirty="0" err="1" smtClean="0"/>
              <a:t>trí</a:t>
            </a:r>
            <a:r>
              <a:rPr lang="en-US" altLang="en-US" sz="1600" dirty="0" smtClean="0"/>
              <a:t> </a:t>
            </a:r>
            <a:r>
              <a:rPr lang="en-US" altLang="en-US" sz="1600" dirty="0" err="1" smtClean="0"/>
              <a:t>mới</a:t>
            </a:r>
            <a:r>
              <a:rPr lang="en-US" altLang="en-US" sz="1600" dirty="0" smtClean="0"/>
              <a:t> </a:t>
            </a:r>
            <a:r>
              <a:rPr lang="en-US" altLang="en-US" sz="1600" dirty="0" err="1" smtClean="0"/>
              <a:t>cho</a:t>
            </a:r>
            <a:r>
              <a:rPr lang="en-US" altLang="en-US" sz="1600" dirty="0" smtClean="0"/>
              <a:t> </a:t>
            </a:r>
            <a:r>
              <a:rPr lang="en-US" altLang="en-US" sz="1600" dirty="0" err="1" smtClean="0"/>
              <a:t>bản</a:t>
            </a:r>
            <a:r>
              <a:rPr lang="en-US" altLang="en-US" sz="1600" dirty="0" smtClean="0"/>
              <a:t> </a:t>
            </a:r>
            <a:r>
              <a:rPr lang="en-US" altLang="en-US" sz="1600" dirty="0" err="1" smtClean="0"/>
              <a:t>ghi</a:t>
            </a:r>
            <a:r>
              <a:rPr lang="en-US" altLang="en-US" sz="1600" dirty="0" smtClean="0"/>
              <a:t> </a:t>
            </a:r>
            <a:r>
              <a:rPr lang="en-US" altLang="en-US" sz="1600" dirty="0" smtClean="0">
                <a:sym typeface="Wingdings" panose="05000000000000000000" pitchFamily="2" charset="2"/>
              </a:rPr>
              <a:t> overflow</a:t>
            </a:r>
            <a:endParaRPr lang="en-US" altLang="en-US" sz="1600" dirty="0"/>
          </a:p>
        </p:txBody>
      </p:sp>
    </p:spTree>
    <p:extLst>
      <p:ext uri="{BB962C8B-B14F-4D97-AF65-F5344CB8AC3E}">
        <p14:creationId xmlns:p14="http://schemas.microsoft.com/office/powerpoint/2010/main" val="2443248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3539">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3539">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3539">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3539">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93539">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93539">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93539">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93539">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93539">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93539">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Slide Number Placeholder 4">
            <a:extLst>
              <a:ext uri="{FF2B5EF4-FFF2-40B4-BE49-F238E27FC236}">
                <a16:creationId xmlns:a16="http://schemas.microsoft.com/office/drawing/2014/main" id="{D5D2C7B0-FB6A-42A0-95CB-327F8BEAEAE3}"/>
              </a:ext>
            </a:extLst>
          </p:cNvPr>
          <p:cNvSpPr>
            <a:spLocks noGrp="1"/>
          </p:cNvSpPr>
          <p:nvPr>
            <p:ph type="sldNum" sz="quarter" idx="12"/>
          </p:nvPr>
        </p:nvSpPr>
        <p:spPr/>
        <p:txBody>
          <a:bodyPr/>
          <a:lstStyle/>
          <a:p>
            <a:fld id="{3318D183-A0A7-4D6C-A09B-E18F8223287A}" type="slidenum">
              <a:rPr lang="en-US" altLang="en-US"/>
              <a:pPr/>
              <a:t>35</a:t>
            </a:fld>
            <a:endParaRPr lang="en-US" altLang="en-US"/>
          </a:p>
        </p:txBody>
      </p:sp>
      <p:sp>
        <p:nvSpPr>
          <p:cNvPr id="193538" name="Rectangle 2">
            <a:extLst>
              <a:ext uri="{FF2B5EF4-FFF2-40B4-BE49-F238E27FC236}">
                <a16:creationId xmlns:a16="http://schemas.microsoft.com/office/drawing/2014/main" id="{CBCA78FA-8317-4F2F-B464-B755E39F548F}"/>
              </a:ext>
            </a:extLst>
          </p:cNvPr>
          <p:cNvSpPr>
            <a:spLocks noGrp="1" noChangeArrowheads="1"/>
          </p:cNvSpPr>
          <p:nvPr>
            <p:ph type="title"/>
          </p:nvPr>
        </p:nvSpPr>
        <p:spPr/>
        <p:txBody>
          <a:bodyPr>
            <a:normAutofit/>
          </a:bodyPr>
          <a:lstStyle/>
          <a:p>
            <a:r>
              <a:rPr lang="en-US" altLang="en-US" sz="2400" dirty="0" err="1">
                <a:cs typeface="Times New Roman" panose="02020603050405020304" pitchFamily="18" charset="0"/>
              </a:rPr>
              <a:t>Các</a:t>
            </a:r>
            <a:r>
              <a:rPr lang="en-US" altLang="en-US" sz="2400" dirty="0">
                <a:cs typeface="Times New Roman" panose="02020603050405020304" pitchFamily="18" charset="0"/>
              </a:rPr>
              <a:t> </a:t>
            </a:r>
            <a:r>
              <a:rPr lang="en-US" altLang="en-US" sz="2400" dirty="0" err="1">
                <a:cs typeface="Times New Roman" panose="02020603050405020304" pitchFamily="18" charset="0"/>
              </a:rPr>
              <a:t>biện</a:t>
            </a:r>
            <a:r>
              <a:rPr lang="en-US" altLang="en-US" sz="2400" dirty="0">
                <a:cs typeface="Times New Roman" panose="02020603050405020304" pitchFamily="18" charset="0"/>
              </a:rPr>
              <a:t> </a:t>
            </a:r>
            <a:r>
              <a:rPr lang="en-US" altLang="en-US" sz="2400" dirty="0" err="1">
                <a:cs typeface="Times New Roman" panose="02020603050405020304" pitchFamily="18" charset="0"/>
              </a:rPr>
              <a:t>pháp</a:t>
            </a:r>
            <a:r>
              <a:rPr lang="en-US" altLang="en-US" sz="2400" dirty="0">
                <a:cs typeface="Times New Roman" panose="02020603050405020304" pitchFamily="18" charset="0"/>
              </a:rPr>
              <a:t> </a:t>
            </a:r>
            <a:r>
              <a:rPr lang="en-US" altLang="en-US" sz="2400" dirty="0" err="1">
                <a:cs typeface="Times New Roman" panose="02020603050405020304" pitchFamily="18" charset="0"/>
              </a:rPr>
              <a:t>khắc</a:t>
            </a:r>
            <a:r>
              <a:rPr lang="en-US" altLang="en-US" sz="2400" dirty="0">
                <a:cs typeface="Times New Roman" panose="02020603050405020304" pitchFamily="18" charset="0"/>
              </a:rPr>
              <a:t> </a:t>
            </a:r>
            <a:r>
              <a:rPr lang="en-US" altLang="en-US" sz="2400" dirty="0" err="1">
                <a:cs typeface="Times New Roman" panose="02020603050405020304" pitchFamily="18" charset="0"/>
              </a:rPr>
              <a:t>phục</a:t>
            </a:r>
            <a:r>
              <a:rPr lang="en-US" altLang="en-US" sz="2400" dirty="0">
                <a:cs typeface="Times New Roman" panose="02020603050405020304" pitchFamily="18" charset="0"/>
              </a:rPr>
              <a:t> </a:t>
            </a:r>
            <a:r>
              <a:rPr lang="en-US" altLang="en-US" sz="2400" dirty="0" err="1">
                <a:cs typeface="Times New Roman" panose="02020603050405020304" pitchFamily="18" charset="0"/>
              </a:rPr>
              <a:t>đụng</a:t>
            </a:r>
            <a:r>
              <a:rPr lang="en-US" altLang="en-US" sz="2400" dirty="0">
                <a:cs typeface="Times New Roman" panose="02020603050405020304" pitchFamily="18" charset="0"/>
              </a:rPr>
              <a:t> </a:t>
            </a:r>
            <a:r>
              <a:rPr lang="en-US" altLang="en-US" sz="2400" dirty="0" err="1">
                <a:cs typeface="Times New Roman" panose="02020603050405020304" pitchFamily="18" charset="0"/>
              </a:rPr>
              <a:t>độ</a:t>
            </a:r>
            <a:r>
              <a:rPr lang="en-US" altLang="en-US" sz="2400" dirty="0"/>
              <a:t> </a:t>
            </a:r>
          </a:p>
        </p:txBody>
      </p:sp>
      <p:sp>
        <p:nvSpPr>
          <p:cNvPr id="193539" name="Rectangle 3">
            <a:extLst>
              <a:ext uri="{FF2B5EF4-FFF2-40B4-BE49-F238E27FC236}">
                <a16:creationId xmlns:a16="http://schemas.microsoft.com/office/drawing/2014/main" id="{EF389C92-84AD-4385-B32D-2B1873A6BFF4}"/>
              </a:ext>
            </a:extLst>
          </p:cNvPr>
          <p:cNvSpPr>
            <a:spLocks noGrp="1" noChangeArrowheads="1"/>
          </p:cNvSpPr>
          <p:nvPr>
            <p:ph type="body" sz="quarter" idx="13"/>
          </p:nvPr>
        </p:nvSpPr>
        <p:spPr>
          <a:xfrm>
            <a:off x="234951" y="963168"/>
            <a:ext cx="8674100" cy="1920927"/>
          </a:xfrm>
          <a:noFill/>
          <a:ln/>
        </p:spPr>
        <p:txBody>
          <a:bodyPr>
            <a:normAutofit fontScale="92500" lnSpcReduction="10000"/>
          </a:bodyPr>
          <a:lstStyle/>
          <a:p>
            <a:r>
              <a:rPr lang="en-US" altLang="en-US" sz="2400" dirty="0" err="1">
                <a:cs typeface="Times New Roman" panose="02020603050405020304" pitchFamily="18" charset="0"/>
              </a:rPr>
              <a:t>Biện</a:t>
            </a:r>
            <a:r>
              <a:rPr lang="en-US" altLang="en-US" sz="2400" dirty="0">
                <a:cs typeface="Times New Roman" panose="02020603050405020304" pitchFamily="18" charset="0"/>
              </a:rPr>
              <a:t> </a:t>
            </a:r>
            <a:r>
              <a:rPr lang="en-US" altLang="en-US" sz="2400" dirty="0" err="1">
                <a:cs typeface="Times New Roman" panose="02020603050405020304" pitchFamily="18" charset="0"/>
              </a:rPr>
              <a:t>pháp</a:t>
            </a:r>
            <a:r>
              <a:rPr lang="en-US" altLang="en-US" sz="2400" dirty="0">
                <a:cs typeface="Times New Roman" panose="02020603050405020304" pitchFamily="18" charset="0"/>
              </a:rPr>
              <a:t> </a:t>
            </a:r>
            <a:r>
              <a:rPr lang="en-US" altLang="en-US" sz="2400" dirty="0" err="1">
                <a:cs typeface="Times New Roman" panose="02020603050405020304" pitchFamily="18" charset="0"/>
              </a:rPr>
              <a:t>địa</a:t>
            </a:r>
            <a:r>
              <a:rPr lang="en-US" altLang="en-US" sz="2400" dirty="0">
                <a:cs typeface="Times New Roman" panose="02020603050405020304" pitchFamily="18" charset="0"/>
              </a:rPr>
              <a:t> </a:t>
            </a:r>
            <a:r>
              <a:rPr lang="en-US" altLang="en-US" sz="2400" dirty="0" err="1">
                <a:cs typeface="Times New Roman" panose="02020603050405020304" pitchFamily="18" charset="0"/>
              </a:rPr>
              <a:t>chỉ</a:t>
            </a:r>
            <a:r>
              <a:rPr lang="en-US" altLang="en-US" sz="2400" dirty="0">
                <a:cs typeface="Times New Roman" panose="02020603050405020304" pitchFamily="18" charset="0"/>
              </a:rPr>
              <a:t> </a:t>
            </a:r>
            <a:r>
              <a:rPr lang="en-US" altLang="en-US" sz="2400" dirty="0" err="1">
                <a:cs typeface="Times New Roman" panose="02020603050405020304" pitchFamily="18" charset="0"/>
              </a:rPr>
              <a:t>mở</a:t>
            </a:r>
            <a:r>
              <a:rPr lang="en-US" altLang="en-US" sz="2400" dirty="0">
                <a:cs typeface="Times New Roman" panose="02020603050405020304" pitchFamily="18" charset="0"/>
              </a:rPr>
              <a:t> </a:t>
            </a:r>
            <a:r>
              <a:rPr lang="en-US" altLang="en-US" sz="2200" dirty="0">
                <a:cs typeface="Times New Roman" panose="02020603050405020304" pitchFamily="18" charset="0"/>
              </a:rPr>
              <a:t>- </a:t>
            </a:r>
            <a:r>
              <a:rPr lang="en-US" altLang="en-US" sz="2200" i="1" dirty="0" err="1">
                <a:cs typeface="Times New Roman" panose="02020603050405020304" pitchFamily="18" charset="0"/>
              </a:rPr>
              <a:t>Ph</a:t>
            </a:r>
            <a:r>
              <a:rPr lang="en-US" altLang="en-US" sz="2200" i="1" dirty="0" err="1"/>
              <a:t>ương</a:t>
            </a:r>
            <a:r>
              <a:rPr lang="en-US" altLang="en-US" sz="2200" i="1" dirty="0"/>
              <a:t> </a:t>
            </a:r>
            <a:r>
              <a:rPr lang="en-US" altLang="en-US" sz="2200" i="1" dirty="0" err="1"/>
              <a:t>pháp</a:t>
            </a:r>
            <a:r>
              <a:rPr lang="en-US" altLang="en-US" sz="2200" i="1" dirty="0"/>
              <a:t> </a:t>
            </a:r>
            <a:r>
              <a:rPr lang="en-US" altLang="en-US" sz="2200" i="1" dirty="0" err="1" smtClean="0"/>
              <a:t>dò</a:t>
            </a:r>
            <a:r>
              <a:rPr lang="en-US" altLang="en-US" sz="2200" i="1" dirty="0" smtClean="0"/>
              <a:t> </a:t>
            </a:r>
            <a:r>
              <a:rPr lang="en-US" altLang="en-US" sz="2200" i="1" dirty="0" err="1"/>
              <a:t>tuyến</a:t>
            </a:r>
            <a:r>
              <a:rPr lang="en-US" altLang="en-US" sz="2200" i="1" dirty="0"/>
              <a:t> </a:t>
            </a:r>
            <a:r>
              <a:rPr lang="en-US" altLang="en-US" sz="2200" i="1" dirty="0" err="1" smtClean="0"/>
              <a:t>tính</a:t>
            </a:r>
            <a:r>
              <a:rPr lang="en-US" altLang="en-US" sz="2200" i="1" dirty="0"/>
              <a:t> (Linear </a:t>
            </a:r>
            <a:r>
              <a:rPr lang="en-US" altLang="en-US" sz="2200" i="1" dirty="0" smtClean="0"/>
              <a:t>Probing)</a:t>
            </a:r>
            <a:endParaRPr lang="en-US" altLang="en-US" sz="2400" dirty="0"/>
          </a:p>
          <a:p>
            <a:pPr lvl="1"/>
            <a:r>
              <a:rPr lang="en-US" altLang="en-US" sz="2400" dirty="0" err="1" smtClean="0"/>
              <a:t>Ví</a:t>
            </a:r>
            <a:r>
              <a:rPr lang="en-US" altLang="en-US" sz="2400" dirty="0" smtClean="0"/>
              <a:t> </a:t>
            </a:r>
            <a:r>
              <a:rPr lang="en-US" altLang="en-US" sz="2400" dirty="0" err="1" smtClean="0"/>
              <a:t>dụ</a:t>
            </a:r>
            <a:r>
              <a:rPr lang="en-US" altLang="en-US" sz="2400" dirty="0" smtClean="0"/>
              <a:t>: </a:t>
            </a:r>
            <a:r>
              <a:rPr lang="en-US" altLang="en-US" sz="2000" dirty="0" smtClean="0"/>
              <a:t>Cho </a:t>
            </a:r>
            <a:r>
              <a:rPr lang="en-US" altLang="en-US" sz="2000" dirty="0" err="1" smtClean="0"/>
              <a:t>bảng</a:t>
            </a:r>
            <a:r>
              <a:rPr lang="en-US" altLang="en-US" sz="2000" dirty="0" smtClean="0"/>
              <a:t> hash </a:t>
            </a:r>
            <a:r>
              <a:rPr lang="en-US" altLang="en-US" sz="2000" dirty="0" err="1" smtClean="0"/>
              <a:t>có</a:t>
            </a:r>
            <a:r>
              <a:rPr lang="en-US" altLang="en-US" sz="2000" dirty="0" smtClean="0"/>
              <a:t> </a:t>
            </a:r>
            <a:r>
              <a:rPr lang="en-US" altLang="en-US" sz="2000" dirty="0" err="1" smtClean="0"/>
              <a:t>kích</a:t>
            </a:r>
            <a:r>
              <a:rPr lang="en-US" altLang="en-US" sz="2000" dirty="0" smtClean="0"/>
              <a:t> </a:t>
            </a:r>
            <a:r>
              <a:rPr lang="en-US" altLang="en-US" sz="2000" dirty="0" err="1" smtClean="0"/>
              <a:t>thước</a:t>
            </a:r>
            <a:r>
              <a:rPr lang="en-US" altLang="en-US" sz="2000" dirty="0" smtClean="0"/>
              <a:t> = 10. </a:t>
            </a:r>
            <a:r>
              <a:rPr lang="en-US" altLang="en-US" sz="2000" dirty="0" err="1" smtClean="0"/>
              <a:t>Thêm</a:t>
            </a:r>
            <a:r>
              <a:rPr lang="en-US" altLang="en-US" sz="2000" dirty="0" smtClean="0"/>
              <a:t> </a:t>
            </a:r>
            <a:r>
              <a:rPr lang="en-US" altLang="en-US" sz="2000" dirty="0" err="1" smtClean="0"/>
              <a:t>các</a:t>
            </a:r>
            <a:r>
              <a:rPr lang="en-US" altLang="en-US" sz="2000" dirty="0" smtClean="0"/>
              <a:t> </a:t>
            </a:r>
            <a:r>
              <a:rPr lang="en-US" altLang="en-US" sz="2000" dirty="0" err="1" smtClean="0"/>
              <a:t>khóa</a:t>
            </a:r>
            <a:r>
              <a:rPr lang="en-US" altLang="en-US" sz="2000" dirty="0" smtClean="0"/>
              <a:t> </a:t>
            </a:r>
            <a:r>
              <a:rPr lang="en-US" altLang="en-US" sz="2000" dirty="0"/>
              <a:t>72, </a:t>
            </a:r>
            <a:r>
              <a:rPr lang="en-US" altLang="en-US" sz="2000" dirty="0" smtClean="0"/>
              <a:t>27, 36</a:t>
            </a:r>
            <a:r>
              <a:rPr lang="en-US" altLang="en-US" sz="2000" dirty="0"/>
              <a:t>, 24, 63, 81, </a:t>
            </a:r>
            <a:r>
              <a:rPr lang="en-US" altLang="en-US" sz="2000" dirty="0" smtClean="0"/>
              <a:t>92 … </a:t>
            </a:r>
            <a:r>
              <a:rPr lang="en-US" altLang="en-US" sz="2000" dirty="0" err="1" smtClean="0"/>
              <a:t>vào</a:t>
            </a:r>
            <a:r>
              <a:rPr lang="en-US" altLang="en-US" sz="2000" dirty="0" smtClean="0"/>
              <a:t> </a:t>
            </a:r>
            <a:r>
              <a:rPr lang="en-US" altLang="en-US" sz="2000" dirty="0" err="1" smtClean="0"/>
              <a:t>bảng</a:t>
            </a:r>
            <a:endParaRPr lang="en-US" altLang="en-US" sz="2000" dirty="0" smtClean="0"/>
          </a:p>
          <a:p>
            <a:pPr lvl="2"/>
            <a:r>
              <a:rPr lang="da-DK" altLang="en-US" sz="1800" dirty="0" smtClean="0"/>
              <a:t>h(k</a:t>
            </a:r>
            <a:r>
              <a:rPr lang="da-DK" altLang="en-US" sz="1800" dirty="0"/>
              <a:t>) = k mod m, m = </a:t>
            </a:r>
            <a:r>
              <a:rPr lang="da-DK" altLang="en-US" sz="1800" dirty="0" smtClean="0"/>
              <a:t>10</a:t>
            </a:r>
          </a:p>
          <a:p>
            <a:pPr lvl="2"/>
            <a:r>
              <a:rPr lang="en-US" altLang="en-US" sz="1800" dirty="0"/>
              <a:t>h(</a:t>
            </a:r>
            <a:r>
              <a:rPr lang="en-US" altLang="en-US" sz="1800" dirty="0" err="1"/>
              <a:t>k,i</a:t>
            </a:r>
            <a:r>
              <a:rPr lang="en-US" altLang="en-US" sz="1800" dirty="0"/>
              <a:t>) = </a:t>
            </a:r>
            <a:r>
              <a:rPr lang="en-US" altLang="en-US" sz="1800" i="1" dirty="0" smtClean="0"/>
              <a:t>[</a:t>
            </a:r>
            <a:r>
              <a:rPr lang="da-DK" altLang="en-US" sz="1800" i="1" dirty="0" smtClean="0"/>
              <a:t>k </a:t>
            </a:r>
            <a:r>
              <a:rPr lang="da-DK" altLang="en-US" sz="1800" i="1" dirty="0"/>
              <a:t>mod m </a:t>
            </a:r>
            <a:r>
              <a:rPr lang="en-US" altLang="en-US" sz="1800" i="1" dirty="0" smtClean="0"/>
              <a:t>+</a:t>
            </a:r>
            <a:r>
              <a:rPr lang="en-US" altLang="en-US" sz="1800" i="1" dirty="0" err="1"/>
              <a:t>i</a:t>
            </a:r>
            <a:r>
              <a:rPr lang="en-US" altLang="en-US" sz="1800" i="1" dirty="0"/>
              <a:t>] mod </a:t>
            </a:r>
            <a:r>
              <a:rPr lang="en-US" altLang="en-US" sz="1800" i="1" dirty="0" smtClean="0"/>
              <a:t>m </a:t>
            </a:r>
            <a:r>
              <a:rPr lang="en-US" altLang="en-US" sz="1800" dirty="0" smtClean="0"/>
              <a:t>(</a:t>
            </a:r>
            <a:r>
              <a:rPr lang="en-US" altLang="en-US" sz="1800" dirty="0" err="1" smtClean="0"/>
              <a:t>i</a:t>
            </a:r>
            <a:r>
              <a:rPr lang="en-US" altLang="en-US" sz="1800" dirty="0" smtClean="0"/>
              <a:t> = 1..m)</a:t>
            </a:r>
          </a:p>
          <a:p>
            <a:pPr lvl="1"/>
            <a:r>
              <a:rPr lang="en-US" altLang="en-US" sz="2400" b="1" dirty="0" err="1"/>
              <a:t>Ví</a:t>
            </a:r>
            <a:r>
              <a:rPr lang="en-US" altLang="en-US" sz="2400" b="1" dirty="0"/>
              <a:t> </a:t>
            </a:r>
            <a:r>
              <a:rPr lang="en-US" altLang="en-US" sz="2400" b="1" dirty="0" err="1"/>
              <a:t>dụ</a:t>
            </a:r>
            <a:r>
              <a:rPr lang="en-US" altLang="en-US" sz="2400" b="1" dirty="0"/>
              <a:t>: </a:t>
            </a:r>
            <a:r>
              <a:rPr lang="en-US" altLang="en-US" sz="2000" b="1" dirty="0" err="1"/>
              <a:t>Tìm</a:t>
            </a:r>
            <a:r>
              <a:rPr lang="en-US" altLang="en-US" sz="2000" b="1" dirty="0"/>
              <a:t> </a:t>
            </a:r>
            <a:r>
              <a:rPr lang="en-US" altLang="en-US" sz="2000" b="1" dirty="0" err="1" smtClean="0"/>
              <a:t>kiếm</a:t>
            </a:r>
            <a:r>
              <a:rPr lang="en-US" altLang="en-US" sz="2000" b="1" dirty="0" smtClean="0"/>
              <a:t> !</a:t>
            </a:r>
            <a:endParaRPr lang="en-US" altLang="en-US" sz="2000" b="1" dirty="0"/>
          </a:p>
        </p:txBody>
      </p:sp>
      <p:pic>
        <p:nvPicPr>
          <p:cNvPr id="2" name="Picture 1"/>
          <p:cNvPicPr>
            <a:picLocks noChangeAspect="1"/>
          </p:cNvPicPr>
          <p:nvPr/>
        </p:nvPicPr>
        <p:blipFill>
          <a:blip r:embed="rId3"/>
          <a:stretch>
            <a:fillRect/>
          </a:stretch>
        </p:blipFill>
        <p:spPr>
          <a:xfrm>
            <a:off x="3584027" y="2590800"/>
            <a:ext cx="5115639" cy="447737"/>
          </a:xfrm>
          <a:prstGeom prst="rect">
            <a:avLst/>
          </a:prstGeom>
        </p:spPr>
      </p:pic>
      <p:sp>
        <p:nvSpPr>
          <p:cNvPr id="3" name="TextBox 2"/>
          <p:cNvSpPr txBox="1"/>
          <p:nvPr/>
        </p:nvSpPr>
        <p:spPr>
          <a:xfrm>
            <a:off x="6408061" y="2246868"/>
            <a:ext cx="2772875" cy="369332"/>
          </a:xfrm>
          <a:prstGeom prst="rect">
            <a:avLst/>
          </a:prstGeom>
          <a:noFill/>
        </p:spPr>
        <p:txBody>
          <a:bodyPr wrap="none" rtlCol="0">
            <a:spAutoFit/>
          </a:bodyPr>
          <a:lstStyle/>
          <a:p>
            <a:r>
              <a:rPr lang="en-US" dirty="0" smtClean="0"/>
              <a:t>=-1</a:t>
            </a:r>
            <a:r>
              <a:rPr lang="en-US" dirty="0"/>
              <a:t>: sentinel </a:t>
            </a:r>
            <a:r>
              <a:rPr lang="en-US" dirty="0" smtClean="0"/>
              <a:t>value: </a:t>
            </a:r>
            <a:r>
              <a:rPr lang="en-US" i="1" dirty="0" smtClean="0"/>
              <a:t>free box</a:t>
            </a:r>
            <a:endParaRPr lang="en-US" i="1" dirty="0"/>
          </a:p>
        </p:txBody>
      </p:sp>
      <p:sp>
        <p:nvSpPr>
          <p:cNvPr id="4" name="Rectangle 3"/>
          <p:cNvSpPr/>
          <p:nvPr/>
        </p:nvSpPr>
        <p:spPr>
          <a:xfrm>
            <a:off x="0" y="3160252"/>
            <a:ext cx="3374642" cy="2031325"/>
          </a:xfrm>
          <a:prstGeom prst="rect">
            <a:avLst/>
          </a:prstGeom>
        </p:spPr>
        <p:txBody>
          <a:bodyPr wrap="none">
            <a:spAutoFit/>
          </a:bodyPr>
          <a:lstStyle/>
          <a:p>
            <a:r>
              <a:rPr lang="en-US" dirty="0" err="1" smtClean="0"/>
              <a:t>Thêm</a:t>
            </a:r>
            <a:r>
              <a:rPr lang="en-US" dirty="0" smtClean="0"/>
              <a:t> k </a:t>
            </a:r>
            <a:r>
              <a:rPr lang="en-US" dirty="0"/>
              <a:t>= </a:t>
            </a:r>
            <a:r>
              <a:rPr lang="en-US" dirty="0" smtClean="0"/>
              <a:t>72 </a:t>
            </a:r>
            <a:r>
              <a:rPr lang="en-US" dirty="0" smtClean="0">
                <a:sym typeface="Wingdings" panose="05000000000000000000" pitchFamily="2" charset="2"/>
              </a:rPr>
              <a:t></a:t>
            </a:r>
            <a:r>
              <a:rPr lang="en-US" dirty="0" smtClean="0"/>
              <a:t> h(k)=2</a:t>
            </a:r>
          </a:p>
          <a:p>
            <a:r>
              <a:rPr lang="en-US" dirty="0" err="1" smtClean="0"/>
              <a:t>Thêm</a:t>
            </a:r>
            <a:r>
              <a:rPr lang="en-US" dirty="0" smtClean="0"/>
              <a:t> k = 27</a:t>
            </a:r>
            <a:r>
              <a:rPr lang="en-US" dirty="0" smtClean="0">
                <a:sym typeface="Wingdings" panose="05000000000000000000" pitchFamily="2" charset="2"/>
              </a:rPr>
              <a:t> </a:t>
            </a:r>
            <a:r>
              <a:rPr lang="en-US" dirty="0" smtClean="0"/>
              <a:t> h(k)=7</a:t>
            </a:r>
          </a:p>
          <a:p>
            <a:r>
              <a:rPr lang="en-US" dirty="0" err="1" smtClean="0"/>
              <a:t>Thêm</a:t>
            </a:r>
            <a:r>
              <a:rPr lang="en-US" dirty="0" smtClean="0"/>
              <a:t> </a:t>
            </a:r>
            <a:r>
              <a:rPr lang="en-US" dirty="0"/>
              <a:t>k = </a:t>
            </a:r>
            <a:r>
              <a:rPr lang="en-US" dirty="0" smtClean="0"/>
              <a:t>36</a:t>
            </a:r>
            <a:r>
              <a:rPr lang="en-US" dirty="0" smtClean="0">
                <a:sym typeface="Wingdings" panose="05000000000000000000" pitchFamily="2" charset="2"/>
              </a:rPr>
              <a:t> </a:t>
            </a:r>
            <a:r>
              <a:rPr lang="en-US" dirty="0">
                <a:sym typeface="Wingdings" panose="05000000000000000000" pitchFamily="2" charset="2"/>
              </a:rPr>
              <a:t></a:t>
            </a:r>
            <a:r>
              <a:rPr lang="en-US" dirty="0"/>
              <a:t> h(k</a:t>
            </a:r>
            <a:r>
              <a:rPr lang="en-US" dirty="0" smtClean="0"/>
              <a:t>)=6</a:t>
            </a:r>
          </a:p>
          <a:p>
            <a:r>
              <a:rPr lang="en-US" dirty="0" err="1"/>
              <a:t>Thêm</a:t>
            </a:r>
            <a:r>
              <a:rPr lang="en-US" dirty="0"/>
              <a:t> k = </a:t>
            </a:r>
            <a:r>
              <a:rPr lang="en-US" dirty="0" smtClean="0"/>
              <a:t>24</a:t>
            </a:r>
            <a:r>
              <a:rPr lang="en-US" dirty="0" smtClean="0">
                <a:sym typeface="Wingdings" panose="05000000000000000000" pitchFamily="2" charset="2"/>
              </a:rPr>
              <a:t> </a:t>
            </a:r>
            <a:r>
              <a:rPr lang="en-US" dirty="0">
                <a:sym typeface="Wingdings" panose="05000000000000000000" pitchFamily="2" charset="2"/>
              </a:rPr>
              <a:t></a:t>
            </a:r>
            <a:r>
              <a:rPr lang="en-US" dirty="0"/>
              <a:t> h(k</a:t>
            </a:r>
            <a:r>
              <a:rPr lang="en-US" dirty="0" smtClean="0"/>
              <a:t>)=4</a:t>
            </a:r>
          </a:p>
          <a:p>
            <a:r>
              <a:rPr lang="en-US" dirty="0" err="1"/>
              <a:t>Thêm</a:t>
            </a:r>
            <a:r>
              <a:rPr lang="en-US" dirty="0"/>
              <a:t> k = </a:t>
            </a:r>
            <a:r>
              <a:rPr lang="en-US" dirty="0" smtClean="0"/>
              <a:t>63</a:t>
            </a:r>
            <a:r>
              <a:rPr lang="en-US" dirty="0" smtClean="0">
                <a:sym typeface="Wingdings" panose="05000000000000000000" pitchFamily="2" charset="2"/>
              </a:rPr>
              <a:t> </a:t>
            </a:r>
            <a:r>
              <a:rPr lang="en-US" dirty="0">
                <a:sym typeface="Wingdings" panose="05000000000000000000" pitchFamily="2" charset="2"/>
              </a:rPr>
              <a:t></a:t>
            </a:r>
            <a:r>
              <a:rPr lang="en-US" dirty="0"/>
              <a:t> h(k</a:t>
            </a:r>
            <a:r>
              <a:rPr lang="en-US" dirty="0" smtClean="0"/>
              <a:t>)=3</a:t>
            </a:r>
          </a:p>
          <a:p>
            <a:r>
              <a:rPr lang="en-US" dirty="0" err="1"/>
              <a:t>Thêm</a:t>
            </a:r>
            <a:r>
              <a:rPr lang="en-US" dirty="0"/>
              <a:t> k = </a:t>
            </a:r>
            <a:r>
              <a:rPr lang="en-US" dirty="0" smtClean="0"/>
              <a:t>81</a:t>
            </a:r>
            <a:r>
              <a:rPr lang="en-US" dirty="0" smtClean="0">
                <a:sym typeface="Wingdings" panose="05000000000000000000" pitchFamily="2" charset="2"/>
              </a:rPr>
              <a:t> </a:t>
            </a:r>
            <a:r>
              <a:rPr lang="en-US" dirty="0">
                <a:sym typeface="Wingdings" panose="05000000000000000000" pitchFamily="2" charset="2"/>
              </a:rPr>
              <a:t></a:t>
            </a:r>
            <a:r>
              <a:rPr lang="en-US" dirty="0"/>
              <a:t> h(k</a:t>
            </a:r>
            <a:r>
              <a:rPr lang="en-US" dirty="0" smtClean="0"/>
              <a:t>)=1</a:t>
            </a:r>
          </a:p>
          <a:p>
            <a:r>
              <a:rPr lang="en-US" dirty="0" err="1"/>
              <a:t>Thêm</a:t>
            </a:r>
            <a:r>
              <a:rPr lang="en-US" dirty="0"/>
              <a:t> k = </a:t>
            </a:r>
            <a:r>
              <a:rPr lang="en-US" dirty="0" smtClean="0"/>
              <a:t>92</a:t>
            </a:r>
            <a:r>
              <a:rPr lang="en-US" dirty="0" smtClean="0">
                <a:sym typeface="Wingdings" panose="05000000000000000000" pitchFamily="2" charset="2"/>
              </a:rPr>
              <a:t> </a:t>
            </a:r>
            <a:r>
              <a:rPr lang="en-US" dirty="0">
                <a:sym typeface="Wingdings" panose="05000000000000000000" pitchFamily="2" charset="2"/>
              </a:rPr>
              <a:t></a:t>
            </a:r>
            <a:r>
              <a:rPr lang="en-US" dirty="0"/>
              <a:t> h(k</a:t>
            </a:r>
            <a:r>
              <a:rPr lang="en-US" dirty="0" smtClean="0"/>
              <a:t>)=2 </a:t>
            </a:r>
            <a:r>
              <a:rPr lang="en-US" dirty="0" smtClean="0">
                <a:sym typeface="Wingdings" panose="05000000000000000000" pitchFamily="2" charset="2"/>
              </a:rPr>
              <a:t> </a:t>
            </a:r>
            <a:r>
              <a:rPr lang="en-US" dirty="0" err="1" smtClean="0">
                <a:sym typeface="Wingdings" panose="05000000000000000000" pitchFamily="2" charset="2"/>
              </a:rPr>
              <a:t>đụng</a:t>
            </a:r>
            <a:r>
              <a:rPr lang="en-US" dirty="0" smtClean="0">
                <a:sym typeface="Wingdings" panose="05000000000000000000" pitchFamily="2" charset="2"/>
              </a:rPr>
              <a:t> </a:t>
            </a:r>
            <a:r>
              <a:rPr lang="en-US" dirty="0" err="1" smtClean="0">
                <a:sym typeface="Wingdings" panose="05000000000000000000" pitchFamily="2" charset="2"/>
              </a:rPr>
              <a:t>độ</a:t>
            </a:r>
            <a:endParaRPr lang="en-US" dirty="0"/>
          </a:p>
        </p:txBody>
      </p:sp>
      <p:pic>
        <p:nvPicPr>
          <p:cNvPr id="5" name="Picture 4"/>
          <p:cNvPicPr>
            <a:picLocks noChangeAspect="1"/>
          </p:cNvPicPr>
          <p:nvPr/>
        </p:nvPicPr>
        <p:blipFill>
          <a:blip r:embed="rId4"/>
          <a:stretch>
            <a:fillRect/>
          </a:stretch>
        </p:blipFill>
        <p:spPr>
          <a:xfrm>
            <a:off x="3574500" y="4343400"/>
            <a:ext cx="5134692" cy="485843"/>
          </a:xfrm>
          <a:prstGeom prst="rect">
            <a:avLst/>
          </a:prstGeom>
        </p:spPr>
      </p:pic>
      <p:pic>
        <p:nvPicPr>
          <p:cNvPr id="6" name="Picture 5"/>
          <p:cNvPicPr>
            <a:picLocks noChangeAspect="1"/>
          </p:cNvPicPr>
          <p:nvPr/>
        </p:nvPicPr>
        <p:blipFill>
          <a:blip r:embed="rId5"/>
          <a:stretch>
            <a:fillRect/>
          </a:stretch>
        </p:blipFill>
        <p:spPr>
          <a:xfrm>
            <a:off x="3593553" y="3063884"/>
            <a:ext cx="5115639" cy="447737"/>
          </a:xfrm>
          <a:prstGeom prst="rect">
            <a:avLst/>
          </a:prstGeom>
        </p:spPr>
      </p:pic>
      <p:sp>
        <p:nvSpPr>
          <p:cNvPr id="7" name="TextBox 6"/>
          <p:cNvSpPr txBox="1"/>
          <p:nvPr/>
        </p:nvSpPr>
        <p:spPr>
          <a:xfrm>
            <a:off x="5893331" y="3658560"/>
            <a:ext cx="394164" cy="461665"/>
          </a:xfrm>
          <a:prstGeom prst="rect">
            <a:avLst/>
          </a:prstGeom>
          <a:noFill/>
        </p:spPr>
        <p:txBody>
          <a:bodyPr wrap="square" rtlCol="0">
            <a:spAutoFit/>
          </a:bodyPr>
          <a:lstStyle/>
          <a:p>
            <a:r>
              <a:rPr lang="en-US" sz="2400" dirty="0" smtClean="0"/>
              <a:t>…</a:t>
            </a:r>
            <a:endParaRPr lang="en-US" sz="2400" dirty="0"/>
          </a:p>
        </p:txBody>
      </p:sp>
      <p:cxnSp>
        <p:nvCxnSpPr>
          <p:cNvPr id="9" name="Straight Arrow Connector 8"/>
          <p:cNvCxnSpPr/>
          <p:nvPr/>
        </p:nvCxnSpPr>
        <p:spPr>
          <a:xfrm>
            <a:off x="2286000" y="3352800"/>
            <a:ext cx="12192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2286000" y="4724400"/>
            <a:ext cx="12192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2572049" y="3734771"/>
            <a:ext cx="394164" cy="461665"/>
          </a:xfrm>
          <a:prstGeom prst="rect">
            <a:avLst/>
          </a:prstGeom>
          <a:noFill/>
        </p:spPr>
        <p:txBody>
          <a:bodyPr wrap="square" rtlCol="0">
            <a:spAutoFit/>
          </a:bodyPr>
          <a:lstStyle/>
          <a:p>
            <a:r>
              <a:rPr lang="en-US" sz="2400" dirty="0" smtClean="0"/>
              <a:t>…</a:t>
            </a:r>
            <a:endParaRPr lang="en-US" sz="2400" dirty="0"/>
          </a:p>
        </p:txBody>
      </p:sp>
      <p:sp>
        <p:nvSpPr>
          <p:cNvPr id="10" name="TextBox 9"/>
          <p:cNvSpPr txBox="1"/>
          <p:nvPr/>
        </p:nvSpPr>
        <p:spPr>
          <a:xfrm>
            <a:off x="341161" y="5103674"/>
            <a:ext cx="5571983" cy="1754326"/>
          </a:xfrm>
          <a:prstGeom prst="rect">
            <a:avLst/>
          </a:prstGeom>
          <a:noFill/>
        </p:spPr>
        <p:txBody>
          <a:bodyPr wrap="square" rtlCol="0">
            <a:spAutoFit/>
          </a:bodyPr>
          <a:lstStyle/>
          <a:p>
            <a:r>
              <a:rPr lang="en-US" dirty="0" err="1" smtClean="0"/>
              <a:t>Dò</a:t>
            </a:r>
            <a:r>
              <a:rPr lang="en-US" dirty="0" smtClean="0"/>
              <a:t>: h(92,1) = (92 mod 10 +1)mod 10 = 3 : occupied</a:t>
            </a:r>
          </a:p>
          <a:p>
            <a:r>
              <a:rPr lang="en-US" dirty="0" err="1" smtClean="0">
                <a:solidFill>
                  <a:schemeClr val="bg1"/>
                </a:solidFill>
              </a:rPr>
              <a:t>Dò</a:t>
            </a:r>
            <a:r>
              <a:rPr lang="en-US" dirty="0">
                <a:solidFill>
                  <a:schemeClr val="bg1"/>
                </a:solidFill>
              </a:rPr>
              <a:t>: </a:t>
            </a:r>
            <a:r>
              <a:rPr lang="en-US" dirty="0" smtClean="0"/>
              <a:t>h(92,2) </a:t>
            </a:r>
            <a:r>
              <a:rPr lang="en-US" dirty="0"/>
              <a:t>= (92 mod 10 </a:t>
            </a:r>
            <a:r>
              <a:rPr lang="en-US" dirty="0" smtClean="0"/>
              <a:t>+2)mod </a:t>
            </a:r>
            <a:r>
              <a:rPr lang="en-US" dirty="0"/>
              <a:t>10 = 4</a:t>
            </a:r>
            <a:r>
              <a:rPr lang="en-US" dirty="0" smtClean="0"/>
              <a:t> </a:t>
            </a:r>
            <a:r>
              <a:rPr lang="en-US" dirty="0"/>
              <a:t>: </a:t>
            </a:r>
            <a:r>
              <a:rPr lang="en-US" dirty="0" smtClean="0"/>
              <a:t>occupied</a:t>
            </a:r>
          </a:p>
          <a:p>
            <a:r>
              <a:rPr lang="en-US" dirty="0" err="1">
                <a:solidFill>
                  <a:schemeClr val="bg1"/>
                </a:solidFill>
              </a:rPr>
              <a:t>Dò</a:t>
            </a:r>
            <a:r>
              <a:rPr lang="en-US" dirty="0">
                <a:solidFill>
                  <a:schemeClr val="bg1"/>
                </a:solidFill>
              </a:rPr>
              <a:t>: </a:t>
            </a:r>
            <a:r>
              <a:rPr lang="en-US" dirty="0" smtClean="0"/>
              <a:t>h(92,3) </a:t>
            </a:r>
            <a:r>
              <a:rPr lang="en-US" dirty="0"/>
              <a:t>= (92 mod 10 </a:t>
            </a:r>
            <a:r>
              <a:rPr lang="en-US" dirty="0" smtClean="0"/>
              <a:t>+3)mod </a:t>
            </a:r>
            <a:r>
              <a:rPr lang="en-US" dirty="0"/>
              <a:t>10 = </a:t>
            </a:r>
            <a:r>
              <a:rPr lang="en-US" dirty="0" smtClean="0"/>
              <a:t>5 : free</a:t>
            </a:r>
          </a:p>
          <a:p>
            <a:r>
              <a:rPr lang="en-US" dirty="0"/>
              <a:t> </a:t>
            </a:r>
            <a:r>
              <a:rPr lang="en-US" dirty="0" smtClean="0"/>
              <a:t>                     </a:t>
            </a:r>
            <a:r>
              <a:rPr lang="en-US" dirty="0" smtClean="0">
                <a:sym typeface="Wingdings" panose="05000000000000000000" pitchFamily="2" charset="2"/>
              </a:rPr>
              <a:t> </a:t>
            </a:r>
            <a:r>
              <a:rPr lang="en-US" dirty="0" err="1" smtClean="0">
                <a:sym typeface="Wingdings" panose="05000000000000000000" pitchFamily="2" charset="2"/>
              </a:rPr>
              <a:t>thêm</a:t>
            </a:r>
            <a:r>
              <a:rPr lang="en-US" dirty="0" smtClean="0">
                <a:sym typeface="Wingdings" panose="05000000000000000000" pitchFamily="2" charset="2"/>
              </a:rPr>
              <a:t> </a:t>
            </a:r>
            <a:r>
              <a:rPr lang="en-US" dirty="0" err="1" smtClean="0">
                <a:sym typeface="Wingdings" panose="05000000000000000000" pitchFamily="2" charset="2"/>
              </a:rPr>
              <a:t>vào</a:t>
            </a:r>
            <a:r>
              <a:rPr lang="en-US" dirty="0" smtClean="0">
                <a:sym typeface="Wingdings" panose="05000000000000000000" pitchFamily="2" charset="2"/>
              </a:rPr>
              <a:t> </a:t>
            </a:r>
            <a:r>
              <a:rPr lang="en-US" dirty="0" err="1" smtClean="0">
                <a:sym typeface="Wingdings" panose="05000000000000000000" pitchFamily="2" charset="2"/>
              </a:rPr>
              <a:t>vị</a:t>
            </a:r>
            <a:r>
              <a:rPr lang="en-US" dirty="0" smtClean="0">
                <a:sym typeface="Wingdings" panose="05000000000000000000" pitchFamily="2" charset="2"/>
              </a:rPr>
              <a:t> </a:t>
            </a:r>
            <a:r>
              <a:rPr lang="en-US" dirty="0" err="1" smtClean="0">
                <a:sym typeface="Wingdings" panose="05000000000000000000" pitchFamily="2" charset="2"/>
              </a:rPr>
              <a:t>trí</a:t>
            </a:r>
            <a:r>
              <a:rPr lang="en-US" dirty="0" smtClean="0">
                <a:sym typeface="Wingdings" panose="05000000000000000000" pitchFamily="2" charset="2"/>
              </a:rPr>
              <a:t> </a:t>
            </a:r>
            <a:r>
              <a:rPr lang="en-US" dirty="0" err="1" smtClean="0">
                <a:sym typeface="Wingdings" panose="05000000000000000000" pitchFamily="2" charset="2"/>
              </a:rPr>
              <a:t>chỉ</a:t>
            </a:r>
            <a:r>
              <a:rPr lang="en-US" dirty="0" smtClean="0">
                <a:sym typeface="Wingdings" panose="05000000000000000000" pitchFamily="2" charset="2"/>
              </a:rPr>
              <a:t> </a:t>
            </a:r>
            <a:r>
              <a:rPr lang="en-US" dirty="0" err="1" smtClean="0">
                <a:sym typeface="Wingdings" panose="05000000000000000000" pitchFamily="2" charset="2"/>
              </a:rPr>
              <a:t>số</a:t>
            </a:r>
            <a:r>
              <a:rPr lang="en-US" dirty="0" smtClean="0">
                <a:sym typeface="Wingdings" panose="05000000000000000000" pitchFamily="2" charset="2"/>
              </a:rPr>
              <a:t> 5</a:t>
            </a:r>
            <a:endParaRPr lang="en-US" dirty="0"/>
          </a:p>
          <a:p>
            <a:endParaRPr lang="en-US" dirty="0"/>
          </a:p>
          <a:p>
            <a:endParaRPr lang="en-US" dirty="0"/>
          </a:p>
        </p:txBody>
      </p:sp>
      <p:pic>
        <p:nvPicPr>
          <p:cNvPr id="11" name="Picture 10"/>
          <p:cNvPicPr>
            <a:picLocks noChangeAspect="1"/>
          </p:cNvPicPr>
          <p:nvPr/>
        </p:nvPicPr>
        <p:blipFill>
          <a:blip r:embed="rId6"/>
          <a:stretch>
            <a:fillRect/>
          </a:stretch>
        </p:blipFill>
        <p:spPr>
          <a:xfrm>
            <a:off x="3631510" y="6353507"/>
            <a:ext cx="5096586" cy="419158"/>
          </a:xfrm>
          <a:prstGeom prst="rect">
            <a:avLst/>
          </a:prstGeom>
        </p:spPr>
      </p:pic>
    </p:spTree>
    <p:extLst>
      <p:ext uri="{BB962C8B-B14F-4D97-AF65-F5344CB8AC3E}">
        <p14:creationId xmlns:p14="http://schemas.microsoft.com/office/powerpoint/2010/main" val="2216513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3539">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3539">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3539">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9353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7" grpId="0"/>
      <p:bldP spid="14" grpId="0"/>
      <p:bldP spid="1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Slide Number Placeholder 4">
            <a:extLst>
              <a:ext uri="{FF2B5EF4-FFF2-40B4-BE49-F238E27FC236}">
                <a16:creationId xmlns:a16="http://schemas.microsoft.com/office/drawing/2014/main" id="{B79F75FC-3540-4F82-949C-7DD7384B769C}"/>
              </a:ext>
            </a:extLst>
          </p:cNvPr>
          <p:cNvSpPr>
            <a:spLocks noGrp="1"/>
          </p:cNvSpPr>
          <p:nvPr>
            <p:ph type="sldNum" sz="quarter" idx="12"/>
          </p:nvPr>
        </p:nvSpPr>
        <p:spPr/>
        <p:txBody>
          <a:bodyPr/>
          <a:lstStyle/>
          <a:p>
            <a:fld id="{F27F06CC-FC54-418C-B37D-0CF566593528}" type="slidenum">
              <a:rPr lang="en-US" altLang="en-US"/>
              <a:pPr/>
              <a:t>36</a:t>
            </a:fld>
            <a:endParaRPr lang="en-US" altLang="en-US"/>
          </a:p>
        </p:txBody>
      </p:sp>
      <p:sp>
        <p:nvSpPr>
          <p:cNvPr id="195586" name="Rectangle 2">
            <a:extLst>
              <a:ext uri="{FF2B5EF4-FFF2-40B4-BE49-F238E27FC236}">
                <a16:creationId xmlns:a16="http://schemas.microsoft.com/office/drawing/2014/main" id="{9D553CFF-D8F4-467C-ACD8-60C1191AC27D}"/>
              </a:ext>
            </a:extLst>
          </p:cNvPr>
          <p:cNvSpPr>
            <a:spLocks noGrp="1" noChangeArrowheads="1"/>
          </p:cNvSpPr>
          <p:nvPr>
            <p:ph type="title"/>
          </p:nvPr>
        </p:nvSpPr>
        <p:spPr/>
        <p:txBody>
          <a:bodyPr>
            <a:normAutofit/>
          </a:bodyPr>
          <a:lstStyle/>
          <a:p>
            <a:r>
              <a:rPr lang="en-US" altLang="en-US" sz="2400" dirty="0" err="1">
                <a:cs typeface="Times New Roman" panose="02020603050405020304" pitchFamily="18" charset="0"/>
              </a:rPr>
              <a:t>Các</a:t>
            </a:r>
            <a:r>
              <a:rPr lang="en-US" altLang="en-US" sz="2400" dirty="0">
                <a:cs typeface="Times New Roman" panose="02020603050405020304" pitchFamily="18" charset="0"/>
              </a:rPr>
              <a:t> </a:t>
            </a:r>
            <a:r>
              <a:rPr lang="en-US" altLang="en-US" sz="2400" dirty="0" err="1">
                <a:cs typeface="Times New Roman" panose="02020603050405020304" pitchFamily="18" charset="0"/>
              </a:rPr>
              <a:t>biện</a:t>
            </a:r>
            <a:r>
              <a:rPr lang="en-US" altLang="en-US" sz="2400" dirty="0">
                <a:cs typeface="Times New Roman" panose="02020603050405020304" pitchFamily="18" charset="0"/>
              </a:rPr>
              <a:t> </a:t>
            </a:r>
            <a:r>
              <a:rPr lang="en-US" altLang="en-US" sz="2400" dirty="0" err="1">
                <a:cs typeface="Times New Roman" panose="02020603050405020304" pitchFamily="18" charset="0"/>
              </a:rPr>
              <a:t>pháp</a:t>
            </a:r>
            <a:r>
              <a:rPr lang="en-US" altLang="en-US" sz="2400" dirty="0">
                <a:cs typeface="Times New Roman" panose="02020603050405020304" pitchFamily="18" charset="0"/>
              </a:rPr>
              <a:t> </a:t>
            </a:r>
            <a:r>
              <a:rPr lang="en-US" altLang="en-US" sz="2400" dirty="0" err="1">
                <a:cs typeface="Times New Roman" panose="02020603050405020304" pitchFamily="18" charset="0"/>
              </a:rPr>
              <a:t>khắc</a:t>
            </a:r>
            <a:r>
              <a:rPr lang="en-US" altLang="en-US" sz="2400" dirty="0">
                <a:cs typeface="Times New Roman" panose="02020603050405020304" pitchFamily="18" charset="0"/>
              </a:rPr>
              <a:t> </a:t>
            </a:r>
            <a:r>
              <a:rPr lang="en-US" altLang="en-US" sz="2400" dirty="0" err="1">
                <a:cs typeface="Times New Roman" panose="02020603050405020304" pitchFamily="18" charset="0"/>
              </a:rPr>
              <a:t>phục</a:t>
            </a:r>
            <a:r>
              <a:rPr lang="en-US" altLang="en-US" sz="2400" dirty="0">
                <a:cs typeface="Times New Roman" panose="02020603050405020304" pitchFamily="18" charset="0"/>
              </a:rPr>
              <a:t> </a:t>
            </a:r>
            <a:r>
              <a:rPr lang="en-US" altLang="en-US" sz="2400" dirty="0" err="1">
                <a:cs typeface="Times New Roman" panose="02020603050405020304" pitchFamily="18" charset="0"/>
              </a:rPr>
              <a:t>đụng</a:t>
            </a:r>
            <a:r>
              <a:rPr lang="en-US" altLang="en-US" sz="2400" dirty="0">
                <a:cs typeface="Times New Roman" panose="02020603050405020304" pitchFamily="18" charset="0"/>
              </a:rPr>
              <a:t> </a:t>
            </a:r>
            <a:r>
              <a:rPr lang="en-US" altLang="en-US" sz="2400" dirty="0" err="1">
                <a:cs typeface="Times New Roman" panose="02020603050405020304" pitchFamily="18" charset="0"/>
              </a:rPr>
              <a:t>độ</a:t>
            </a:r>
            <a:r>
              <a:rPr lang="en-US" altLang="en-US" sz="2400" dirty="0"/>
              <a:t> </a:t>
            </a:r>
          </a:p>
        </p:txBody>
      </p:sp>
      <p:sp>
        <p:nvSpPr>
          <p:cNvPr id="195587" name="Rectangle 3">
            <a:extLst>
              <a:ext uri="{FF2B5EF4-FFF2-40B4-BE49-F238E27FC236}">
                <a16:creationId xmlns:a16="http://schemas.microsoft.com/office/drawing/2014/main" id="{14BE8F07-22D9-4895-8EAF-D0332E1FC113}"/>
              </a:ext>
            </a:extLst>
          </p:cNvPr>
          <p:cNvSpPr>
            <a:spLocks noGrp="1" noChangeArrowheads="1"/>
          </p:cNvSpPr>
          <p:nvPr>
            <p:ph type="body" sz="quarter" idx="13"/>
          </p:nvPr>
        </p:nvSpPr>
        <p:spPr>
          <a:xfrm>
            <a:off x="234951" y="838200"/>
            <a:ext cx="8528049" cy="5894832"/>
          </a:xfrm>
          <a:noFill/>
          <a:ln/>
        </p:spPr>
        <p:txBody>
          <a:bodyPr>
            <a:normAutofit/>
          </a:bodyPr>
          <a:lstStyle/>
          <a:p>
            <a:pPr lvl="0"/>
            <a:r>
              <a:rPr lang="en-US" altLang="en-US" sz="2400" dirty="0" err="1">
                <a:solidFill>
                  <a:prstClr val="black"/>
                </a:solidFill>
                <a:cs typeface="Times New Roman" panose="02020603050405020304" pitchFamily="18" charset="0"/>
              </a:rPr>
              <a:t>Biện</a:t>
            </a:r>
            <a:r>
              <a:rPr lang="en-US" altLang="en-US" sz="2400" dirty="0">
                <a:solidFill>
                  <a:prstClr val="black"/>
                </a:solidFill>
                <a:cs typeface="Times New Roman" panose="02020603050405020304" pitchFamily="18" charset="0"/>
              </a:rPr>
              <a:t> </a:t>
            </a:r>
            <a:r>
              <a:rPr lang="en-US" altLang="en-US" sz="2400" dirty="0" err="1">
                <a:solidFill>
                  <a:prstClr val="black"/>
                </a:solidFill>
                <a:cs typeface="Times New Roman" panose="02020603050405020304" pitchFamily="18" charset="0"/>
              </a:rPr>
              <a:t>pháp</a:t>
            </a:r>
            <a:r>
              <a:rPr lang="en-US" altLang="en-US" sz="2400" dirty="0">
                <a:solidFill>
                  <a:prstClr val="black"/>
                </a:solidFill>
                <a:cs typeface="Times New Roman" panose="02020603050405020304" pitchFamily="18" charset="0"/>
              </a:rPr>
              <a:t> </a:t>
            </a:r>
            <a:r>
              <a:rPr lang="en-US" altLang="en-US" sz="2400" dirty="0" err="1">
                <a:solidFill>
                  <a:prstClr val="black"/>
                </a:solidFill>
                <a:cs typeface="Times New Roman" panose="02020603050405020304" pitchFamily="18" charset="0"/>
              </a:rPr>
              <a:t>địa</a:t>
            </a:r>
            <a:r>
              <a:rPr lang="en-US" altLang="en-US" sz="2400" dirty="0">
                <a:solidFill>
                  <a:prstClr val="black"/>
                </a:solidFill>
                <a:cs typeface="Times New Roman" panose="02020603050405020304" pitchFamily="18" charset="0"/>
              </a:rPr>
              <a:t> </a:t>
            </a:r>
            <a:r>
              <a:rPr lang="en-US" altLang="en-US" sz="2400" dirty="0" err="1">
                <a:solidFill>
                  <a:prstClr val="black"/>
                </a:solidFill>
                <a:cs typeface="Times New Roman" panose="02020603050405020304" pitchFamily="18" charset="0"/>
              </a:rPr>
              <a:t>chỉ</a:t>
            </a:r>
            <a:r>
              <a:rPr lang="en-US" altLang="en-US" sz="2400" dirty="0">
                <a:solidFill>
                  <a:prstClr val="black"/>
                </a:solidFill>
                <a:cs typeface="Times New Roman" panose="02020603050405020304" pitchFamily="18" charset="0"/>
              </a:rPr>
              <a:t> </a:t>
            </a:r>
            <a:r>
              <a:rPr lang="en-US" altLang="en-US" sz="2400" dirty="0" err="1">
                <a:solidFill>
                  <a:prstClr val="black"/>
                </a:solidFill>
                <a:cs typeface="Times New Roman" panose="02020603050405020304" pitchFamily="18" charset="0"/>
              </a:rPr>
              <a:t>mở</a:t>
            </a:r>
            <a:r>
              <a:rPr lang="en-US" altLang="en-US" sz="2400" dirty="0">
                <a:solidFill>
                  <a:prstClr val="black"/>
                </a:solidFill>
                <a:cs typeface="Times New Roman" panose="02020603050405020304" pitchFamily="18" charset="0"/>
              </a:rPr>
              <a:t> </a:t>
            </a:r>
            <a:r>
              <a:rPr lang="en-US" altLang="en-US" sz="2000" dirty="0">
                <a:solidFill>
                  <a:prstClr val="black"/>
                </a:solidFill>
                <a:cs typeface="Times New Roman" panose="02020603050405020304" pitchFamily="18" charset="0"/>
              </a:rPr>
              <a:t>- </a:t>
            </a:r>
            <a:r>
              <a:rPr lang="en-US" altLang="en-US" sz="2000" i="1" dirty="0" err="1">
                <a:solidFill>
                  <a:prstClr val="black"/>
                </a:solidFill>
                <a:cs typeface="Times New Roman" panose="02020603050405020304" pitchFamily="18" charset="0"/>
              </a:rPr>
              <a:t>Ph</a:t>
            </a:r>
            <a:r>
              <a:rPr lang="en-US" altLang="en-US" sz="2000" i="1" dirty="0" err="1">
                <a:solidFill>
                  <a:prstClr val="black"/>
                </a:solidFill>
              </a:rPr>
              <a:t>ương</a:t>
            </a:r>
            <a:r>
              <a:rPr lang="en-US" altLang="en-US" sz="2000" i="1" dirty="0">
                <a:solidFill>
                  <a:prstClr val="black"/>
                </a:solidFill>
              </a:rPr>
              <a:t> </a:t>
            </a:r>
            <a:r>
              <a:rPr lang="en-US" altLang="en-US" sz="2000" i="1" dirty="0" err="1">
                <a:solidFill>
                  <a:prstClr val="black"/>
                </a:solidFill>
              </a:rPr>
              <a:t>pháp</a:t>
            </a:r>
            <a:r>
              <a:rPr lang="en-US" altLang="en-US" sz="2000" i="1" dirty="0">
                <a:solidFill>
                  <a:prstClr val="black"/>
                </a:solidFill>
              </a:rPr>
              <a:t> </a:t>
            </a:r>
            <a:r>
              <a:rPr lang="en-US" altLang="en-US" sz="2000" i="1" dirty="0" err="1">
                <a:solidFill>
                  <a:prstClr val="black"/>
                </a:solidFill>
              </a:rPr>
              <a:t>dò</a:t>
            </a:r>
            <a:r>
              <a:rPr lang="en-US" altLang="en-US" sz="2000" i="1" dirty="0">
                <a:solidFill>
                  <a:prstClr val="black"/>
                </a:solidFill>
              </a:rPr>
              <a:t> </a:t>
            </a:r>
            <a:r>
              <a:rPr lang="en-US" altLang="en-US" sz="2000" i="1" dirty="0" err="1">
                <a:solidFill>
                  <a:prstClr val="black"/>
                </a:solidFill>
              </a:rPr>
              <a:t>tuyến</a:t>
            </a:r>
            <a:r>
              <a:rPr lang="en-US" altLang="en-US" sz="2000" i="1" dirty="0">
                <a:solidFill>
                  <a:prstClr val="black"/>
                </a:solidFill>
              </a:rPr>
              <a:t> </a:t>
            </a:r>
            <a:r>
              <a:rPr lang="en-US" altLang="en-US" sz="2000" i="1" dirty="0" err="1">
                <a:solidFill>
                  <a:prstClr val="black"/>
                </a:solidFill>
              </a:rPr>
              <a:t>tính</a:t>
            </a:r>
            <a:r>
              <a:rPr lang="en-US" altLang="en-US" sz="2000" i="1" dirty="0">
                <a:solidFill>
                  <a:prstClr val="black"/>
                </a:solidFill>
              </a:rPr>
              <a:t> (Linear Probing)</a:t>
            </a:r>
            <a:endParaRPr lang="en-US" altLang="en-US" sz="2400" dirty="0">
              <a:solidFill>
                <a:prstClr val="black"/>
              </a:solidFill>
            </a:endParaRPr>
          </a:p>
          <a:p>
            <a:pPr lvl="1"/>
            <a:r>
              <a:rPr lang="en-US" altLang="en-US" sz="2400" dirty="0" err="1" smtClean="0"/>
              <a:t>Nhận</a:t>
            </a:r>
            <a:r>
              <a:rPr lang="en-US" altLang="en-US" sz="2400" dirty="0" smtClean="0"/>
              <a:t> </a:t>
            </a:r>
            <a:r>
              <a:rPr lang="en-US" altLang="en-US" sz="2400" dirty="0" err="1"/>
              <a:t>xét</a:t>
            </a:r>
            <a:r>
              <a:rPr lang="en-US" altLang="en-US" sz="2400" dirty="0"/>
              <a:t> </a:t>
            </a:r>
            <a:r>
              <a:rPr lang="en-US" altLang="en-US" sz="2400" dirty="0" err="1"/>
              <a:t>đánh</a:t>
            </a:r>
            <a:r>
              <a:rPr lang="en-US" altLang="en-US" sz="2400" dirty="0"/>
              <a:t> </a:t>
            </a:r>
            <a:r>
              <a:rPr lang="en-US" altLang="en-US" sz="2400" dirty="0" err="1"/>
              <a:t>giá</a:t>
            </a:r>
            <a:endParaRPr lang="en-US" altLang="en-US" sz="2400" dirty="0"/>
          </a:p>
          <a:p>
            <a:pPr lvl="2"/>
            <a:r>
              <a:rPr lang="en-US" altLang="en-US" sz="2200" dirty="0" err="1"/>
              <a:t>Hiện</a:t>
            </a:r>
            <a:r>
              <a:rPr lang="en-US" altLang="en-US" sz="2200" dirty="0"/>
              <a:t> </a:t>
            </a:r>
            <a:r>
              <a:rPr lang="en-US" altLang="en-US" sz="2200" dirty="0" err="1"/>
              <a:t>tượng</a:t>
            </a:r>
            <a:r>
              <a:rPr lang="en-US" altLang="en-US" sz="2200" dirty="0"/>
              <a:t> </a:t>
            </a:r>
            <a:r>
              <a:rPr lang="en-US" altLang="en-US" sz="2200" dirty="0" err="1"/>
              <a:t>hội</a:t>
            </a:r>
            <a:r>
              <a:rPr lang="en-US" altLang="en-US" sz="2200" dirty="0"/>
              <a:t> </a:t>
            </a:r>
            <a:r>
              <a:rPr lang="en-US" altLang="en-US" sz="2200" dirty="0" err="1"/>
              <a:t>tụ</a:t>
            </a:r>
            <a:r>
              <a:rPr lang="en-US" altLang="en-US" sz="2200" dirty="0"/>
              <a:t> (clustering</a:t>
            </a:r>
            <a:r>
              <a:rPr lang="en-US" altLang="en-US" sz="2200" dirty="0" smtClean="0"/>
              <a:t>): </a:t>
            </a:r>
          </a:p>
          <a:p>
            <a:pPr lvl="3"/>
            <a:r>
              <a:rPr lang="en-US" altLang="en-US" sz="2000" dirty="0" err="1" smtClean="0"/>
              <a:t>Việc</a:t>
            </a:r>
            <a:r>
              <a:rPr lang="en-US" altLang="en-US" sz="2000" dirty="0" smtClean="0"/>
              <a:t> </a:t>
            </a:r>
            <a:r>
              <a:rPr lang="en-US" altLang="en-US" sz="2000" dirty="0" err="1" smtClean="0"/>
              <a:t>dò</a:t>
            </a:r>
            <a:r>
              <a:rPr lang="en-US" altLang="en-US" sz="2000" dirty="0" smtClean="0"/>
              <a:t> </a:t>
            </a:r>
            <a:r>
              <a:rPr lang="en-US" altLang="en-US" sz="2000" dirty="0" err="1" smtClean="0"/>
              <a:t>tuyến</a:t>
            </a:r>
            <a:r>
              <a:rPr lang="en-US" altLang="en-US" sz="2000" dirty="0" smtClean="0"/>
              <a:t> </a:t>
            </a:r>
            <a:r>
              <a:rPr lang="en-US" altLang="en-US" sz="2000" dirty="0" err="1" smtClean="0"/>
              <a:t>tính</a:t>
            </a:r>
            <a:r>
              <a:rPr lang="en-US" altLang="en-US" sz="2000" dirty="0" smtClean="0"/>
              <a:t> </a:t>
            </a:r>
            <a:r>
              <a:rPr lang="en-US" altLang="en-US" sz="2000" dirty="0" err="1" smtClean="0"/>
              <a:t>thực</a:t>
            </a:r>
            <a:r>
              <a:rPr lang="en-US" altLang="en-US" sz="2000" dirty="0" smtClean="0"/>
              <a:t> </a:t>
            </a:r>
            <a:r>
              <a:rPr lang="en-US" altLang="en-US" sz="2000" dirty="0" err="1" smtClean="0"/>
              <a:t>hiện</a:t>
            </a:r>
            <a:r>
              <a:rPr lang="en-US" altLang="en-US" sz="2000" dirty="0" smtClean="0"/>
              <a:t> </a:t>
            </a:r>
            <a:r>
              <a:rPr lang="en-US" altLang="en-US" sz="2000" dirty="0" err="1" smtClean="0"/>
              <a:t>từ</a:t>
            </a:r>
            <a:r>
              <a:rPr lang="en-US" altLang="en-US" sz="2000" dirty="0" smtClean="0"/>
              <a:t> </a:t>
            </a:r>
            <a:r>
              <a:rPr lang="en-US" altLang="en-US" sz="2000" dirty="0" err="1" smtClean="0"/>
              <a:t>đầu</a:t>
            </a:r>
            <a:r>
              <a:rPr lang="en-US" altLang="en-US" sz="2000" dirty="0" smtClean="0"/>
              <a:t> – </a:t>
            </a:r>
            <a:r>
              <a:rPr lang="en-US" altLang="en-US" sz="2000" dirty="0" err="1" smtClean="0"/>
              <a:t>cuối</a:t>
            </a:r>
            <a:r>
              <a:rPr lang="en-US" altLang="en-US" sz="2000" dirty="0" smtClean="0"/>
              <a:t>: </a:t>
            </a:r>
            <a:r>
              <a:rPr lang="en-US" altLang="en-US" sz="2000" dirty="0" err="1" smtClean="0"/>
              <a:t>các</a:t>
            </a:r>
            <a:r>
              <a:rPr lang="en-US" altLang="en-US" sz="2000" dirty="0" smtClean="0"/>
              <a:t> </a:t>
            </a:r>
            <a:r>
              <a:rPr lang="en-US" altLang="en-US" sz="2000" dirty="0" err="1" smtClean="0"/>
              <a:t>vị</a:t>
            </a:r>
            <a:r>
              <a:rPr lang="en-US" altLang="en-US" sz="2000" dirty="0" smtClean="0"/>
              <a:t> </a:t>
            </a:r>
            <a:r>
              <a:rPr lang="en-US" altLang="en-US" sz="2000" dirty="0" err="1" smtClean="0"/>
              <a:t>trí</a:t>
            </a:r>
            <a:r>
              <a:rPr lang="en-US" altLang="en-US" sz="2000" dirty="0" smtClean="0"/>
              <a:t> </a:t>
            </a:r>
            <a:r>
              <a:rPr lang="en-US" altLang="en-US" sz="2000" dirty="0" err="1" smtClean="0"/>
              <a:t>rỗng</a:t>
            </a:r>
            <a:r>
              <a:rPr lang="en-US" altLang="en-US" sz="2000" dirty="0" smtClean="0"/>
              <a:t> </a:t>
            </a:r>
            <a:r>
              <a:rPr lang="en-US" altLang="en-US" sz="2000" dirty="0" err="1" smtClean="0"/>
              <a:t>là</a:t>
            </a:r>
            <a:r>
              <a:rPr lang="en-US" altLang="en-US" sz="2000" dirty="0" smtClean="0"/>
              <a:t> </a:t>
            </a:r>
            <a:r>
              <a:rPr lang="en-US" altLang="en-US" sz="2000" dirty="0" err="1" smtClean="0"/>
              <a:t>các</a:t>
            </a:r>
            <a:r>
              <a:rPr lang="en-US" altLang="en-US" sz="2000" dirty="0" smtClean="0"/>
              <a:t> </a:t>
            </a:r>
            <a:r>
              <a:rPr lang="en-US" altLang="en-US" sz="2000" dirty="0" err="1" smtClean="0"/>
              <a:t>vị</a:t>
            </a:r>
            <a:r>
              <a:rPr lang="en-US" altLang="en-US" sz="2000" dirty="0" smtClean="0"/>
              <a:t> </a:t>
            </a:r>
            <a:r>
              <a:rPr lang="en-US" altLang="en-US" sz="2000" dirty="0" err="1" smtClean="0"/>
              <a:t>trí</a:t>
            </a:r>
            <a:r>
              <a:rPr lang="en-US" altLang="en-US" sz="2000" dirty="0" smtClean="0"/>
              <a:t> </a:t>
            </a:r>
            <a:r>
              <a:rPr lang="en-US" altLang="en-US" sz="2000" dirty="0" err="1" smtClean="0"/>
              <a:t>đứng</a:t>
            </a:r>
            <a:r>
              <a:rPr lang="en-US" altLang="en-US" sz="2000" dirty="0" smtClean="0"/>
              <a:t> </a:t>
            </a:r>
            <a:r>
              <a:rPr lang="en-US" altLang="en-US" sz="2000" dirty="0" err="1" smtClean="0"/>
              <a:t>sau</a:t>
            </a:r>
            <a:r>
              <a:rPr lang="en-US" altLang="en-US" sz="2000" dirty="0" smtClean="0"/>
              <a:t> </a:t>
            </a:r>
            <a:r>
              <a:rPr lang="en-US" altLang="en-US" sz="2000" dirty="0" err="1" smtClean="0"/>
              <a:t>các</a:t>
            </a:r>
            <a:r>
              <a:rPr lang="en-US" altLang="en-US" sz="2000" dirty="0" smtClean="0"/>
              <a:t> </a:t>
            </a:r>
            <a:r>
              <a:rPr lang="en-US" altLang="en-US" sz="2000" dirty="0" err="1" smtClean="0"/>
              <a:t>các</a:t>
            </a:r>
            <a:r>
              <a:rPr lang="en-US" altLang="en-US" sz="2000" dirty="0" smtClean="0"/>
              <a:t> </a:t>
            </a:r>
            <a:r>
              <a:rPr lang="en-US" altLang="en-US" sz="2000" dirty="0" err="1" smtClean="0"/>
              <a:t>vị</a:t>
            </a:r>
            <a:r>
              <a:rPr lang="en-US" altLang="en-US" sz="2000" dirty="0" smtClean="0"/>
              <a:t> </a:t>
            </a:r>
            <a:r>
              <a:rPr lang="en-US" altLang="en-US" sz="2000" dirty="0" err="1" smtClean="0"/>
              <a:t>trí</a:t>
            </a:r>
            <a:r>
              <a:rPr lang="en-US" altLang="en-US" sz="2000" dirty="0" smtClean="0"/>
              <a:t> </a:t>
            </a:r>
            <a:r>
              <a:rPr lang="en-US" altLang="en-US" sz="2000" dirty="0" err="1" smtClean="0"/>
              <a:t>không</a:t>
            </a:r>
            <a:r>
              <a:rPr lang="en-US" altLang="en-US" sz="2000" dirty="0" smtClean="0"/>
              <a:t> </a:t>
            </a:r>
            <a:r>
              <a:rPr lang="en-US" altLang="en-US" sz="2000" dirty="0" err="1" smtClean="0"/>
              <a:t>rỗng</a:t>
            </a:r>
            <a:r>
              <a:rPr lang="en-US" altLang="en-US" sz="2000" dirty="0" smtClean="0"/>
              <a:t> =&gt; </a:t>
            </a:r>
            <a:r>
              <a:rPr lang="en-US" altLang="en-US" sz="2000" dirty="0" err="1" smtClean="0"/>
              <a:t>Thêm</a:t>
            </a:r>
            <a:r>
              <a:rPr lang="en-US" altLang="en-US" sz="2000" dirty="0" smtClean="0"/>
              <a:t> </a:t>
            </a:r>
            <a:r>
              <a:rPr lang="en-US" altLang="en-US" sz="2000" dirty="0" err="1" smtClean="0"/>
              <a:t>khóa</a:t>
            </a:r>
            <a:r>
              <a:rPr lang="en-US" altLang="en-US" sz="2000" dirty="0" smtClean="0"/>
              <a:t> </a:t>
            </a:r>
            <a:r>
              <a:rPr lang="en-US" altLang="en-US" sz="2000" dirty="0" err="1" smtClean="0"/>
              <a:t>vào</a:t>
            </a:r>
            <a:r>
              <a:rPr lang="en-US" altLang="en-US" sz="2000" dirty="0"/>
              <a:t> </a:t>
            </a:r>
            <a:r>
              <a:rPr lang="en-US" altLang="en-US" sz="2000" dirty="0" err="1" smtClean="0"/>
              <a:t>vị</a:t>
            </a:r>
            <a:r>
              <a:rPr lang="en-US" altLang="en-US" sz="2000" dirty="0" smtClean="0"/>
              <a:t> </a:t>
            </a:r>
            <a:r>
              <a:rPr lang="en-US" altLang="en-US" sz="2000" dirty="0" err="1" smtClean="0"/>
              <a:t>trí</a:t>
            </a:r>
            <a:r>
              <a:rPr lang="en-US" altLang="en-US" sz="2000" dirty="0" smtClean="0"/>
              <a:t> </a:t>
            </a:r>
            <a:r>
              <a:rPr lang="en-US" altLang="en-US" sz="2000" dirty="0" err="1" smtClean="0"/>
              <a:t>này</a:t>
            </a:r>
            <a:r>
              <a:rPr lang="en-US" altLang="en-US" sz="2000" dirty="0" smtClean="0"/>
              <a:t> </a:t>
            </a:r>
            <a:r>
              <a:rPr lang="en-US" altLang="en-US" sz="2000" dirty="0" err="1" smtClean="0"/>
              <a:t>tạo</a:t>
            </a:r>
            <a:r>
              <a:rPr lang="en-US" altLang="en-US" sz="2000" dirty="0" smtClean="0"/>
              <a:t> </a:t>
            </a:r>
            <a:r>
              <a:rPr lang="en-US" altLang="en-US" sz="2000" dirty="0" err="1" smtClean="0"/>
              <a:t>thành</a:t>
            </a:r>
            <a:r>
              <a:rPr lang="en-US" altLang="en-US" sz="2000" dirty="0" smtClean="0"/>
              <a:t> </a:t>
            </a:r>
            <a:r>
              <a:rPr lang="en-US" altLang="en-US" sz="2000" dirty="0" err="1" smtClean="0"/>
              <a:t>các</a:t>
            </a:r>
            <a:r>
              <a:rPr lang="en-US" altLang="en-US" sz="2000" dirty="0" smtClean="0"/>
              <a:t> </a:t>
            </a:r>
            <a:r>
              <a:rPr lang="en-US" altLang="en-US" sz="2000" dirty="0" err="1" smtClean="0"/>
              <a:t>cụm</a:t>
            </a:r>
            <a:r>
              <a:rPr lang="en-US" altLang="en-US" sz="2000" dirty="0" smtClean="0"/>
              <a:t> </a:t>
            </a:r>
            <a:r>
              <a:rPr lang="en-US" altLang="en-US" sz="2000" dirty="0" err="1" smtClean="0"/>
              <a:t>phần</a:t>
            </a:r>
            <a:r>
              <a:rPr lang="en-US" altLang="en-US" sz="2000" dirty="0" smtClean="0"/>
              <a:t> </a:t>
            </a:r>
            <a:r>
              <a:rPr lang="en-US" altLang="en-US" sz="2000" dirty="0" err="1" smtClean="0"/>
              <a:t>tử</a:t>
            </a:r>
            <a:r>
              <a:rPr lang="en-US" altLang="en-US" sz="2000" dirty="0" smtClean="0"/>
              <a:t> </a:t>
            </a:r>
            <a:r>
              <a:rPr lang="en-US" altLang="en-US" sz="2000" dirty="0" err="1" smtClean="0"/>
              <a:t>liên</a:t>
            </a:r>
            <a:r>
              <a:rPr lang="en-US" altLang="en-US" sz="2000" dirty="0" smtClean="0"/>
              <a:t> </a:t>
            </a:r>
            <a:r>
              <a:rPr lang="en-US" altLang="en-US" sz="2000" dirty="0" err="1" smtClean="0"/>
              <a:t>tiếp</a:t>
            </a:r>
            <a:r>
              <a:rPr lang="en-US" altLang="en-US" sz="2000" dirty="0" smtClean="0"/>
              <a:t> </a:t>
            </a:r>
            <a:r>
              <a:rPr lang="en-US" altLang="en-US" sz="2000" dirty="0" err="1" smtClean="0"/>
              <a:t>không</a:t>
            </a:r>
            <a:r>
              <a:rPr lang="en-US" altLang="en-US" sz="2000" dirty="0" smtClean="0"/>
              <a:t> </a:t>
            </a:r>
            <a:r>
              <a:rPr lang="en-US" altLang="en-US" sz="2000" dirty="0" err="1" smtClean="0"/>
              <a:t>rỗng</a:t>
            </a:r>
            <a:r>
              <a:rPr lang="en-US" altLang="en-US" sz="2000" dirty="0" smtClean="0"/>
              <a:t>.</a:t>
            </a:r>
          </a:p>
          <a:p>
            <a:pPr lvl="3"/>
            <a:r>
              <a:rPr lang="en-US" altLang="en-US" sz="2000" dirty="0" err="1" smtClean="0"/>
              <a:t>Việc</a:t>
            </a:r>
            <a:r>
              <a:rPr lang="en-US" altLang="en-US" sz="2000" dirty="0" smtClean="0"/>
              <a:t> </a:t>
            </a:r>
            <a:r>
              <a:rPr lang="en-US" altLang="en-US" sz="2000" dirty="0" err="1" smtClean="0"/>
              <a:t>dò</a:t>
            </a:r>
            <a:r>
              <a:rPr lang="en-US" altLang="en-US" sz="2000" dirty="0" smtClean="0"/>
              <a:t> </a:t>
            </a:r>
            <a:r>
              <a:rPr lang="en-US" altLang="en-US" sz="2000" dirty="0" err="1" smtClean="0"/>
              <a:t>vị</a:t>
            </a:r>
            <a:r>
              <a:rPr lang="en-US" altLang="en-US" sz="2000" dirty="0" smtClean="0"/>
              <a:t> </a:t>
            </a:r>
            <a:r>
              <a:rPr lang="en-US" altLang="en-US" sz="2000" dirty="0" err="1" smtClean="0"/>
              <a:t>trí</a:t>
            </a:r>
            <a:r>
              <a:rPr lang="en-US" altLang="en-US" sz="2000" dirty="0" smtClean="0"/>
              <a:t> </a:t>
            </a:r>
            <a:r>
              <a:rPr lang="en-US" altLang="en-US" sz="2000" dirty="0" err="1" smtClean="0"/>
              <a:t>rỗng</a:t>
            </a:r>
            <a:r>
              <a:rPr lang="en-US" altLang="en-US" sz="2000" dirty="0" smtClean="0"/>
              <a:t> </a:t>
            </a:r>
            <a:r>
              <a:rPr lang="en-US" altLang="en-US" sz="2000" dirty="0" err="1" smtClean="0"/>
              <a:t>cho</a:t>
            </a:r>
            <a:r>
              <a:rPr lang="en-US" altLang="en-US" sz="2000" dirty="0" smtClean="0"/>
              <a:t> </a:t>
            </a:r>
            <a:r>
              <a:rPr lang="en-US" altLang="en-US" sz="2000" dirty="0" err="1" smtClean="0"/>
              <a:t>phần</a:t>
            </a:r>
            <a:r>
              <a:rPr lang="en-US" altLang="en-US" sz="2000" dirty="0" smtClean="0"/>
              <a:t> </a:t>
            </a:r>
            <a:r>
              <a:rPr lang="en-US" altLang="en-US" sz="2000" dirty="0" err="1" smtClean="0"/>
              <a:t>tử</a:t>
            </a:r>
            <a:r>
              <a:rPr lang="en-US" altLang="en-US" sz="2000" dirty="0" smtClean="0"/>
              <a:t> </a:t>
            </a:r>
            <a:r>
              <a:rPr lang="en-US" altLang="en-US" sz="2000" dirty="0" err="1" smtClean="0"/>
              <a:t>khóa</a:t>
            </a:r>
            <a:r>
              <a:rPr lang="en-US" altLang="en-US" sz="2000" dirty="0" smtClean="0"/>
              <a:t> </a:t>
            </a:r>
            <a:r>
              <a:rPr lang="en-US" altLang="en-US" sz="2000" dirty="0" err="1" smtClean="0"/>
              <a:t>đụng</a:t>
            </a:r>
            <a:r>
              <a:rPr lang="en-US" altLang="en-US" sz="2000" dirty="0" smtClean="0"/>
              <a:t> </a:t>
            </a:r>
            <a:r>
              <a:rPr lang="en-US" altLang="en-US" sz="2000" dirty="0" err="1" smtClean="0"/>
              <a:t>độ</a:t>
            </a:r>
            <a:r>
              <a:rPr lang="en-US" altLang="en-US" sz="2000" dirty="0" smtClean="0"/>
              <a:t> </a:t>
            </a:r>
            <a:r>
              <a:rPr lang="en-US" altLang="en-US" sz="2000" dirty="0" err="1" smtClean="0"/>
              <a:t>tiếp</a:t>
            </a:r>
            <a:r>
              <a:rPr lang="en-US" altLang="en-US" sz="2000" dirty="0" smtClean="0"/>
              <a:t> </a:t>
            </a:r>
            <a:r>
              <a:rPr lang="en-US" altLang="en-US" sz="2000" dirty="0" err="1" smtClean="0"/>
              <a:t>theo</a:t>
            </a:r>
            <a:r>
              <a:rPr lang="en-US" altLang="en-US" sz="2000" dirty="0" smtClean="0"/>
              <a:t> </a:t>
            </a:r>
            <a:r>
              <a:rPr lang="en-US" altLang="en-US" sz="2000" dirty="0" err="1" smtClean="0"/>
              <a:t>sẽ</a:t>
            </a:r>
            <a:r>
              <a:rPr lang="en-US" altLang="en-US" sz="2000" dirty="0"/>
              <a:t> </a:t>
            </a:r>
            <a:r>
              <a:rPr lang="en-US" altLang="en-US" sz="2000" dirty="0" err="1" smtClean="0"/>
              <a:t>phải</a:t>
            </a:r>
            <a:r>
              <a:rPr lang="en-US" altLang="en-US" sz="2000" dirty="0" smtClean="0"/>
              <a:t> </a:t>
            </a:r>
            <a:r>
              <a:rPr lang="en-US" altLang="en-US" sz="2000" dirty="0" err="1" smtClean="0"/>
              <a:t>dò</a:t>
            </a:r>
            <a:r>
              <a:rPr lang="en-US" altLang="en-US" sz="2000" dirty="0"/>
              <a:t> </a:t>
            </a:r>
            <a:r>
              <a:rPr lang="en-US" altLang="en-US" sz="2000" dirty="0" smtClean="0"/>
              <a:t>qua </a:t>
            </a:r>
            <a:r>
              <a:rPr lang="en-US" altLang="en-US" sz="2000" dirty="0" err="1" smtClean="0"/>
              <a:t>các</a:t>
            </a:r>
            <a:r>
              <a:rPr lang="en-US" altLang="en-US" sz="2000" dirty="0" smtClean="0"/>
              <a:t> </a:t>
            </a:r>
            <a:r>
              <a:rPr lang="en-US" altLang="en-US" sz="2000" dirty="0" err="1" smtClean="0"/>
              <a:t>cụm</a:t>
            </a:r>
            <a:r>
              <a:rPr lang="en-US" altLang="en-US" sz="2000" dirty="0" smtClean="0"/>
              <a:t> </a:t>
            </a:r>
            <a:r>
              <a:rPr lang="en-US" altLang="en-US" sz="2000" dirty="0" err="1" smtClean="0"/>
              <a:t>hội</a:t>
            </a:r>
            <a:r>
              <a:rPr lang="en-US" altLang="en-US" sz="2000" dirty="0" smtClean="0"/>
              <a:t> </a:t>
            </a:r>
            <a:r>
              <a:rPr lang="en-US" altLang="en-US" sz="2000" dirty="0" err="1" smtClean="0"/>
              <a:t>tụ</a:t>
            </a:r>
            <a:r>
              <a:rPr lang="en-US" altLang="en-US" sz="2000" dirty="0" smtClean="0"/>
              <a:t> </a:t>
            </a:r>
            <a:r>
              <a:rPr lang="en-US" altLang="en-US" sz="2000" dirty="0" err="1" smtClean="0"/>
              <a:t>này</a:t>
            </a:r>
            <a:endParaRPr lang="en-US" altLang="en-US" sz="2000" dirty="0" smtClean="0"/>
          </a:p>
          <a:p>
            <a:pPr lvl="3"/>
            <a:r>
              <a:rPr lang="en-US" altLang="en-US" sz="2000" dirty="0" err="1" smtClean="0"/>
              <a:t>Càng</a:t>
            </a:r>
            <a:r>
              <a:rPr lang="en-US" altLang="en-US" sz="2000" dirty="0" smtClean="0"/>
              <a:t> </a:t>
            </a:r>
            <a:r>
              <a:rPr lang="en-US" altLang="en-US" sz="2000" dirty="0" err="1" smtClean="0"/>
              <a:t>nhiều</a:t>
            </a:r>
            <a:r>
              <a:rPr lang="en-US" altLang="en-US" sz="2000" dirty="0" smtClean="0"/>
              <a:t> </a:t>
            </a:r>
            <a:r>
              <a:rPr lang="en-US" altLang="en-US" sz="2000" dirty="0" err="1" smtClean="0"/>
              <a:t>đụng</a:t>
            </a:r>
            <a:r>
              <a:rPr lang="en-US" altLang="en-US" sz="2000" dirty="0" smtClean="0"/>
              <a:t> </a:t>
            </a:r>
            <a:r>
              <a:rPr lang="en-US" altLang="en-US" sz="2000" dirty="0" err="1" smtClean="0"/>
              <a:t>độ</a:t>
            </a:r>
            <a:r>
              <a:rPr lang="en-US" altLang="en-US" sz="2000" dirty="0" smtClean="0"/>
              <a:t> </a:t>
            </a:r>
            <a:r>
              <a:rPr lang="en-US" altLang="en-US" sz="2000" dirty="0" err="1" smtClean="0"/>
              <a:t>xảy</a:t>
            </a:r>
            <a:r>
              <a:rPr lang="en-US" altLang="en-US" sz="2000" dirty="0" smtClean="0"/>
              <a:t> </a:t>
            </a:r>
            <a:r>
              <a:rPr lang="en-US" altLang="en-US" sz="2000" dirty="0" err="1" smtClean="0"/>
              <a:t>ra</a:t>
            </a:r>
            <a:r>
              <a:rPr lang="en-US" altLang="en-US" sz="2000" dirty="0" smtClean="0"/>
              <a:t>, </a:t>
            </a:r>
            <a:r>
              <a:rPr lang="en-US" altLang="en-US" sz="2000" dirty="0" err="1" smtClean="0"/>
              <a:t>càng</a:t>
            </a:r>
            <a:r>
              <a:rPr lang="en-US" altLang="en-US" sz="2000" dirty="0" smtClean="0"/>
              <a:t> </a:t>
            </a:r>
            <a:r>
              <a:rPr lang="en-US" altLang="en-US" sz="2000" dirty="0" err="1" smtClean="0"/>
              <a:t>phải</a:t>
            </a:r>
            <a:r>
              <a:rPr lang="en-US" altLang="en-US" sz="2000" dirty="0" smtClean="0"/>
              <a:t> </a:t>
            </a:r>
            <a:r>
              <a:rPr lang="en-US" altLang="en-US" sz="2000" dirty="0" err="1" smtClean="0"/>
              <a:t>dò</a:t>
            </a:r>
            <a:r>
              <a:rPr lang="en-US" altLang="en-US" sz="2000" dirty="0" smtClean="0"/>
              <a:t> qua </a:t>
            </a:r>
            <a:r>
              <a:rPr lang="en-US" altLang="en-US" sz="2000" dirty="0" err="1" smtClean="0"/>
              <a:t>nhiều</a:t>
            </a:r>
            <a:r>
              <a:rPr lang="en-US" altLang="en-US" sz="2000" dirty="0" smtClean="0"/>
              <a:t> </a:t>
            </a:r>
            <a:r>
              <a:rPr lang="en-US" altLang="en-US" sz="2000" dirty="0" err="1" smtClean="0"/>
              <a:t>cụm</a:t>
            </a:r>
            <a:r>
              <a:rPr lang="en-US" altLang="en-US" sz="2000" dirty="0"/>
              <a:t> </a:t>
            </a:r>
            <a:r>
              <a:rPr lang="en-US" altLang="en-US" sz="2000" dirty="0" err="1" smtClean="0"/>
              <a:t>kích</a:t>
            </a:r>
            <a:r>
              <a:rPr lang="en-US" altLang="en-US" sz="2000" dirty="0" smtClean="0"/>
              <a:t> </a:t>
            </a:r>
            <a:r>
              <a:rPr lang="en-US" altLang="en-US" sz="2000" dirty="0" err="1" smtClean="0"/>
              <a:t>thước</a:t>
            </a:r>
            <a:r>
              <a:rPr lang="en-US" altLang="en-US" sz="2000" dirty="0" smtClean="0"/>
              <a:t> </a:t>
            </a:r>
            <a:r>
              <a:rPr lang="en-US" altLang="en-US" sz="2000" dirty="0" err="1" smtClean="0"/>
              <a:t>lớn</a:t>
            </a:r>
            <a:r>
              <a:rPr lang="en-US" altLang="en-US" sz="2000" dirty="0" smtClean="0"/>
              <a:t> </a:t>
            </a:r>
            <a:r>
              <a:rPr lang="en-US" altLang="en-US" sz="2000" dirty="0"/>
              <a:t>=&gt; </a:t>
            </a:r>
            <a:r>
              <a:rPr lang="en-US" altLang="en-US" sz="2000" dirty="0" err="1"/>
              <a:t>tốc</a:t>
            </a:r>
            <a:r>
              <a:rPr lang="en-US" altLang="en-US" sz="2000" dirty="0"/>
              <a:t> </a:t>
            </a:r>
            <a:r>
              <a:rPr lang="en-US" altLang="en-US" sz="2000" dirty="0" err="1"/>
              <a:t>độ</a:t>
            </a:r>
            <a:r>
              <a:rPr lang="en-US" altLang="en-US" sz="2000" dirty="0"/>
              <a:t> </a:t>
            </a:r>
            <a:r>
              <a:rPr lang="en-US" altLang="en-US" sz="2000" dirty="0" err="1" smtClean="0"/>
              <a:t>càng</a:t>
            </a:r>
            <a:r>
              <a:rPr lang="en-US" altLang="en-US" sz="2000" dirty="0" smtClean="0"/>
              <a:t> </a:t>
            </a:r>
            <a:r>
              <a:rPr lang="en-US" altLang="en-US" sz="2000" dirty="0" err="1" smtClean="0"/>
              <a:t>chậm</a:t>
            </a:r>
            <a:endParaRPr lang="en-US" altLang="en-US" sz="2000" dirty="0"/>
          </a:p>
          <a:p>
            <a:pPr lvl="3"/>
            <a:endParaRPr lang="en-US" altLang="en-US" sz="2050" dirty="0"/>
          </a:p>
        </p:txBody>
      </p:sp>
    </p:spTree>
    <p:extLst>
      <p:ext uri="{BB962C8B-B14F-4D97-AF65-F5344CB8AC3E}">
        <p14:creationId xmlns:p14="http://schemas.microsoft.com/office/powerpoint/2010/main" val="1631506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558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5587">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558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558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Slide Number Placeholder 4">
            <a:extLst>
              <a:ext uri="{FF2B5EF4-FFF2-40B4-BE49-F238E27FC236}">
                <a16:creationId xmlns:a16="http://schemas.microsoft.com/office/drawing/2014/main" id="{B79F75FC-3540-4F82-949C-7DD7384B769C}"/>
              </a:ext>
            </a:extLst>
          </p:cNvPr>
          <p:cNvSpPr>
            <a:spLocks noGrp="1"/>
          </p:cNvSpPr>
          <p:nvPr>
            <p:ph type="sldNum" sz="quarter" idx="12"/>
          </p:nvPr>
        </p:nvSpPr>
        <p:spPr/>
        <p:txBody>
          <a:bodyPr/>
          <a:lstStyle/>
          <a:p>
            <a:fld id="{F27F06CC-FC54-418C-B37D-0CF566593528}" type="slidenum">
              <a:rPr lang="en-US" altLang="en-US"/>
              <a:pPr/>
              <a:t>37</a:t>
            </a:fld>
            <a:endParaRPr lang="en-US" altLang="en-US"/>
          </a:p>
        </p:txBody>
      </p:sp>
      <p:sp>
        <p:nvSpPr>
          <p:cNvPr id="195586" name="Rectangle 2">
            <a:extLst>
              <a:ext uri="{FF2B5EF4-FFF2-40B4-BE49-F238E27FC236}">
                <a16:creationId xmlns:a16="http://schemas.microsoft.com/office/drawing/2014/main" id="{9D553CFF-D8F4-467C-ACD8-60C1191AC27D}"/>
              </a:ext>
            </a:extLst>
          </p:cNvPr>
          <p:cNvSpPr>
            <a:spLocks noGrp="1" noChangeArrowheads="1"/>
          </p:cNvSpPr>
          <p:nvPr>
            <p:ph type="title"/>
          </p:nvPr>
        </p:nvSpPr>
        <p:spPr/>
        <p:txBody>
          <a:bodyPr>
            <a:normAutofit/>
          </a:bodyPr>
          <a:lstStyle/>
          <a:p>
            <a:r>
              <a:rPr lang="en-US" altLang="en-US" sz="2400" dirty="0" err="1">
                <a:cs typeface="Times New Roman" panose="02020603050405020304" pitchFamily="18" charset="0"/>
              </a:rPr>
              <a:t>Các</a:t>
            </a:r>
            <a:r>
              <a:rPr lang="en-US" altLang="en-US" sz="2400" dirty="0">
                <a:cs typeface="Times New Roman" panose="02020603050405020304" pitchFamily="18" charset="0"/>
              </a:rPr>
              <a:t> </a:t>
            </a:r>
            <a:r>
              <a:rPr lang="en-US" altLang="en-US" sz="2400" dirty="0" err="1">
                <a:cs typeface="Times New Roman" panose="02020603050405020304" pitchFamily="18" charset="0"/>
              </a:rPr>
              <a:t>biện</a:t>
            </a:r>
            <a:r>
              <a:rPr lang="en-US" altLang="en-US" sz="2400" dirty="0">
                <a:cs typeface="Times New Roman" panose="02020603050405020304" pitchFamily="18" charset="0"/>
              </a:rPr>
              <a:t> </a:t>
            </a:r>
            <a:r>
              <a:rPr lang="en-US" altLang="en-US" sz="2400" dirty="0" err="1">
                <a:cs typeface="Times New Roman" panose="02020603050405020304" pitchFamily="18" charset="0"/>
              </a:rPr>
              <a:t>pháp</a:t>
            </a:r>
            <a:r>
              <a:rPr lang="en-US" altLang="en-US" sz="2400" dirty="0">
                <a:cs typeface="Times New Roman" panose="02020603050405020304" pitchFamily="18" charset="0"/>
              </a:rPr>
              <a:t> </a:t>
            </a:r>
            <a:r>
              <a:rPr lang="en-US" altLang="en-US" sz="2400" dirty="0" err="1">
                <a:cs typeface="Times New Roman" panose="02020603050405020304" pitchFamily="18" charset="0"/>
              </a:rPr>
              <a:t>khắc</a:t>
            </a:r>
            <a:r>
              <a:rPr lang="en-US" altLang="en-US" sz="2400" dirty="0">
                <a:cs typeface="Times New Roman" panose="02020603050405020304" pitchFamily="18" charset="0"/>
              </a:rPr>
              <a:t> </a:t>
            </a:r>
            <a:r>
              <a:rPr lang="en-US" altLang="en-US" sz="2400" dirty="0" err="1">
                <a:cs typeface="Times New Roman" panose="02020603050405020304" pitchFamily="18" charset="0"/>
              </a:rPr>
              <a:t>phục</a:t>
            </a:r>
            <a:r>
              <a:rPr lang="en-US" altLang="en-US" sz="2400" dirty="0">
                <a:cs typeface="Times New Roman" panose="02020603050405020304" pitchFamily="18" charset="0"/>
              </a:rPr>
              <a:t> </a:t>
            </a:r>
            <a:r>
              <a:rPr lang="en-US" altLang="en-US" sz="2400" dirty="0" err="1">
                <a:cs typeface="Times New Roman" panose="02020603050405020304" pitchFamily="18" charset="0"/>
              </a:rPr>
              <a:t>đụng</a:t>
            </a:r>
            <a:r>
              <a:rPr lang="en-US" altLang="en-US" sz="2400" dirty="0">
                <a:cs typeface="Times New Roman" panose="02020603050405020304" pitchFamily="18" charset="0"/>
              </a:rPr>
              <a:t> </a:t>
            </a:r>
            <a:r>
              <a:rPr lang="en-US" altLang="en-US" sz="2400" dirty="0" err="1">
                <a:cs typeface="Times New Roman" panose="02020603050405020304" pitchFamily="18" charset="0"/>
              </a:rPr>
              <a:t>độ</a:t>
            </a:r>
            <a:r>
              <a:rPr lang="en-US" altLang="en-US" sz="2400" dirty="0"/>
              <a:t> </a:t>
            </a:r>
          </a:p>
        </p:txBody>
      </p:sp>
      <p:sp>
        <p:nvSpPr>
          <p:cNvPr id="195587" name="Rectangle 3">
            <a:extLst>
              <a:ext uri="{FF2B5EF4-FFF2-40B4-BE49-F238E27FC236}">
                <a16:creationId xmlns:a16="http://schemas.microsoft.com/office/drawing/2014/main" id="{14BE8F07-22D9-4895-8EAF-D0332E1FC113}"/>
              </a:ext>
            </a:extLst>
          </p:cNvPr>
          <p:cNvSpPr>
            <a:spLocks noGrp="1" noChangeArrowheads="1"/>
          </p:cNvSpPr>
          <p:nvPr>
            <p:ph type="body" sz="quarter" idx="13"/>
          </p:nvPr>
        </p:nvSpPr>
        <p:spPr>
          <a:xfrm>
            <a:off x="234951" y="838200"/>
            <a:ext cx="8528049" cy="5894832"/>
          </a:xfrm>
          <a:noFill/>
          <a:ln/>
        </p:spPr>
        <p:txBody>
          <a:bodyPr>
            <a:normAutofit/>
          </a:bodyPr>
          <a:lstStyle/>
          <a:p>
            <a:pPr lvl="0"/>
            <a:r>
              <a:rPr lang="en-US" altLang="en-US" sz="2400" dirty="0" err="1">
                <a:solidFill>
                  <a:prstClr val="black"/>
                </a:solidFill>
                <a:cs typeface="Times New Roman" panose="02020603050405020304" pitchFamily="18" charset="0"/>
              </a:rPr>
              <a:t>Biện</a:t>
            </a:r>
            <a:r>
              <a:rPr lang="en-US" altLang="en-US" sz="2400" dirty="0">
                <a:solidFill>
                  <a:prstClr val="black"/>
                </a:solidFill>
                <a:cs typeface="Times New Roman" panose="02020603050405020304" pitchFamily="18" charset="0"/>
              </a:rPr>
              <a:t> </a:t>
            </a:r>
            <a:r>
              <a:rPr lang="en-US" altLang="en-US" sz="2400" dirty="0" err="1">
                <a:solidFill>
                  <a:prstClr val="black"/>
                </a:solidFill>
                <a:cs typeface="Times New Roman" panose="02020603050405020304" pitchFamily="18" charset="0"/>
              </a:rPr>
              <a:t>pháp</a:t>
            </a:r>
            <a:r>
              <a:rPr lang="en-US" altLang="en-US" sz="2400" dirty="0">
                <a:solidFill>
                  <a:prstClr val="black"/>
                </a:solidFill>
                <a:cs typeface="Times New Roman" panose="02020603050405020304" pitchFamily="18" charset="0"/>
              </a:rPr>
              <a:t> </a:t>
            </a:r>
            <a:r>
              <a:rPr lang="en-US" altLang="en-US" sz="2400" dirty="0" err="1">
                <a:solidFill>
                  <a:prstClr val="black"/>
                </a:solidFill>
                <a:cs typeface="Times New Roman" panose="02020603050405020304" pitchFamily="18" charset="0"/>
              </a:rPr>
              <a:t>địa</a:t>
            </a:r>
            <a:r>
              <a:rPr lang="en-US" altLang="en-US" sz="2400" dirty="0">
                <a:solidFill>
                  <a:prstClr val="black"/>
                </a:solidFill>
                <a:cs typeface="Times New Roman" panose="02020603050405020304" pitchFamily="18" charset="0"/>
              </a:rPr>
              <a:t> </a:t>
            </a:r>
            <a:r>
              <a:rPr lang="en-US" altLang="en-US" sz="2400" dirty="0" err="1">
                <a:solidFill>
                  <a:prstClr val="black"/>
                </a:solidFill>
                <a:cs typeface="Times New Roman" panose="02020603050405020304" pitchFamily="18" charset="0"/>
              </a:rPr>
              <a:t>chỉ</a:t>
            </a:r>
            <a:r>
              <a:rPr lang="en-US" altLang="en-US" sz="2400" dirty="0">
                <a:solidFill>
                  <a:prstClr val="black"/>
                </a:solidFill>
                <a:cs typeface="Times New Roman" panose="02020603050405020304" pitchFamily="18" charset="0"/>
              </a:rPr>
              <a:t> </a:t>
            </a:r>
            <a:r>
              <a:rPr lang="en-US" altLang="en-US" sz="2400" dirty="0" err="1" smtClean="0">
                <a:solidFill>
                  <a:prstClr val="black"/>
                </a:solidFill>
                <a:cs typeface="Times New Roman" panose="02020603050405020304" pitchFamily="18" charset="0"/>
              </a:rPr>
              <a:t>mở</a:t>
            </a:r>
            <a:endParaRPr lang="en-US" altLang="en-US" sz="2400" dirty="0">
              <a:solidFill>
                <a:prstClr val="black"/>
              </a:solidFill>
            </a:endParaRPr>
          </a:p>
          <a:p>
            <a:pPr lvl="1"/>
            <a:r>
              <a:rPr lang="en-US" altLang="en-US" sz="2400" dirty="0" err="1" smtClean="0"/>
              <a:t>Hướng</a:t>
            </a:r>
            <a:r>
              <a:rPr lang="en-US" altLang="en-US" sz="2400" dirty="0" smtClean="0"/>
              <a:t> </a:t>
            </a:r>
            <a:r>
              <a:rPr lang="en-US" altLang="en-US" sz="2400" dirty="0" err="1"/>
              <a:t>giải</a:t>
            </a:r>
            <a:r>
              <a:rPr lang="en-US" altLang="en-US" sz="2400" dirty="0"/>
              <a:t> </a:t>
            </a:r>
            <a:r>
              <a:rPr lang="en-US" altLang="en-US" sz="2400" dirty="0" err="1"/>
              <a:t>quyết</a:t>
            </a:r>
            <a:endParaRPr lang="en-US" altLang="en-US" sz="2400" dirty="0"/>
          </a:p>
          <a:p>
            <a:pPr lvl="2"/>
            <a:r>
              <a:rPr lang="en-US" altLang="en-US" sz="2200" dirty="0" err="1" smtClean="0"/>
              <a:t>Công</a:t>
            </a:r>
            <a:r>
              <a:rPr lang="en-US" altLang="en-US" sz="2200" dirty="0" smtClean="0"/>
              <a:t> </a:t>
            </a:r>
            <a:r>
              <a:rPr lang="en-US" altLang="en-US" sz="2200" dirty="0" err="1"/>
              <a:t>thức</a:t>
            </a:r>
            <a:r>
              <a:rPr lang="en-US" altLang="en-US" sz="2200" dirty="0"/>
              <a:t> </a:t>
            </a:r>
            <a:r>
              <a:rPr lang="en-US" altLang="en-US" sz="2200" dirty="0" err="1"/>
              <a:t>mới</a:t>
            </a:r>
            <a:r>
              <a:rPr lang="en-US" altLang="en-US" sz="2200" dirty="0"/>
              <a:t>: </a:t>
            </a:r>
          </a:p>
          <a:p>
            <a:pPr lvl="3"/>
            <a:r>
              <a:rPr lang="en-US" altLang="en-US" sz="2050" dirty="0" err="1" smtClean="0"/>
              <a:t>Dò</a:t>
            </a:r>
            <a:r>
              <a:rPr lang="en-US" altLang="en-US" sz="2050" dirty="0" smtClean="0"/>
              <a:t> </a:t>
            </a:r>
            <a:r>
              <a:rPr lang="en-US" altLang="en-US" sz="2050" dirty="0" err="1" smtClean="0"/>
              <a:t>bậc</a:t>
            </a:r>
            <a:r>
              <a:rPr lang="en-US" altLang="en-US" sz="2050" dirty="0" smtClean="0"/>
              <a:t> </a:t>
            </a:r>
            <a:r>
              <a:rPr lang="en-US" altLang="en-US" sz="2050" dirty="0" err="1" smtClean="0"/>
              <a:t>hai</a:t>
            </a:r>
            <a:r>
              <a:rPr lang="en-US" altLang="en-US" sz="2050" dirty="0"/>
              <a:t>: </a:t>
            </a:r>
            <a:r>
              <a:rPr lang="en-US" altLang="en-US" sz="2050" i="1" dirty="0"/>
              <a:t>h(k, </a:t>
            </a:r>
            <a:r>
              <a:rPr lang="en-US" altLang="en-US" sz="2050" i="1" dirty="0" err="1"/>
              <a:t>i</a:t>
            </a:r>
            <a:r>
              <a:rPr lang="en-US" altLang="en-US" sz="2050" i="1" dirty="0"/>
              <a:t>) = [</a:t>
            </a:r>
            <a:r>
              <a:rPr lang="en-US" altLang="en-US" sz="2050" i="1" dirty="0" smtClean="0"/>
              <a:t>h’(</a:t>
            </a:r>
            <a:r>
              <a:rPr lang="en-US" altLang="en-US" sz="2050" i="1" dirty="0"/>
              <a:t>k) + c</a:t>
            </a:r>
            <a:r>
              <a:rPr lang="en-US" altLang="en-US" sz="2050" i="1" baseline="-25000" dirty="0"/>
              <a:t>1</a:t>
            </a:r>
            <a:r>
              <a:rPr lang="en-US" altLang="en-US" sz="2050" i="1" dirty="0"/>
              <a:t>i + </a:t>
            </a:r>
            <a:r>
              <a:rPr lang="en-US" altLang="en-US" sz="2050" i="1" dirty="0" smtClean="0"/>
              <a:t>c</a:t>
            </a:r>
            <a:r>
              <a:rPr lang="en-US" altLang="en-US" sz="2050" i="1" baseline="-25000" dirty="0" smtClean="0"/>
              <a:t>2</a:t>
            </a:r>
            <a:r>
              <a:rPr lang="en-US" altLang="en-US" sz="2050" i="1" dirty="0" smtClean="0"/>
              <a:t>i</a:t>
            </a:r>
            <a:r>
              <a:rPr lang="en-US" altLang="en-US" sz="2050" i="1" baseline="30000" dirty="0" smtClean="0"/>
              <a:t>2</a:t>
            </a:r>
            <a:r>
              <a:rPr lang="en-US" altLang="en-US" sz="2050" i="1" dirty="0"/>
              <a:t>] mod </a:t>
            </a:r>
            <a:r>
              <a:rPr lang="en-US" altLang="en-US" sz="2050" i="1" dirty="0" smtClean="0"/>
              <a:t>m</a:t>
            </a:r>
            <a:br>
              <a:rPr lang="en-US" altLang="en-US" sz="2050" i="1" dirty="0" smtClean="0"/>
            </a:br>
            <a:r>
              <a:rPr lang="en-US" altLang="en-US" sz="2050" i="1" dirty="0" smtClean="0"/>
              <a:t>                                                   i:0..m-1, c</a:t>
            </a:r>
            <a:r>
              <a:rPr lang="en-US" altLang="en-US" sz="2050" i="1" baseline="-25000" dirty="0" smtClean="0"/>
              <a:t>1</a:t>
            </a:r>
            <a:r>
              <a:rPr lang="en-US" altLang="en-US" sz="2050" i="1" dirty="0" smtClean="0"/>
              <a:t>, c</a:t>
            </a:r>
            <a:r>
              <a:rPr lang="en-US" altLang="en-US" sz="2050" i="1" baseline="-25000" dirty="0" smtClean="0"/>
              <a:t>2</a:t>
            </a:r>
            <a:r>
              <a:rPr lang="en-US" altLang="en-US" sz="2050" i="1" dirty="0" smtClean="0"/>
              <a:t>: </a:t>
            </a:r>
            <a:r>
              <a:rPr lang="en-US" altLang="en-US" sz="2050" i="1" dirty="0" err="1" smtClean="0"/>
              <a:t>const</a:t>
            </a:r>
            <a:r>
              <a:rPr lang="en-US" altLang="en-US" sz="2050" i="1" dirty="0" smtClean="0"/>
              <a:t>, ≠0</a:t>
            </a:r>
          </a:p>
          <a:p>
            <a:pPr lvl="3"/>
            <a:r>
              <a:rPr lang="en-US" altLang="en-US" sz="2050" dirty="0" err="1" smtClean="0"/>
              <a:t>Băm</a:t>
            </a:r>
            <a:r>
              <a:rPr lang="en-US" altLang="en-US" sz="2050" dirty="0" smtClean="0"/>
              <a:t> </a:t>
            </a:r>
            <a:r>
              <a:rPr lang="en-US" altLang="en-US" sz="2050" dirty="0" err="1" smtClean="0"/>
              <a:t>kép</a:t>
            </a:r>
            <a:r>
              <a:rPr lang="en-US" altLang="en-US" sz="2050" dirty="0" smtClean="0"/>
              <a:t> (double hashing): </a:t>
            </a:r>
            <a:r>
              <a:rPr lang="pt-BR" altLang="en-US" sz="2050" i="1" dirty="0"/>
              <a:t>h(k, i) = [h</a:t>
            </a:r>
            <a:r>
              <a:rPr lang="pt-BR" altLang="en-US" sz="2050" i="1" baseline="-25000" dirty="0"/>
              <a:t>1</a:t>
            </a:r>
            <a:r>
              <a:rPr lang="pt-BR" altLang="en-US" sz="2050" i="1" dirty="0"/>
              <a:t>(k) + ih</a:t>
            </a:r>
            <a:r>
              <a:rPr lang="pt-BR" altLang="en-US" sz="2050" i="1" baseline="-25000" dirty="0"/>
              <a:t>2</a:t>
            </a:r>
            <a:r>
              <a:rPr lang="pt-BR" altLang="en-US" sz="2050" i="1" dirty="0"/>
              <a:t>(k)] mod </a:t>
            </a:r>
            <a:r>
              <a:rPr lang="pt-BR" altLang="en-US" sz="2050" i="1" dirty="0" smtClean="0"/>
              <a:t>m</a:t>
            </a:r>
            <a:r>
              <a:rPr lang="pt-BR" altLang="en-US" sz="2050" dirty="0" smtClean="0"/>
              <a:t/>
            </a:r>
            <a:br>
              <a:rPr lang="pt-BR" altLang="en-US" sz="2050" dirty="0" smtClean="0"/>
            </a:br>
            <a:r>
              <a:rPr lang="pt-BR" altLang="en-US" sz="2050" dirty="0" smtClean="0"/>
              <a:t>         </a:t>
            </a:r>
            <a:r>
              <a:rPr lang="da-DK" altLang="en-US" sz="2050" i="1" dirty="0" smtClean="0"/>
              <a:t>h1(k</a:t>
            </a:r>
            <a:r>
              <a:rPr lang="da-DK" altLang="en-US" sz="2050" i="1" dirty="0"/>
              <a:t>) = k </a:t>
            </a:r>
            <a:r>
              <a:rPr lang="da-DK" altLang="en-US" sz="2050" i="1" dirty="0" smtClean="0"/>
              <a:t>mod m</a:t>
            </a:r>
            <a:r>
              <a:rPr lang="da-DK" altLang="en-US" sz="2050" i="1" dirty="0"/>
              <a:t>, h2(k) = k mod </a:t>
            </a:r>
            <a:r>
              <a:rPr lang="da-DK" altLang="en-US" sz="2050" i="1" dirty="0" smtClean="0"/>
              <a:t>m’, m’=m-1 hoặc m-2</a:t>
            </a:r>
          </a:p>
          <a:p>
            <a:pPr lvl="2"/>
            <a:r>
              <a:rPr lang="da-DK" altLang="en-US" sz="2200" dirty="0" smtClean="0"/>
              <a:t>Băm lại (rehashing): Tạo bảng băm mới có kích thước lớn hơn bảng ban đầu, bố trí lại các key vào bảng mới</a:t>
            </a:r>
            <a:endParaRPr lang="en-US" altLang="en-US" sz="2200" dirty="0" smtClean="0"/>
          </a:p>
          <a:p>
            <a:pPr lvl="3"/>
            <a:endParaRPr lang="en-US" altLang="en-US" sz="2050" dirty="0"/>
          </a:p>
        </p:txBody>
      </p:sp>
    </p:spTree>
    <p:extLst>
      <p:ext uri="{BB962C8B-B14F-4D97-AF65-F5344CB8AC3E}">
        <p14:creationId xmlns:p14="http://schemas.microsoft.com/office/powerpoint/2010/main" val="2427443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558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558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558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5587">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558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4">
            <a:extLst>
              <a:ext uri="{FF2B5EF4-FFF2-40B4-BE49-F238E27FC236}">
                <a16:creationId xmlns:a16="http://schemas.microsoft.com/office/drawing/2014/main" id="{7D39A077-5250-4CC8-B4FC-17FF6A7F3179}"/>
              </a:ext>
            </a:extLst>
          </p:cNvPr>
          <p:cNvSpPr>
            <a:spLocks noGrp="1"/>
          </p:cNvSpPr>
          <p:nvPr>
            <p:ph type="sldNum" sz="quarter" idx="12"/>
          </p:nvPr>
        </p:nvSpPr>
        <p:spPr/>
        <p:txBody>
          <a:bodyPr/>
          <a:lstStyle/>
          <a:p>
            <a:fld id="{439FB3D6-913A-4663-8B0E-3B5C3DDE434E}" type="slidenum">
              <a:rPr lang="en-US" altLang="en-US"/>
              <a:pPr/>
              <a:t>38</a:t>
            </a:fld>
            <a:endParaRPr lang="en-US" altLang="en-US"/>
          </a:p>
        </p:txBody>
      </p:sp>
      <p:sp>
        <p:nvSpPr>
          <p:cNvPr id="203778" name="Rectangle 2">
            <a:extLst>
              <a:ext uri="{FF2B5EF4-FFF2-40B4-BE49-F238E27FC236}">
                <a16:creationId xmlns:a16="http://schemas.microsoft.com/office/drawing/2014/main" id="{1BA8C58A-54FE-46D8-BB2D-ED19BD2172BF}"/>
              </a:ext>
            </a:extLst>
          </p:cNvPr>
          <p:cNvSpPr>
            <a:spLocks noGrp="1" noChangeArrowheads="1"/>
          </p:cNvSpPr>
          <p:nvPr>
            <p:ph type="title"/>
          </p:nvPr>
        </p:nvSpPr>
        <p:spPr/>
        <p:txBody>
          <a:bodyPr>
            <a:normAutofit/>
          </a:bodyPr>
          <a:lstStyle/>
          <a:p>
            <a:r>
              <a:rPr lang="en-US" altLang="en-US" sz="2400">
                <a:cs typeface="Times New Roman" panose="02020603050405020304" pitchFamily="18" charset="0"/>
              </a:rPr>
              <a:t>Các biện pháp khắc phục đụng độ</a:t>
            </a:r>
            <a:r>
              <a:rPr lang="en-US" altLang="en-US" sz="2400"/>
              <a:t> </a:t>
            </a:r>
          </a:p>
        </p:txBody>
      </p:sp>
      <p:sp>
        <p:nvSpPr>
          <p:cNvPr id="203779" name="Rectangle 3">
            <a:extLst>
              <a:ext uri="{FF2B5EF4-FFF2-40B4-BE49-F238E27FC236}">
                <a16:creationId xmlns:a16="http://schemas.microsoft.com/office/drawing/2014/main" id="{AE032E9B-7C4A-4C11-B372-6B9CFDB5DB8B}"/>
              </a:ext>
            </a:extLst>
          </p:cNvPr>
          <p:cNvSpPr>
            <a:spLocks noGrp="1" noChangeArrowheads="1"/>
          </p:cNvSpPr>
          <p:nvPr>
            <p:ph type="body" sz="quarter" idx="13"/>
          </p:nvPr>
        </p:nvSpPr>
        <p:spPr>
          <a:noFill/>
          <a:ln/>
        </p:spPr>
        <p:txBody>
          <a:bodyPr>
            <a:noAutofit/>
          </a:bodyPr>
          <a:lstStyle/>
          <a:p>
            <a:pPr>
              <a:spcBef>
                <a:spcPct val="0"/>
              </a:spcBef>
            </a:pPr>
            <a:r>
              <a:rPr lang="en-US" altLang="en-US" sz="2400" dirty="0" err="1" smtClean="0"/>
              <a:t>Đánh</a:t>
            </a:r>
            <a:r>
              <a:rPr lang="en-US" altLang="en-US" sz="2400" dirty="0"/>
              <a:t> </a:t>
            </a:r>
            <a:r>
              <a:rPr lang="en-US" altLang="en-US" sz="2400" dirty="0" err="1"/>
              <a:t>giá</a:t>
            </a:r>
            <a:r>
              <a:rPr lang="en-US" altLang="en-US" sz="2400" dirty="0"/>
              <a:t> </a:t>
            </a:r>
            <a:endParaRPr lang="en-US" altLang="en-US" sz="2400" dirty="0" smtClean="0"/>
          </a:p>
          <a:p>
            <a:pPr lvl="1">
              <a:spcBef>
                <a:spcPct val="0"/>
              </a:spcBef>
            </a:pPr>
            <a:r>
              <a:rPr lang="en-US" altLang="en-US" sz="2000" dirty="0" err="1" smtClean="0"/>
              <a:t>Đánh</a:t>
            </a:r>
            <a:r>
              <a:rPr lang="en-US" altLang="en-US" sz="2000" dirty="0" smtClean="0"/>
              <a:t> </a:t>
            </a:r>
            <a:r>
              <a:rPr lang="en-US" altLang="en-US" sz="2000" dirty="0" err="1" smtClean="0"/>
              <a:t>giá</a:t>
            </a:r>
            <a:r>
              <a:rPr lang="en-US" altLang="en-US" sz="2000" dirty="0" smtClean="0"/>
              <a:t> </a:t>
            </a:r>
            <a:r>
              <a:rPr lang="en-US" altLang="en-US" sz="2000" dirty="0" err="1" smtClean="0"/>
              <a:t>hệ</a:t>
            </a:r>
            <a:r>
              <a:rPr lang="en-US" altLang="en-US" sz="2000" dirty="0" smtClean="0"/>
              <a:t> </a:t>
            </a:r>
            <a:r>
              <a:rPr lang="en-US" altLang="en-US" sz="2000" dirty="0" err="1" smtClean="0"/>
              <a:t>số</a:t>
            </a:r>
            <a:r>
              <a:rPr lang="en-US" altLang="en-US" sz="2000" dirty="0" smtClean="0"/>
              <a:t> </a:t>
            </a:r>
            <a:r>
              <a:rPr lang="en-US" altLang="en-US" sz="2000" dirty="0" err="1" smtClean="0"/>
              <a:t>tải</a:t>
            </a:r>
            <a:r>
              <a:rPr lang="en-US" altLang="en-US" sz="2000" dirty="0" smtClean="0"/>
              <a:t> </a:t>
            </a:r>
            <a:r>
              <a:rPr lang="en-US" altLang="en-US" sz="2000" dirty="0" err="1" smtClean="0"/>
              <a:t>trọng</a:t>
            </a:r>
            <a:endParaRPr lang="en-US" altLang="en-US" sz="2000" dirty="0" smtClean="0"/>
          </a:p>
          <a:p>
            <a:pPr lvl="2">
              <a:spcBef>
                <a:spcPct val="0"/>
              </a:spcBef>
            </a:pPr>
            <a:r>
              <a:rPr lang="vi-VN" sz="1800" dirty="0"/>
              <a:t>m = kích thước bảng băm </a:t>
            </a:r>
            <a:endParaRPr lang="en-US" sz="1800" dirty="0" smtClean="0"/>
          </a:p>
          <a:p>
            <a:pPr lvl="2">
              <a:spcBef>
                <a:spcPct val="0"/>
              </a:spcBef>
            </a:pPr>
            <a:r>
              <a:rPr lang="vi-VN" sz="1800" dirty="0" smtClean="0"/>
              <a:t>n </a:t>
            </a:r>
            <a:r>
              <a:rPr lang="vi-VN" sz="1800" dirty="0"/>
              <a:t>= </a:t>
            </a:r>
            <a:r>
              <a:rPr lang="en-US" sz="1800" dirty="0" smtClean="0"/>
              <a:t>s</a:t>
            </a:r>
            <a:r>
              <a:rPr lang="vi-VN" sz="1800" dirty="0" smtClean="0"/>
              <a:t>ố </a:t>
            </a:r>
            <a:r>
              <a:rPr lang="vi-VN" sz="1800" dirty="0"/>
              <a:t>khóa được chèn vào bảng </a:t>
            </a:r>
            <a:r>
              <a:rPr lang="vi-VN" sz="1800" dirty="0" smtClean="0"/>
              <a:t>băm</a:t>
            </a:r>
            <a:r>
              <a:rPr lang="en-US" sz="1800" dirty="0" smtClean="0"/>
              <a:t> (</a:t>
            </a:r>
            <a:r>
              <a:rPr lang="en-US" altLang="en-US" sz="1800" kern="0" dirty="0" smtClean="0"/>
              <a:t>n </a:t>
            </a:r>
            <a:r>
              <a:rPr lang="en-US" altLang="en-US" sz="1800" kern="0" dirty="0"/>
              <a:t>&lt;= </a:t>
            </a:r>
            <a:r>
              <a:rPr lang="en-US" altLang="en-US" sz="1800" kern="0" dirty="0" smtClean="0"/>
              <a:t>m)</a:t>
            </a:r>
            <a:endParaRPr lang="en-US" sz="1800" dirty="0" smtClean="0"/>
          </a:p>
          <a:p>
            <a:pPr lvl="2">
              <a:spcBef>
                <a:spcPct val="0"/>
              </a:spcBef>
            </a:pPr>
            <a:r>
              <a:rPr lang="vi-VN" sz="1800" dirty="0"/>
              <a:t>Hệ số tải trọng α = n / </a:t>
            </a:r>
            <a:r>
              <a:rPr lang="en-US" sz="1800" dirty="0" smtClean="0"/>
              <a:t>(</a:t>
            </a:r>
            <a:r>
              <a:rPr lang="vi-VN" sz="1800" dirty="0" smtClean="0"/>
              <a:t>m</a:t>
            </a:r>
            <a:r>
              <a:rPr lang="en-US" sz="1800" dirty="0" smtClean="0"/>
              <a:t>+1)</a:t>
            </a:r>
            <a:r>
              <a:rPr lang="vi-VN" sz="1800" dirty="0" smtClean="0"/>
              <a:t> (&lt;1</a:t>
            </a:r>
            <a:r>
              <a:rPr lang="vi-VN" sz="1800" dirty="0"/>
              <a:t>)</a:t>
            </a:r>
            <a:endParaRPr lang="en-US" altLang="en-US" sz="1700" dirty="0" smtClean="0"/>
          </a:p>
          <a:p>
            <a:pPr lvl="1">
              <a:spcBef>
                <a:spcPct val="0"/>
              </a:spcBef>
            </a:pPr>
            <a:r>
              <a:rPr lang="en-US" altLang="en-US" sz="2000" dirty="0" err="1" smtClean="0"/>
              <a:t>Đánh</a:t>
            </a:r>
            <a:r>
              <a:rPr lang="en-US" altLang="en-US" sz="2000" dirty="0" smtClean="0"/>
              <a:t> </a:t>
            </a:r>
            <a:r>
              <a:rPr lang="en-US" altLang="en-US" sz="2000" dirty="0" err="1" smtClean="0"/>
              <a:t>giá</a:t>
            </a:r>
            <a:r>
              <a:rPr lang="en-US" altLang="en-US" sz="2000" dirty="0" smtClean="0"/>
              <a:t> </a:t>
            </a:r>
            <a:r>
              <a:rPr lang="en-US" altLang="en-US" sz="2000" dirty="0" err="1" smtClean="0"/>
              <a:t>số</a:t>
            </a:r>
            <a:r>
              <a:rPr lang="en-US" altLang="en-US" sz="2000" dirty="0" smtClean="0"/>
              <a:t> </a:t>
            </a:r>
            <a:r>
              <a:rPr lang="en-US" altLang="en-US" sz="2000" dirty="0" err="1"/>
              <a:t>bước</a:t>
            </a:r>
            <a:r>
              <a:rPr lang="en-US" altLang="en-US" sz="2000" dirty="0"/>
              <a:t> </a:t>
            </a:r>
            <a:r>
              <a:rPr lang="en-US" altLang="en-US" sz="2000" dirty="0" err="1"/>
              <a:t>thực</a:t>
            </a:r>
            <a:r>
              <a:rPr lang="en-US" altLang="en-US" sz="2000" dirty="0"/>
              <a:t> </a:t>
            </a:r>
            <a:r>
              <a:rPr lang="en-US" altLang="en-US" sz="2000" dirty="0" err="1"/>
              <a:t>hiện</a:t>
            </a:r>
            <a:r>
              <a:rPr lang="en-US" altLang="en-US" sz="2000" dirty="0"/>
              <a:t> </a:t>
            </a:r>
          </a:p>
          <a:p>
            <a:pPr lvl="2">
              <a:spcBef>
                <a:spcPct val="0"/>
              </a:spcBef>
            </a:pPr>
            <a:r>
              <a:rPr lang="en-US" altLang="en-US" sz="2000" dirty="0" err="1" smtClean="0">
                <a:cs typeface="Times New Roman" panose="02020603050405020304" pitchFamily="18" charset="0"/>
              </a:rPr>
              <a:t>Gi</a:t>
            </a:r>
            <a:r>
              <a:rPr lang="en-US" altLang="en-US" sz="2000" dirty="0" err="1" smtClean="0"/>
              <a:t>ả</a:t>
            </a:r>
            <a:r>
              <a:rPr lang="en-US" altLang="en-US" sz="2000" dirty="0" smtClean="0"/>
              <a:t> </a:t>
            </a:r>
            <a:r>
              <a:rPr lang="en-US" altLang="en-US" sz="2000" dirty="0" err="1"/>
              <a:t>sử</a:t>
            </a:r>
            <a:r>
              <a:rPr lang="en-US" altLang="en-US" sz="2000" dirty="0"/>
              <a:t> </a:t>
            </a:r>
            <a:r>
              <a:rPr lang="en-US" altLang="en-US" sz="2000" dirty="0" err="1"/>
              <a:t>các</a:t>
            </a:r>
            <a:r>
              <a:rPr lang="en-US" altLang="en-US" sz="2000" dirty="0"/>
              <a:t> </a:t>
            </a:r>
            <a:r>
              <a:rPr lang="en-US" altLang="en-US" sz="2000" dirty="0" err="1"/>
              <a:t>khoá</a:t>
            </a:r>
            <a:r>
              <a:rPr lang="en-US" altLang="en-US" sz="2000" dirty="0"/>
              <a:t> </a:t>
            </a:r>
            <a:r>
              <a:rPr lang="en-US" altLang="en-US" sz="2000" dirty="0" err="1"/>
              <a:t>xuất</a:t>
            </a:r>
            <a:r>
              <a:rPr lang="en-US" altLang="en-US" sz="2000" dirty="0"/>
              <a:t> </a:t>
            </a:r>
            <a:r>
              <a:rPr lang="en-US" altLang="en-US" sz="2000" dirty="0" err="1"/>
              <a:t>hiện</a:t>
            </a:r>
            <a:r>
              <a:rPr lang="en-US" altLang="en-US" sz="2000" dirty="0"/>
              <a:t> </a:t>
            </a:r>
            <a:r>
              <a:rPr lang="en-US" altLang="en-US" sz="2000" dirty="0" err="1"/>
              <a:t>đồng</a:t>
            </a:r>
            <a:r>
              <a:rPr lang="en-US" altLang="en-US" sz="2000" dirty="0"/>
              <a:t> </a:t>
            </a:r>
            <a:r>
              <a:rPr lang="en-US" altLang="en-US" sz="2000" dirty="0" err="1" smtClean="0"/>
              <a:t>đều</a:t>
            </a:r>
            <a:r>
              <a:rPr lang="en-US" altLang="en-US" sz="2000" dirty="0" smtClean="0"/>
              <a:t> </a:t>
            </a:r>
            <a:r>
              <a:rPr lang="en-US" altLang="en-US" sz="2000" dirty="0" err="1" smtClean="0"/>
              <a:t>trong</a:t>
            </a:r>
            <a:r>
              <a:rPr lang="en-US" altLang="en-US" sz="2000" dirty="0" smtClean="0"/>
              <a:t> </a:t>
            </a:r>
            <a:r>
              <a:rPr lang="en-US" altLang="en-US" sz="2000" dirty="0" err="1" smtClean="0"/>
              <a:t>bảng</a:t>
            </a:r>
            <a:r>
              <a:rPr lang="en-US" altLang="en-US" sz="2000" dirty="0" smtClean="0"/>
              <a:t> </a:t>
            </a:r>
            <a:r>
              <a:rPr lang="en-US" altLang="en-US" sz="2000" dirty="0" err="1" smtClean="0"/>
              <a:t>băm</a:t>
            </a:r>
            <a:endParaRPr lang="en-US" altLang="en-US" sz="2000" dirty="0"/>
          </a:p>
          <a:p>
            <a:pPr lvl="2">
              <a:spcBef>
                <a:spcPct val="0"/>
              </a:spcBef>
            </a:pPr>
            <a:r>
              <a:rPr lang="en-US" altLang="en-US" sz="2000" dirty="0" err="1" smtClean="0"/>
              <a:t>Ước</a:t>
            </a:r>
            <a:r>
              <a:rPr lang="en-US" altLang="en-US" sz="2000" dirty="0" smtClean="0"/>
              <a:t> </a:t>
            </a:r>
            <a:r>
              <a:rPr lang="en-US" altLang="en-US" sz="2000" dirty="0" err="1" smtClean="0"/>
              <a:t>lượng</a:t>
            </a:r>
            <a:r>
              <a:rPr lang="en-US" altLang="en-US" sz="2000" dirty="0"/>
              <a:t> </a:t>
            </a:r>
            <a:r>
              <a:rPr lang="en-US" altLang="en-US" sz="2000" dirty="0" smtClean="0"/>
              <a:t>E</a:t>
            </a:r>
            <a:r>
              <a:rPr lang="en-US" altLang="en-US" sz="1800" dirty="0" smtClean="0"/>
              <a:t>: </a:t>
            </a:r>
            <a:r>
              <a:rPr lang="en-US" altLang="en-US" sz="1800" dirty="0" err="1" smtClean="0"/>
              <a:t>số</a:t>
            </a:r>
            <a:r>
              <a:rPr lang="en-US" altLang="en-US" sz="1800" dirty="0" smtClean="0"/>
              <a:t> </a:t>
            </a:r>
            <a:r>
              <a:rPr lang="en-US" altLang="en-US" sz="1800" dirty="0" err="1"/>
              <a:t>lần</a:t>
            </a:r>
            <a:r>
              <a:rPr lang="en-US" altLang="en-US" sz="1800" dirty="0"/>
              <a:t> </a:t>
            </a:r>
            <a:r>
              <a:rPr lang="en-US" altLang="en-US" sz="1800" dirty="0" err="1"/>
              <a:t>thử</a:t>
            </a:r>
            <a:r>
              <a:rPr lang="en-US" altLang="en-US" sz="1800" dirty="0"/>
              <a:t> </a:t>
            </a:r>
            <a:r>
              <a:rPr lang="en-US" altLang="en-US" sz="1800" dirty="0" err="1"/>
              <a:t>trung</a:t>
            </a:r>
            <a:r>
              <a:rPr lang="en-US" altLang="en-US" sz="1800" dirty="0"/>
              <a:t> </a:t>
            </a:r>
            <a:r>
              <a:rPr lang="en-US" altLang="en-US" sz="1800" dirty="0" err="1"/>
              <a:t>bình</a:t>
            </a:r>
            <a:r>
              <a:rPr lang="en-US" altLang="en-US" sz="1800" dirty="0"/>
              <a:t> </a:t>
            </a:r>
            <a:r>
              <a:rPr lang="en-US" altLang="en-US" sz="1800" dirty="0" err="1"/>
              <a:t>để</a:t>
            </a:r>
            <a:r>
              <a:rPr lang="en-US" altLang="en-US" sz="1800" dirty="0"/>
              <a:t> </a:t>
            </a:r>
            <a:r>
              <a:rPr lang="en-US" altLang="en-US" sz="1800" dirty="0" err="1"/>
              <a:t>truy</a:t>
            </a:r>
            <a:r>
              <a:rPr lang="en-US" altLang="en-US" sz="1800" dirty="0"/>
              <a:t> </a:t>
            </a:r>
            <a:r>
              <a:rPr lang="en-US" altLang="en-US" sz="1800" dirty="0" err="1"/>
              <a:t>cập</a:t>
            </a:r>
            <a:r>
              <a:rPr lang="en-US" altLang="en-US" sz="1800" dirty="0"/>
              <a:t> </a:t>
            </a:r>
            <a:r>
              <a:rPr lang="en-US" altLang="en-US" sz="1800" dirty="0" err="1"/>
              <a:t>một</a:t>
            </a:r>
            <a:r>
              <a:rPr lang="en-US" altLang="en-US" sz="1800" dirty="0"/>
              <a:t> </a:t>
            </a:r>
            <a:r>
              <a:rPr lang="en-US" altLang="en-US" sz="1800" dirty="0" err="1"/>
              <a:t>khóa</a:t>
            </a:r>
            <a:r>
              <a:rPr lang="en-US" altLang="en-US" sz="1800" dirty="0"/>
              <a:t> </a:t>
            </a:r>
            <a:r>
              <a:rPr lang="en-US" altLang="en-US" sz="1800" dirty="0" err="1"/>
              <a:t>ngẫu</a:t>
            </a:r>
            <a:r>
              <a:rPr lang="en-US" altLang="en-US" sz="1800" dirty="0"/>
              <a:t> </a:t>
            </a:r>
            <a:r>
              <a:rPr lang="en-US" altLang="en-US" sz="1800" dirty="0" err="1"/>
              <a:t>nhiên</a:t>
            </a:r>
            <a:r>
              <a:rPr lang="en-US" altLang="en-US" sz="1800" dirty="0"/>
              <a:t> </a:t>
            </a:r>
            <a:r>
              <a:rPr lang="en-US" altLang="en-US" sz="1800" dirty="0" err="1"/>
              <a:t>trong</a:t>
            </a:r>
            <a:r>
              <a:rPr lang="en-US" altLang="en-US" sz="1800" dirty="0"/>
              <a:t> </a:t>
            </a:r>
            <a:r>
              <a:rPr lang="en-US" altLang="en-US" sz="1800" dirty="0" err="1" smtClean="0"/>
              <a:t>bảng</a:t>
            </a:r>
            <a:r>
              <a:rPr lang="en-US" altLang="en-US" sz="1800" dirty="0" smtClean="0"/>
              <a:t/>
            </a:r>
            <a:br>
              <a:rPr lang="en-US" altLang="en-US" sz="1800" dirty="0" smtClean="0"/>
            </a:br>
            <a:r>
              <a:rPr lang="en-US" altLang="en-US" sz="1800" dirty="0" smtClean="0">
                <a:sym typeface="Symbol" panose="05050102010706020507" pitchFamily="18" charset="2"/>
              </a:rPr>
              <a:t> </a:t>
            </a:r>
            <a:r>
              <a:rPr lang="en-US" altLang="en-US" sz="1800" dirty="0" err="1" smtClean="0"/>
              <a:t>Tìm</a:t>
            </a:r>
            <a:r>
              <a:rPr lang="en-US" altLang="en-US" sz="1800" dirty="0" smtClean="0"/>
              <a:t> </a:t>
            </a:r>
            <a:r>
              <a:rPr lang="en-US" altLang="en-US" sz="1800" dirty="0" err="1"/>
              <a:t>thấy</a:t>
            </a:r>
            <a:r>
              <a:rPr lang="en-US" altLang="en-US" sz="1800" dirty="0"/>
              <a:t> </a:t>
            </a:r>
            <a:r>
              <a:rPr lang="en-US" altLang="en-US" sz="1800" dirty="0" err="1"/>
              <a:t>vị</a:t>
            </a:r>
            <a:r>
              <a:rPr lang="en-US" altLang="en-US" sz="1800" dirty="0"/>
              <a:t> </a:t>
            </a:r>
            <a:r>
              <a:rPr lang="en-US" altLang="en-US" sz="1800" dirty="0" err="1"/>
              <a:t>trí</a:t>
            </a:r>
            <a:r>
              <a:rPr lang="en-US" altLang="en-US" sz="1800" dirty="0"/>
              <a:t> </a:t>
            </a:r>
            <a:r>
              <a:rPr lang="en-US" altLang="en-US" sz="1800" dirty="0" err="1"/>
              <a:t>trống</a:t>
            </a:r>
            <a:r>
              <a:rPr lang="en-US" altLang="en-US" sz="1800" dirty="0"/>
              <a:t> </a:t>
            </a:r>
            <a:r>
              <a:rPr lang="en-US" altLang="en-US" sz="1800" dirty="0" err="1"/>
              <a:t>mới</a:t>
            </a:r>
            <a:r>
              <a:rPr lang="en-US" altLang="en-US" sz="1800" dirty="0"/>
              <a:t> </a:t>
            </a:r>
            <a:r>
              <a:rPr lang="en-US" altLang="en-US" sz="1800" dirty="0" err="1"/>
              <a:t>cho</a:t>
            </a:r>
            <a:r>
              <a:rPr lang="en-US" altLang="en-US" sz="1800" dirty="0"/>
              <a:t> </a:t>
            </a:r>
            <a:r>
              <a:rPr lang="en-US" altLang="en-US" sz="1800" dirty="0" err="1"/>
              <a:t>nó</a:t>
            </a:r>
            <a:r>
              <a:rPr lang="en-US" altLang="en-US" sz="1800" dirty="0"/>
              <a:t> </a:t>
            </a:r>
            <a:r>
              <a:rPr lang="en-US" altLang="en-US" sz="1800" dirty="0" err="1"/>
              <a:t>hoặc</a:t>
            </a:r>
            <a:r>
              <a:rPr lang="en-US" altLang="en-US" sz="1800" dirty="0"/>
              <a:t> </a:t>
            </a:r>
            <a:r>
              <a:rPr lang="en-US" altLang="en-US" sz="1800" dirty="0" err="1"/>
              <a:t>tìm</a:t>
            </a:r>
            <a:r>
              <a:rPr lang="en-US" altLang="en-US" sz="1800" dirty="0"/>
              <a:t> </a:t>
            </a:r>
            <a:r>
              <a:rPr lang="en-US" altLang="en-US" sz="1800" dirty="0" err="1"/>
              <a:t>thấy</a:t>
            </a:r>
            <a:r>
              <a:rPr lang="en-US" altLang="en-US" sz="1800" dirty="0"/>
              <a:t> </a:t>
            </a:r>
            <a:r>
              <a:rPr lang="en-US" altLang="en-US" sz="1800" dirty="0" err="1"/>
              <a:t>khoá</a:t>
            </a:r>
            <a:r>
              <a:rPr lang="en-US" altLang="en-US" sz="1800" dirty="0"/>
              <a:t> </a:t>
            </a:r>
            <a:r>
              <a:rPr lang="en-US" altLang="en-US" sz="1800" dirty="0" err="1"/>
              <a:t>đó</a:t>
            </a:r>
            <a:r>
              <a:rPr lang="en-US" altLang="en-US" sz="1800" dirty="0"/>
              <a:t> </a:t>
            </a:r>
            <a:r>
              <a:rPr lang="en-US" altLang="en-US" sz="1800" dirty="0" err="1"/>
              <a:t>đã</a:t>
            </a:r>
            <a:r>
              <a:rPr lang="en-US" altLang="en-US" sz="1800" dirty="0"/>
              <a:t> </a:t>
            </a:r>
            <a:r>
              <a:rPr lang="en-US" altLang="en-US" sz="1800" dirty="0" err="1"/>
              <a:t>lưu</a:t>
            </a:r>
            <a:r>
              <a:rPr lang="en-US" altLang="en-US" sz="1800" dirty="0"/>
              <a:t> </a:t>
            </a:r>
            <a:r>
              <a:rPr lang="en-US" altLang="en-US" sz="1800" dirty="0" err="1"/>
              <a:t>trong</a:t>
            </a:r>
            <a:r>
              <a:rPr lang="en-US" altLang="en-US" sz="1800" dirty="0"/>
              <a:t> </a:t>
            </a:r>
            <a:r>
              <a:rPr lang="en-US" altLang="en-US" sz="1800" dirty="0" err="1" smtClean="0"/>
              <a:t>bảng</a:t>
            </a:r>
            <a:r>
              <a:rPr lang="en-US" altLang="en-US" sz="1800" dirty="0" smtClean="0"/>
              <a:t> </a:t>
            </a:r>
            <a:r>
              <a:rPr lang="en-US" altLang="en-US" sz="1800" dirty="0"/>
              <a:t>(</a:t>
            </a:r>
            <a:r>
              <a:rPr lang="en-US" altLang="en-US" sz="1800" dirty="0" err="1"/>
              <a:t>dựa</a:t>
            </a:r>
            <a:r>
              <a:rPr lang="en-US" altLang="en-US" sz="1800" dirty="0"/>
              <a:t> </a:t>
            </a:r>
            <a:r>
              <a:rPr lang="en-US" altLang="en-US" sz="1800" dirty="0" err="1"/>
              <a:t>trên</a:t>
            </a:r>
            <a:r>
              <a:rPr lang="en-US" altLang="en-US" sz="1800" dirty="0"/>
              <a:t> </a:t>
            </a:r>
            <a:r>
              <a:rPr lang="en-US" altLang="en-US" sz="1800" dirty="0" err="1"/>
              <a:t>lý</a:t>
            </a:r>
            <a:r>
              <a:rPr lang="en-US" altLang="en-US" sz="1800" dirty="0"/>
              <a:t> </a:t>
            </a:r>
            <a:r>
              <a:rPr lang="en-US" altLang="en-US" sz="1800" dirty="0" err="1"/>
              <a:t>thuyết</a:t>
            </a:r>
            <a:r>
              <a:rPr lang="en-US" altLang="en-US" sz="1800" dirty="0"/>
              <a:t> </a:t>
            </a:r>
            <a:r>
              <a:rPr lang="en-US" altLang="en-US" sz="1800" dirty="0" err="1"/>
              <a:t>xác</a:t>
            </a:r>
            <a:r>
              <a:rPr lang="en-US" altLang="en-US" sz="1800" dirty="0"/>
              <a:t> </a:t>
            </a:r>
            <a:r>
              <a:rPr lang="en-US" altLang="en-US" sz="1800" dirty="0" err="1"/>
              <a:t>suất</a:t>
            </a:r>
            <a:r>
              <a:rPr lang="en-US" altLang="en-US" sz="1800" dirty="0"/>
              <a:t>):</a:t>
            </a:r>
            <a:endParaRPr lang="en-US" altLang="en-US" sz="1800" dirty="0" smtClean="0"/>
          </a:p>
          <a:p>
            <a:pPr marL="1295400" lvl="2" indent="-381000">
              <a:spcBef>
                <a:spcPct val="0"/>
              </a:spcBef>
            </a:pPr>
            <a:r>
              <a:rPr lang="en-US" altLang="en-US" sz="2000" dirty="0" err="1">
                <a:cs typeface="Times New Roman" panose="02020603050405020304" pitchFamily="18" charset="0"/>
              </a:rPr>
              <a:t>Bi</a:t>
            </a:r>
            <a:r>
              <a:rPr lang="en-US" altLang="en-US" sz="2000" dirty="0" err="1"/>
              <a:t>ện</a:t>
            </a:r>
            <a:r>
              <a:rPr lang="en-US" altLang="en-US" sz="2000" dirty="0"/>
              <a:t> </a:t>
            </a:r>
            <a:r>
              <a:rPr lang="en-US" altLang="en-US" sz="2000" dirty="0" err="1"/>
              <a:t>pháp</a:t>
            </a:r>
            <a:r>
              <a:rPr lang="en-US" altLang="en-US" sz="2000" dirty="0"/>
              <a:t> </a:t>
            </a:r>
            <a:r>
              <a:rPr lang="en-US" altLang="en-US" sz="2000" dirty="0" err="1"/>
              <a:t>móc</a:t>
            </a:r>
            <a:r>
              <a:rPr lang="en-US" altLang="en-US" sz="2000" dirty="0"/>
              <a:t> </a:t>
            </a:r>
            <a:r>
              <a:rPr lang="en-US" altLang="en-US" sz="2000" dirty="0" err="1"/>
              <a:t>nối</a:t>
            </a:r>
            <a:endParaRPr lang="en-US" altLang="en-US" sz="2000" dirty="0"/>
          </a:p>
          <a:p>
            <a:pPr marL="1714500" lvl="3" indent="-342900">
              <a:spcBef>
                <a:spcPct val="0"/>
              </a:spcBef>
              <a:buFontTx/>
              <a:buNone/>
            </a:pPr>
            <a:r>
              <a:rPr lang="en-US" altLang="en-US" sz="1800" dirty="0" smtClean="0">
                <a:cs typeface="Times New Roman" panose="02020603050405020304" pitchFamily="18" charset="0"/>
              </a:rPr>
              <a:t>a) </a:t>
            </a:r>
            <a:r>
              <a:rPr lang="en-US" altLang="en-US" sz="1800" dirty="0" err="1">
                <a:cs typeface="Times New Roman" panose="02020603050405020304" pitchFamily="18" charset="0"/>
              </a:rPr>
              <a:t>K</a:t>
            </a:r>
            <a:r>
              <a:rPr lang="en-US" altLang="en-US" sz="1800" dirty="0" err="1"/>
              <a:t>ỹ</a:t>
            </a:r>
            <a:r>
              <a:rPr lang="en-US" altLang="en-US" sz="1800" dirty="0"/>
              <a:t> </a:t>
            </a:r>
            <a:r>
              <a:rPr lang="en-US" altLang="en-US" sz="1800" dirty="0" err="1"/>
              <a:t>thuật</a:t>
            </a:r>
            <a:r>
              <a:rPr lang="en-US" altLang="en-US" sz="1800" dirty="0"/>
              <a:t> </a:t>
            </a:r>
            <a:r>
              <a:rPr lang="en-US" altLang="en-US" sz="1800" dirty="0" err="1"/>
              <a:t>móc</a:t>
            </a:r>
            <a:r>
              <a:rPr lang="en-US" altLang="en-US" sz="1800" dirty="0"/>
              <a:t> </a:t>
            </a:r>
            <a:r>
              <a:rPr lang="en-US" altLang="en-US" sz="1800" dirty="0" err="1"/>
              <a:t>nối</a:t>
            </a:r>
            <a:r>
              <a:rPr lang="en-US" altLang="en-US" sz="1800" dirty="0"/>
              <a:t> </a:t>
            </a:r>
            <a:r>
              <a:rPr lang="en-US" altLang="en-US" sz="1800" dirty="0" err="1"/>
              <a:t>ngoài</a:t>
            </a:r>
            <a:r>
              <a:rPr lang="en-US" altLang="en-US" sz="1800" dirty="0"/>
              <a:t> (External Link):</a:t>
            </a:r>
          </a:p>
          <a:p>
            <a:pPr marL="1295400" lvl="2" indent="-381000">
              <a:spcBef>
                <a:spcPct val="10000"/>
              </a:spcBef>
            </a:pPr>
            <a:endParaRPr lang="en-US" altLang="en-US" sz="2000" dirty="0" smtClean="0">
              <a:cs typeface="Times New Roman" panose="02020603050405020304" pitchFamily="18" charset="0"/>
            </a:endParaRPr>
          </a:p>
          <a:p>
            <a:pPr marL="1295400" lvl="2" indent="-381000">
              <a:spcBef>
                <a:spcPct val="10000"/>
              </a:spcBef>
            </a:pPr>
            <a:r>
              <a:rPr lang="en-US" altLang="en-US" sz="2000" dirty="0" err="1" smtClean="0">
                <a:cs typeface="Times New Roman" panose="02020603050405020304" pitchFamily="18" charset="0"/>
              </a:rPr>
              <a:t>Bi</a:t>
            </a:r>
            <a:r>
              <a:rPr lang="en-US" altLang="en-US" sz="2000" dirty="0" err="1" smtClean="0"/>
              <a:t>ện</a:t>
            </a:r>
            <a:r>
              <a:rPr lang="en-US" altLang="en-US" sz="2000" dirty="0" smtClean="0"/>
              <a:t> </a:t>
            </a:r>
            <a:r>
              <a:rPr lang="en-US" altLang="en-US" sz="2000" dirty="0" err="1"/>
              <a:t>pháp</a:t>
            </a:r>
            <a:r>
              <a:rPr lang="en-US" altLang="en-US" sz="2000" dirty="0"/>
              <a:t> </a:t>
            </a:r>
            <a:r>
              <a:rPr lang="en-US" altLang="en-US" sz="2000" dirty="0" err="1"/>
              <a:t>địa</a:t>
            </a:r>
            <a:r>
              <a:rPr lang="en-US" altLang="en-US" sz="2000" dirty="0"/>
              <a:t> </a:t>
            </a:r>
            <a:r>
              <a:rPr lang="en-US" altLang="en-US" sz="2000" dirty="0" err="1"/>
              <a:t>chỉ</a:t>
            </a:r>
            <a:r>
              <a:rPr lang="en-US" altLang="en-US" sz="2000" dirty="0"/>
              <a:t> </a:t>
            </a:r>
            <a:r>
              <a:rPr lang="en-US" altLang="en-US" sz="2000" dirty="0" err="1"/>
              <a:t>mở</a:t>
            </a:r>
            <a:endParaRPr lang="en-US" altLang="en-US" sz="2000" dirty="0"/>
          </a:p>
          <a:p>
            <a:pPr marL="1714500" lvl="3" indent="-342900">
              <a:spcBef>
                <a:spcPct val="10000"/>
              </a:spcBef>
              <a:spcAft>
                <a:spcPct val="50000"/>
              </a:spcAft>
              <a:buFontTx/>
              <a:buNone/>
            </a:pPr>
            <a:r>
              <a:rPr lang="en-US" altLang="en-US" sz="1800" dirty="0" smtClean="0">
                <a:cs typeface="Times New Roman" panose="02020603050405020304" pitchFamily="18" charset="0"/>
              </a:rPr>
              <a:t>b) </a:t>
            </a:r>
            <a:r>
              <a:rPr lang="en-US" altLang="en-US" sz="1800" dirty="0" err="1">
                <a:cs typeface="Times New Roman" panose="02020603050405020304" pitchFamily="18" charset="0"/>
              </a:rPr>
              <a:t>Ph</a:t>
            </a:r>
            <a:r>
              <a:rPr lang="en-US" altLang="en-US" sz="1800" dirty="0" err="1"/>
              <a:t>ép</a:t>
            </a:r>
            <a:r>
              <a:rPr lang="en-US" altLang="en-US" sz="1800" dirty="0"/>
              <a:t> </a:t>
            </a:r>
            <a:r>
              <a:rPr lang="en-US" altLang="en-US" sz="1800" dirty="0" err="1"/>
              <a:t>thử</a:t>
            </a:r>
            <a:r>
              <a:rPr lang="en-US" altLang="en-US" sz="1800" dirty="0"/>
              <a:t> </a:t>
            </a:r>
            <a:r>
              <a:rPr lang="en-US" altLang="en-US" sz="1800" dirty="0" err="1"/>
              <a:t>ngẫu</a:t>
            </a:r>
            <a:r>
              <a:rPr lang="en-US" altLang="en-US" sz="1800" dirty="0"/>
              <a:t> </a:t>
            </a:r>
            <a:r>
              <a:rPr lang="en-US" altLang="en-US" sz="1800" dirty="0" err="1"/>
              <a:t>nhiên</a:t>
            </a:r>
            <a:r>
              <a:rPr lang="en-US" altLang="en-US" sz="1800" dirty="0" smtClean="0"/>
              <a:t>:  </a:t>
            </a:r>
            <a:endParaRPr lang="en-US" altLang="en-US" sz="1800" dirty="0"/>
          </a:p>
          <a:p>
            <a:pPr marL="1714500" lvl="3" indent="-342900">
              <a:spcBef>
                <a:spcPct val="50000"/>
              </a:spcBef>
              <a:buFontTx/>
              <a:buNone/>
            </a:pPr>
            <a:r>
              <a:rPr lang="en-US" altLang="en-US" sz="1800" dirty="0" smtClean="0"/>
              <a:t>c) </a:t>
            </a:r>
            <a:r>
              <a:rPr lang="en-US" altLang="en-US" sz="1800" dirty="0" err="1"/>
              <a:t>Phép</a:t>
            </a:r>
            <a:r>
              <a:rPr lang="en-US" altLang="en-US" sz="1800" dirty="0"/>
              <a:t> </a:t>
            </a:r>
            <a:r>
              <a:rPr lang="en-US" altLang="en-US" sz="1800" dirty="0" err="1"/>
              <a:t>thử</a:t>
            </a:r>
            <a:r>
              <a:rPr lang="en-US" altLang="en-US" sz="1800" dirty="0"/>
              <a:t> </a:t>
            </a:r>
            <a:r>
              <a:rPr lang="en-US" altLang="en-US" sz="1800" dirty="0" err="1"/>
              <a:t>tuyến</a:t>
            </a:r>
            <a:r>
              <a:rPr lang="en-US" altLang="en-US" sz="1800" dirty="0"/>
              <a:t> </a:t>
            </a:r>
            <a:r>
              <a:rPr lang="en-US" altLang="en-US" sz="1800" dirty="0" err="1"/>
              <a:t>tính</a:t>
            </a:r>
            <a:r>
              <a:rPr lang="en-US" altLang="en-US" sz="1800" dirty="0"/>
              <a:t>: 	</a:t>
            </a:r>
            <a:endParaRPr lang="en-US" altLang="en-US" sz="1800" dirty="0">
              <a:cs typeface="Times New Roman" panose="02020603050405020304" pitchFamily="18" charset="0"/>
            </a:endParaRPr>
          </a:p>
          <a:p>
            <a:pPr lvl="2">
              <a:spcBef>
                <a:spcPct val="0"/>
              </a:spcBef>
            </a:pPr>
            <a:endParaRPr lang="en-US" altLang="en-US" sz="1800" dirty="0"/>
          </a:p>
          <a:p>
            <a:pPr lvl="2">
              <a:spcBef>
                <a:spcPct val="0"/>
              </a:spcBef>
            </a:pPr>
            <a:endParaRPr lang="en-US" altLang="en-US" sz="1800" dirty="0"/>
          </a:p>
          <a:p>
            <a:pPr lvl="2">
              <a:spcBef>
                <a:spcPct val="0"/>
              </a:spcBef>
            </a:pPr>
            <a:endParaRPr lang="en-US" altLang="en-US" sz="1800" dirty="0">
              <a:cs typeface="Times New Roman" panose="02020603050405020304" pitchFamily="18" charset="0"/>
            </a:endParaRPr>
          </a:p>
          <a:p>
            <a:pPr lvl="2">
              <a:spcBef>
                <a:spcPct val="0"/>
              </a:spcBef>
            </a:pPr>
            <a:endParaRPr lang="en-US" altLang="en-US" sz="1400" dirty="0"/>
          </a:p>
        </p:txBody>
      </p:sp>
      <mc:AlternateContent xmlns:mc="http://schemas.openxmlformats.org/markup-compatibility/2006" xmlns:a14="http://schemas.microsoft.com/office/drawing/2010/main">
        <mc:Choice Requires="a14">
          <p:sp>
            <p:nvSpPr>
              <p:cNvPr id="9" name="Object 152">
                <a:extLst>
                  <a:ext uri="{FF2B5EF4-FFF2-40B4-BE49-F238E27FC236}">
                    <a16:creationId xmlns:a16="http://schemas.microsoft.com/office/drawing/2014/main" id="{3FCFEDAF-2683-471D-9D0A-F971CDF6DA3E}"/>
                  </a:ext>
                </a:extLst>
              </p:cNvPr>
              <p:cNvSpPr txBox="1"/>
              <p:nvPr/>
            </p:nvSpPr>
            <p:spPr bwMode="auto">
              <a:xfrm>
                <a:off x="3962400" y="4561373"/>
                <a:ext cx="1966152" cy="814185"/>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b="0" i="1" smtClean="0">
                          <a:solidFill>
                            <a:srgbClr val="000000"/>
                          </a:solidFill>
                          <a:latin typeface="Cambria Math" panose="02040503050406030204" pitchFamily="18" charset="0"/>
                        </a:rPr>
                        <m:t>𝐸</m:t>
                      </m:r>
                      <m:r>
                        <a:rPr lang="en-US" b="0" i="1" smtClean="0">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1</m:t>
                          </m:r>
                        </m:num>
                        <m:den>
                          <m:r>
                            <a:rPr lang="en-US" i="1">
                              <a:solidFill>
                                <a:srgbClr val="000000"/>
                              </a:solidFill>
                              <a:latin typeface="Cambria Math" panose="02040503050406030204" pitchFamily="18" charset="0"/>
                            </a:rPr>
                            <m:t>𝛼</m:t>
                          </m:r>
                        </m:den>
                      </m:f>
                      <m:r>
                        <m:rPr>
                          <m:nor/>
                        </m:rPr>
                        <a:rPr lang="en-US" i="1">
                          <a:solidFill>
                            <a:srgbClr val="000000"/>
                          </a:solidFill>
                          <a:latin typeface="Cambria Math" panose="02040503050406030204" pitchFamily="18" charset="0"/>
                        </a:rPr>
                        <m:t>ln</m:t>
                      </m:r>
                      <m:r>
                        <a:rPr lang="en-US" i="1">
                          <a:solidFill>
                            <a:srgbClr val="000000"/>
                          </a:solidFill>
                          <a:latin typeface="Cambria Math" panose="02040503050406030204" pitchFamily="18" charset="0"/>
                        </a:rPr>
                        <m:t>(1−</m:t>
                      </m:r>
                      <m:r>
                        <a:rPr lang="en-US" i="1">
                          <a:solidFill>
                            <a:srgbClr val="000000"/>
                          </a:solidFill>
                          <a:latin typeface="Cambria Math" panose="02040503050406030204" pitchFamily="18" charset="0"/>
                        </a:rPr>
                        <m:t>𝛼</m:t>
                      </m:r>
                      <m:r>
                        <a:rPr lang="en-US" i="1">
                          <a:solidFill>
                            <a:srgbClr val="000000"/>
                          </a:solidFill>
                          <a:latin typeface="Cambria Math" panose="02040503050406030204" pitchFamily="18" charset="0"/>
                        </a:rPr>
                        <m:t>)</m:t>
                      </m:r>
                    </m:oMath>
                  </m:oMathPara>
                </a14:m>
                <a:endParaRPr lang="en-US" i="1" dirty="0"/>
              </a:p>
            </p:txBody>
          </p:sp>
        </mc:Choice>
        <mc:Fallback xmlns="">
          <p:sp>
            <p:nvSpPr>
              <p:cNvPr id="9" name="Object 152">
                <a:extLst>
                  <a:ext uri="{FF2B5EF4-FFF2-40B4-BE49-F238E27FC236}">
                    <a16:creationId xmlns:a16="http://schemas.microsoft.com/office/drawing/2014/main" id="{3FCFEDAF-2683-471D-9D0A-F971CDF6DA3E}"/>
                  </a:ext>
                </a:extLst>
              </p:cNvPr>
              <p:cNvSpPr txBox="1">
                <a:spLocks noRot="1" noChangeAspect="1" noMove="1" noResize="1" noEditPoints="1" noAdjustHandles="1" noChangeArrowheads="1" noChangeShapeType="1" noTextEdit="1"/>
              </p:cNvSpPr>
              <p:nvPr/>
            </p:nvSpPr>
            <p:spPr bwMode="auto">
              <a:xfrm>
                <a:off x="3962400" y="4561373"/>
                <a:ext cx="1966152" cy="814185"/>
              </a:xfrm>
              <a:prstGeom prst="rect">
                <a:avLst/>
              </a:prstGeom>
              <a:blipFill>
                <a:blip r:embed="rId2"/>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Object 151">
                <a:extLst>
                  <a:ext uri="{FF2B5EF4-FFF2-40B4-BE49-F238E27FC236}">
                    <a16:creationId xmlns:a16="http://schemas.microsoft.com/office/drawing/2014/main" id="{2D397684-0326-4E3D-A0E3-15671B870488}"/>
                  </a:ext>
                </a:extLst>
              </p:cNvPr>
              <p:cNvSpPr txBox="1"/>
              <p:nvPr/>
            </p:nvSpPr>
            <p:spPr bwMode="auto">
              <a:xfrm>
                <a:off x="3962400" y="5281612"/>
                <a:ext cx="1524000" cy="585788"/>
              </a:xfrm>
              <a:prstGeom prst="rect">
                <a:avLst/>
              </a:prstGeom>
              <a:noFill/>
              <a:ln>
                <a:noFill/>
              </a:ln>
              <a:effectLst/>
            </p:spPr>
            <p:txBody>
              <a:bodyPr>
                <a:normAutofit fontScale="92500"/>
              </a:bodyPr>
              <a:lstStyle/>
              <a:p>
                <a:pPr/>
                <a14:m>
                  <m:oMathPara xmlns:m="http://schemas.openxmlformats.org/officeDocument/2006/math">
                    <m:oMathParaPr>
                      <m:jc m:val="left"/>
                    </m:oMathParaPr>
                    <m:oMath xmlns:m="http://schemas.openxmlformats.org/officeDocument/2006/math">
                      <m:r>
                        <a:rPr lang="en-US" b="0" i="1" smtClean="0">
                          <a:solidFill>
                            <a:srgbClr val="000000"/>
                          </a:solidFill>
                          <a:latin typeface="Cambria Math" panose="02040503050406030204" pitchFamily="18" charset="0"/>
                        </a:rPr>
                        <m:t>𝐸</m:t>
                      </m:r>
                      <m:r>
                        <a:rPr lang="en-US" b="0" i="1" smtClean="0">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1−</m:t>
                          </m:r>
                          <m:r>
                            <a:rPr lang="en-US" i="1">
                              <a:solidFill>
                                <a:srgbClr val="000000"/>
                              </a:solidFill>
                              <a:latin typeface="Cambria Math" panose="02040503050406030204" pitchFamily="18" charset="0"/>
                            </a:rPr>
                            <m:t>𝛼</m:t>
                          </m:r>
                          <m:r>
                            <a:rPr lang="en-US" i="1">
                              <a:solidFill>
                                <a:srgbClr val="000000"/>
                              </a:solidFill>
                              <a:latin typeface="Cambria Math" panose="02040503050406030204" pitchFamily="18" charset="0"/>
                            </a:rPr>
                            <m:t>/2</m:t>
                          </m:r>
                        </m:num>
                        <m:den>
                          <m:r>
                            <a:rPr lang="en-US" i="1">
                              <a:solidFill>
                                <a:srgbClr val="000000"/>
                              </a:solidFill>
                              <a:latin typeface="Cambria Math" panose="02040503050406030204" pitchFamily="18" charset="0"/>
                            </a:rPr>
                            <m:t>1−</m:t>
                          </m:r>
                          <m:r>
                            <a:rPr lang="en-US" i="1">
                              <a:solidFill>
                                <a:srgbClr val="000000"/>
                              </a:solidFill>
                              <a:latin typeface="Cambria Math" panose="02040503050406030204" pitchFamily="18" charset="0"/>
                            </a:rPr>
                            <m:t>𝛼</m:t>
                          </m:r>
                        </m:den>
                      </m:f>
                    </m:oMath>
                  </m:oMathPara>
                </a14:m>
                <a:endParaRPr lang="en-US" i="1" dirty="0"/>
              </a:p>
            </p:txBody>
          </p:sp>
        </mc:Choice>
        <mc:Fallback xmlns="">
          <p:sp>
            <p:nvSpPr>
              <p:cNvPr id="10" name="Object 151">
                <a:extLst>
                  <a:ext uri="{FF2B5EF4-FFF2-40B4-BE49-F238E27FC236}">
                    <a16:creationId xmlns:a16="http://schemas.microsoft.com/office/drawing/2014/main" id="{2D397684-0326-4E3D-A0E3-15671B870488}"/>
                  </a:ext>
                </a:extLst>
              </p:cNvPr>
              <p:cNvSpPr txBox="1">
                <a:spLocks noRot="1" noChangeAspect="1" noMove="1" noResize="1" noEditPoints="1" noAdjustHandles="1" noChangeArrowheads="1" noChangeShapeType="1" noTextEdit="1"/>
              </p:cNvSpPr>
              <p:nvPr/>
            </p:nvSpPr>
            <p:spPr bwMode="auto">
              <a:xfrm>
                <a:off x="3962400" y="5281612"/>
                <a:ext cx="1524000" cy="585788"/>
              </a:xfrm>
              <a:prstGeom prst="rect">
                <a:avLst/>
              </a:prstGeom>
              <a:blipFill>
                <a:blip r:embed="rId3"/>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Rectangle 1"/>
              <p:cNvSpPr/>
              <p:nvPr/>
            </p:nvSpPr>
            <p:spPr>
              <a:xfrm>
                <a:off x="4191000" y="3879123"/>
                <a:ext cx="3190682" cy="408958"/>
              </a:xfrm>
              <a:prstGeom prst="rect">
                <a:avLst/>
              </a:prstGeom>
            </p:spPr>
            <p:txBody>
              <a:bodyPr wrap="none">
                <a:spAutoFit/>
              </a:bodyPr>
              <a:lstStyle/>
              <a:p>
                <a:pPr marL="1714500" lvl="3" indent="-342900">
                  <a:spcBef>
                    <a:spcPct val="0"/>
                  </a:spcBef>
                  <a:buFontTx/>
                  <a:buNone/>
                </a:pPr>
                <a14:m>
                  <m:oMathPara xmlns:m="http://schemas.openxmlformats.org/officeDocument/2006/math">
                    <m:oMathParaPr>
                      <m:jc m:val="centerGroup"/>
                    </m:oMathParaPr>
                    <m:oMath xmlns:m="http://schemas.openxmlformats.org/officeDocument/2006/math">
                      <m:r>
                        <a:rPr lang="en-US" altLang="en-US" i="1">
                          <a:latin typeface="Cambria Math" panose="02040503050406030204" pitchFamily="18" charset="0"/>
                        </a:rPr>
                        <m:t>𝐸</m:t>
                      </m:r>
                      <m:r>
                        <a:rPr lang="en-US" altLang="en-US" i="1">
                          <a:latin typeface="Cambria Math" panose="02040503050406030204" pitchFamily="18" charset="0"/>
                        </a:rPr>
                        <m:t>=1+</m:t>
                      </m:r>
                      <m:f>
                        <m:fPr>
                          <m:type m:val="skw"/>
                          <m:ctrlPr>
                            <a:rPr lang="en-US" altLang="en-US" i="1">
                              <a:latin typeface="Cambria Math" panose="02040503050406030204" pitchFamily="18" charset="0"/>
                            </a:rPr>
                          </m:ctrlPr>
                        </m:fPr>
                        <m:num>
                          <m:r>
                            <a:rPr lang="el-GR" altLang="en-US" i="1">
                              <a:latin typeface="Cambria Math" panose="02040503050406030204" pitchFamily="18" charset="0"/>
                            </a:rPr>
                            <m:t>𝛼</m:t>
                          </m:r>
                        </m:num>
                        <m:den>
                          <m:r>
                            <a:rPr lang="en-US" altLang="en-US" i="1">
                              <a:latin typeface="Cambria Math" panose="02040503050406030204" pitchFamily="18" charset="0"/>
                            </a:rPr>
                            <m:t>2</m:t>
                          </m:r>
                        </m:den>
                      </m:f>
                    </m:oMath>
                  </m:oMathPara>
                </a14:m>
                <a:endParaRPr lang="en-US" altLang="en-US" i="1" dirty="0">
                  <a:cs typeface="Times New Roman" panose="02020603050405020304" pitchFamily="18" charset="0"/>
                </a:endParaRPr>
              </a:p>
            </p:txBody>
          </p:sp>
        </mc:Choice>
        <mc:Fallback xmlns="">
          <p:sp>
            <p:nvSpPr>
              <p:cNvPr id="2" name="Rectangle 1"/>
              <p:cNvSpPr>
                <a:spLocks noRot="1" noChangeAspect="1" noMove="1" noResize="1" noEditPoints="1" noAdjustHandles="1" noChangeArrowheads="1" noChangeShapeType="1" noTextEdit="1"/>
              </p:cNvSpPr>
              <p:nvPr/>
            </p:nvSpPr>
            <p:spPr>
              <a:xfrm>
                <a:off x="4191000" y="3879123"/>
                <a:ext cx="3190682" cy="408958"/>
              </a:xfrm>
              <a:prstGeom prst="rect">
                <a:avLst/>
              </a:prstGeom>
              <a:blipFill>
                <a:blip r:embed="rId4"/>
                <a:stretch>
                  <a:fillRect t="-138806" r="-8222" b="-211940"/>
                </a:stretch>
              </a:blipFill>
            </p:spPr>
            <p:txBody>
              <a:bodyPr/>
              <a:lstStyle/>
              <a:p>
                <a:r>
                  <a:rPr lang="en-US">
                    <a:noFill/>
                  </a:rPr>
                  <a:t> </a:t>
                </a:r>
              </a:p>
            </p:txBody>
          </p:sp>
        </mc:Fallback>
      </mc:AlternateContent>
    </p:spTree>
    <p:extLst>
      <p:ext uri="{BB962C8B-B14F-4D97-AF65-F5344CB8AC3E}">
        <p14:creationId xmlns:p14="http://schemas.microsoft.com/office/powerpoint/2010/main" val="1195800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3779">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3779">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03779">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3779">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3779">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03779">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03779">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03779">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03779">
                                            <p:txEl>
                                              <p:pRg st="11" end="11"/>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03779">
                                            <p:txEl>
                                              <p:pRg st="9" end="9"/>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03779">
                                            <p:txEl>
                                              <p:pRg st="12" end="12"/>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03779">
                                            <p:txEl>
                                              <p:pRg st="13" end="1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2"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4">
            <a:extLst>
              <a:ext uri="{FF2B5EF4-FFF2-40B4-BE49-F238E27FC236}">
                <a16:creationId xmlns:a16="http://schemas.microsoft.com/office/drawing/2014/main" id="{7D39A077-5250-4CC8-B4FC-17FF6A7F3179}"/>
              </a:ext>
            </a:extLst>
          </p:cNvPr>
          <p:cNvSpPr>
            <a:spLocks noGrp="1"/>
          </p:cNvSpPr>
          <p:nvPr>
            <p:ph type="sldNum" sz="quarter" idx="12"/>
          </p:nvPr>
        </p:nvSpPr>
        <p:spPr/>
        <p:txBody>
          <a:bodyPr/>
          <a:lstStyle/>
          <a:p>
            <a:fld id="{439FB3D6-913A-4663-8B0E-3B5C3DDE434E}" type="slidenum">
              <a:rPr lang="en-US" altLang="en-US"/>
              <a:pPr/>
              <a:t>39</a:t>
            </a:fld>
            <a:endParaRPr lang="en-US" altLang="en-US"/>
          </a:p>
        </p:txBody>
      </p:sp>
      <p:sp>
        <p:nvSpPr>
          <p:cNvPr id="203778" name="Rectangle 2">
            <a:extLst>
              <a:ext uri="{FF2B5EF4-FFF2-40B4-BE49-F238E27FC236}">
                <a16:creationId xmlns:a16="http://schemas.microsoft.com/office/drawing/2014/main" id="{1BA8C58A-54FE-46D8-BB2D-ED19BD2172BF}"/>
              </a:ext>
            </a:extLst>
          </p:cNvPr>
          <p:cNvSpPr>
            <a:spLocks noGrp="1" noChangeArrowheads="1"/>
          </p:cNvSpPr>
          <p:nvPr>
            <p:ph type="title"/>
          </p:nvPr>
        </p:nvSpPr>
        <p:spPr/>
        <p:txBody>
          <a:bodyPr>
            <a:normAutofit/>
          </a:bodyPr>
          <a:lstStyle/>
          <a:p>
            <a:r>
              <a:rPr lang="en-US" altLang="en-US" sz="2400">
                <a:cs typeface="Times New Roman" panose="02020603050405020304" pitchFamily="18" charset="0"/>
              </a:rPr>
              <a:t>Các biện pháp khắc phục đụng độ</a:t>
            </a:r>
            <a:r>
              <a:rPr lang="en-US" altLang="en-US" sz="2400"/>
              <a:t> </a:t>
            </a:r>
          </a:p>
        </p:txBody>
      </p:sp>
      <p:sp>
        <p:nvSpPr>
          <p:cNvPr id="203779" name="Rectangle 3">
            <a:extLst>
              <a:ext uri="{FF2B5EF4-FFF2-40B4-BE49-F238E27FC236}">
                <a16:creationId xmlns:a16="http://schemas.microsoft.com/office/drawing/2014/main" id="{AE032E9B-7C4A-4C11-B372-6B9CFDB5DB8B}"/>
              </a:ext>
            </a:extLst>
          </p:cNvPr>
          <p:cNvSpPr>
            <a:spLocks noGrp="1" noChangeArrowheads="1"/>
          </p:cNvSpPr>
          <p:nvPr>
            <p:ph type="body" sz="quarter" idx="13"/>
          </p:nvPr>
        </p:nvSpPr>
        <p:spPr>
          <a:noFill/>
          <a:ln/>
        </p:spPr>
        <p:txBody>
          <a:bodyPr>
            <a:normAutofit/>
          </a:bodyPr>
          <a:lstStyle/>
          <a:p>
            <a:pPr>
              <a:spcBef>
                <a:spcPct val="0"/>
              </a:spcBef>
            </a:pPr>
            <a:r>
              <a:rPr lang="en-US" altLang="en-US" sz="2400" dirty="0" err="1" smtClean="0"/>
              <a:t>Nhận</a:t>
            </a:r>
            <a:r>
              <a:rPr lang="en-US" altLang="en-US" sz="2400" dirty="0" smtClean="0"/>
              <a:t> </a:t>
            </a:r>
            <a:r>
              <a:rPr lang="en-US" altLang="en-US" sz="2400" dirty="0" err="1" smtClean="0"/>
              <a:t>xét</a:t>
            </a:r>
            <a:endParaRPr lang="en-US" altLang="en-US" sz="2400" dirty="0" smtClean="0"/>
          </a:p>
          <a:p>
            <a:pPr lvl="1">
              <a:spcBef>
                <a:spcPct val="0"/>
              </a:spcBef>
            </a:pPr>
            <a:endParaRPr lang="en-US" altLang="en-US" sz="2100" dirty="0"/>
          </a:p>
          <a:p>
            <a:pPr marL="342900" lvl="1" indent="0">
              <a:spcBef>
                <a:spcPct val="0"/>
              </a:spcBef>
              <a:buNone/>
            </a:pPr>
            <a:endParaRPr lang="en-US" altLang="en-US" sz="2100" dirty="0" smtClean="0"/>
          </a:p>
          <a:p>
            <a:pPr marL="342900" lvl="1" indent="0">
              <a:spcBef>
                <a:spcPct val="0"/>
              </a:spcBef>
              <a:buNone/>
            </a:pPr>
            <a:endParaRPr lang="en-US" altLang="en-US" sz="2100" dirty="0"/>
          </a:p>
        </p:txBody>
      </p:sp>
      <p:graphicFrame>
        <p:nvGraphicFramePr>
          <p:cNvPr id="5" name="Table 4"/>
          <p:cNvGraphicFramePr>
            <a:graphicFrameLocks noGrp="1"/>
          </p:cNvGraphicFramePr>
          <p:nvPr>
            <p:extLst>
              <p:ext uri="{D42A27DB-BD31-4B8C-83A1-F6EECF244321}">
                <p14:modId xmlns:p14="http://schemas.microsoft.com/office/powerpoint/2010/main" val="4163218865"/>
              </p:ext>
            </p:extLst>
          </p:nvPr>
        </p:nvGraphicFramePr>
        <p:xfrm>
          <a:off x="1066800" y="1443320"/>
          <a:ext cx="7426793" cy="4890744"/>
        </p:xfrm>
        <a:graphic>
          <a:graphicData uri="http://schemas.openxmlformats.org/drawingml/2006/table">
            <a:tbl>
              <a:tblPr>
                <a:tableStyleId>{5940675A-B579-460E-94D1-54222C63F5DA}</a:tableStyleId>
              </a:tblPr>
              <a:tblGrid>
                <a:gridCol w="3769194">
                  <a:extLst>
                    <a:ext uri="{9D8B030D-6E8A-4147-A177-3AD203B41FA5}">
                      <a16:colId xmlns:a16="http://schemas.microsoft.com/office/drawing/2014/main" val="954095272"/>
                    </a:ext>
                  </a:extLst>
                </a:gridCol>
                <a:gridCol w="3657599">
                  <a:extLst>
                    <a:ext uri="{9D8B030D-6E8A-4147-A177-3AD203B41FA5}">
                      <a16:colId xmlns:a16="http://schemas.microsoft.com/office/drawing/2014/main" val="206230251"/>
                    </a:ext>
                  </a:extLst>
                </a:gridCol>
              </a:tblGrid>
              <a:tr h="266827">
                <a:tc>
                  <a:txBody>
                    <a:bodyPr/>
                    <a:lstStyle/>
                    <a:p>
                      <a:r>
                        <a:rPr lang="en-US" sz="1600" b="1" dirty="0" err="1" smtClean="0">
                          <a:latin typeface="Arial" panose="020B0604020202020204" pitchFamily="34" charset="0"/>
                          <a:cs typeface="Arial" panose="020B0604020202020204" pitchFamily="34" charset="0"/>
                        </a:rPr>
                        <a:t>Biện</a:t>
                      </a:r>
                      <a:r>
                        <a:rPr lang="en-US" sz="1600" b="1" dirty="0" smtClean="0">
                          <a:latin typeface="Arial" panose="020B0604020202020204" pitchFamily="34" charset="0"/>
                          <a:cs typeface="Arial" panose="020B0604020202020204" pitchFamily="34" charset="0"/>
                        </a:rPr>
                        <a:t> </a:t>
                      </a:r>
                      <a:r>
                        <a:rPr lang="en-US" sz="1600" b="1" dirty="0" err="1" smtClean="0">
                          <a:latin typeface="Arial" panose="020B0604020202020204" pitchFamily="34" charset="0"/>
                          <a:cs typeface="Arial" panose="020B0604020202020204" pitchFamily="34" charset="0"/>
                        </a:rPr>
                        <a:t>pháp</a:t>
                      </a:r>
                      <a:r>
                        <a:rPr lang="en-US" sz="1600" b="1" dirty="0" smtClean="0">
                          <a:latin typeface="Arial" panose="020B0604020202020204" pitchFamily="34" charset="0"/>
                          <a:cs typeface="Arial" panose="020B0604020202020204" pitchFamily="34" charset="0"/>
                        </a:rPr>
                        <a:t> </a:t>
                      </a:r>
                      <a:r>
                        <a:rPr lang="en-US" sz="1600" b="1" dirty="0" err="1" smtClean="0">
                          <a:latin typeface="Arial" panose="020B0604020202020204" pitchFamily="34" charset="0"/>
                          <a:cs typeface="Arial" panose="020B0604020202020204" pitchFamily="34" charset="0"/>
                        </a:rPr>
                        <a:t>móc</a:t>
                      </a:r>
                      <a:r>
                        <a:rPr lang="en-US" sz="1600" b="1" dirty="0" smtClean="0">
                          <a:latin typeface="Arial" panose="020B0604020202020204" pitchFamily="34" charset="0"/>
                          <a:cs typeface="Arial" panose="020B0604020202020204" pitchFamily="34" charset="0"/>
                        </a:rPr>
                        <a:t> </a:t>
                      </a:r>
                      <a:r>
                        <a:rPr lang="en-US" sz="1600" b="1" dirty="0" err="1" smtClean="0">
                          <a:latin typeface="Arial" panose="020B0604020202020204" pitchFamily="34" charset="0"/>
                          <a:cs typeface="Arial" panose="020B0604020202020204" pitchFamily="34" charset="0"/>
                        </a:rPr>
                        <a:t>nối</a:t>
                      </a:r>
                      <a:r>
                        <a:rPr lang="en-US" sz="1600" b="1" dirty="0" smtClean="0">
                          <a:latin typeface="Arial" panose="020B0604020202020204" pitchFamily="34" charset="0"/>
                          <a:cs typeface="Arial" panose="020B0604020202020204" pitchFamily="34" charset="0"/>
                        </a:rPr>
                        <a:t> </a:t>
                      </a:r>
                    </a:p>
                  </a:txBody>
                  <a:tcPr marL="82101" marR="82101" marT="41050" marB="41050" anchor="ctr"/>
                </a:tc>
                <a:tc>
                  <a:txBody>
                    <a:bodyPr/>
                    <a:lstStyle/>
                    <a:p>
                      <a:r>
                        <a:rPr lang="en-US" sz="1600" b="1" smtClean="0">
                          <a:latin typeface="Arial" panose="020B0604020202020204" pitchFamily="34" charset="0"/>
                          <a:cs typeface="Arial" panose="020B0604020202020204" pitchFamily="34" charset="0"/>
                        </a:rPr>
                        <a:t>Biện pháp địa chỉ mở </a:t>
                      </a:r>
                      <a:endParaRPr lang="en-US" sz="1600" b="1" dirty="0">
                        <a:latin typeface="Arial" panose="020B0604020202020204" pitchFamily="34" charset="0"/>
                        <a:cs typeface="Arial" panose="020B0604020202020204" pitchFamily="34" charset="0"/>
                      </a:endParaRPr>
                    </a:p>
                  </a:txBody>
                  <a:tcPr marL="82101" marR="82101" marT="41050" marB="41050" anchor="ctr"/>
                </a:tc>
                <a:extLst>
                  <a:ext uri="{0D108BD9-81ED-4DB2-BD59-A6C34878D82A}">
                    <a16:rowId xmlns:a16="http://schemas.microsoft.com/office/drawing/2014/main" val="2987463970"/>
                  </a:ext>
                </a:extLst>
              </a:tr>
              <a:tr h="451554">
                <a:tc>
                  <a:txBody>
                    <a:bodyPr/>
                    <a:lstStyle/>
                    <a:p>
                      <a:r>
                        <a:rPr lang="en-US" sz="1600" dirty="0" err="1" smtClean="0">
                          <a:latin typeface="Arial" panose="020B0604020202020204" pitchFamily="34" charset="0"/>
                          <a:cs typeface="Arial" panose="020B0604020202020204" pitchFamily="34" charset="0"/>
                        </a:rPr>
                        <a:t>Thực</a:t>
                      </a:r>
                      <a:r>
                        <a:rPr lang="en-US" sz="1600" baseline="0" dirty="0" smtClean="0">
                          <a:latin typeface="Arial" panose="020B0604020202020204" pitchFamily="34" charset="0"/>
                          <a:cs typeface="Arial" panose="020B0604020202020204" pitchFamily="34" charset="0"/>
                        </a:rPr>
                        <a:t> </a:t>
                      </a:r>
                      <a:r>
                        <a:rPr lang="en-US" sz="1600" baseline="0" dirty="0" err="1" smtClean="0">
                          <a:latin typeface="Arial" panose="020B0604020202020204" pitchFamily="34" charset="0"/>
                          <a:cs typeface="Arial" panose="020B0604020202020204" pitchFamily="34" charset="0"/>
                        </a:rPr>
                        <a:t>thi</a:t>
                      </a:r>
                      <a:r>
                        <a:rPr lang="en-US" sz="1600" baseline="0" dirty="0" smtClean="0">
                          <a:latin typeface="Arial" panose="020B0604020202020204" pitchFamily="34" charset="0"/>
                          <a:cs typeface="Arial" panose="020B0604020202020204" pitchFamily="34" charset="0"/>
                        </a:rPr>
                        <a:t> </a:t>
                      </a:r>
                      <a:r>
                        <a:rPr lang="en-US" sz="1600" baseline="0" dirty="0" err="1" smtClean="0">
                          <a:latin typeface="Arial" panose="020B0604020202020204" pitchFamily="34" charset="0"/>
                          <a:cs typeface="Arial" panose="020B0604020202020204" pitchFamily="34" charset="0"/>
                        </a:rPr>
                        <a:t>đơn</a:t>
                      </a:r>
                      <a:r>
                        <a:rPr lang="en-US" sz="1600" baseline="0" dirty="0" smtClean="0">
                          <a:latin typeface="Arial" panose="020B0604020202020204" pitchFamily="34" charset="0"/>
                          <a:cs typeface="Arial" panose="020B0604020202020204" pitchFamily="34" charset="0"/>
                        </a:rPr>
                        <a:t> </a:t>
                      </a:r>
                      <a:r>
                        <a:rPr lang="en-US" sz="1600" baseline="0" dirty="0" err="1" smtClean="0">
                          <a:latin typeface="Arial" panose="020B0604020202020204" pitchFamily="34" charset="0"/>
                          <a:cs typeface="Arial" panose="020B0604020202020204" pitchFamily="34" charset="0"/>
                        </a:rPr>
                        <a:t>giản</a:t>
                      </a:r>
                      <a:endParaRPr lang="en-US" sz="1600" dirty="0">
                        <a:latin typeface="Arial" panose="020B0604020202020204" pitchFamily="34" charset="0"/>
                        <a:cs typeface="Arial" panose="020B0604020202020204" pitchFamily="34" charset="0"/>
                      </a:endParaRPr>
                    </a:p>
                  </a:txBody>
                  <a:tcPr marL="82101" marR="82101" marT="41050" marB="41050" anchor="ctr"/>
                </a:tc>
                <a:tc>
                  <a:txBody>
                    <a:bodyPr/>
                    <a:lstStyle/>
                    <a:p>
                      <a:r>
                        <a:rPr lang="en-US" sz="1600" dirty="0" err="1" smtClean="0">
                          <a:latin typeface="Arial" panose="020B0604020202020204" pitchFamily="34" charset="0"/>
                          <a:cs typeface="Arial" panose="020B0604020202020204" pitchFamily="34" charset="0"/>
                        </a:rPr>
                        <a:t>Yêu</a:t>
                      </a:r>
                      <a:r>
                        <a:rPr lang="en-US" sz="1600" baseline="0" dirty="0" smtClean="0">
                          <a:latin typeface="Arial" panose="020B0604020202020204" pitchFamily="34" charset="0"/>
                          <a:cs typeface="Arial" panose="020B0604020202020204" pitchFamily="34" charset="0"/>
                        </a:rPr>
                        <a:t> </a:t>
                      </a:r>
                      <a:r>
                        <a:rPr lang="en-US" sz="1600" baseline="0" dirty="0" err="1" smtClean="0">
                          <a:latin typeface="Arial" panose="020B0604020202020204" pitchFamily="34" charset="0"/>
                          <a:cs typeface="Arial" panose="020B0604020202020204" pitchFamily="34" charset="0"/>
                        </a:rPr>
                        <a:t>cầu</a:t>
                      </a:r>
                      <a:r>
                        <a:rPr lang="en-US" sz="1600" baseline="0" dirty="0" smtClean="0">
                          <a:latin typeface="Arial" panose="020B0604020202020204" pitchFamily="34" charset="0"/>
                          <a:cs typeface="Arial" panose="020B0604020202020204" pitchFamily="34" charset="0"/>
                        </a:rPr>
                        <a:t> </a:t>
                      </a:r>
                      <a:r>
                        <a:rPr lang="en-US" sz="1600" baseline="0" dirty="0" err="1" smtClean="0">
                          <a:latin typeface="Arial" panose="020B0604020202020204" pitchFamily="34" charset="0"/>
                          <a:cs typeface="Arial" panose="020B0604020202020204" pitchFamily="34" charset="0"/>
                        </a:rPr>
                        <a:t>nhiều</a:t>
                      </a:r>
                      <a:r>
                        <a:rPr lang="en-US" sz="1600" baseline="0" dirty="0" smtClean="0">
                          <a:latin typeface="Arial" panose="020B0604020202020204" pitchFamily="34" charset="0"/>
                          <a:cs typeface="Arial" panose="020B0604020202020204" pitchFamily="34" charset="0"/>
                        </a:rPr>
                        <a:t> </a:t>
                      </a:r>
                      <a:r>
                        <a:rPr lang="en-US" sz="1600" baseline="0" dirty="0" err="1" smtClean="0">
                          <a:latin typeface="Arial" panose="020B0604020202020204" pitchFamily="34" charset="0"/>
                          <a:cs typeface="Arial" panose="020B0604020202020204" pitchFamily="34" charset="0"/>
                        </a:rPr>
                        <a:t>tính</a:t>
                      </a:r>
                      <a:r>
                        <a:rPr lang="en-US" sz="1600" baseline="0" dirty="0" smtClean="0">
                          <a:latin typeface="Arial" panose="020B0604020202020204" pitchFamily="34" charset="0"/>
                          <a:cs typeface="Arial" panose="020B0604020202020204" pitchFamily="34" charset="0"/>
                        </a:rPr>
                        <a:t> </a:t>
                      </a:r>
                      <a:r>
                        <a:rPr lang="en-US" sz="1600" baseline="0" dirty="0" err="1" smtClean="0">
                          <a:latin typeface="Arial" panose="020B0604020202020204" pitchFamily="34" charset="0"/>
                          <a:cs typeface="Arial" panose="020B0604020202020204" pitchFamily="34" charset="0"/>
                        </a:rPr>
                        <a:t>toán</a:t>
                      </a:r>
                      <a:endParaRPr lang="en-US" sz="1600" dirty="0">
                        <a:latin typeface="Arial" panose="020B0604020202020204" pitchFamily="34" charset="0"/>
                        <a:cs typeface="Arial" panose="020B0604020202020204" pitchFamily="34" charset="0"/>
                      </a:endParaRPr>
                    </a:p>
                  </a:txBody>
                  <a:tcPr marL="82101" marR="82101" marT="41050" marB="41050" anchor="ctr"/>
                </a:tc>
                <a:extLst>
                  <a:ext uri="{0D108BD9-81ED-4DB2-BD59-A6C34878D82A}">
                    <a16:rowId xmlns:a16="http://schemas.microsoft.com/office/drawing/2014/main" val="2473393100"/>
                  </a:ext>
                </a:extLst>
              </a:tr>
              <a:tr h="636281">
                <a:tc>
                  <a:txBody>
                    <a:bodyPr/>
                    <a:lstStyle/>
                    <a:p>
                      <a:r>
                        <a:rPr lang="en-US" sz="1600" dirty="0" err="1" smtClean="0">
                          <a:latin typeface="Arial" panose="020B0604020202020204" pitchFamily="34" charset="0"/>
                          <a:cs typeface="Arial" panose="020B0604020202020204" pitchFamily="34" charset="0"/>
                        </a:rPr>
                        <a:t>Bảng</a:t>
                      </a:r>
                      <a:r>
                        <a:rPr lang="en-US" sz="1600" baseline="0" dirty="0" smtClean="0">
                          <a:latin typeface="Arial" panose="020B0604020202020204" pitchFamily="34" charset="0"/>
                          <a:cs typeface="Arial" panose="020B0604020202020204" pitchFamily="34" charset="0"/>
                        </a:rPr>
                        <a:t> </a:t>
                      </a:r>
                      <a:r>
                        <a:rPr lang="en-US" sz="1600" baseline="0" dirty="0" err="1" smtClean="0">
                          <a:latin typeface="Arial" panose="020B0604020202020204" pitchFamily="34" charset="0"/>
                          <a:cs typeface="Arial" panose="020B0604020202020204" pitchFamily="34" charset="0"/>
                        </a:rPr>
                        <a:t>băm</a:t>
                      </a:r>
                      <a:r>
                        <a:rPr lang="en-US" sz="1600" baseline="0" dirty="0" smtClean="0">
                          <a:latin typeface="Arial" panose="020B0604020202020204" pitchFamily="34" charset="0"/>
                          <a:cs typeface="Arial" panose="020B0604020202020204" pitchFamily="34" charset="0"/>
                        </a:rPr>
                        <a:t> </a:t>
                      </a:r>
                      <a:r>
                        <a:rPr lang="en-US" sz="1600" baseline="0" dirty="0" err="1" smtClean="0">
                          <a:latin typeface="Arial" panose="020B0604020202020204" pitchFamily="34" charset="0"/>
                          <a:cs typeface="Arial" panose="020B0604020202020204" pitchFamily="34" charset="0"/>
                        </a:rPr>
                        <a:t>không</a:t>
                      </a:r>
                      <a:r>
                        <a:rPr lang="en-US" sz="1600" baseline="0" dirty="0" smtClean="0">
                          <a:latin typeface="Arial" panose="020B0604020202020204" pitchFamily="34" charset="0"/>
                          <a:cs typeface="Arial" panose="020B0604020202020204" pitchFamily="34" charset="0"/>
                        </a:rPr>
                        <a:t> </a:t>
                      </a:r>
                      <a:r>
                        <a:rPr lang="en-US" sz="1600" baseline="0" dirty="0" err="1" smtClean="0">
                          <a:latin typeface="Arial" panose="020B0604020202020204" pitchFamily="34" charset="0"/>
                          <a:cs typeface="Arial" panose="020B0604020202020204" pitchFamily="34" charset="0"/>
                        </a:rPr>
                        <a:t>bao</a:t>
                      </a:r>
                      <a:r>
                        <a:rPr lang="en-US" sz="1600" baseline="0" dirty="0" smtClean="0">
                          <a:latin typeface="Arial" panose="020B0604020202020204" pitchFamily="34" charset="0"/>
                          <a:cs typeface="Arial" panose="020B0604020202020204" pitchFamily="34" charset="0"/>
                        </a:rPr>
                        <a:t> </a:t>
                      </a:r>
                      <a:r>
                        <a:rPr lang="en-US" sz="1600" baseline="0" dirty="0" err="1" smtClean="0">
                          <a:latin typeface="Arial" panose="020B0604020202020204" pitchFamily="34" charset="0"/>
                          <a:cs typeface="Arial" panose="020B0604020202020204" pitchFamily="34" charset="0"/>
                        </a:rPr>
                        <a:t>giờ</a:t>
                      </a:r>
                      <a:r>
                        <a:rPr lang="en-US" sz="1600" baseline="0" dirty="0" smtClean="0">
                          <a:latin typeface="Arial" panose="020B0604020202020204" pitchFamily="34" charset="0"/>
                          <a:cs typeface="Arial" panose="020B0604020202020204" pitchFamily="34" charset="0"/>
                        </a:rPr>
                        <a:t> </a:t>
                      </a:r>
                      <a:r>
                        <a:rPr lang="en-US" sz="1600" baseline="0" dirty="0" err="1" smtClean="0">
                          <a:latin typeface="Arial" panose="020B0604020202020204" pitchFamily="34" charset="0"/>
                          <a:cs typeface="Arial" panose="020B0604020202020204" pitchFamily="34" charset="0"/>
                        </a:rPr>
                        <a:t>đầy</a:t>
                      </a:r>
                      <a:r>
                        <a:rPr lang="en-US" sz="1600" baseline="0" dirty="0" smtClean="0">
                          <a:latin typeface="Arial" panose="020B0604020202020204" pitchFamily="34" charset="0"/>
                          <a:cs typeface="Arial" panose="020B0604020202020204" pitchFamily="34" charset="0"/>
                        </a:rPr>
                        <a:t>, </a:t>
                      </a:r>
                      <a:r>
                        <a:rPr lang="en-US" sz="1600" baseline="0" dirty="0" err="1" smtClean="0">
                          <a:latin typeface="Arial" panose="020B0604020202020204" pitchFamily="34" charset="0"/>
                          <a:cs typeface="Arial" panose="020B0604020202020204" pitchFamily="34" charset="0"/>
                        </a:rPr>
                        <a:t>luôn</a:t>
                      </a:r>
                      <a:r>
                        <a:rPr lang="en-US" sz="1600" baseline="0" dirty="0" smtClean="0">
                          <a:latin typeface="Arial" panose="020B0604020202020204" pitchFamily="34" charset="0"/>
                          <a:cs typeface="Arial" panose="020B0604020202020204" pitchFamily="34" charset="0"/>
                        </a:rPr>
                        <a:t> </a:t>
                      </a:r>
                      <a:r>
                        <a:rPr lang="en-US" sz="1600" baseline="0" dirty="0" err="1" smtClean="0">
                          <a:latin typeface="Arial" panose="020B0604020202020204" pitchFamily="34" charset="0"/>
                          <a:cs typeface="Arial" panose="020B0604020202020204" pitchFamily="34" charset="0"/>
                        </a:rPr>
                        <a:t>có</a:t>
                      </a:r>
                      <a:r>
                        <a:rPr lang="en-US" sz="1600" baseline="0" dirty="0" smtClean="0">
                          <a:latin typeface="Arial" panose="020B0604020202020204" pitchFamily="34" charset="0"/>
                          <a:cs typeface="Arial" panose="020B0604020202020204" pitchFamily="34" charset="0"/>
                        </a:rPr>
                        <a:t> </a:t>
                      </a:r>
                      <a:r>
                        <a:rPr lang="en-US" sz="1600" baseline="0" dirty="0" err="1" smtClean="0">
                          <a:latin typeface="Arial" panose="020B0604020202020204" pitchFamily="34" charset="0"/>
                          <a:cs typeface="Arial" panose="020B0604020202020204" pitchFamily="34" charset="0"/>
                        </a:rPr>
                        <a:t>thể</a:t>
                      </a:r>
                      <a:r>
                        <a:rPr lang="en-US" sz="1600" baseline="0" dirty="0" smtClean="0">
                          <a:latin typeface="Arial" panose="020B0604020202020204" pitchFamily="34" charset="0"/>
                          <a:cs typeface="Arial" panose="020B0604020202020204" pitchFamily="34" charset="0"/>
                        </a:rPr>
                        <a:t> </a:t>
                      </a:r>
                      <a:r>
                        <a:rPr lang="en-US" sz="1600" baseline="0" dirty="0" err="1" smtClean="0">
                          <a:latin typeface="Arial" panose="020B0604020202020204" pitchFamily="34" charset="0"/>
                          <a:cs typeface="Arial" panose="020B0604020202020204" pitchFamily="34" charset="0"/>
                        </a:rPr>
                        <a:t>thêm</a:t>
                      </a:r>
                      <a:r>
                        <a:rPr lang="en-US" sz="1600" baseline="0" dirty="0" smtClean="0">
                          <a:latin typeface="Arial" panose="020B0604020202020204" pitchFamily="34" charset="0"/>
                          <a:cs typeface="Arial" panose="020B0604020202020204" pitchFamily="34" charset="0"/>
                        </a:rPr>
                        <a:t> </a:t>
                      </a:r>
                      <a:r>
                        <a:rPr lang="en-US" sz="1600" baseline="0" dirty="0" err="1" smtClean="0">
                          <a:latin typeface="Arial" panose="020B0604020202020204" pitchFamily="34" charset="0"/>
                          <a:cs typeface="Arial" panose="020B0604020202020204" pitchFamily="34" charset="0"/>
                        </a:rPr>
                        <a:t>khóa</a:t>
                      </a:r>
                      <a:r>
                        <a:rPr lang="en-US" sz="1600" baseline="0" dirty="0" smtClean="0">
                          <a:latin typeface="Arial" panose="020B0604020202020204" pitchFamily="34" charset="0"/>
                          <a:cs typeface="Arial" panose="020B0604020202020204" pitchFamily="34" charset="0"/>
                        </a:rPr>
                        <a:t> </a:t>
                      </a:r>
                      <a:r>
                        <a:rPr lang="en-US" sz="1600" baseline="0" dirty="0" err="1" smtClean="0">
                          <a:latin typeface="Arial" panose="020B0604020202020204" pitchFamily="34" charset="0"/>
                          <a:cs typeface="Arial" panose="020B0604020202020204" pitchFamily="34" charset="0"/>
                        </a:rPr>
                        <a:t>vào</a:t>
                      </a:r>
                      <a:r>
                        <a:rPr lang="en-US" sz="1600" baseline="0" dirty="0" smtClean="0">
                          <a:latin typeface="Arial" panose="020B0604020202020204" pitchFamily="34" charset="0"/>
                          <a:cs typeface="Arial" panose="020B0604020202020204" pitchFamily="34" charset="0"/>
                        </a:rPr>
                        <a:t> </a:t>
                      </a:r>
                      <a:r>
                        <a:rPr lang="en-US" sz="1600" baseline="0" dirty="0" err="1" smtClean="0">
                          <a:latin typeface="Arial" panose="020B0604020202020204" pitchFamily="34" charset="0"/>
                          <a:cs typeface="Arial" panose="020B0604020202020204" pitchFamily="34" charset="0"/>
                        </a:rPr>
                        <a:t>bảng</a:t>
                      </a:r>
                      <a:endParaRPr lang="en-US" sz="1600" dirty="0">
                        <a:latin typeface="Arial" panose="020B0604020202020204" pitchFamily="34" charset="0"/>
                        <a:cs typeface="Arial" panose="020B0604020202020204" pitchFamily="34" charset="0"/>
                      </a:endParaRPr>
                    </a:p>
                  </a:txBody>
                  <a:tcPr marL="82101" marR="82101" marT="41050" marB="41050" anchor="ctr"/>
                </a:tc>
                <a:tc>
                  <a:txBody>
                    <a:bodyPr/>
                    <a:lstStyle/>
                    <a:p>
                      <a:r>
                        <a:rPr lang="en-US" sz="1600" dirty="0" err="1" smtClean="0">
                          <a:latin typeface="Arial" panose="020B0604020202020204" pitchFamily="34" charset="0"/>
                          <a:cs typeface="Arial" panose="020B0604020202020204" pitchFamily="34" charset="0"/>
                        </a:rPr>
                        <a:t>Bảng</a:t>
                      </a:r>
                      <a:r>
                        <a:rPr lang="en-US" sz="1600" baseline="0" dirty="0" smtClean="0">
                          <a:latin typeface="Arial" panose="020B0604020202020204" pitchFamily="34" charset="0"/>
                          <a:cs typeface="Arial" panose="020B0604020202020204" pitchFamily="34" charset="0"/>
                        </a:rPr>
                        <a:t> </a:t>
                      </a:r>
                      <a:r>
                        <a:rPr lang="en-US" sz="1600" baseline="0" dirty="0" err="1" smtClean="0">
                          <a:latin typeface="Arial" panose="020B0604020202020204" pitchFamily="34" charset="0"/>
                          <a:cs typeface="Arial" panose="020B0604020202020204" pitchFamily="34" charset="0"/>
                        </a:rPr>
                        <a:t>có</a:t>
                      </a:r>
                      <a:r>
                        <a:rPr lang="en-US" sz="1600" baseline="0" dirty="0" smtClean="0">
                          <a:latin typeface="Arial" panose="020B0604020202020204" pitchFamily="34" charset="0"/>
                          <a:cs typeface="Arial" panose="020B0604020202020204" pitchFamily="34" charset="0"/>
                        </a:rPr>
                        <a:t> </a:t>
                      </a:r>
                      <a:r>
                        <a:rPr lang="en-US" sz="1600" baseline="0" dirty="0" err="1" smtClean="0">
                          <a:latin typeface="Arial" panose="020B0604020202020204" pitchFamily="34" charset="0"/>
                          <a:cs typeface="Arial" panose="020B0604020202020204" pitchFamily="34" charset="0"/>
                        </a:rPr>
                        <a:t>thể</a:t>
                      </a:r>
                      <a:r>
                        <a:rPr lang="en-US" sz="1600" baseline="0" dirty="0" smtClean="0">
                          <a:latin typeface="Arial" panose="020B0604020202020204" pitchFamily="34" charset="0"/>
                          <a:cs typeface="Arial" panose="020B0604020202020204" pitchFamily="34" charset="0"/>
                        </a:rPr>
                        <a:t> </a:t>
                      </a:r>
                      <a:r>
                        <a:rPr lang="en-US" sz="1600" baseline="0" dirty="0" err="1" smtClean="0">
                          <a:latin typeface="Arial" panose="020B0604020202020204" pitchFamily="34" charset="0"/>
                          <a:cs typeface="Arial" panose="020B0604020202020204" pitchFamily="34" charset="0"/>
                        </a:rPr>
                        <a:t>đầy</a:t>
                      </a:r>
                      <a:r>
                        <a:rPr lang="en-US" sz="1600" baseline="0" dirty="0" smtClean="0">
                          <a:latin typeface="Arial" panose="020B0604020202020204" pitchFamily="34" charset="0"/>
                          <a:cs typeface="Arial" panose="020B0604020202020204" pitchFamily="34" charset="0"/>
                        </a:rPr>
                        <a:t> (overflow)</a:t>
                      </a:r>
                      <a:endParaRPr lang="en-US" sz="1600" dirty="0">
                        <a:latin typeface="Arial" panose="020B0604020202020204" pitchFamily="34" charset="0"/>
                        <a:cs typeface="Arial" panose="020B0604020202020204" pitchFamily="34" charset="0"/>
                      </a:endParaRPr>
                    </a:p>
                  </a:txBody>
                  <a:tcPr marL="82101" marR="82101" marT="41050" marB="41050" anchor="ctr"/>
                </a:tc>
                <a:extLst>
                  <a:ext uri="{0D108BD9-81ED-4DB2-BD59-A6C34878D82A}">
                    <a16:rowId xmlns:a16="http://schemas.microsoft.com/office/drawing/2014/main" val="2652725348"/>
                  </a:ext>
                </a:extLst>
              </a:tr>
              <a:tr h="636281">
                <a:tc>
                  <a:txBody>
                    <a:bodyPr/>
                    <a:lstStyle/>
                    <a:p>
                      <a:pPr marL="0" algn="l" defTabSz="685800" rtl="0" eaLnBrk="1" latinLnBrk="0" hangingPunct="1"/>
                      <a:r>
                        <a:rPr lang="vi-VN" sz="1600" kern="1200" baseline="0" dirty="0" smtClean="0">
                          <a:solidFill>
                            <a:schemeClr val="tx1"/>
                          </a:solidFill>
                          <a:latin typeface="Arial" panose="020B0604020202020204" pitchFamily="34" charset="0"/>
                          <a:ea typeface="+mn-ea"/>
                          <a:cs typeface="Arial" panose="020B0604020202020204" pitchFamily="34" charset="0"/>
                        </a:rPr>
                        <a:t>Ít nhạy cảm hơn với hàm băm hoặc các hệ số tải</a:t>
                      </a:r>
                      <a:endParaRPr lang="en-US" sz="1600" kern="1200" baseline="0" dirty="0">
                        <a:solidFill>
                          <a:schemeClr val="tx1"/>
                        </a:solidFill>
                        <a:latin typeface="Arial" panose="020B0604020202020204" pitchFamily="34" charset="0"/>
                        <a:ea typeface="+mn-ea"/>
                        <a:cs typeface="Arial" panose="020B0604020202020204" pitchFamily="34" charset="0"/>
                      </a:endParaRPr>
                    </a:p>
                  </a:txBody>
                  <a:tcPr marL="82101" marR="82101" marT="41050" marB="41050" anchor="ctr"/>
                </a:tc>
                <a:tc>
                  <a:txBody>
                    <a:bodyPr/>
                    <a:lstStyle/>
                    <a:p>
                      <a:r>
                        <a:rPr lang="en-US" sz="1600" dirty="0" err="1" smtClean="0">
                          <a:latin typeface="Arial" panose="020B0604020202020204" pitchFamily="34" charset="0"/>
                          <a:cs typeface="Arial" panose="020B0604020202020204" pitchFamily="34" charset="0"/>
                        </a:rPr>
                        <a:t>Cần</a:t>
                      </a:r>
                      <a:r>
                        <a:rPr lang="en-US" sz="1600" baseline="0" dirty="0" smtClean="0">
                          <a:latin typeface="Arial" panose="020B0604020202020204" pitchFamily="34" charset="0"/>
                          <a:cs typeface="Arial" panose="020B0604020202020204" pitchFamily="34" charset="0"/>
                        </a:rPr>
                        <a:t> </a:t>
                      </a:r>
                      <a:r>
                        <a:rPr lang="en-US" sz="1600" baseline="0" dirty="0" err="1" smtClean="0">
                          <a:latin typeface="Arial" panose="020B0604020202020204" pitchFamily="34" charset="0"/>
                          <a:cs typeface="Arial" panose="020B0604020202020204" pitchFamily="34" charset="0"/>
                        </a:rPr>
                        <a:t>xử</a:t>
                      </a:r>
                      <a:r>
                        <a:rPr lang="en-US" sz="1600" baseline="0" dirty="0" smtClean="0">
                          <a:latin typeface="Arial" panose="020B0604020202020204" pitchFamily="34" charset="0"/>
                          <a:cs typeface="Arial" panose="020B0604020202020204" pitchFamily="34" charset="0"/>
                        </a:rPr>
                        <a:t> </a:t>
                      </a:r>
                      <a:r>
                        <a:rPr lang="en-US" sz="1600" baseline="0" dirty="0" err="1" smtClean="0">
                          <a:latin typeface="Arial" panose="020B0604020202020204" pitchFamily="34" charset="0"/>
                          <a:cs typeface="Arial" panose="020B0604020202020204" pitchFamily="34" charset="0"/>
                        </a:rPr>
                        <a:t>lý</a:t>
                      </a:r>
                      <a:r>
                        <a:rPr lang="en-US" sz="1600" baseline="0" dirty="0" smtClean="0">
                          <a:latin typeface="Arial" panose="020B0604020202020204" pitchFamily="34" charset="0"/>
                          <a:cs typeface="Arial" panose="020B0604020202020204" pitchFamily="34" charset="0"/>
                        </a:rPr>
                        <a:t> </a:t>
                      </a:r>
                      <a:r>
                        <a:rPr lang="en-US" sz="1600" baseline="0" dirty="0" err="1" smtClean="0">
                          <a:latin typeface="Arial" panose="020B0604020202020204" pitchFamily="34" charset="0"/>
                          <a:cs typeface="Arial" panose="020B0604020202020204" pitchFamily="34" charset="0"/>
                        </a:rPr>
                        <a:t>thêm</a:t>
                      </a:r>
                      <a:r>
                        <a:rPr lang="en-US" sz="1600" baseline="0" dirty="0" smtClean="0">
                          <a:latin typeface="Arial" panose="020B0604020202020204" pitchFamily="34" charset="0"/>
                          <a:cs typeface="Arial" panose="020B0604020202020204" pitchFamily="34" charset="0"/>
                        </a:rPr>
                        <a:t> </a:t>
                      </a:r>
                      <a:r>
                        <a:rPr lang="en-US" sz="1600" baseline="0" dirty="0" err="1" smtClean="0">
                          <a:latin typeface="Arial" panose="020B0604020202020204" pitchFamily="34" charset="0"/>
                          <a:cs typeface="Arial" panose="020B0604020202020204" pitchFamily="34" charset="0"/>
                        </a:rPr>
                        <a:t>vấn</a:t>
                      </a:r>
                      <a:r>
                        <a:rPr lang="en-US" sz="1600" baseline="0" dirty="0" smtClean="0">
                          <a:latin typeface="Arial" panose="020B0604020202020204" pitchFamily="34" charset="0"/>
                          <a:cs typeface="Arial" panose="020B0604020202020204" pitchFamily="34" charset="0"/>
                        </a:rPr>
                        <a:t> </a:t>
                      </a:r>
                      <a:r>
                        <a:rPr lang="en-US" sz="1600" baseline="0" dirty="0" err="1" smtClean="0">
                          <a:latin typeface="Arial" panose="020B0604020202020204" pitchFamily="34" charset="0"/>
                          <a:cs typeface="Arial" panose="020B0604020202020204" pitchFamily="34" charset="0"/>
                        </a:rPr>
                        <a:t>đề</a:t>
                      </a:r>
                      <a:r>
                        <a:rPr lang="en-US" sz="1600" baseline="0" dirty="0" smtClean="0">
                          <a:latin typeface="Arial" panose="020B0604020202020204" pitchFamily="34" charset="0"/>
                          <a:cs typeface="Arial" panose="020B0604020202020204" pitchFamily="34" charset="0"/>
                        </a:rPr>
                        <a:t> </a:t>
                      </a:r>
                      <a:r>
                        <a:rPr lang="en-US" sz="1600" baseline="0" dirty="0" err="1" smtClean="0">
                          <a:latin typeface="Arial" panose="020B0604020202020204" pitchFamily="34" charset="0"/>
                          <a:cs typeface="Arial" panose="020B0604020202020204" pitchFamily="34" charset="0"/>
                        </a:rPr>
                        <a:t>hội</a:t>
                      </a:r>
                      <a:r>
                        <a:rPr lang="en-US" sz="1600" baseline="0" dirty="0" smtClean="0">
                          <a:latin typeface="Arial" panose="020B0604020202020204" pitchFamily="34" charset="0"/>
                          <a:cs typeface="Arial" panose="020B0604020202020204" pitchFamily="34" charset="0"/>
                        </a:rPr>
                        <a:t> </a:t>
                      </a:r>
                      <a:r>
                        <a:rPr lang="en-US" sz="1600" baseline="0" dirty="0" err="1" smtClean="0">
                          <a:latin typeface="Arial" panose="020B0604020202020204" pitchFamily="34" charset="0"/>
                          <a:cs typeface="Arial" panose="020B0604020202020204" pitchFamily="34" charset="0"/>
                        </a:rPr>
                        <a:t>tụ</a:t>
                      </a:r>
                      <a:r>
                        <a:rPr lang="en-US" sz="1600" baseline="0" dirty="0" smtClean="0">
                          <a:latin typeface="Arial" panose="020B0604020202020204" pitchFamily="34" charset="0"/>
                          <a:cs typeface="Arial" panose="020B0604020202020204" pitchFamily="34" charset="0"/>
                        </a:rPr>
                        <a:t>, </a:t>
                      </a:r>
                      <a:r>
                        <a:rPr lang="en-US" sz="1600" baseline="0" dirty="0" err="1" smtClean="0">
                          <a:latin typeface="Arial" panose="020B0604020202020204" pitchFamily="34" charset="0"/>
                          <a:cs typeface="Arial" panose="020B0604020202020204" pitchFamily="34" charset="0"/>
                        </a:rPr>
                        <a:t>hệ</a:t>
                      </a:r>
                      <a:r>
                        <a:rPr lang="en-US" sz="1600" baseline="0" dirty="0" smtClean="0">
                          <a:latin typeface="Arial" panose="020B0604020202020204" pitchFamily="34" charset="0"/>
                          <a:cs typeface="Arial" panose="020B0604020202020204" pitchFamily="34" charset="0"/>
                        </a:rPr>
                        <a:t> </a:t>
                      </a:r>
                      <a:r>
                        <a:rPr lang="en-US" sz="1600" baseline="0" dirty="0" err="1" smtClean="0">
                          <a:latin typeface="Arial" panose="020B0604020202020204" pitchFamily="34" charset="0"/>
                          <a:cs typeface="Arial" panose="020B0604020202020204" pitchFamily="34" charset="0"/>
                        </a:rPr>
                        <a:t>số</a:t>
                      </a:r>
                      <a:r>
                        <a:rPr lang="en-US" sz="1600" baseline="0" dirty="0" smtClean="0">
                          <a:latin typeface="Arial" panose="020B0604020202020204" pitchFamily="34" charset="0"/>
                          <a:cs typeface="Arial" panose="020B0604020202020204" pitchFamily="34" charset="0"/>
                        </a:rPr>
                        <a:t> </a:t>
                      </a:r>
                      <a:r>
                        <a:rPr lang="en-US" sz="1600" baseline="0" dirty="0" err="1" smtClean="0">
                          <a:latin typeface="Arial" panose="020B0604020202020204" pitchFamily="34" charset="0"/>
                          <a:cs typeface="Arial" panose="020B0604020202020204" pitchFamily="34" charset="0"/>
                        </a:rPr>
                        <a:t>tải</a:t>
                      </a:r>
                      <a:endParaRPr lang="en-US" sz="1600" dirty="0">
                        <a:latin typeface="Arial" panose="020B0604020202020204" pitchFamily="34" charset="0"/>
                        <a:cs typeface="Arial" panose="020B0604020202020204" pitchFamily="34" charset="0"/>
                      </a:endParaRPr>
                    </a:p>
                  </a:txBody>
                  <a:tcPr marL="82101" marR="82101" marT="41050" marB="41050" anchor="ctr"/>
                </a:tc>
                <a:extLst>
                  <a:ext uri="{0D108BD9-81ED-4DB2-BD59-A6C34878D82A}">
                    <a16:rowId xmlns:a16="http://schemas.microsoft.com/office/drawing/2014/main" val="3656985861"/>
                  </a:ext>
                </a:extLst>
              </a:tr>
              <a:tr h="821007">
                <a:tc>
                  <a:txBody>
                    <a:bodyPr/>
                    <a:lstStyle/>
                    <a:p>
                      <a:r>
                        <a:rPr lang="en-US" sz="1600" dirty="0" smtClean="0">
                          <a:latin typeface="Arial" panose="020B0604020202020204" pitchFamily="34" charset="0"/>
                          <a:cs typeface="Arial" panose="020B0604020202020204" pitchFamily="34" charset="0"/>
                        </a:rPr>
                        <a:t>C</a:t>
                      </a:r>
                      <a:r>
                        <a:rPr lang="vi-VN" sz="1600" dirty="0" smtClean="0">
                          <a:latin typeface="Arial" panose="020B0604020202020204" pitchFamily="34" charset="0"/>
                          <a:cs typeface="Arial" panose="020B0604020202020204" pitchFamily="34" charset="0"/>
                        </a:rPr>
                        <a:t>hủ yếu được sử dụng khi không biết </a:t>
                      </a:r>
                      <a:r>
                        <a:rPr lang="en-US" sz="1600" dirty="0" err="1" smtClean="0">
                          <a:latin typeface="Arial" panose="020B0604020202020204" pitchFamily="34" charset="0"/>
                          <a:cs typeface="Arial" panose="020B0604020202020204" pitchFamily="34" charset="0"/>
                        </a:rPr>
                        <a:t>số</a:t>
                      </a:r>
                      <a:r>
                        <a:rPr lang="en-US" sz="1600" baseline="0" dirty="0" smtClean="0">
                          <a:latin typeface="Arial" panose="020B0604020202020204" pitchFamily="34" charset="0"/>
                          <a:cs typeface="Arial" panose="020B0604020202020204" pitchFamily="34" charset="0"/>
                        </a:rPr>
                        <a:t> </a:t>
                      </a:r>
                      <a:r>
                        <a:rPr lang="en-US" sz="1600" baseline="0" dirty="0" err="1" smtClean="0">
                          <a:latin typeface="Arial" panose="020B0604020202020204" pitchFamily="34" charset="0"/>
                          <a:cs typeface="Arial" panose="020B0604020202020204" pitchFamily="34" charset="0"/>
                        </a:rPr>
                        <a:t>lượng</a:t>
                      </a:r>
                      <a:r>
                        <a:rPr lang="en-US" sz="1600" baseline="0" dirty="0" smtClean="0">
                          <a:latin typeface="Arial" panose="020B0604020202020204" pitchFamily="34" charset="0"/>
                          <a:cs typeface="Arial" panose="020B0604020202020204" pitchFamily="34" charset="0"/>
                        </a:rPr>
                        <a:t> </a:t>
                      </a:r>
                      <a:r>
                        <a:rPr lang="vi-VN" sz="1600" dirty="0" smtClean="0">
                          <a:latin typeface="Arial" panose="020B0604020202020204" pitchFamily="34" charset="0"/>
                          <a:cs typeface="Arial" panose="020B0604020202020204" pitchFamily="34" charset="0"/>
                        </a:rPr>
                        <a:t>và tần suất các khóa có thể được chèn hoặc xó</a:t>
                      </a:r>
                      <a:r>
                        <a:rPr lang="en-US" sz="1600" dirty="0" smtClean="0">
                          <a:latin typeface="Arial" panose="020B0604020202020204" pitchFamily="34" charset="0"/>
                          <a:cs typeface="Arial" panose="020B0604020202020204" pitchFamily="34" charset="0"/>
                        </a:rPr>
                        <a:t>a</a:t>
                      </a:r>
                      <a:endParaRPr lang="en-US" sz="1600" dirty="0">
                        <a:latin typeface="Arial" panose="020B0604020202020204" pitchFamily="34" charset="0"/>
                        <a:cs typeface="Arial" panose="020B0604020202020204" pitchFamily="34" charset="0"/>
                      </a:endParaRPr>
                    </a:p>
                  </a:txBody>
                  <a:tcPr marL="82101" marR="82101" marT="41050" marB="41050" anchor="ctr"/>
                </a:tc>
                <a:tc>
                  <a:txBody>
                    <a:bodyPr/>
                    <a:lstStyle/>
                    <a:p>
                      <a:r>
                        <a:rPr lang="en-US" sz="1600" dirty="0" smtClean="0">
                          <a:latin typeface="Arial" panose="020B0604020202020204" pitchFamily="34" charset="0"/>
                          <a:cs typeface="Arial" panose="020B0604020202020204" pitchFamily="34" charset="0"/>
                        </a:rPr>
                        <a:t>S</a:t>
                      </a:r>
                      <a:r>
                        <a:rPr lang="vi-VN" sz="1600" dirty="0" smtClean="0">
                          <a:latin typeface="Arial" panose="020B0604020202020204" pitchFamily="34" charset="0"/>
                          <a:cs typeface="Arial" panose="020B0604020202020204" pitchFamily="34" charset="0"/>
                        </a:rPr>
                        <a:t>ử dụng khi biết </a:t>
                      </a:r>
                      <a:r>
                        <a:rPr lang="en-US" sz="1600" dirty="0" err="1" smtClean="0">
                          <a:latin typeface="Arial" panose="020B0604020202020204" pitchFamily="34" charset="0"/>
                          <a:cs typeface="Arial" panose="020B0604020202020204" pitchFamily="34" charset="0"/>
                        </a:rPr>
                        <a:t>số</a:t>
                      </a:r>
                      <a:r>
                        <a:rPr lang="en-US" sz="1600" baseline="0" dirty="0" smtClean="0">
                          <a:latin typeface="Arial" panose="020B0604020202020204" pitchFamily="34" charset="0"/>
                          <a:cs typeface="Arial" panose="020B0604020202020204" pitchFamily="34" charset="0"/>
                        </a:rPr>
                        <a:t> </a:t>
                      </a:r>
                      <a:r>
                        <a:rPr lang="en-US" sz="1600" baseline="0" dirty="0" err="1" smtClean="0">
                          <a:latin typeface="Arial" panose="020B0604020202020204" pitchFamily="34" charset="0"/>
                          <a:cs typeface="Arial" panose="020B0604020202020204" pitchFamily="34" charset="0"/>
                        </a:rPr>
                        <a:t>lượng</a:t>
                      </a:r>
                      <a:r>
                        <a:rPr lang="en-US" sz="1600" baseline="0" dirty="0" smtClean="0">
                          <a:latin typeface="Arial" panose="020B0604020202020204" pitchFamily="34" charset="0"/>
                          <a:cs typeface="Arial" panose="020B0604020202020204" pitchFamily="34" charset="0"/>
                        </a:rPr>
                        <a:t> </a:t>
                      </a:r>
                      <a:r>
                        <a:rPr lang="vi-VN" sz="1600" dirty="0" smtClean="0">
                          <a:latin typeface="Arial" panose="020B0604020202020204" pitchFamily="34" charset="0"/>
                          <a:cs typeface="Arial" panose="020B0604020202020204" pitchFamily="34" charset="0"/>
                        </a:rPr>
                        <a:t>và tần suất các khóa có thể được chèn hoặc xó</a:t>
                      </a:r>
                      <a:r>
                        <a:rPr lang="en-US" sz="1600" dirty="0" smtClean="0">
                          <a:latin typeface="Arial" panose="020B0604020202020204" pitchFamily="34" charset="0"/>
                          <a:cs typeface="Arial" panose="020B0604020202020204" pitchFamily="34" charset="0"/>
                        </a:rPr>
                        <a:t>a</a:t>
                      </a:r>
                      <a:endParaRPr lang="en-US" sz="1600" dirty="0">
                        <a:latin typeface="Arial" panose="020B0604020202020204" pitchFamily="34" charset="0"/>
                        <a:cs typeface="Arial" panose="020B0604020202020204" pitchFamily="34" charset="0"/>
                      </a:endParaRPr>
                    </a:p>
                  </a:txBody>
                  <a:tcPr marL="82101" marR="82101" marT="41050" marB="41050" anchor="ctr"/>
                </a:tc>
                <a:extLst>
                  <a:ext uri="{0D108BD9-81ED-4DB2-BD59-A6C34878D82A}">
                    <a16:rowId xmlns:a16="http://schemas.microsoft.com/office/drawing/2014/main" val="4096445024"/>
                  </a:ext>
                </a:extLst>
              </a:tr>
              <a:tr h="636281">
                <a:tc>
                  <a:txBody>
                    <a:bodyPr/>
                    <a:lstStyle/>
                    <a:p>
                      <a:r>
                        <a:rPr lang="en-US" sz="1600" dirty="0" err="1" smtClean="0">
                          <a:latin typeface="Arial" panose="020B0604020202020204" pitchFamily="34" charset="0"/>
                          <a:cs typeface="Arial" panose="020B0604020202020204" pitchFamily="34" charset="0"/>
                        </a:rPr>
                        <a:t>Hiệu</a:t>
                      </a:r>
                      <a:r>
                        <a:rPr lang="en-US" sz="1600" baseline="0" dirty="0" smtClean="0">
                          <a:latin typeface="Arial" panose="020B0604020202020204" pitchFamily="34" charset="0"/>
                          <a:cs typeface="Arial" panose="020B0604020202020204" pitchFamily="34" charset="0"/>
                        </a:rPr>
                        <a:t> </a:t>
                      </a:r>
                      <a:r>
                        <a:rPr lang="en-US" sz="1600" baseline="0" dirty="0" err="1" smtClean="0">
                          <a:latin typeface="Arial" panose="020B0604020202020204" pitchFamily="34" charset="0"/>
                          <a:cs typeface="Arial" panose="020B0604020202020204" pitchFamily="34" charset="0"/>
                        </a:rPr>
                        <a:t>quả</a:t>
                      </a:r>
                      <a:r>
                        <a:rPr lang="en-US" sz="1600" baseline="0" dirty="0" smtClean="0">
                          <a:latin typeface="Arial" panose="020B0604020202020204" pitchFamily="34" charset="0"/>
                          <a:cs typeface="Arial" panose="020B0604020202020204" pitchFamily="34" charset="0"/>
                        </a:rPr>
                        <a:t> </a:t>
                      </a:r>
                      <a:r>
                        <a:rPr lang="en-US" sz="1600" baseline="0" dirty="0" err="1" smtClean="0">
                          <a:latin typeface="Arial" panose="020B0604020202020204" pitchFamily="34" charset="0"/>
                          <a:cs typeface="Arial" panose="020B0604020202020204" pitchFamily="34" charset="0"/>
                        </a:rPr>
                        <a:t>sử</a:t>
                      </a:r>
                      <a:r>
                        <a:rPr lang="en-US" sz="1600" baseline="0" dirty="0" smtClean="0">
                          <a:latin typeface="Arial" panose="020B0604020202020204" pitchFamily="34" charset="0"/>
                          <a:cs typeface="Arial" panose="020B0604020202020204" pitchFamily="34" charset="0"/>
                        </a:rPr>
                        <a:t> </a:t>
                      </a:r>
                      <a:r>
                        <a:rPr lang="en-US" sz="1600" baseline="0" dirty="0" err="1" smtClean="0">
                          <a:latin typeface="Arial" panose="020B0604020202020204" pitchFamily="34" charset="0"/>
                          <a:cs typeface="Arial" panose="020B0604020202020204" pitchFamily="34" charset="0"/>
                        </a:rPr>
                        <a:t>dụng</a:t>
                      </a:r>
                      <a:r>
                        <a:rPr lang="en-US" sz="1600" baseline="0" dirty="0" smtClean="0">
                          <a:latin typeface="Arial" panose="020B0604020202020204" pitchFamily="34" charset="0"/>
                          <a:cs typeface="Arial" panose="020B0604020202020204" pitchFamily="34" charset="0"/>
                        </a:rPr>
                        <a:t> </a:t>
                      </a:r>
                      <a:r>
                        <a:rPr lang="en-US" sz="1600" baseline="0" dirty="0" err="1" smtClean="0">
                          <a:latin typeface="Arial" panose="020B0604020202020204" pitchFamily="34" charset="0"/>
                          <a:cs typeface="Arial" panose="020B0604020202020204" pitchFamily="34" charset="0"/>
                        </a:rPr>
                        <a:t>tính</a:t>
                      </a:r>
                      <a:r>
                        <a:rPr lang="en-US" sz="1600" baseline="0" dirty="0" smtClean="0">
                          <a:latin typeface="Arial" panose="020B0604020202020204" pitchFamily="34" charset="0"/>
                          <a:cs typeface="Arial" panose="020B0604020202020204" pitchFamily="34" charset="0"/>
                        </a:rPr>
                        <a:t> </a:t>
                      </a:r>
                      <a:r>
                        <a:rPr lang="en-US" sz="1600" baseline="0" dirty="0" err="1" smtClean="0">
                          <a:latin typeface="Arial" panose="020B0604020202020204" pitchFamily="34" charset="0"/>
                          <a:cs typeface="Arial" panose="020B0604020202020204" pitchFamily="34" charset="0"/>
                        </a:rPr>
                        <a:t>chất</a:t>
                      </a:r>
                      <a:r>
                        <a:rPr lang="en-US" sz="1600" baseline="0" dirty="0" smtClean="0">
                          <a:latin typeface="Arial" panose="020B0604020202020204" pitchFamily="34" charset="0"/>
                          <a:cs typeface="Arial" panose="020B0604020202020204" pitchFamily="34" charset="0"/>
                        </a:rPr>
                        <a:t> </a:t>
                      </a:r>
                      <a:r>
                        <a:rPr lang="en-US" sz="1600" baseline="0" dirty="0" err="1" smtClean="0">
                          <a:latin typeface="Arial" panose="020B0604020202020204" pitchFamily="34" charset="0"/>
                          <a:cs typeface="Arial" panose="020B0604020202020204" pitchFamily="34" charset="0"/>
                        </a:rPr>
                        <a:t>bộ</a:t>
                      </a:r>
                      <a:r>
                        <a:rPr lang="en-US" sz="1600" baseline="0" dirty="0" smtClean="0">
                          <a:latin typeface="Arial" panose="020B0604020202020204" pitchFamily="34" charset="0"/>
                          <a:cs typeface="Arial" panose="020B0604020202020204" pitchFamily="34" charset="0"/>
                        </a:rPr>
                        <a:t> </a:t>
                      </a:r>
                      <a:r>
                        <a:rPr lang="en-US" sz="1600" baseline="0" dirty="0" err="1" smtClean="0">
                          <a:latin typeface="Arial" panose="020B0604020202020204" pitchFamily="34" charset="0"/>
                          <a:cs typeface="Arial" panose="020B0604020202020204" pitchFamily="34" charset="0"/>
                        </a:rPr>
                        <a:t>đệm</a:t>
                      </a:r>
                      <a:r>
                        <a:rPr lang="en-US" sz="1600" baseline="0" dirty="0" smtClean="0">
                          <a:latin typeface="Arial" panose="020B0604020202020204" pitchFamily="34" charset="0"/>
                          <a:cs typeface="Arial" panose="020B0604020202020204" pitchFamily="34" charset="0"/>
                        </a:rPr>
                        <a:t> </a:t>
                      </a:r>
                      <a:r>
                        <a:rPr lang="en-US" sz="1600" baseline="0" dirty="0" err="1" smtClean="0">
                          <a:latin typeface="Arial" panose="020B0604020202020204" pitchFamily="34" charset="0"/>
                          <a:cs typeface="Arial" panose="020B0604020202020204" pitchFamily="34" charset="0"/>
                        </a:rPr>
                        <a:t>kém</a:t>
                      </a:r>
                      <a:endParaRPr lang="en-US" sz="1600" dirty="0">
                        <a:latin typeface="Arial" panose="020B0604020202020204" pitchFamily="34" charset="0"/>
                        <a:cs typeface="Arial" panose="020B0604020202020204" pitchFamily="34" charset="0"/>
                      </a:endParaRPr>
                    </a:p>
                  </a:txBody>
                  <a:tcPr marL="82101" marR="82101" marT="41050" marB="41050" anchor="ctr"/>
                </a:tc>
                <a:tc>
                  <a:txBody>
                    <a:bodyPr/>
                    <a:lstStyle/>
                    <a:p>
                      <a:r>
                        <a:rPr lang="en-US" sz="1600" dirty="0" err="1" smtClean="0">
                          <a:latin typeface="Arial" panose="020B0604020202020204" pitchFamily="34" charset="0"/>
                          <a:cs typeface="Arial" panose="020B0604020202020204" pitchFamily="34" charset="0"/>
                        </a:rPr>
                        <a:t>Cung</a:t>
                      </a:r>
                      <a:r>
                        <a:rPr lang="en-US" sz="1600" dirty="0" smtClean="0">
                          <a:latin typeface="Arial" panose="020B0604020202020204" pitchFamily="34" charset="0"/>
                          <a:cs typeface="Arial" panose="020B0604020202020204" pitchFamily="34" charset="0"/>
                        </a:rPr>
                        <a:t> </a:t>
                      </a:r>
                      <a:r>
                        <a:rPr lang="en-US" sz="1600" dirty="0" err="1" smtClean="0">
                          <a:latin typeface="Arial" panose="020B0604020202020204" pitchFamily="34" charset="0"/>
                          <a:cs typeface="Arial" panose="020B0604020202020204" pitchFamily="34" charset="0"/>
                        </a:rPr>
                        <a:t>cấp</a:t>
                      </a:r>
                      <a:r>
                        <a:rPr lang="en-US" sz="1600" baseline="0" dirty="0" smtClean="0">
                          <a:latin typeface="Arial" panose="020B0604020202020204" pitchFamily="34" charset="0"/>
                          <a:cs typeface="Arial" panose="020B0604020202020204" pitchFamily="34" charset="0"/>
                        </a:rPr>
                        <a:t> </a:t>
                      </a:r>
                      <a:r>
                        <a:rPr lang="en-US" sz="1600" baseline="0" dirty="0" err="1" smtClean="0">
                          <a:latin typeface="Arial" panose="020B0604020202020204" pitchFamily="34" charset="0"/>
                          <a:cs typeface="Arial" panose="020B0604020202020204" pitchFamily="34" charset="0"/>
                        </a:rPr>
                        <a:t>hiệu</a:t>
                      </a:r>
                      <a:r>
                        <a:rPr lang="en-US" sz="1600" baseline="0" dirty="0" smtClean="0">
                          <a:latin typeface="Arial" panose="020B0604020202020204" pitchFamily="34" charset="0"/>
                          <a:cs typeface="Arial" panose="020B0604020202020204" pitchFamily="34" charset="0"/>
                        </a:rPr>
                        <a:t> </a:t>
                      </a:r>
                      <a:r>
                        <a:rPr lang="en-US" sz="1600" baseline="0" dirty="0" err="1" smtClean="0">
                          <a:latin typeface="Arial" panose="020B0604020202020204" pitchFamily="34" charset="0"/>
                          <a:cs typeface="Arial" panose="020B0604020202020204" pitchFamily="34" charset="0"/>
                        </a:rPr>
                        <a:t>quả</a:t>
                      </a:r>
                      <a:r>
                        <a:rPr lang="en-US" sz="1600" baseline="0" dirty="0" smtClean="0">
                          <a:latin typeface="Arial" panose="020B0604020202020204" pitchFamily="34" charset="0"/>
                          <a:cs typeface="Arial" panose="020B0604020202020204" pitchFamily="34" charset="0"/>
                        </a:rPr>
                        <a:t> </a:t>
                      </a:r>
                      <a:r>
                        <a:rPr lang="en-US" sz="1600" baseline="0" dirty="0" err="1" smtClean="0">
                          <a:latin typeface="Arial" panose="020B0604020202020204" pitchFamily="34" charset="0"/>
                          <a:cs typeface="Arial" panose="020B0604020202020204" pitchFamily="34" charset="0"/>
                        </a:rPr>
                        <a:t>bộ</a:t>
                      </a:r>
                      <a:r>
                        <a:rPr lang="en-US" sz="1600" baseline="0" dirty="0" smtClean="0">
                          <a:latin typeface="Arial" panose="020B0604020202020204" pitchFamily="34" charset="0"/>
                          <a:cs typeface="Arial" panose="020B0604020202020204" pitchFamily="34" charset="0"/>
                        </a:rPr>
                        <a:t> </a:t>
                      </a:r>
                      <a:r>
                        <a:rPr lang="en-US" sz="1600" baseline="0" dirty="0" err="1" smtClean="0">
                          <a:latin typeface="Arial" panose="020B0604020202020204" pitchFamily="34" charset="0"/>
                          <a:cs typeface="Arial" panose="020B0604020202020204" pitchFamily="34" charset="0"/>
                        </a:rPr>
                        <a:t>đệm</a:t>
                      </a:r>
                      <a:r>
                        <a:rPr lang="en-US" sz="1600" baseline="0" dirty="0" smtClean="0">
                          <a:latin typeface="Arial" panose="020B0604020202020204" pitchFamily="34" charset="0"/>
                          <a:cs typeface="Arial" panose="020B0604020202020204" pitchFamily="34" charset="0"/>
                        </a:rPr>
                        <a:t> </a:t>
                      </a:r>
                      <a:r>
                        <a:rPr lang="en-US" sz="1600" baseline="0" dirty="0" err="1" smtClean="0">
                          <a:latin typeface="Arial" panose="020B0604020202020204" pitchFamily="34" charset="0"/>
                          <a:cs typeface="Arial" panose="020B0604020202020204" pitchFamily="34" charset="0"/>
                        </a:rPr>
                        <a:t>cao</a:t>
                      </a:r>
                      <a:r>
                        <a:rPr lang="en-US" sz="1600" baseline="0" dirty="0" smtClean="0">
                          <a:latin typeface="Arial" panose="020B0604020202020204" pitchFamily="34" charset="0"/>
                          <a:cs typeface="Arial" panose="020B0604020202020204" pitchFamily="34" charset="0"/>
                        </a:rPr>
                        <a:t> do </a:t>
                      </a:r>
                      <a:r>
                        <a:rPr lang="en-US" sz="1600" baseline="0" dirty="0" err="1" smtClean="0">
                          <a:latin typeface="Arial" panose="020B0604020202020204" pitchFamily="34" charset="0"/>
                          <a:cs typeface="Arial" panose="020B0604020202020204" pitchFamily="34" charset="0"/>
                        </a:rPr>
                        <a:t>tất</a:t>
                      </a:r>
                      <a:r>
                        <a:rPr lang="en-US" sz="1600" baseline="0" dirty="0" smtClean="0">
                          <a:latin typeface="Arial" panose="020B0604020202020204" pitchFamily="34" charset="0"/>
                          <a:cs typeface="Arial" panose="020B0604020202020204" pitchFamily="34" charset="0"/>
                        </a:rPr>
                        <a:t> </a:t>
                      </a:r>
                      <a:r>
                        <a:rPr lang="en-US" sz="1600" baseline="0" dirty="0" err="1" smtClean="0">
                          <a:latin typeface="Arial" panose="020B0604020202020204" pitchFamily="34" charset="0"/>
                          <a:cs typeface="Arial" panose="020B0604020202020204" pitchFamily="34" charset="0"/>
                        </a:rPr>
                        <a:t>cả</a:t>
                      </a:r>
                      <a:r>
                        <a:rPr lang="en-US" sz="1600" baseline="0" dirty="0" smtClean="0">
                          <a:latin typeface="Arial" panose="020B0604020202020204" pitchFamily="34" charset="0"/>
                          <a:cs typeface="Arial" panose="020B0604020202020204" pitchFamily="34" charset="0"/>
                        </a:rPr>
                        <a:t> </a:t>
                      </a:r>
                      <a:r>
                        <a:rPr lang="en-US" sz="1600" baseline="0" dirty="0" err="1" smtClean="0">
                          <a:latin typeface="Arial" panose="020B0604020202020204" pitchFamily="34" charset="0"/>
                          <a:cs typeface="Arial" panose="020B0604020202020204" pitchFamily="34" charset="0"/>
                        </a:rPr>
                        <a:t>được</a:t>
                      </a:r>
                      <a:r>
                        <a:rPr lang="en-US" sz="1600" baseline="0" dirty="0" smtClean="0">
                          <a:latin typeface="Arial" panose="020B0604020202020204" pitchFamily="34" charset="0"/>
                          <a:cs typeface="Arial" panose="020B0604020202020204" pitchFamily="34" charset="0"/>
                        </a:rPr>
                        <a:t> </a:t>
                      </a:r>
                      <a:r>
                        <a:rPr lang="en-US" sz="1600" baseline="0" dirty="0" err="1" smtClean="0">
                          <a:latin typeface="Arial" panose="020B0604020202020204" pitchFamily="34" charset="0"/>
                          <a:cs typeface="Arial" panose="020B0604020202020204" pitchFamily="34" charset="0"/>
                        </a:rPr>
                        <a:t>lưu</a:t>
                      </a:r>
                      <a:r>
                        <a:rPr lang="en-US" sz="1600" baseline="0" dirty="0" smtClean="0">
                          <a:latin typeface="Arial" panose="020B0604020202020204" pitchFamily="34" charset="0"/>
                          <a:cs typeface="Arial" panose="020B0604020202020204" pitchFamily="34" charset="0"/>
                        </a:rPr>
                        <a:t> </a:t>
                      </a:r>
                      <a:r>
                        <a:rPr lang="en-US" sz="1600" baseline="0" dirty="0" err="1" smtClean="0">
                          <a:latin typeface="Arial" panose="020B0604020202020204" pitchFamily="34" charset="0"/>
                          <a:cs typeface="Arial" panose="020B0604020202020204" pitchFamily="34" charset="0"/>
                        </a:rPr>
                        <a:t>trong</a:t>
                      </a:r>
                      <a:r>
                        <a:rPr lang="en-US" sz="1600" baseline="0" dirty="0" smtClean="0">
                          <a:latin typeface="Arial" panose="020B0604020202020204" pitchFamily="34" charset="0"/>
                          <a:cs typeface="Arial" panose="020B0604020202020204" pitchFamily="34" charset="0"/>
                        </a:rPr>
                        <a:t> </a:t>
                      </a:r>
                      <a:r>
                        <a:rPr lang="en-US" sz="1600" baseline="0" dirty="0" err="1" smtClean="0">
                          <a:latin typeface="Arial" panose="020B0604020202020204" pitchFamily="34" charset="0"/>
                          <a:cs typeface="Arial" panose="020B0604020202020204" pitchFamily="34" charset="0"/>
                        </a:rPr>
                        <a:t>cùng</a:t>
                      </a:r>
                      <a:r>
                        <a:rPr lang="en-US" sz="1600" baseline="0" dirty="0" smtClean="0">
                          <a:latin typeface="Arial" panose="020B0604020202020204" pitchFamily="34" charset="0"/>
                          <a:cs typeface="Arial" panose="020B0604020202020204" pitchFamily="34" charset="0"/>
                        </a:rPr>
                        <a:t> 1 </a:t>
                      </a:r>
                      <a:r>
                        <a:rPr lang="en-US" sz="1600" baseline="0" dirty="0" err="1" smtClean="0">
                          <a:latin typeface="Arial" panose="020B0604020202020204" pitchFamily="34" charset="0"/>
                          <a:cs typeface="Arial" panose="020B0604020202020204" pitchFamily="34" charset="0"/>
                        </a:rPr>
                        <a:t>bảng</a:t>
                      </a:r>
                      <a:endParaRPr lang="en-US" sz="1600" dirty="0">
                        <a:latin typeface="Arial" panose="020B0604020202020204" pitchFamily="34" charset="0"/>
                        <a:cs typeface="Arial" panose="020B0604020202020204" pitchFamily="34" charset="0"/>
                      </a:endParaRPr>
                    </a:p>
                  </a:txBody>
                  <a:tcPr marL="82101" marR="82101" marT="41050" marB="41050" anchor="ctr"/>
                </a:tc>
                <a:extLst>
                  <a:ext uri="{0D108BD9-81ED-4DB2-BD59-A6C34878D82A}">
                    <a16:rowId xmlns:a16="http://schemas.microsoft.com/office/drawing/2014/main" val="3427826340"/>
                  </a:ext>
                </a:extLst>
              </a:tr>
              <a:tr h="636281">
                <a:tc>
                  <a:txBody>
                    <a:bodyPr/>
                    <a:lstStyle/>
                    <a:p>
                      <a:r>
                        <a:rPr lang="vi-VN" sz="1600" dirty="0" smtClean="0">
                          <a:latin typeface="Arial" panose="020B0604020202020204" pitchFamily="34" charset="0"/>
                          <a:cs typeface="Arial" panose="020B0604020202020204" pitchFamily="34" charset="0"/>
                        </a:rPr>
                        <a:t>Lãng phí không gian (Một số phần của bảng băm không bao giờ được sử dụng)</a:t>
                      </a:r>
                      <a:endParaRPr lang="en-US" sz="1600" dirty="0">
                        <a:latin typeface="Arial" panose="020B0604020202020204" pitchFamily="34" charset="0"/>
                        <a:cs typeface="Arial" panose="020B0604020202020204" pitchFamily="34" charset="0"/>
                      </a:endParaRPr>
                    </a:p>
                  </a:txBody>
                  <a:tcPr marL="82101" marR="82101" marT="41050" marB="41050" anchor="ctr"/>
                </a:tc>
                <a:tc>
                  <a:txBody>
                    <a:bodyPr/>
                    <a:lstStyle/>
                    <a:p>
                      <a:r>
                        <a:rPr lang="en-US" sz="1600" dirty="0" err="1" smtClean="0">
                          <a:latin typeface="Arial" panose="020B0604020202020204" pitchFamily="34" charset="0"/>
                          <a:cs typeface="Arial" panose="020B0604020202020204" pitchFamily="34" charset="0"/>
                        </a:rPr>
                        <a:t>Tận</a:t>
                      </a:r>
                      <a:r>
                        <a:rPr lang="en-US" sz="1600" baseline="0" dirty="0" smtClean="0">
                          <a:latin typeface="Arial" panose="020B0604020202020204" pitchFamily="34" charset="0"/>
                          <a:cs typeface="Arial" panose="020B0604020202020204" pitchFamily="34" charset="0"/>
                        </a:rPr>
                        <a:t> </a:t>
                      </a:r>
                      <a:r>
                        <a:rPr lang="en-US" sz="1600" baseline="0" dirty="0" err="1" smtClean="0">
                          <a:latin typeface="Arial" panose="020B0604020202020204" pitchFamily="34" charset="0"/>
                          <a:cs typeface="Arial" panose="020B0604020202020204" pitchFamily="34" charset="0"/>
                        </a:rPr>
                        <a:t>dụng</a:t>
                      </a:r>
                      <a:r>
                        <a:rPr lang="en-US" sz="1600" baseline="0" dirty="0" smtClean="0">
                          <a:latin typeface="Arial" panose="020B0604020202020204" pitchFamily="34" charset="0"/>
                          <a:cs typeface="Arial" panose="020B0604020202020204" pitchFamily="34" charset="0"/>
                        </a:rPr>
                        <a:t> </a:t>
                      </a:r>
                      <a:r>
                        <a:rPr lang="en-US" sz="1600" baseline="0" dirty="0" err="1" smtClean="0">
                          <a:latin typeface="Arial" panose="020B0604020202020204" pitchFamily="34" charset="0"/>
                          <a:cs typeface="Arial" panose="020B0604020202020204" pitchFamily="34" charset="0"/>
                        </a:rPr>
                        <a:t>khe</a:t>
                      </a:r>
                      <a:r>
                        <a:rPr lang="en-US" sz="1600" baseline="0" dirty="0" smtClean="0">
                          <a:latin typeface="Arial" panose="020B0604020202020204" pitchFamily="34" charset="0"/>
                          <a:cs typeface="Arial" panose="020B0604020202020204" pitchFamily="34" charset="0"/>
                        </a:rPr>
                        <a:t> </a:t>
                      </a:r>
                      <a:r>
                        <a:rPr lang="en-US" sz="1600" baseline="0" dirty="0" err="1" smtClean="0">
                          <a:latin typeface="Arial" panose="020B0604020202020204" pitchFamily="34" charset="0"/>
                          <a:cs typeface="Arial" panose="020B0604020202020204" pitchFamily="34" charset="0"/>
                        </a:rPr>
                        <a:t>nhớ</a:t>
                      </a:r>
                      <a:r>
                        <a:rPr lang="en-US" sz="1600" baseline="0" dirty="0" smtClean="0">
                          <a:latin typeface="Arial" panose="020B0604020202020204" pitchFamily="34" charset="0"/>
                          <a:cs typeface="Arial" panose="020B0604020202020204" pitchFamily="34" charset="0"/>
                        </a:rPr>
                        <a:t> </a:t>
                      </a:r>
                      <a:r>
                        <a:rPr lang="en-US" sz="1600" baseline="0" dirty="0" err="1" smtClean="0">
                          <a:latin typeface="Arial" panose="020B0604020202020204" pitchFamily="34" charset="0"/>
                          <a:cs typeface="Arial" panose="020B0604020202020204" pitchFamily="34" charset="0"/>
                        </a:rPr>
                        <a:t>khi</a:t>
                      </a:r>
                      <a:r>
                        <a:rPr lang="en-US" sz="1600" baseline="0" dirty="0" smtClean="0">
                          <a:latin typeface="Arial" panose="020B0604020202020204" pitchFamily="34" charset="0"/>
                          <a:cs typeface="Arial" panose="020B0604020202020204" pitchFamily="34" charset="0"/>
                        </a:rPr>
                        <a:t> </a:t>
                      </a:r>
                      <a:r>
                        <a:rPr lang="en-US" sz="1600" baseline="0" dirty="0" err="1" smtClean="0">
                          <a:latin typeface="Arial" panose="020B0604020202020204" pitchFamily="34" charset="0"/>
                          <a:cs typeface="Arial" panose="020B0604020202020204" pitchFamily="34" charset="0"/>
                        </a:rPr>
                        <a:t>chưa</a:t>
                      </a:r>
                      <a:r>
                        <a:rPr lang="en-US" sz="1600" baseline="0" dirty="0" smtClean="0">
                          <a:latin typeface="Arial" panose="020B0604020202020204" pitchFamily="34" charset="0"/>
                          <a:cs typeface="Arial" panose="020B0604020202020204" pitchFamily="34" charset="0"/>
                        </a:rPr>
                        <a:t> </a:t>
                      </a:r>
                      <a:r>
                        <a:rPr lang="en-US" sz="1600" baseline="0" dirty="0" err="1" smtClean="0">
                          <a:latin typeface="Arial" panose="020B0604020202020204" pitchFamily="34" charset="0"/>
                          <a:cs typeface="Arial" panose="020B0604020202020204" pitchFamily="34" charset="0"/>
                        </a:rPr>
                        <a:t>được</a:t>
                      </a:r>
                      <a:r>
                        <a:rPr lang="en-US" sz="1600" baseline="0" dirty="0" smtClean="0">
                          <a:latin typeface="Arial" panose="020B0604020202020204" pitchFamily="34" charset="0"/>
                          <a:cs typeface="Arial" panose="020B0604020202020204" pitchFamily="34" charset="0"/>
                        </a:rPr>
                        <a:t> </a:t>
                      </a:r>
                      <a:r>
                        <a:rPr lang="en-US" sz="1600" baseline="0" dirty="0" err="1" smtClean="0">
                          <a:latin typeface="Arial" panose="020B0604020202020204" pitchFamily="34" charset="0"/>
                          <a:cs typeface="Arial" panose="020B0604020202020204" pitchFamily="34" charset="0"/>
                        </a:rPr>
                        <a:t>sử</a:t>
                      </a:r>
                      <a:r>
                        <a:rPr lang="en-US" sz="1600" baseline="0" dirty="0" smtClean="0">
                          <a:latin typeface="Arial" panose="020B0604020202020204" pitchFamily="34" charset="0"/>
                          <a:cs typeface="Arial" panose="020B0604020202020204" pitchFamily="34" charset="0"/>
                        </a:rPr>
                        <a:t> </a:t>
                      </a:r>
                      <a:r>
                        <a:rPr lang="en-US" sz="1600" baseline="0" dirty="0" err="1" smtClean="0">
                          <a:latin typeface="Arial" panose="020B0604020202020204" pitchFamily="34" charset="0"/>
                          <a:cs typeface="Arial" panose="020B0604020202020204" pitchFamily="34" charset="0"/>
                        </a:rPr>
                        <a:t>dụng</a:t>
                      </a:r>
                      <a:endParaRPr lang="en-US" sz="1600" dirty="0">
                        <a:latin typeface="Arial" panose="020B0604020202020204" pitchFamily="34" charset="0"/>
                        <a:cs typeface="Arial" panose="020B0604020202020204" pitchFamily="34" charset="0"/>
                      </a:endParaRPr>
                    </a:p>
                  </a:txBody>
                  <a:tcPr marL="82101" marR="82101" marT="41050" marB="41050" anchor="ctr"/>
                </a:tc>
                <a:extLst>
                  <a:ext uri="{0D108BD9-81ED-4DB2-BD59-A6C34878D82A}">
                    <a16:rowId xmlns:a16="http://schemas.microsoft.com/office/drawing/2014/main" val="1596445981"/>
                  </a:ext>
                </a:extLst>
              </a:tr>
              <a:tr h="403436">
                <a:tc>
                  <a:txBody>
                    <a:bodyPr/>
                    <a:lstStyle/>
                    <a:p>
                      <a:r>
                        <a:rPr lang="vi-VN" sz="1600" dirty="0" smtClean="0">
                          <a:latin typeface="Arial" panose="020B0604020202020204" pitchFamily="34" charset="0"/>
                          <a:cs typeface="Arial" panose="020B0604020202020204" pitchFamily="34" charset="0"/>
                        </a:rPr>
                        <a:t>Sử dụng thêm không gian cho các liên kết.</a:t>
                      </a:r>
                      <a:endParaRPr lang="en-US" sz="1600" dirty="0">
                        <a:latin typeface="Arial" panose="020B0604020202020204" pitchFamily="34" charset="0"/>
                        <a:cs typeface="Arial" panose="020B0604020202020204" pitchFamily="34" charset="0"/>
                      </a:endParaRPr>
                    </a:p>
                  </a:txBody>
                  <a:tcPr marL="82101" marR="82101" marT="41050" marB="41050" anchor="ctr"/>
                </a:tc>
                <a:tc>
                  <a:txBody>
                    <a:bodyPr/>
                    <a:lstStyle/>
                    <a:p>
                      <a:r>
                        <a:rPr lang="en-US" sz="1600" dirty="0" err="1" smtClean="0">
                          <a:latin typeface="Arial" panose="020B0604020202020204" pitchFamily="34" charset="0"/>
                          <a:cs typeface="Arial" panose="020B0604020202020204" pitchFamily="34" charset="0"/>
                        </a:rPr>
                        <a:t>Không</a:t>
                      </a:r>
                      <a:r>
                        <a:rPr lang="en-US" sz="1600" baseline="0" dirty="0" smtClean="0">
                          <a:latin typeface="Arial" panose="020B0604020202020204" pitchFamily="34" charset="0"/>
                          <a:cs typeface="Arial" panose="020B0604020202020204" pitchFamily="34" charset="0"/>
                        </a:rPr>
                        <a:t> s</a:t>
                      </a:r>
                      <a:r>
                        <a:rPr lang="vi-VN" sz="1600" dirty="0" smtClean="0">
                          <a:latin typeface="Arial" panose="020B0604020202020204" pitchFamily="34" charset="0"/>
                          <a:cs typeface="Arial" panose="020B0604020202020204" pitchFamily="34" charset="0"/>
                        </a:rPr>
                        <a:t>ử dụng liên kết</a:t>
                      </a:r>
                      <a:endParaRPr lang="en-US" sz="1600" dirty="0">
                        <a:latin typeface="Arial" panose="020B0604020202020204" pitchFamily="34" charset="0"/>
                        <a:cs typeface="Arial" panose="020B0604020202020204" pitchFamily="34" charset="0"/>
                      </a:endParaRPr>
                    </a:p>
                  </a:txBody>
                  <a:tcPr marL="82101" marR="82101" marT="41050" marB="41050" anchor="ctr"/>
                </a:tc>
                <a:extLst>
                  <a:ext uri="{0D108BD9-81ED-4DB2-BD59-A6C34878D82A}">
                    <a16:rowId xmlns:a16="http://schemas.microsoft.com/office/drawing/2014/main" val="1476307611"/>
                  </a:ext>
                </a:extLst>
              </a:tr>
            </a:tbl>
          </a:graphicData>
        </a:graphic>
      </p:graphicFrame>
    </p:spTree>
    <p:extLst>
      <p:ext uri="{BB962C8B-B14F-4D97-AF65-F5344CB8AC3E}">
        <p14:creationId xmlns:p14="http://schemas.microsoft.com/office/powerpoint/2010/main" val="257144513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C24317B-5122-4A99-A6E9-FA23C146A7E0}" type="slidenum">
              <a:rPr lang="en-US" smtClean="0"/>
              <a:pPr/>
              <a:t>40</a:t>
            </a:fld>
            <a:endParaRPr lang="en-US"/>
          </a:p>
        </p:txBody>
      </p:sp>
      <p:sp>
        <p:nvSpPr>
          <p:cNvPr id="4" name="Title 3"/>
          <p:cNvSpPr>
            <a:spLocks noGrp="1"/>
          </p:cNvSpPr>
          <p:nvPr>
            <p:ph type="title"/>
          </p:nvPr>
        </p:nvSpPr>
        <p:spPr/>
        <p:txBody>
          <a:bodyPr>
            <a:normAutofit/>
          </a:bodyPr>
          <a:lstStyle/>
          <a:p>
            <a:r>
              <a:rPr lang="en-US" sz="2400" dirty="0" err="1" smtClean="0"/>
              <a:t>Bài</a:t>
            </a:r>
            <a:r>
              <a:rPr lang="en-US" sz="2400" dirty="0" smtClean="0"/>
              <a:t> </a:t>
            </a:r>
            <a:r>
              <a:rPr lang="en-US" sz="2400" dirty="0" err="1" smtClean="0"/>
              <a:t>tập</a:t>
            </a:r>
            <a:endParaRPr lang="en-US" sz="2400" dirty="0"/>
          </a:p>
        </p:txBody>
      </p:sp>
      <p:sp>
        <p:nvSpPr>
          <p:cNvPr id="5" name="Text Placeholder 4"/>
          <p:cNvSpPr>
            <a:spLocks noGrp="1"/>
          </p:cNvSpPr>
          <p:nvPr>
            <p:ph type="body" sz="quarter" idx="13"/>
          </p:nvPr>
        </p:nvSpPr>
        <p:spPr/>
        <p:txBody>
          <a:bodyPr/>
          <a:lstStyle/>
          <a:p>
            <a:r>
              <a:rPr lang="en-US" dirty="0" smtClean="0"/>
              <a:t>1. </a:t>
            </a:r>
            <a:r>
              <a:rPr lang="en-US" dirty="0" err="1" smtClean="0"/>
              <a:t>Viết</a:t>
            </a:r>
            <a:r>
              <a:rPr lang="en-US" dirty="0" smtClean="0"/>
              <a:t> </a:t>
            </a:r>
            <a:r>
              <a:rPr lang="en-US" dirty="0" err="1" smtClean="0"/>
              <a:t>chương</a:t>
            </a:r>
            <a:r>
              <a:rPr lang="en-US" dirty="0" smtClean="0"/>
              <a:t> </a:t>
            </a:r>
            <a:r>
              <a:rPr lang="en-US" dirty="0" err="1" smtClean="0"/>
              <a:t>trình</a:t>
            </a:r>
            <a:r>
              <a:rPr lang="en-US" dirty="0" smtClean="0"/>
              <a:t> </a:t>
            </a:r>
            <a:r>
              <a:rPr lang="en-US" dirty="0" err="1" smtClean="0"/>
              <a:t>phần</a:t>
            </a:r>
            <a:r>
              <a:rPr lang="en-US" dirty="0" smtClean="0"/>
              <a:t> </a:t>
            </a:r>
            <a:r>
              <a:rPr lang="en-US" dirty="0" err="1" smtClean="0"/>
              <a:t>mềm</a:t>
            </a:r>
            <a:r>
              <a:rPr lang="en-US" dirty="0" smtClean="0"/>
              <a:t> </a:t>
            </a:r>
            <a:r>
              <a:rPr lang="en-US" dirty="0" err="1" smtClean="0"/>
              <a:t>tìm</a:t>
            </a:r>
            <a:r>
              <a:rPr lang="en-US" dirty="0" smtClean="0"/>
              <a:t> </a:t>
            </a:r>
            <a:r>
              <a:rPr lang="en-US" dirty="0" err="1" smtClean="0"/>
              <a:t>kiếm</a:t>
            </a:r>
            <a:r>
              <a:rPr lang="en-US" dirty="0" smtClean="0"/>
              <a:t> 1 </a:t>
            </a:r>
            <a:r>
              <a:rPr lang="en-US" dirty="0" err="1" smtClean="0"/>
              <a:t>phần</a:t>
            </a:r>
            <a:r>
              <a:rPr lang="en-US" dirty="0" smtClean="0"/>
              <a:t> </a:t>
            </a:r>
            <a:r>
              <a:rPr lang="en-US" dirty="0" err="1" smtClean="0"/>
              <a:t>tử</a:t>
            </a:r>
            <a:r>
              <a:rPr lang="en-US" dirty="0" smtClean="0"/>
              <a:t> </a:t>
            </a:r>
            <a:r>
              <a:rPr lang="en-US" dirty="0" err="1" smtClean="0"/>
              <a:t>trong</a:t>
            </a:r>
            <a:r>
              <a:rPr lang="en-US" dirty="0" smtClean="0"/>
              <a:t> </a:t>
            </a:r>
            <a:r>
              <a:rPr lang="en-US" dirty="0" err="1" smtClean="0"/>
              <a:t>một</a:t>
            </a:r>
            <a:r>
              <a:rPr lang="en-US" dirty="0" smtClean="0"/>
              <a:t> </a:t>
            </a:r>
            <a:r>
              <a:rPr lang="en-US" dirty="0" err="1" smtClean="0"/>
              <a:t>dãy</a:t>
            </a:r>
            <a:r>
              <a:rPr lang="en-US" dirty="0" smtClean="0"/>
              <a:t> </a:t>
            </a:r>
            <a:r>
              <a:rPr lang="en-US" dirty="0" err="1" smtClean="0"/>
              <a:t>số</a:t>
            </a:r>
            <a:r>
              <a:rPr lang="en-US" dirty="0" smtClean="0"/>
              <a:t> </a:t>
            </a:r>
            <a:r>
              <a:rPr lang="en-US" dirty="0" err="1" smtClean="0"/>
              <a:t>nguyên</a:t>
            </a:r>
            <a:r>
              <a:rPr lang="en-US" dirty="0" smtClean="0"/>
              <a:t> </a:t>
            </a:r>
            <a:r>
              <a:rPr lang="en-US" dirty="0" err="1" smtClean="0"/>
              <a:t>bất</a:t>
            </a:r>
            <a:r>
              <a:rPr lang="en-US" dirty="0" smtClean="0"/>
              <a:t> </a:t>
            </a:r>
            <a:r>
              <a:rPr lang="en-US" dirty="0" err="1" smtClean="0"/>
              <a:t>kỳ</a:t>
            </a:r>
            <a:r>
              <a:rPr lang="en-US" dirty="0" smtClean="0"/>
              <a:t>, </a:t>
            </a:r>
            <a:r>
              <a:rPr lang="en-US" dirty="0" err="1" smtClean="0"/>
              <a:t>dùng</a:t>
            </a:r>
            <a:r>
              <a:rPr lang="en-US" dirty="0" smtClean="0"/>
              <a:t> </a:t>
            </a:r>
            <a:r>
              <a:rPr lang="en-US" dirty="0" err="1" smtClean="0"/>
              <a:t>phương</a:t>
            </a:r>
            <a:r>
              <a:rPr lang="en-US" dirty="0" smtClean="0"/>
              <a:t> </a:t>
            </a:r>
            <a:r>
              <a:rPr lang="en-US" dirty="0" err="1" smtClean="0"/>
              <a:t>pháp</a:t>
            </a:r>
            <a:r>
              <a:rPr lang="en-US" dirty="0" smtClean="0"/>
              <a:t> </a:t>
            </a:r>
            <a:r>
              <a:rPr lang="en-US" dirty="0" err="1" smtClean="0"/>
              <a:t>tìm</a:t>
            </a:r>
            <a:r>
              <a:rPr lang="en-US" dirty="0" smtClean="0"/>
              <a:t> </a:t>
            </a:r>
            <a:r>
              <a:rPr lang="en-US" dirty="0" err="1" smtClean="0"/>
              <a:t>kiếm</a:t>
            </a:r>
            <a:r>
              <a:rPr lang="en-US" dirty="0" smtClean="0"/>
              <a:t> </a:t>
            </a:r>
            <a:r>
              <a:rPr lang="en-US" dirty="0" err="1" smtClean="0"/>
              <a:t>nhị</a:t>
            </a:r>
            <a:r>
              <a:rPr lang="en-US" dirty="0" smtClean="0"/>
              <a:t> </a:t>
            </a:r>
            <a:r>
              <a:rPr lang="en-US" dirty="0" err="1" smtClean="0"/>
              <a:t>phân</a:t>
            </a:r>
            <a:endParaRPr lang="en-US" dirty="0" smtClean="0"/>
          </a:p>
          <a:p>
            <a:r>
              <a:rPr lang="en-US" dirty="0" smtClean="0"/>
              <a:t>2. </a:t>
            </a:r>
            <a:r>
              <a:rPr lang="en-US" dirty="0" err="1" smtClean="0"/>
              <a:t>Viết</a:t>
            </a:r>
            <a:r>
              <a:rPr lang="en-US" dirty="0" smtClean="0"/>
              <a:t> </a:t>
            </a:r>
            <a:r>
              <a:rPr lang="en-US" dirty="0" err="1" smtClean="0"/>
              <a:t>các</a:t>
            </a:r>
            <a:r>
              <a:rPr lang="en-US" dirty="0" smtClean="0"/>
              <a:t> </a:t>
            </a:r>
            <a:r>
              <a:rPr lang="en-US" dirty="0" err="1" smtClean="0"/>
              <a:t>hàm</a:t>
            </a:r>
            <a:r>
              <a:rPr lang="en-US" dirty="0" smtClean="0"/>
              <a:t> </a:t>
            </a:r>
            <a:r>
              <a:rPr lang="en-US" dirty="0" err="1" smtClean="0"/>
              <a:t>khởi</a:t>
            </a:r>
            <a:r>
              <a:rPr lang="en-US" dirty="0" smtClean="0"/>
              <a:t> </a:t>
            </a:r>
            <a:r>
              <a:rPr lang="en-US" dirty="0" err="1" smtClean="0"/>
              <a:t>tạo</a:t>
            </a:r>
            <a:r>
              <a:rPr lang="en-US" dirty="0" smtClean="0"/>
              <a:t>, </a:t>
            </a:r>
            <a:r>
              <a:rPr lang="en-US" dirty="0" err="1" smtClean="0"/>
              <a:t>thêm</a:t>
            </a:r>
            <a:r>
              <a:rPr lang="en-US" dirty="0" smtClean="0"/>
              <a:t>, </a:t>
            </a:r>
            <a:r>
              <a:rPr lang="en-US" dirty="0" err="1" smtClean="0"/>
              <a:t>xóa</a:t>
            </a:r>
            <a:r>
              <a:rPr lang="en-US" dirty="0" smtClean="0"/>
              <a:t>, </a:t>
            </a:r>
            <a:r>
              <a:rPr lang="en-US" dirty="0" err="1" smtClean="0"/>
              <a:t>tìm</a:t>
            </a:r>
            <a:r>
              <a:rPr lang="en-US" dirty="0" smtClean="0"/>
              <a:t> </a:t>
            </a:r>
            <a:r>
              <a:rPr lang="en-US" dirty="0" err="1" smtClean="0"/>
              <a:t>kiếm</a:t>
            </a:r>
            <a:r>
              <a:rPr lang="en-US" dirty="0" smtClean="0"/>
              <a:t> 1 </a:t>
            </a:r>
            <a:r>
              <a:rPr lang="en-US" dirty="0" err="1" smtClean="0"/>
              <a:t>giá</a:t>
            </a:r>
            <a:r>
              <a:rPr lang="en-US" dirty="0" smtClean="0"/>
              <a:t> </a:t>
            </a:r>
            <a:r>
              <a:rPr lang="en-US" dirty="0" err="1" smtClean="0"/>
              <a:t>trị</a:t>
            </a:r>
            <a:r>
              <a:rPr lang="en-US" dirty="0" smtClean="0"/>
              <a:t> </a:t>
            </a:r>
            <a:r>
              <a:rPr lang="en-US" dirty="0" err="1" smtClean="0"/>
              <a:t>khóa</a:t>
            </a:r>
            <a:r>
              <a:rPr lang="en-US" dirty="0" smtClean="0"/>
              <a:t> </a:t>
            </a:r>
            <a:r>
              <a:rPr lang="en-US" dirty="0" err="1" smtClean="0"/>
              <a:t>trong</a:t>
            </a:r>
            <a:r>
              <a:rPr lang="en-US" dirty="0" smtClean="0"/>
              <a:t> </a:t>
            </a:r>
            <a:r>
              <a:rPr lang="en-US" dirty="0" err="1" smtClean="0"/>
              <a:t>một</a:t>
            </a:r>
            <a:r>
              <a:rPr lang="en-US" dirty="0" smtClean="0"/>
              <a:t> </a:t>
            </a:r>
            <a:r>
              <a:rPr lang="en-US" dirty="0" err="1" smtClean="0"/>
              <a:t>bảng</a:t>
            </a:r>
            <a:r>
              <a:rPr lang="en-US" dirty="0" smtClean="0"/>
              <a:t> </a:t>
            </a:r>
            <a:r>
              <a:rPr lang="en-US" dirty="0" err="1" smtClean="0"/>
              <a:t>băm</a:t>
            </a:r>
            <a:r>
              <a:rPr lang="en-US" dirty="0" smtClean="0"/>
              <a:t> </a:t>
            </a:r>
            <a:r>
              <a:rPr lang="en-US" dirty="0" err="1" smtClean="0"/>
              <a:t>áp</a:t>
            </a:r>
            <a:r>
              <a:rPr lang="en-US" dirty="0" smtClean="0"/>
              <a:t> </a:t>
            </a:r>
            <a:r>
              <a:rPr lang="en-US" dirty="0" err="1" smtClean="0"/>
              <a:t>dụng</a:t>
            </a:r>
            <a:r>
              <a:rPr lang="en-US" dirty="0" smtClean="0"/>
              <a:t> </a:t>
            </a:r>
            <a:r>
              <a:rPr lang="en-US" dirty="0" err="1" smtClean="0"/>
              <a:t>phương</a:t>
            </a:r>
            <a:r>
              <a:rPr lang="en-US" dirty="0" smtClean="0"/>
              <a:t> </a:t>
            </a:r>
            <a:r>
              <a:rPr lang="en-US" dirty="0" err="1" smtClean="0"/>
              <a:t>pháp</a:t>
            </a:r>
            <a:r>
              <a:rPr lang="en-US" dirty="0" smtClean="0"/>
              <a:t> </a:t>
            </a:r>
            <a:r>
              <a:rPr lang="en-US" dirty="0" err="1" smtClean="0"/>
              <a:t>khắc</a:t>
            </a:r>
            <a:r>
              <a:rPr lang="en-US" dirty="0" smtClean="0"/>
              <a:t> </a:t>
            </a:r>
            <a:r>
              <a:rPr lang="en-US" dirty="0" err="1" smtClean="0"/>
              <a:t>phục</a:t>
            </a:r>
            <a:r>
              <a:rPr lang="en-US" dirty="0" smtClean="0"/>
              <a:t> </a:t>
            </a:r>
            <a:r>
              <a:rPr lang="en-US" dirty="0" err="1" smtClean="0"/>
              <a:t>đụng</a:t>
            </a:r>
            <a:r>
              <a:rPr lang="en-US" dirty="0" smtClean="0"/>
              <a:t> </a:t>
            </a:r>
            <a:r>
              <a:rPr lang="en-US" dirty="0" err="1" smtClean="0"/>
              <a:t>độ</a:t>
            </a:r>
            <a:r>
              <a:rPr lang="en-US" dirty="0" smtClean="0"/>
              <a:t> </a:t>
            </a:r>
            <a:r>
              <a:rPr lang="en-US" dirty="0" err="1" smtClean="0"/>
              <a:t>dạng</a:t>
            </a:r>
            <a:r>
              <a:rPr lang="en-US" dirty="0" smtClean="0"/>
              <a:t> </a:t>
            </a:r>
            <a:r>
              <a:rPr lang="en-US" altLang="en-US" sz="2000" dirty="0" err="1" smtClean="0">
                <a:cs typeface="Times New Roman" panose="02020603050405020304" pitchFamily="18" charset="0"/>
              </a:rPr>
              <a:t>m</a:t>
            </a:r>
            <a:r>
              <a:rPr lang="en-US" altLang="en-US" sz="2000" dirty="0" err="1" smtClean="0"/>
              <a:t>óc</a:t>
            </a:r>
            <a:r>
              <a:rPr lang="en-US" altLang="en-US" sz="2000" dirty="0" smtClean="0"/>
              <a:t> </a:t>
            </a:r>
            <a:r>
              <a:rPr lang="en-US" altLang="en-US" sz="2000" dirty="0" err="1"/>
              <a:t>nối</a:t>
            </a:r>
            <a:r>
              <a:rPr lang="en-US" altLang="en-US" sz="2000" dirty="0"/>
              <a:t> </a:t>
            </a:r>
            <a:endParaRPr lang="en-US" altLang="en-US" sz="2000" dirty="0" smtClean="0"/>
          </a:p>
          <a:p>
            <a:r>
              <a:rPr lang="en-US" sz="2000" dirty="0" smtClean="0"/>
              <a:t>3. </a:t>
            </a:r>
            <a:r>
              <a:rPr lang="en-US" sz="2000" dirty="0" err="1" smtClean="0"/>
              <a:t>Thực</a:t>
            </a:r>
            <a:r>
              <a:rPr lang="en-US" sz="2000" dirty="0" smtClean="0"/>
              <a:t> </a:t>
            </a:r>
            <a:r>
              <a:rPr lang="en-US" sz="2000" dirty="0" err="1" smtClean="0"/>
              <a:t>hiện</a:t>
            </a:r>
            <a:r>
              <a:rPr lang="en-US" sz="2000" dirty="0" smtClean="0"/>
              <a:t> </a:t>
            </a:r>
            <a:r>
              <a:rPr lang="en-US" sz="2000" dirty="0" err="1" smtClean="0"/>
              <a:t>tìm</a:t>
            </a:r>
            <a:r>
              <a:rPr lang="en-US" sz="2000" dirty="0" smtClean="0"/>
              <a:t> </a:t>
            </a:r>
            <a:r>
              <a:rPr lang="en-US" sz="2000" dirty="0" err="1" smtClean="0"/>
              <a:t>kiếm</a:t>
            </a:r>
            <a:r>
              <a:rPr lang="en-US" sz="2000" dirty="0" smtClean="0"/>
              <a:t> </a:t>
            </a:r>
            <a:r>
              <a:rPr lang="en-US" sz="2000" dirty="0" err="1" smtClean="0"/>
              <a:t>chuỗi</a:t>
            </a:r>
            <a:r>
              <a:rPr lang="en-US" sz="2000" dirty="0" smtClean="0"/>
              <a:t> con P </a:t>
            </a:r>
            <a:r>
              <a:rPr lang="en-US" sz="2000" dirty="0" err="1" smtClean="0"/>
              <a:t>trong</a:t>
            </a:r>
            <a:r>
              <a:rPr lang="en-US" sz="2000" dirty="0" smtClean="0"/>
              <a:t> </a:t>
            </a:r>
            <a:r>
              <a:rPr lang="en-US" sz="2000" dirty="0" err="1" smtClean="0"/>
              <a:t>chuỗi</a:t>
            </a:r>
            <a:r>
              <a:rPr lang="en-US" sz="2000" dirty="0" smtClean="0"/>
              <a:t> </a:t>
            </a:r>
            <a:r>
              <a:rPr lang="en-US" sz="2000" dirty="0" err="1" smtClean="0"/>
              <a:t>văn</a:t>
            </a:r>
            <a:r>
              <a:rPr lang="en-US" sz="2000" dirty="0" smtClean="0"/>
              <a:t> </a:t>
            </a:r>
            <a:r>
              <a:rPr lang="en-US" sz="2000" dirty="0" err="1" smtClean="0"/>
              <a:t>bản</a:t>
            </a:r>
            <a:r>
              <a:rPr lang="en-US" sz="2000" dirty="0" smtClean="0"/>
              <a:t> V </a:t>
            </a:r>
            <a:r>
              <a:rPr lang="en-US" sz="2000" dirty="0" err="1" smtClean="0"/>
              <a:t>bằng</a:t>
            </a:r>
            <a:r>
              <a:rPr lang="en-US" sz="2000" dirty="0" smtClean="0"/>
              <a:t> </a:t>
            </a:r>
            <a:r>
              <a:rPr lang="en-US" sz="2000" dirty="0" err="1" smtClean="0"/>
              <a:t>giải</a:t>
            </a:r>
            <a:r>
              <a:rPr lang="en-US" sz="2000" dirty="0" smtClean="0"/>
              <a:t> </a:t>
            </a:r>
            <a:r>
              <a:rPr lang="en-US" sz="2000" dirty="0" err="1" smtClean="0"/>
              <a:t>thuật</a:t>
            </a:r>
            <a:r>
              <a:rPr lang="en-US" sz="2000" dirty="0" smtClean="0"/>
              <a:t> Knuth-Morris-Prat</a:t>
            </a:r>
            <a:r>
              <a:rPr lang="en-US" dirty="0" smtClean="0"/>
              <a:t>t, </a:t>
            </a:r>
            <a:r>
              <a:rPr lang="en-US" dirty="0" err="1" smtClean="0"/>
              <a:t>với</a:t>
            </a:r>
            <a:r>
              <a:rPr lang="en-US" dirty="0" smtClean="0"/>
              <a:t> V </a:t>
            </a:r>
            <a:r>
              <a:rPr lang="en-US" dirty="0"/>
              <a:t>= </a:t>
            </a:r>
            <a:r>
              <a:rPr lang="en-US" dirty="0" err="1"/>
              <a:t>abdcababdcabdcb</a:t>
            </a:r>
            <a:r>
              <a:rPr lang="en-US" dirty="0"/>
              <a:t> </a:t>
            </a:r>
            <a:r>
              <a:rPr lang="en-US" dirty="0" err="1" smtClean="0"/>
              <a:t>và</a:t>
            </a:r>
            <a:r>
              <a:rPr lang="en-US" dirty="0" smtClean="0"/>
              <a:t> </a:t>
            </a:r>
            <a:r>
              <a:rPr lang="en-US" dirty="0"/>
              <a:t>P = </a:t>
            </a:r>
            <a:r>
              <a:rPr lang="en-US" dirty="0" err="1"/>
              <a:t>bdcabdcb</a:t>
            </a:r>
            <a:r>
              <a:rPr lang="en-US" dirty="0"/>
              <a:t>.</a:t>
            </a:r>
            <a:endParaRPr lang="en-US" dirty="0" smtClean="0"/>
          </a:p>
          <a:p>
            <a:endParaRPr lang="en-US" dirty="0"/>
          </a:p>
        </p:txBody>
      </p:sp>
    </p:spTree>
    <p:extLst>
      <p:ext uri="{BB962C8B-B14F-4D97-AF65-F5344CB8AC3E}">
        <p14:creationId xmlns:p14="http://schemas.microsoft.com/office/powerpoint/2010/main" val="1340886435"/>
      </p:ext>
    </p:extLst>
  </p:cSld>
  <p:clrMapOvr>
    <a:masterClrMapping/>
  </p:clrMapOvr>
  <p:timing>
    <p:tnLst>
      <p:par>
        <p:cTn id="1" dur="indefinite" restart="never" nodeType="tmRoot"/>
      </p:par>
    </p:tnLst>
  </p:timing>
</p:sld>
</file>

<file path=ppt/theme/theme1.xml><?xml version="1.0" encoding="utf-8"?>
<a:theme xmlns:a="http://schemas.openxmlformats.org/drawingml/2006/main" name="7. SL - Mẫu slides bài giảng_HUST PPT Templat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7. SL - Mẫu slides bài giảng_HUST PPT Template.pptx" id="{45510D97-992C-451E-ADEA-BBABC4EFA76A}" vid="{3E3F4600-7126-4670-8CD5-2C2CB12BC94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7. SL - Mẫu slides bài giảng_HUST PPT Template</Template>
  <TotalTime>16514</TotalTime>
  <Words>5906</Words>
  <Application>Microsoft Office PowerPoint</Application>
  <PresentationFormat>On-screen Show (4:3)</PresentationFormat>
  <Paragraphs>894</Paragraphs>
  <Slides>40</Slides>
  <Notes>28</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40</vt:i4>
      </vt:variant>
    </vt:vector>
  </HeadingPairs>
  <TitlesOfParts>
    <vt:vector size="52" baseType="lpstr">
      <vt:lpstr>Arial</vt:lpstr>
      <vt:lpstr>Calibri</vt:lpstr>
      <vt:lpstr>Calibri Light</vt:lpstr>
      <vt:lpstr>Cambria Math</vt:lpstr>
      <vt:lpstr>Courier New</vt:lpstr>
      <vt:lpstr>Garamond</vt:lpstr>
      <vt:lpstr>Gill Sans MT</vt:lpstr>
      <vt:lpstr>Lato</vt:lpstr>
      <vt:lpstr>Symbol</vt:lpstr>
      <vt:lpstr>Times New Roman</vt:lpstr>
      <vt:lpstr>Wingdings</vt:lpstr>
      <vt:lpstr>7. SL - Mẫu slides bài giảng_HUST PPT Template</vt:lpstr>
      <vt:lpstr>CẤU TRÚC DỮ LIỆU VÀ GIẢI THUẬT</vt:lpstr>
      <vt:lpstr>Chương VI :  Các giải thuật tìm kiếm</vt:lpstr>
      <vt:lpstr>Nội dung chính</vt:lpstr>
      <vt:lpstr>1. Đặt vấn đề</vt:lpstr>
      <vt:lpstr>Giải thuật tìm kiếm phần tử</vt:lpstr>
      <vt:lpstr>2. Các giải thuật tìm kiếm bằng so sánh</vt:lpstr>
      <vt:lpstr>2. Các giải thuật tìm kiếm bằng so sánh</vt:lpstr>
      <vt:lpstr>2. Các giải thuật tìm kiếm bằng so sánh</vt:lpstr>
      <vt:lpstr>2. Các giải thuật tìm kiếm bằng so sánh</vt:lpstr>
      <vt:lpstr>2. Các giải thuật tìm kiếm bằng so sánh</vt:lpstr>
      <vt:lpstr>3. Tìm kiếm chuỗi con</vt:lpstr>
      <vt:lpstr>3. Tìm kiếm chuỗi con</vt:lpstr>
      <vt:lpstr>3. Tìm kiếm chuỗi con</vt:lpstr>
      <vt:lpstr>3. Tìm kiếm chuỗi con</vt:lpstr>
      <vt:lpstr>3. Tìm kiếm chuỗi con</vt:lpstr>
      <vt:lpstr>3. Tìm kiếm chuỗi con</vt:lpstr>
      <vt:lpstr>3. Tìm kiếm chuỗi con</vt:lpstr>
      <vt:lpstr>3. Tìm kiếm chuỗi con</vt:lpstr>
      <vt:lpstr>3. Tìm kiếm chuỗi con</vt:lpstr>
      <vt:lpstr>4. Các giải thuật tìm kiếm trực tiếp</vt:lpstr>
      <vt:lpstr>3. Các giải thuật tìm kiếm trực tiếp</vt:lpstr>
      <vt:lpstr>4. Các giải thuật tìm kiếm trực tiếp</vt:lpstr>
      <vt:lpstr>4. Các giải thuật tìm kiếm trực tiếp</vt:lpstr>
      <vt:lpstr>4. Các giải thuật tìm kiếm trực tiếp</vt:lpstr>
      <vt:lpstr>Các phương pháp xây dựng hàm băm</vt:lpstr>
      <vt:lpstr>Các phương pháp xây dựng hàm băm</vt:lpstr>
      <vt:lpstr>Các phương pháp xây dựng hàm băm</vt:lpstr>
      <vt:lpstr>Các phương pháp xây dựng hàm băm</vt:lpstr>
      <vt:lpstr>Vấn đề đụng độ</vt:lpstr>
      <vt:lpstr>Các biện pháp khắc phục đụng độ </vt:lpstr>
      <vt:lpstr>Các biện pháp khắc phục đụng độ </vt:lpstr>
      <vt:lpstr>Các biện pháp khắc phục đụng độ </vt:lpstr>
      <vt:lpstr>Các biện pháp khắc phục đụng độ </vt:lpstr>
      <vt:lpstr>Các biện pháp khắc phục đụng độ </vt:lpstr>
      <vt:lpstr>Các biện pháp khắc phục đụng độ </vt:lpstr>
      <vt:lpstr>Các biện pháp khắc phục đụng độ </vt:lpstr>
      <vt:lpstr>Các biện pháp khắc phục đụng độ </vt:lpstr>
      <vt:lpstr>Các biện pháp khắc phục đụng độ </vt:lpstr>
      <vt:lpstr>Các biện pháp khắc phục đụng độ </vt:lpstr>
      <vt:lpstr>Bài tập</vt:lpstr>
    </vt:vector>
  </TitlesOfParts>
  <Company>Utility Muffin Research Kitchen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Dao Trung Kien</dc:creator>
  <cp:lastModifiedBy>Do Thi Ngoc Diep</cp:lastModifiedBy>
  <cp:revision>3392</cp:revision>
  <cp:lastPrinted>2018-10-12T09:39:58Z</cp:lastPrinted>
  <dcterms:created xsi:type="dcterms:W3CDTF">2007-06-13T23:23:09Z</dcterms:created>
  <dcterms:modified xsi:type="dcterms:W3CDTF">2024-05-31T04:38:51Z</dcterms:modified>
</cp:coreProperties>
</file>